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91" r:id="rId2"/>
    <p:sldId id="293" r:id="rId3"/>
    <p:sldId id="297" r:id="rId4"/>
    <p:sldId id="299" r:id="rId5"/>
    <p:sldId id="298" r:id="rId6"/>
    <p:sldId id="301" r:id="rId7"/>
    <p:sldId id="300" r:id="rId8"/>
    <p:sldId id="302" r:id="rId9"/>
    <p:sldId id="303" r:id="rId10"/>
    <p:sldId id="308" r:id="rId11"/>
    <p:sldId id="309" r:id="rId12"/>
    <p:sldId id="304" r:id="rId13"/>
    <p:sldId id="305" r:id="rId14"/>
    <p:sldId id="307" r:id="rId15"/>
    <p:sldId id="323" r:id="rId16"/>
    <p:sldId id="324" r:id="rId17"/>
    <p:sldId id="325" r:id="rId18"/>
    <p:sldId id="306" r:id="rId19"/>
    <p:sldId id="310" r:id="rId20"/>
    <p:sldId id="311" r:id="rId21"/>
    <p:sldId id="313" r:id="rId22"/>
    <p:sldId id="314" r:id="rId23"/>
    <p:sldId id="312" r:id="rId24"/>
    <p:sldId id="315" r:id="rId25"/>
    <p:sldId id="317" r:id="rId26"/>
    <p:sldId id="319" r:id="rId27"/>
    <p:sldId id="321" r:id="rId28"/>
    <p:sldId id="316" r:id="rId29"/>
    <p:sldId id="322" r:id="rId30"/>
    <p:sldId id="326" r:id="rId3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15674" autoAdjust="0"/>
    <p:restoredTop sz="94660"/>
  </p:normalViewPr>
  <p:slideViewPr>
    <p:cSldViewPr>
      <p:cViewPr>
        <p:scale>
          <a:sx n="75" d="100"/>
          <a:sy n="75" d="100"/>
        </p:scale>
        <p:origin x="-1299" y="-4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F8D08A-0320-428D-8F0D-AF67C5CF67FF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A67D8-81A2-4C40-907D-EC4BC1D9B2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124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7A67D8-81A2-4C40-907D-EC4BC1D9B23E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53165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7A67D8-81A2-4C40-907D-EC4BC1D9B23E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29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 smtClean="0"/>
              <a:t>Alcím mintájának szerkesztése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938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0157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6824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3796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7984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3787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0531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2978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6880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830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408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734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810.04805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dn.openai.com/better-language-models/language_models_are_unsupervised_multitask_learners.pdf" TargetMode="External"/><Relationship Id="rId2" Type="http://schemas.openxmlformats.org/officeDocument/2006/relationships/hyperlink" Target="https://cdn.openai.com/research-covers/language-unsupervised/language_understanding_paper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909.08593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1.08361" TargetMode="External"/><Relationship Id="rId2" Type="http://schemas.openxmlformats.org/officeDocument/2006/relationships/hyperlink" Target="https://arxiv.org/abs/2005.14165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103.00020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206.07682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www.ithistory.org/db/hardware/ibm/ibm-asci-whit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Artificial</a:t>
            </a:r>
            <a:r>
              <a:rPr lang="hu-HU" dirty="0" smtClean="0"/>
              <a:t> </a:t>
            </a:r>
            <a:r>
              <a:rPr lang="hu-HU" dirty="0" err="1" smtClean="0"/>
              <a:t>Intelligence</a:t>
            </a:r>
            <a:r>
              <a:rPr lang="hu-HU" dirty="0" smtClean="0"/>
              <a:t/>
            </a:r>
            <a:br>
              <a:rPr lang="hu-HU" dirty="0" smtClean="0"/>
            </a:br>
            <a:r>
              <a:rPr lang="hu-HU" sz="3600" i="1" dirty="0" smtClean="0"/>
              <a:t>Deep </a:t>
            </a:r>
            <a:r>
              <a:rPr lang="hu-HU" sz="3600" i="1" dirty="0" err="1" smtClean="0"/>
              <a:t>Learning</a:t>
            </a:r>
            <a:r>
              <a:rPr lang="hu-HU" sz="3600" i="1" dirty="0" smtClean="0"/>
              <a:t> and</a:t>
            </a:r>
            <a:br>
              <a:rPr lang="hu-HU" sz="3600" i="1" dirty="0" smtClean="0"/>
            </a:br>
            <a:r>
              <a:rPr lang="hu-HU" sz="3600" i="1" dirty="0" err="1" smtClean="0"/>
              <a:t>the</a:t>
            </a:r>
            <a:r>
              <a:rPr lang="hu-HU" sz="3600" i="1" dirty="0" smtClean="0"/>
              <a:t> </a:t>
            </a:r>
            <a:r>
              <a:rPr lang="hu-HU" sz="3600" i="1" dirty="0" err="1" smtClean="0"/>
              <a:t>State</a:t>
            </a:r>
            <a:r>
              <a:rPr lang="hu-HU" sz="3600" i="1" dirty="0" smtClean="0"/>
              <a:t> of </a:t>
            </a:r>
            <a:r>
              <a:rPr lang="hu-HU" sz="3600" i="1" dirty="0" err="1" smtClean="0"/>
              <a:t>the</a:t>
            </a:r>
            <a:r>
              <a:rPr lang="hu-HU" sz="3600" i="1" dirty="0" smtClean="0"/>
              <a:t> Art </a:t>
            </a:r>
            <a:r>
              <a:rPr lang="hu-HU" sz="3600" i="1" dirty="0" err="1" smtClean="0"/>
              <a:t>in</a:t>
            </a:r>
            <a:r>
              <a:rPr lang="hu-HU" sz="3600" i="1" dirty="0" smtClean="0"/>
              <a:t> </a:t>
            </a:r>
            <a:r>
              <a:rPr lang="hu-HU" sz="3600" i="1" dirty="0" err="1" smtClean="0"/>
              <a:t>AI</a:t>
            </a:r>
            <a:r>
              <a:rPr lang="hu-HU" sz="3600" i="1" dirty="0" smtClean="0"/>
              <a:t> </a:t>
            </a:r>
            <a:r>
              <a:rPr lang="hu-HU" sz="3600" i="1" dirty="0" err="1" smtClean="0"/>
              <a:t>Today</a:t>
            </a:r>
            <a:endParaRPr lang="en-GB" i="1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dirty="0" err="1" smtClean="0"/>
              <a:t>October</a:t>
            </a:r>
            <a:r>
              <a:rPr lang="hu-HU" dirty="0" smtClean="0"/>
              <a:t> 9, </a:t>
            </a:r>
            <a:r>
              <a:rPr lang="hu-HU" dirty="0"/>
              <a:t>2025</a:t>
            </a:r>
          </a:p>
          <a:p>
            <a:r>
              <a:rPr lang="hu-HU" dirty="0"/>
              <a:t>Pethő Gergely</a:t>
            </a:r>
          </a:p>
          <a:p>
            <a:r>
              <a:rPr lang="hu-HU" dirty="0" err="1"/>
              <a:t>UD</a:t>
            </a:r>
            <a:r>
              <a:rPr lang="hu-HU" dirty="0"/>
              <a:t> </a:t>
            </a:r>
            <a:r>
              <a:rPr lang="hu-HU" dirty="0" err="1"/>
              <a:t>Faculty</a:t>
            </a:r>
            <a:r>
              <a:rPr lang="hu-HU" dirty="0"/>
              <a:t> of Health Science, </a:t>
            </a:r>
            <a:r>
              <a:rPr lang="hu-HU" dirty="0" err="1"/>
              <a:t>Department</a:t>
            </a:r>
            <a:r>
              <a:rPr lang="hu-HU" dirty="0"/>
              <a:t> of </a:t>
            </a:r>
            <a:r>
              <a:rPr lang="hu-HU" dirty="0" err="1"/>
              <a:t>Bioinformatics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989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refers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machine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b="1" dirty="0" err="1" smtClean="0"/>
              <a:t>using</a:t>
            </a:r>
            <a:r>
              <a:rPr lang="hu-HU" b="1" dirty="0" smtClean="0"/>
              <a:t> </a:t>
            </a:r>
            <a:r>
              <a:rPr lang="hu-HU" b="1" dirty="0" err="1" smtClean="0"/>
              <a:t>deep</a:t>
            </a:r>
            <a:r>
              <a:rPr lang="hu-HU" b="1" dirty="0" smtClean="0"/>
              <a:t> </a:t>
            </a:r>
            <a:r>
              <a:rPr lang="hu-HU" b="1" dirty="0" err="1" smtClean="0"/>
              <a:t>neural</a:t>
            </a:r>
            <a:r>
              <a:rPr lang="hu-HU" b="1" dirty="0" smtClean="0"/>
              <a:t> </a:t>
            </a:r>
            <a:r>
              <a:rPr lang="hu-HU" b="1" dirty="0" err="1" smtClean="0"/>
              <a:t>networks</a:t>
            </a:r>
            <a:endParaRPr lang="hu-HU" b="1" dirty="0" smtClean="0"/>
          </a:p>
          <a:p>
            <a:pPr lvl="1"/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:</a:t>
            </a:r>
          </a:p>
          <a:p>
            <a:r>
              <a:rPr lang="hu-HU" dirty="0" smtClean="0"/>
              <a:t>A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is </a:t>
            </a:r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has </a:t>
            </a:r>
            <a:r>
              <a:rPr lang="hu-HU" b="1" dirty="0" smtClean="0"/>
              <a:t>more </a:t>
            </a:r>
            <a:r>
              <a:rPr lang="hu-HU" b="1" dirty="0" err="1" smtClean="0"/>
              <a:t>than</a:t>
            </a:r>
            <a:r>
              <a:rPr lang="hu-HU" b="1" dirty="0" smtClean="0"/>
              <a:t> </a:t>
            </a:r>
            <a:r>
              <a:rPr lang="hu-HU" b="1" dirty="0" err="1" smtClean="0"/>
              <a:t>two</a:t>
            </a:r>
            <a:r>
              <a:rPr lang="hu-HU" b="1" dirty="0" smtClean="0"/>
              <a:t> </a:t>
            </a:r>
            <a:r>
              <a:rPr lang="hu-HU" b="1" dirty="0" err="1" smtClean="0"/>
              <a:t>hidden</a:t>
            </a:r>
            <a:r>
              <a:rPr lang="hu-HU" b="1" dirty="0" smtClean="0"/>
              <a:t> </a:t>
            </a:r>
            <a:r>
              <a:rPr lang="hu-HU" b="1" dirty="0" err="1" smtClean="0"/>
              <a:t>layers</a:t>
            </a:r>
            <a:endParaRPr lang="hu-HU" b="1" dirty="0" smtClean="0"/>
          </a:p>
          <a:p>
            <a:pPr lvl="1"/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typical</a:t>
            </a:r>
            <a:r>
              <a:rPr lang="hu-HU" dirty="0"/>
              <a:t> </a:t>
            </a:r>
            <a:r>
              <a:rPr lang="hu-HU" dirty="0" err="1"/>
              <a:t>number</a:t>
            </a:r>
            <a:r>
              <a:rPr lang="hu-HU" dirty="0"/>
              <a:t> is </a:t>
            </a:r>
            <a:r>
              <a:rPr lang="hu-HU" dirty="0" err="1"/>
              <a:t>between</a:t>
            </a:r>
            <a:r>
              <a:rPr lang="hu-HU" dirty="0"/>
              <a:t> less </a:t>
            </a:r>
            <a:r>
              <a:rPr lang="hu-HU" dirty="0" err="1"/>
              <a:t>than</a:t>
            </a:r>
            <a:r>
              <a:rPr lang="hu-HU" dirty="0"/>
              <a:t> 10 </a:t>
            </a:r>
            <a:r>
              <a:rPr lang="hu-HU" dirty="0" err="1"/>
              <a:t>to</a:t>
            </a:r>
            <a:r>
              <a:rPr lang="hu-HU" dirty="0"/>
              <a:t> a </a:t>
            </a:r>
            <a:r>
              <a:rPr lang="hu-HU" dirty="0" err="1"/>
              <a:t>few</a:t>
            </a:r>
            <a:r>
              <a:rPr lang="hu-HU" dirty="0"/>
              <a:t> </a:t>
            </a:r>
            <a:r>
              <a:rPr lang="hu-HU" dirty="0" err="1"/>
              <a:t>dozen</a:t>
            </a:r>
            <a:endParaRPr lang="hu-HU" dirty="0"/>
          </a:p>
          <a:p>
            <a:pPr lvl="1"/>
            <a:r>
              <a:rPr lang="hu-HU" dirty="0" err="1" smtClean="0"/>
              <a:t>layer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hidden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: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99043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refers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machine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b="1" dirty="0" err="1" smtClean="0"/>
              <a:t>using</a:t>
            </a:r>
            <a:r>
              <a:rPr lang="hu-HU" b="1" dirty="0" smtClean="0"/>
              <a:t> </a:t>
            </a:r>
            <a:r>
              <a:rPr lang="hu-HU" b="1" dirty="0" err="1" smtClean="0"/>
              <a:t>deep</a:t>
            </a:r>
            <a:r>
              <a:rPr lang="hu-HU" b="1" dirty="0" smtClean="0"/>
              <a:t> </a:t>
            </a:r>
            <a:r>
              <a:rPr lang="hu-HU" b="1" dirty="0" err="1" smtClean="0"/>
              <a:t>neural</a:t>
            </a:r>
            <a:r>
              <a:rPr lang="hu-HU" b="1" dirty="0" smtClean="0"/>
              <a:t> </a:t>
            </a:r>
            <a:r>
              <a:rPr lang="hu-HU" b="1" dirty="0" err="1" smtClean="0"/>
              <a:t>networks</a:t>
            </a:r>
            <a:endParaRPr lang="hu-HU" b="1" dirty="0" smtClean="0"/>
          </a:p>
          <a:p>
            <a:pPr lvl="1"/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: a </a:t>
            </a:r>
            <a:r>
              <a:rPr lang="hu-HU" dirty="0" err="1" smtClean="0"/>
              <a:t>mathematical</a:t>
            </a:r>
            <a:r>
              <a:rPr lang="hu-HU" dirty="0" smtClean="0"/>
              <a:t> </a:t>
            </a:r>
            <a:r>
              <a:rPr lang="hu-HU" dirty="0" err="1" smtClean="0"/>
              <a:t>function</a:t>
            </a:r>
            <a:r>
              <a:rPr lang="hu-HU" dirty="0" smtClean="0"/>
              <a:t> </a:t>
            </a:r>
            <a:r>
              <a:rPr lang="hu-HU" dirty="0" err="1" smtClean="0"/>
              <a:t>consisting</a:t>
            </a:r>
            <a:r>
              <a:rPr lang="hu-HU" dirty="0" smtClean="0"/>
              <a:t> of </a:t>
            </a:r>
            <a:r>
              <a:rPr lang="hu-HU" dirty="0" err="1" smtClean="0"/>
              <a:t>vector</a:t>
            </a:r>
            <a:r>
              <a:rPr lang="hu-HU" dirty="0" smtClean="0"/>
              <a:t> and </a:t>
            </a:r>
            <a:r>
              <a:rPr lang="hu-HU" dirty="0" err="1" smtClean="0"/>
              <a:t>matrix</a:t>
            </a:r>
            <a:r>
              <a:rPr lang="hu-HU" dirty="0" smtClean="0"/>
              <a:t> </a:t>
            </a:r>
            <a:r>
              <a:rPr lang="hu-HU" dirty="0" err="1" smtClean="0"/>
              <a:t>multiplications</a:t>
            </a:r>
            <a:r>
              <a:rPr lang="hu-HU" dirty="0" smtClean="0"/>
              <a:t> </a:t>
            </a:r>
            <a:r>
              <a:rPr lang="hu-HU" dirty="0" err="1" smtClean="0"/>
              <a:t>and</a:t>
            </a:r>
            <a:r>
              <a:rPr lang="hu-HU" dirty="0" smtClean="0"/>
              <a:t> </a:t>
            </a:r>
            <a:r>
              <a:rPr lang="hu-HU" dirty="0" err="1" smtClean="0"/>
              <a:t>application</a:t>
            </a:r>
            <a:r>
              <a:rPr lang="hu-HU" dirty="0" smtClean="0"/>
              <a:t> of </a:t>
            </a:r>
            <a:r>
              <a:rPr lang="hu-HU" dirty="0" err="1"/>
              <a:t>nonlinear</a:t>
            </a:r>
            <a:r>
              <a:rPr lang="hu-HU" dirty="0"/>
              <a:t> </a:t>
            </a:r>
            <a:r>
              <a:rPr lang="hu-HU" dirty="0" err="1" smtClean="0"/>
              <a:t>functions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their</a:t>
            </a:r>
            <a:r>
              <a:rPr lang="hu-HU" dirty="0" smtClean="0"/>
              <a:t> </a:t>
            </a:r>
            <a:r>
              <a:rPr lang="hu-HU" dirty="0" err="1" smtClean="0"/>
              <a:t>products</a:t>
            </a:r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is </a:t>
            </a:r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has </a:t>
            </a:r>
            <a:r>
              <a:rPr lang="hu-HU" b="1" dirty="0" smtClean="0"/>
              <a:t>more </a:t>
            </a:r>
            <a:r>
              <a:rPr lang="hu-HU" b="1" dirty="0" err="1" smtClean="0"/>
              <a:t>than</a:t>
            </a:r>
            <a:r>
              <a:rPr lang="hu-HU" b="1" dirty="0" smtClean="0"/>
              <a:t> </a:t>
            </a:r>
            <a:r>
              <a:rPr lang="hu-HU" b="1" dirty="0" err="1" smtClean="0"/>
              <a:t>two</a:t>
            </a:r>
            <a:r>
              <a:rPr lang="hu-HU" b="1" dirty="0" smtClean="0"/>
              <a:t> </a:t>
            </a:r>
            <a:r>
              <a:rPr lang="hu-HU" b="1" dirty="0" err="1" smtClean="0"/>
              <a:t>hidden</a:t>
            </a:r>
            <a:r>
              <a:rPr lang="hu-HU" b="1" dirty="0" smtClean="0"/>
              <a:t> </a:t>
            </a:r>
            <a:r>
              <a:rPr lang="hu-HU" b="1" dirty="0" err="1" smtClean="0"/>
              <a:t>layers</a:t>
            </a:r>
            <a:endParaRPr lang="hu-HU" b="1" dirty="0" smtClean="0"/>
          </a:p>
          <a:p>
            <a:pPr lvl="1"/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typical</a:t>
            </a:r>
            <a:r>
              <a:rPr lang="hu-HU" dirty="0"/>
              <a:t> </a:t>
            </a:r>
            <a:r>
              <a:rPr lang="hu-HU" dirty="0" err="1"/>
              <a:t>number</a:t>
            </a:r>
            <a:r>
              <a:rPr lang="hu-HU" dirty="0"/>
              <a:t> is </a:t>
            </a:r>
            <a:r>
              <a:rPr lang="hu-HU" dirty="0" err="1"/>
              <a:t>between</a:t>
            </a:r>
            <a:r>
              <a:rPr lang="hu-HU" dirty="0"/>
              <a:t> less </a:t>
            </a:r>
            <a:r>
              <a:rPr lang="hu-HU" dirty="0" err="1"/>
              <a:t>than</a:t>
            </a:r>
            <a:r>
              <a:rPr lang="hu-HU" dirty="0"/>
              <a:t> 10 </a:t>
            </a:r>
            <a:r>
              <a:rPr lang="hu-HU" dirty="0" err="1"/>
              <a:t>to</a:t>
            </a:r>
            <a:r>
              <a:rPr lang="hu-HU" dirty="0"/>
              <a:t> a </a:t>
            </a:r>
            <a:r>
              <a:rPr lang="hu-HU" dirty="0" err="1"/>
              <a:t>few</a:t>
            </a:r>
            <a:r>
              <a:rPr lang="hu-HU" dirty="0"/>
              <a:t> </a:t>
            </a:r>
            <a:r>
              <a:rPr lang="hu-HU" dirty="0" err="1"/>
              <a:t>dozen</a:t>
            </a:r>
            <a:endParaRPr lang="hu-HU" dirty="0"/>
          </a:p>
          <a:p>
            <a:pPr lvl="1"/>
            <a:r>
              <a:rPr lang="hu-HU" dirty="0" err="1" smtClean="0"/>
              <a:t>layer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hidden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: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26932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refers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machine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b="1" dirty="0" err="1" smtClean="0"/>
              <a:t>using</a:t>
            </a:r>
            <a:r>
              <a:rPr lang="hu-HU" b="1" dirty="0" smtClean="0"/>
              <a:t> </a:t>
            </a:r>
            <a:r>
              <a:rPr lang="hu-HU" b="1" dirty="0" err="1" smtClean="0"/>
              <a:t>deep</a:t>
            </a:r>
            <a:r>
              <a:rPr lang="hu-HU" b="1" dirty="0" smtClean="0"/>
              <a:t> </a:t>
            </a:r>
            <a:r>
              <a:rPr lang="hu-HU" b="1" dirty="0" err="1" smtClean="0"/>
              <a:t>neural</a:t>
            </a:r>
            <a:r>
              <a:rPr lang="hu-HU" b="1" dirty="0" smtClean="0"/>
              <a:t> </a:t>
            </a:r>
            <a:r>
              <a:rPr lang="hu-HU" b="1" dirty="0" err="1" smtClean="0"/>
              <a:t>networks</a:t>
            </a:r>
            <a:endParaRPr lang="hu-HU" b="1" dirty="0" smtClean="0"/>
          </a:p>
          <a:p>
            <a:pPr lvl="1"/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: a </a:t>
            </a:r>
            <a:r>
              <a:rPr lang="hu-HU" dirty="0" err="1" smtClean="0"/>
              <a:t>mathematical</a:t>
            </a:r>
            <a:r>
              <a:rPr lang="hu-HU" dirty="0" smtClean="0"/>
              <a:t> </a:t>
            </a:r>
            <a:r>
              <a:rPr lang="hu-HU" dirty="0" err="1"/>
              <a:t>function</a:t>
            </a:r>
            <a:r>
              <a:rPr lang="hu-HU" dirty="0"/>
              <a:t> </a:t>
            </a:r>
            <a:r>
              <a:rPr lang="hu-HU" dirty="0" err="1"/>
              <a:t>consisting</a:t>
            </a:r>
            <a:r>
              <a:rPr lang="hu-HU" dirty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vector</a:t>
            </a:r>
            <a:r>
              <a:rPr lang="hu-HU" dirty="0" smtClean="0"/>
              <a:t> and </a:t>
            </a:r>
            <a:r>
              <a:rPr lang="hu-HU" dirty="0" err="1" smtClean="0"/>
              <a:t>matrix</a:t>
            </a:r>
            <a:r>
              <a:rPr lang="hu-HU" dirty="0" smtClean="0"/>
              <a:t> </a:t>
            </a:r>
            <a:r>
              <a:rPr lang="hu-HU" dirty="0" err="1" smtClean="0"/>
              <a:t>multiplications</a:t>
            </a:r>
            <a:r>
              <a:rPr lang="hu-HU" dirty="0" smtClean="0"/>
              <a:t> </a:t>
            </a:r>
            <a:r>
              <a:rPr lang="hu-HU" dirty="0" err="1" smtClean="0"/>
              <a:t>and</a:t>
            </a:r>
            <a:r>
              <a:rPr lang="hu-HU" dirty="0" smtClean="0"/>
              <a:t> </a:t>
            </a:r>
            <a:r>
              <a:rPr lang="hu-HU" dirty="0" err="1" smtClean="0"/>
              <a:t>application</a:t>
            </a:r>
            <a:r>
              <a:rPr lang="hu-HU" dirty="0" smtClean="0"/>
              <a:t> of </a:t>
            </a:r>
            <a:r>
              <a:rPr lang="hu-HU" dirty="0" err="1"/>
              <a:t>nonlinear</a:t>
            </a:r>
            <a:r>
              <a:rPr lang="hu-HU" dirty="0"/>
              <a:t> </a:t>
            </a:r>
            <a:r>
              <a:rPr lang="hu-HU" dirty="0" err="1" smtClean="0"/>
              <a:t>functions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products</a:t>
            </a:r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is </a:t>
            </a:r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has </a:t>
            </a:r>
            <a:r>
              <a:rPr lang="hu-HU" b="1" dirty="0" smtClean="0"/>
              <a:t>more </a:t>
            </a:r>
            <a:r>
              <a:rPr lang="hu-HU" b="1" dirty="0" err="1" smtClean="0"/>
              <a:t>than</a:t>
            </a:r>
            <a:r>
              <a:rPr lang="hu-HU" b="1" dirty="0" smtClean="0"/>
              <a:t> </a:t>
            </a:r>
            <a:r>
              <a:rPr lang="hu-HU" b="1" dirty="0" err="1" smtClean="0"/>
              <a:t>two</a:t>
            </a:r>
            <a:r>
              <a:rPr lang="hu-HU" b="1" dirty="0" smtClean="0"/>
              <a:t> </a:t>
            </a:r>
            <a:r>
              <a:rPr lang="hu-HU" b="1" dirty="0" err="1" smtClean="0"/>
              <a:t>hidden</a:t>
            </a:r>
            <a:r>
              <a:rPr lang="hu-HU" b="1" dirty="0" smtClean="0"/>
              <a:t> </a:t>
            </a:r>
            <a:r>
              <a:rPr lang="hu-HU" b="1" dirty="0" err="1" smtClean="0"/>
              <a:t>layers</a:t>
            </a:r>
            <a:endParaRPr lang="hu-HU" b="1" dirty="0" smtClean="0"/>
          </a:p>
          <a:p>
            <a:pPr lvl="1"/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typical</a:t>
            </a:r>
            <a:r>
              <a:rPr lang="hu-HU" dirty="0"/>
              <a:t> </a:t>
            </a:r>
            <a:r>
              <a:rPr lang="hu-HU" dirty="0" err="1"/>
              <a:t>number</a:t>
            </a:r>
            <a:r>
              <a:rPr lang="hu-HU" dirty="0"/>
              <a:t> is </a:t>
            </a:r>
            <a:r>
              <a:rPr lang="hu-HU" dirty="0" err="1"/>
              <a:t>between</a:t>
            </a:r>
            <a:r>
              <a:rPr lang="hu-HU" dirty="0"/>
              <a:t> less </a:t>
            </a:r>
            <a:r>
              <a:rPr lang="hu-HU" dirty="0" err="1"/>
              <a:t>than</a:t>
            </a:r>
            <a:r>
              <a:rPr lang="hu-HU" dirty="0"/>
              <a:t> 10 </a:t>
            </a:r>
            <a:r>
              <a:rPr lang="hu-HU" dirty="0" err="1"/>
              <a:t>to</a:t>
            </a:r>
            <a:r>
              <a:rPr lang="hu-HU" dirty="0"/>
              <a:t> a </a:t>
            </a:r>
            <a:r>
              <a:rPr lang="hu-HU" dirty="0" err="1"/>
              <a:t>few</a:t>
            </a:r>
            <a:r>
              <a:rPr lang="hu-HU" dirty="0"/>
              <a:t> </a:t>
            </a:r>
            <a:r>
              <a:rPr lang="hu-HU" dirty="0" err="1"/>
              <a:t>dozen</a:t>
            </a:r>
            <a:endParaRPr lang="hu-HU" dirty="0"/>
          </a:p>
          <a:p>
            <a:pPr lvl="1"/>
            <a:r>
              <a:rPr lang="hu-HU" dirty="0" err="1" smtClean="0"/>
              <a:t>layer</a:t>
            </a:r>
            <a:r>
              <a:rPr lang="hu-HU" dirty="0" smtClean="0"/>
              <a:t>: a </a:t>
            </a:r>
            <a:r>
              <a:rPr lang="hu-HU" dirty="0" err="1" smtClean="0"/>
              <a:t>set</a:t>
            </a:r>
            <a:r>
              <a:rPr lang="hu-HU" dirty="0" smtClean="0"/>
              <a:t> of </a:t>
            </a:r>
            <a:r>
              <a:rPr lang="hu-HU" dirty="0" err="1" smtClean="0"/>
              <a:t>nodes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’s </a:t>
            </a:r>
            <a:r>
              <a:rPr lang="hu-HU" dirty="0" err="1" smtClean="0"/>
              <a:t>computation</a:t>
            </a:r>
            <a:r>
              <a:rPr lang="hu-HU" dirty="0" smtClean="0"/>
              <a:t> </a:t>
            </a:r>
            <a:r>
              <a:rPr lang="hu-HU" dirty="0" err="1" smtClean="0"/>
              <a:t>graph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edges</a:t>
            </a:r>
            <a:r>
              <a:rPr lang="hu-HU" dirty="0" smtClean="0"/>
              <a:t> of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come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</a:t>
            </a:r>
            <a:r>
              <a:rPr lang="hu-HU" dirty="0" err="1" smtClean="0"/>
              <a:t>set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nodes</a:t>
            </a:r>
            <a:r>
              <a:rPr lang="hu-HU" dirty="0" smtClean="0"/>
              <a:t> (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lower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hidden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: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61342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refers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machine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b="1" dirty="0" err="1" smtClean="0"/>
              <a:t>using</a:t>
            </a:r>
            <a:r>
              <a:rPr lang="hu-HU" b="1" dirty="0" smtClean="0"/>
              <a:t> </a:t>
            </a:r>
            <a:r>
              <a:rPr lang="hu-HU" b="1" dirty="0" err="1" smtClean="0"/>
              <a:t>deep</a:t>
            </a:r>
            <a:r>
              <a:rPr lang="hu-HU" b="1" dirty="0" smtClean="0"/>
              <a:t> </a:t>
            </a:r>
            <a:r>
              <a:rPr lang="hu-HU" b="1" dirty="0" err="1" smtClean="0"/>
              <a:t>neural</a:t>
            </a:r>
            <a:r>
              <a:rPr lang="hu-HU" b="1" dirty="0" smtClean="0"/>
              <a:t> </a:t>
            </a:r>
            <a:r>
              <a:rPr lang="hu-HU" b="1" dirty="0" err="1" smtClean="0"/>
              <a:t>networks</a:t>
            </a:r>
            <a:endParaRPr lang="hu-HU" b="1" dirty="0" smtClean="0"/>
          </a:p>
          <a:p>
            <a:pPr lvl="1"/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: a </a:t>
            </a:r>
            <a:r>
              <a:rPr lang="hu-HU" dirty="0" err="1" smtClean="0"/>
              <a:t>mathematical</a:t>
            </a:r>
            <a:r>
              <a:rPr lang="hu-HU" dirty="0" smtClean="0"/>
              <a:t> </a:t>
            </a:r>
            <a:r>
              <a:rPr lang="hu-HU" dirty="0" err="1"/>
              <a:t>function</a:t>
            </a:r>
            <a:r>
              <a:rPr lang="hu-HU" dirty="0"/>
              <a:t> </a:t>
            </a:r>
            <a:r>
              <a:rPr lang="hu-HU" dirty="0" err="1"/>
              <a:t>consisting</a:t>
            </a:r>
            <a:r>
              <a:rPr lang="hu-HU" dirty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vector</a:t>
            </a:r>
            <a:r>
              <a:rPr lang="hu-HU" dirty="0" smtClean="0"/>
              <a:t> and </a:t>
            </a:r>
            <a:r>
              <a:rPr lang="hu-HU" dirty="0" err="1" smtClean="0"/>
              <a:t>matrix</a:t>
            </a:r>
            <a:r>
              <a:rPr lang="hu-HU" dirty="0" smtClean="0"/>
              <a:t> </a:t>
            </a:r>
            <a:r>
              <a:rPr lang="hu-HU" dirty="0" err="1" smtClean="0"/>
              <a:t>multiplications</a:t>
            </a:r>
            <a:r>
              <a:rPr lang="hu-HU" dirty="0" smtClean="0"/>
              <a:t> </a:t>
            </a:r>
            <a:r>
              <a:rPr lang="hu-HU" dirty="0" err="1" smtClean="0"/>
              <a:t>and</a:t>
            </a:r>
            <a:r>
              <a:rPr lang="hu-HU" dirty="0" smtClean="0"/>
              <a:t> </a:t>
            </a:r>
            <a:r>
              <a:rPr lang="hu-HU" dirty="0" err="1" smtClean="0"/>
              <a:t>application</a:t>
            </a:r>
            <a:r>
              <a:rPr lang="hu-HU" dirty="0" smtClean="0"/>
              <a:t> of </a:t>
            </a:r>
            <a:r>
              <a:rPr lang="hu-HU" dirty="0" err="1"/>
              <a:t>nonlinear</a:t>
            </a:r>
            <a:r>
              <a:rPr lang="hu-HU" dirty="0"/>
              <a:t> </a:t>
            </a:r>
            <a:r>
              <a:rPr lang="hu-HU" dirty="0" err="1" smtClean="0"/>
              <a:t>functions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products</a:t>
            </a:r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is </a:t>
            </a:r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has </a:t>
            </a:r>
            <a:r>
              <a:rPr lang="hu-HU" b="1" dirty="0" smtClean="0"/>
              <a:t>more </a:t>
            </a:r>
            <a:r>
              <a:rPr lang="hu-HU" b="1" dirty="0" err="1" smtClean="0"/>
              <a:t>than</a:t>
            </a:r>
            <a:r>
              <a:rPr lang="hu-HU" b="1" dirty="0" smtClean="0"/>
              <a:t> </a:t>
            </a:r>
            <a:r>
              <a:rPr lang="hu-HU" b="1" dirty="0" err="1" smtClean="0"/>
              <a:t>two</a:t>
            </a:r>
            <a:r>
              <a:rPr lang="hu-HU" b="1" dirty="0" smtClean="0"/>
              <a:t> </a:t>
            </a:r>
            <a:r>
              <a:rPr lang="hu-HU" b="1" dirty="0" err="1" smtClean="0"/>
              <a:t>hidden</a:t>
            </a:r>
            <a:r>
              <a:rPr lang="hu-HU" b="1" dirty="0" smtClean="0"/>
              <a:t> </a:t>
            </a:r>
            <a:r>
              <a:rPr lang="hu-HU" b="1" dirty="0" err="1" smtClean="0"/>
              <a:t>layers</a:t>
            </a:r>
            <a:endParaRPr lang="hu-HU" b="1" dirty="0" smtClean="0"/>
          </a:p>
          <a:p>
            <a:pPr lvl="1"/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typical</a:t>
            </a:r>
            <a:r>
              <a:rPr lang="hu-HU" dirty="0"/>
              <a:t> </a:t>
            </a:r>
            <a:r>
              <a:rPr lang="hu-HU" dirty="0" err="1"/>
              <a:t>number</a:t>
            </a:r>
            <a:r>
              <a:rPr lang="hu-HU" dirty="0"/>
              <a:t> is </a:t>
            </a:r>
            <a:r>
              <a:rPr lang="hu-HU" dirty="0" err="1"/>
              <a:t>between</a:t>
            </a:r>
            <a:r>
              <a:rPr lang="hu-HU" dirty="0"/>
              <a:t> less </a:t>
            </a:r>
            <a:r>
              <a:rPr lang="hu-HU" dirty="0" err="1"/>
              <a:t>than</a:t>
            </a:r>
            <a:r>
              <a:rPr lang="hu-HU" dirty="0"/>
              <a:t> 10 </a:t>
            </a:r>
            <a:r>
              <a:rPr lang="hu-HU" dirty="0" err="1"/>
              <a:t>to</a:t>
            </a:r>
            <a:r>
              <a:rPr lang="hu-HU" dirty="0"/>
              <a:t> a </a:t>
            </a:r>
            <a:r>
              <a:rPr lang="hu-HU" dirty="0" err="1"/>
              <a:t>few</a:t>
            </a:r>
            <a:r>
              <a:rPr lang="hu-HU" dirty="0"/>
              <a:t> </a:t>
            </a:r>
            <a:r>
              <a:rPr lang="hu-HU" dirty="0" err="1"/>
              <a:t>dozen</a:t>
            </a:r>
            <a:endParaRPr lang="hu-HU" dirty="0"/>
          </a:p>
          <a:p>
            <a:pPr lvl="1"/>
            <a:r>
              <a:rPr lang="hu-HU" dirty="0" err="1" smtClean="0"/>
              <a:t>layer</a:t>
            </a:r>
            <a:r>
              <a:rPr lang="hu-HU" dirty="0" smtClean="0"/>
              <a:t>: a </a:t>
            </a:r>
            <a:r>
              <a:rPr lang="hu-HU" dirty="0" err="1" smtClean="0"/>
              <a:t>set</a:t>
            </a:r>
            <a:r>
              <a:rPr lang="hu-HU" dirty="0" smtClean="0"/>
              <a:t> of </a:t>
            </a:r>
            <a:r>
              <a:rPr lang="hu-HU" dirty="0" err="1" smtClean="0"/>
              <a:t>nodes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’s </a:t>
            </a:r>
            <a:r>
              <a:rPr lang="hu-HU" dirty="0" err="1" smtClean="0"/>
              <a:t>computation</a:t>
            </a:r>
            <a:r>
              <a:rPr lang="hu-HU" dirty="0" smtClean="0"/>
              <a:t> </a:t>
            </a:r>
            <a:r>
              <a:rPr lang="hu-HU" dirty="0" err="1" smtClean="0"/>
              <a:t>graph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edges</a:t>
            </a:r>
            <a:r>
              <a:rPr lang="hu-HU" dirty="0" smtClean="0"/>
              <a:t> of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come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</a:t>
            </a:r>
            <a:r>
              <a:rPr lang="hu-HU" dirty="0" err="1" smtClean="0"/>
              <a:t>set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nodes</a:t>
            </a:r>
            <a:r>
              <a:rPr lang="hu-HU" dirty="0" smtClean="0"/>
              <a:t> (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lower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hidden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: a </a:t>
            </a:r>
            <a:r>
              <a:rPr lang="hu-HU" dirty="0" err="1" smtClean="0"/>
              <a:t>layer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is </a:t>
            </a:r>
            <a:r>
              <a:rPr lang="hu-HU" dirty="0" err="1" smtClean="0"/>
              <a:t>neither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nor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output </a:t>
            </a:r>
            <a:r>
              <a:rPr lang="hu-HU" dirty="0" err="1" smtClean="0"/>
              <a:t>layer</a:t>
            </a:r>
            <a:endParaRPr lang="hu-HU" dirty="0" smtClean="0"/>
          </a:p>
          <a:p>
            <a:pPr lvl="2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activation</a:t>
            </a:r>
            <a:r>
              <a:rPr lang="hu-HU" dirty="0" smtClean="0"/>
              <a:t> of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neurons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calculated</a:t>
            </a:r>
            <a:r>
              <a:rPr lang="hu-HU" dirty="0" smtClean="0"/>
              <a:t>, </a:t>
            </a:r>
            <a:r>
              <a:rPr lang="hu-HU" dirty="0" err="1" smtClean="0"/>
              <a:t>directly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indirectly</a:t>
            </a:r>
            <a:r>
              <a:rPr lang="hu-HU" dirty="0" smtClean="0"/>
              <a:t>,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layer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41610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 err="1" smtClean="0"/>
              <a:t>Although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follow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number</a:t>
            </a:r>
            <a:r>
              <a:rPr lang="hu-HU" dirty="0" smtClean="0"/>
              <a:t> of </a:t>
            </a:r>
            <a:r>
              <a:rPr lang="hu-HU" dirty="0" err="1" smtClean="0"/>
              <a:t>layers</a:t>
            </a:r>
            <a:r>
              <a:rPr lang="hu-HU" dirty="0" smtClean="0"/>
              <a:t>,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</a:t>
            </a:r>
            <a:r>
              <a:rPr lang="hu-HU" dirty="0" err="1" smtClean="0"/>
              <a:t>tend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a </a:t>
            </a:r>
            <a:r>
              <a:rPr lang="hu-HU" b="1" dirty="0" err="1" smtClean="0"/>
              <a:t>large</a:t>
            </a:r>
            <a:r>
              <a:rPr lang="hu-HU" b="1" dirty="0"/>
              <a:t> </a:t>
            </a:r>
            <a:r>
              <a:rPr lang="hu-HU" b="1" dirty="0" err="1" smtClean="0"/>
              <a:t>number</a:t>
            </a:r>
            <a:r>
              <a:rPr lang="hu-HU" b="1" dirty="0" smtClean="0"/>
              <a:t> of </a:t>
            </a:r>
            <a:r>
              <a:rPr lang="hu-HU" b="1" dirty="0" err="1" smtClean="0"/>
              <a:t>parameters</a:t>
            </a:r>
            <a:endParaRPr lang="hu-HU" b="1" dirty="0" smtClean="0"/>
          </a:p>
          <a:p>
            <a:pPr lvl="1"/>
            <a:r>
              <a:rPr lang="hu-HU" dirty="0" smtClean="0"/>
              <a:t>a </a:t>
            </a:r>
            <a:r>
              <a:rPr lang="hu-HU" dirty="0" err="1" smtClean="0"/>
              <a:t>small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tends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b="1" dirty="0" err="1" smtClean="0"/>
              <a:t>a</a:t>
            </a:r>
            <a:r>
              <a:rPr lang="hu-HU" b="1" dirty="0" smtClean="0"/>
              <a:t> </a:t>
            </a:r>
            <a:r>
              <a:rPr lang="hu-HU" b="1" dirty="0" err="1" smtClean="0"/>
              <a:t>few</a:t>
            </a:r>
            <a:r>
              <a:rPr lang="hu-HU" b="1" dirty="0" smtClean="0"/>
              <a:t> </a:t>
            </a:r>
            <a:r>
              <a:rPr lang="hu-HU" b="1" dirty="0" err="1" smtClean="0"/>
              <a:t>million</a:t>
            </a:r>
            <a:r>
              <a:rPr lang="hu-HU" b="1" dirty="0" smtClean="0"/>
              <a:t> </a:t>
            </a:r>
            <a:r>
              <a:rPr lang="hu-HU" dirty="0" err="1" smtClean="0"/>
              <a:t>parameters</a:t>
            </a:r>
            <a:endParaRPr lang="hu-HU" dirty="0" smtClean="0"/>
          </a:p>
          <a:p>
            <a:pPr lvl="1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largest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today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large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believed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dirty="0" err="1" smtClean="0"/>
              <a:t>somewhere</a:t>
            </a:r>
            <a:r>
              <a:rPr lang="hu-HU" dirty="0" smtClean="0"/>
              <a:t> </a:t>
            </a:r>
            <a:r>
              <a:rPr lang="hu-HU" b="1" dirty="0" err="1" smtClean="0"/>
              <a:t>around</a:t>
            </a:r>
            <a:r>
              <a:rPr lang="hu-HU" b="1" dirty="0" smtClean="0"/>
              <a:t> 2000 </a:t>
            </a:r>
            <a:r>
              <a:rPr lang="hu-HU" b="1" dirty="0" err="1" smtClean="0"/>
              <a:t>billion</a:t>
            </a:r>
            <a:r>
              <a:rPr lang="hu-HU" b="1" dirty="0" smtClean="0"/>
              <a:t> </a:t>
            </a:r>
            <a:r>
              <a:rPr lang="hu-HU" dirty="0" err="1" smtClean="0"/>
              <a:t>parameters</a:t>
            </a:r>
            <a:endParaRPr lang="hu-HU" dirty="0" smtClean="0"/>
          </a:p>
          <a:p>
            <a:pPr lvl="1"/>
            <a:r>
              <a:rPr lang="hu-HU" dirty="0" err="1" smtClean="0"/>
              <a:t>parameters</a:t>
            </a:r>
            <a:r>
              <a:rPr lang="hu-HU" dirty="0" smtClean="0"/>
              <a:t>: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27756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Deep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 err="1" smtClean="0"/>
              <a:t>Although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follow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number</a:t>
            </a:r>
            <a:r>
              <a:rPr lang="hu-HU" dirty="0" smtClean="0"/>
              <a:t> of </a:t>
            </a:r>
            <a:r>
              <a:rPr lang="hu-HU" dirty="0" err="1" smtClean="0"/>
              <a:t>layers</a:t>
            </a:r>
            <a:r>
              <a:rPr lang="hu-HU" dirty="0" smtClean="0"/>
              <a:t>,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</a:t>
            </a:r>
            <a:r>
              <a:rPr lang="hu-HU" dirty="0" err="1" smtClean="0"/>
              <a:t>tend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a </a:t>
            </a:r>
            <a:r>
              <a:rPr lang="hu-HU" b="1" dirty="0" err="1" smtClean="0"/>
              <a:t>large</a:t>
            </a:r>
            <a:r>
              <a:rPr lang="hu-HU" b="1" dirty="0"/>
              <a:t> </a:t>
            </a:r>
            <a:r>
              <a:rPr lang="hu-HU" b="1" dirty="0" err="1" smtClean="0"/>
              <a:t>number</a:t>
            </a:r>
            <a:r>
              <a:rPr lang="hu-HU" b="1" dirty="0" smtClean="0"/>
              <a:t> of </a:t>
            </a:r>
            <a:r>
              <a:rPr lang="hu-HU" b="1" dirty="0" err="1" smtClean="0"/>
              <a:t>parameters</a:t>
            </a:r>
            <a:endParaRPr lang="hu-HU" b="1" dirty="0" smtClean="0"/>
          </a:p>
          <a:p>
            <a:pPr lvl="1"/>
            <a:r>
              <a:rPr lang="hu-HU" dirty="0" smtClean="0"/>
              <a:t>a </a:t>
            </a:r>
            <a:r>
              <a:rPr lang="hu-HU" dirty="0" err="1" smtClean="0"/>
              <a:t>small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tends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b="1" dirty="0" err="1" smtClean="0"/>
              <a:t>a</a:t>
            </a:r>
            <a:r>
              <a:rPr lang="hu-HU" b="1" dirty="0" smtClean="0"/>
              <a:t> </a:t>
            </a:r>
            <a:r>
              <a:rPr lang="hu-HU" b="1" dirty="0" err="1" smtClean="0"/>
              <a:t>few</a:t>
            </a:r>
            <a:r>
              <a:rPr lang="hu-HU" b="1" dirty="0" smtClean="0"/>
              <a:t> </a:t>
            </a:r>
            <a:r>
              <a:rPr lang="hu-HU" b="1" dirty="0" err="1" smtClean="0"/>
              <a:t>million</a:t>
            </a:r>
            <a:r>
              <a:rPr lang="hu-HU" b="1" dirty="0" smtClean="0"/>
              <a:t> </a:t>
            </a:r>
            <a:r>
              <a:rPr lang="hu-HU" dirty="0" err="1" smtClean="0"/>
              <a:t>parameters</a:t>
            </a:r>
            <a:endParaRPr lang="hu-HU" dirty="0" smtClean="0"/>
          </a:p>
          <a:p>
            <a:pPr lvl="1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largest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today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large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believed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dirty="0" err="1" smtClean="0"/>
              <a:t>somewhere</a:t>
            </a:r>
            <a:r>
              <a:rPr lang="hu-HU" dirty="0" smtClean="0"/>
              <a:t> </a:t>
            </a:r>
            <a:r>
              <a:rPr lang="hu-HU" b="1" dirty="0" err="1" smtClean="0"/>
              <a:t>around</a:t>
            </a:r>
            <a:r>
              <a:rPr lang="hu-HU" b="1" dirty="0" smtClean="0"/>
              <a:t> 2000 </a:t>
            </a:r>
            <a:r>
              <a:rPr lang="hu-HU" b="1" dirty="0" err="1" smtClean="0"/>
              <a:t>billion</a:t>
            </a:r>
            <a:r>
              <a:rPr lang="hu-HU" b="1" dirty="0" smtClean="0"/>
              <a:t> </a:t>
            </a:r>
            <a:r>
              <a:rPr lang="hu-HU" dirty="0" err="1" smtClean="0"/>
              <a:t>parameters</a:t>
            </a:r>
            <a:endParaRPr lang="hu-HU" dirty="0" smtClean="0"/>
          </a:p>
          <a:p>
            <a:pPr lvl="1"/>
            <a:r>
              <a:rPr lang="hu-HU" dirty="0" err="1" smtClean="0"/>
              <a:t>parameters</a:t>
            </a:r>
            <a:r>
              <a:rPr lang="hu-HU" dirty="0" smtClean="0"/>
              <a:t>: </a:t>
            </a:r>
            <a:r>
              <a:rPr lang="hu-HU" dirty="0" err="1"/>
              <a:t>weights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model</a:t>
            </a:r>
            <a:r>
              <a:rPr lang="hu-HU" dirty="0"/>
              <a:t> </a:t>
            </a:r>
            <a:r>
              <a:rPr lang="hu-HU" dirty="0" err="1"/>
              <a:t>that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activations</a:t>
            </a:r>
            <a:r>
              <a:rPr lang="hu-HU" dirty="0"/>
              <a:t> </a:t>
            </a:r>
            <a:r>
              <a:rPr lang="hu-HU" dirty="0" err="1"/>
              <a:t>from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previous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 </a:t>
            </a:r>
            <a:r>
              <a:rPr lang="hu-HU" dirty="0" err="1"/>
              <a:t>of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network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multiplied</a:t>
            </a:r>
            <a:r>
              <a:rPr lang="hu-HU" dirty="0"/>
              <a:t> </a:t>
            </a:r>
            <a:r>
              <a:rPr lang="hu-HU" dirty="0" err="1"/>
              <a:t>by</a:t>
            </a:r>
            <a:endParaRPr lang="hu-HU" dirty="0"/>
          </a:p>
          <a:p>
            <a:pPr lvl="2"/>
            <a:r>
              <a:rPr lang="hu-HU" dirty="0" err="1"/>
              <a:t>the</a:t>
            </a:r>
            <a:r>
              <a:rPr lang="hu-HU" dirty="0"/>
              <a:t> input </a:t>
            </a:r>
            <a:r>
              <a:rPr lang="hu-HU" dirty="0" err="1"/>
              <a:t>features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variables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model</a:t>
            </a:r>
            <a:endParaRPr lang="hu-HU" dirty="0"/>
          </a:p>
          <a:p>
            <a:pPr lvl="2"/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parameters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constant</a:t>
            </a:r>
            <a:r>
              <a:rPr lang="hu-HU" dirty="0"/>
              <a:t> </a:t>
            </a:r>
            <a:r>
              <a:rPr lang="hu-HU" dirty="0" err="1"/>
              <a:t>parts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function</a:t>
            </a:r>
            <a:r>
              <a:rPr lang="hu-HU" dirty="0"/>
              <a:t> </a:t>
            </a:r>
            <a:r>
              <a:rPr lang="hu-HU" dirty="0" err="1"/>
              <a:t>that</a:t>
            </a:r>
            <a:r>
              <a:rPr lang="hu-HU" dirty="0"/>
              <a:t> is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neural</a:t>
            </a:r>
            <a:r>
              <a:rPr lang="hu-HU" dirty="0"/>
              <a:t> </a:t>
            </a:r>
            <a:r>
              <a:rPr lang="hu-HU" dirty="0" err="1" smtClean="0"/>
              <a:t>network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40366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Deep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vs</a:t>
            </a:r>
            <a:r>
              <a:rPr lang="hu-HU" dirty="0"/>
              <a:t/>
            </a:r>
            <a:br>
              <a:rPr lang="hu-HU" dirty="0"/>
            </a:br>
            <a:r>
              <a:rPr lang="hu-HU" dirty="0" err="1" smtClean="0"/>
              <a:t>Traditional</a:t>
            </a:r>
            <a:r>
              <a:rPr lang="hu-HU" dirty="0" smtClean="0"/>
              <a:t> ML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b="1" dirty="0" err="1" smtClean="0"/>
              <a:t>Traditional</a:t>
            </a:r>
            <a:r>
              <a:rPr lang="hu-HU" b="1" dirty="0" smtClean="0"/>
              <a:t> </a:t>
            </a:r>
            <a:r>
              <a:rPr lang="hu-HU" b="1" dirty="0" err="1" smtClean="0"/>
              <a:t>machine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endParaRPr lang="hu-HU" b="1" dirty="0" smtClean="0"/>
          </a:p>
          <a:p>
            <a:pPr lvl="1"/>
            <a:r>
              <a:rPr lang="hu-HU" dirty="0" smtClean="0"/>
              <a:t>is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suitable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working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a </a:t>
            </a:r>
            <a:r>
              <a:rPr lang="hu-HU" b="1" dirty="0" err="1" smtClean="0"/>
              <a:t>small</a:t>
            </a:r>
            <a:r>
              <a:rPr lang="hu-HU" b="1" dirty="0" smtClean="0"/>
              <a:t> </a:t>
            </a:r>
            <a:r>
              <a:rPr lang="hu-HU" b="1" dirty="0" err="1" smtClean="0"/>
              <a:t>number</a:t>
            </a:r>
            <a:r>
              <a:rPr lang="hu-HU" b="1" dirty="0" smtClean="0"/>
              <a:t> of </a:t>
            </a:r>
            <a:r>
              <a:rPr lang="hu-HU" b="1" dirty="0" err="1" smtClean="0"/>
              <a:t>features</a:t>
            </a:r>
            <a:r>
              <a:rPr lang="hu-HU" b="1" dirty="0" smtClean="0"/>
              <a:t> </a:t>
            </a:r>
            <a:r>
              <a:rPr lang="hu-HU" dirty="0" smtClean="0"/>
              <a:t>per input</a:t>
            </a:r>
          </a:p>
          <a:p>
            <a:pPr lvl="1"/>
            <a:r>
              <a:rPr lang="hu-HU" dirty="0" err="1" smtClean="0"/>
              <a:t>high-dimensional</a:t>
            </a:r>
            <a:r>
              <a:rPr lang="hu-HU" dirty="0" smtClean="0"/>
              <a:t> input </a:t>
            </a:r>
            <a:r>
              <a:rPr lang="hu-HU" dirty="0" err="1" smtClean="0"/>
              <a:t>data</a:t>
            </a:r>
            <a:r>
              <a:rPr lang="hu-HU" dirty="0" smtClean="0"/>
              <a:t> </a:t>
            </a:r>
            <a:r>
              <a:rPr lang="hu-HU" dirty="0" err="1" smtClean="0"/>
              <a:t>needs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reduced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</a:t>
            </a:r>
            <a:r>
              <a:rPr lang="hu-HU" b="1" dirty="0" err="1" smtClean="0"/>
              <a:t>small</a:t>
            </a:r>
            <a:r>
              <a:rPr lang="hu-HU" b="1" dirty="0" smtClean="0"/>
              <a:t> </a:t>
            </a:r>
            <a:r>
              <a:rPr lang="hu-HU" b="1" dirty="0" err="1" smtClean="0"/>
              <a:t>number</a:t>
            </a:r>
            <a:r>
              <a:rPr lang="hu-HU" b="1" dirty="0" smtClean="0"/>
              <a:t> of </a:t>
            </a:r>
            <a:r>
              <a:rPr lang="hu-HU" b="1" dirty="0" err="1" smtClean="0"/>
              <a:t>dimensions</a:t>
            </a:r>
            <a:endParaRPr lang="hu-HU" b="1" dirty="0" smtClean="0"/>
          </a:p>
          <a:p>
            <a:pPr lvl="2"/>
            <a:r>
              <a:rPr lang="hu-HU" dirty="0" err="1" smtClean="0"/>
              <a:t>example</a:t>
            </a:r>
            <a:r>
              <a:rPr lang="hu-HU" dirty="0" smtClean="0"/>
              <a:t>: OCR (</a:t>
            </a:r>
            <a:r>
              <a:rPr lang="hu-HU" dirty="0" err="1" smtClean="0"/>
              <a:t>optical</a:t>
            </a:r>
            <a:r>
              <a:rPr lang="hu-HU" dirty="0" smtClean="0"/>
              <a:t> </a:t>
            </a:r>
            <a:r>
              <a:rPr lang="hu-HU" dirty="0" err="1" smtClean="0"/>
              <a:t>character</a:t>
            </a:r>
            <a:r>
              <a:rPr lang="hu-HU" dirty="0" smtClean="0"/>
              <a:t> </a:t>
            </a:r>
            <a:r>
              <a:rPr lang="hu-HU" dirty="0" err="1" smtClean="0"/>
              <a:t>recognition</a:t>
            </a:r>
            <a:r>
              <a:rPr lang="hu-HU" dirty="0" smtClean="0"/>
              <a:t>)</a:t>
            </a:r>
          </a:p>
          <a:p>
            <a:pPr lvl="3"/>
            <a:r>
              <a:rPr lang="hu-HU" dirty="0" err="1" smtClean="0"/>
              <a:t>the</a:t>
            </a:r>
            <a:r>
              <a:rPr lang="hu-HU" dirty="0" smtClean="0"/>
              <a:t> image is </a:t>
            </a:r>
            <a:r>
              <a:rPr lang="hu-HU" dirty="0" err="1" smtClean="0"/>
              <a:t>segmented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lines</a:t>
            </a:r>
            <a:r>
              <a:rPr lang="hu-HU" dirty="0" smtClean="0"/>
              <a:t> and </a:t>
            </a:r>
            <a:r>
              <a:rPr lang="hu-HU" dirty="0" err="1" smtClean="0"/>
              <a:t>characters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horizontal</a:t>
            </a:r>
            <a:r>
              <a:rPr lang="hu-HU" dirty="0" smtClean="0"/>
              <a:t> </a:t>
            </a:r>
            <a:r>
              <a:rPr lang="hu-HU" dirty="0" err="1" smtClean="0"/>
              <a:t>and</a:t>
            </a:r>
            <a:r>
              <a:rPr lang="hu-HU" dirty="0" smtClean="0"/>
              <a:t> </a:t>
            </a:r>
            <a:r>
              <a:rPr lang="hu-HU" dirty="0" err="1" smtClean="0"/>
              <a:t>vertical</a:t>
            </a:r>
            <a:r>
              <a:rPr lang="hu-HU" dirty="0" smtClean="0"/>
              <a:t> </a:t>
            </a:r>
            <a:r>
              <a:rPr lang="hu-HU" dirty="0" err="1" smtClean="0"/>
              <a:t>regions</a:t>
            </a:r>
            <a:r>
              <a:rPr lang="hu-HU" dirty="0" smtClean="0"/>
              <a:t> </a:t>
            </a:r>
            <a:r>
              <a:rPr lang="hu-HU" dirty="0" err="1" smtClean="0"/>
              <a:t>stripes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relatively</a:t>
            </a:r>
            <a:r>
              <a:rPr lang="hu-HU" dirty="0" smtClean="0"/>
              <a:t> </a:t>
            </a:r>
            <a:r>
              <a:rPr lang="hu-HU" dirty="0" err="1" smtClean="0"/>
              <a:t>empty</a:t>
            </a:r>
            <a:endParaRPr lang="hu-HU" dirty="0" smtClean="0"/>
          </a:p>
          <a:p>
            <a:pPr lvl="3"/>
            <a:r>
              <a:rPr lang="hu-HU" dirty="0" err="1" smtClean="0"/>
              <a:t>characters</a:t>
            </a:r>
            <a:r>
              <a:rPr lang="hu-HU" dirty="0" smtClean="0"/>
              <a:t> </a:t>
            </a:r>
            <a:r>
              <a:rPr lang="hu-HU" dirty="0" err="1" smtClean="0"/>
              <a:t>might</a:t>
            </a:r>
            <a:r>
              <a:rPr lang="hu-HU" dirty="0" smtClean="0"/>
              <a:t> be </a:t>
            </a:r>
            <a:r>
              <a:rPr lang="hu-HU" dirty="0" err="1" smtClean="0"/>
              <a:t>straightened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handle</a:t>
            </a:r>
            <a:r>
              <a:rPr lang="hu-HU" dirty="0" smtClean="0"/>
              <a:t> </a:t>
            </a:r>
            <a:r>
              <a:rPr lang="hu-HU" dirty="0" err="1" smtClean="0"/>
              <a:t>italics</a:t>
            </a:r>
            <a:endParaRPr lang="hu-HU" dirty="0" smtClean="0"/>
          </a:p>
          <a:p>
            <a:pPr lvl="3"/>
            <a:r>
              <a:rPr lang="hu-HU" dirty="0" err="1" smtClean="0"/>
              <a:t>within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character</a:t>
            </a:r>
            <a:r>
              <a:rPr lang="hu-HU" dirty="0" smtClean="0"/>
              <a:t> </a:t>
            </a:r>
            <a:r>
              <a:rPr lang="hu-HU" dirty="0" err="1" smtClean="0"/>
              <a:t>bounding</a:t>
            </a:r>
            <a:r>
              <a:rPr lang="hu-HU" dirty="0" smtClean="0"/>
              <a:t> </a:t>
            </a:r>
            <a:r>
              <a:rPr lang="hu-HU" dirty="0" err="1" smtClean="0"/>
              <a:t>box</a:t>
            </a:r>
            <a:r>
              <a:rPr lang="hu-HU" dirty="0" smtClean="0"/>
              <a:t>, </a:t>
            </a:r>
            <a:r>
              <a:rPr lang="hu-HU" dirty="0" err="1" smtClean="0"/>
              <a:t>black</a:t>
            </a:r>
            <a:r>
              <a:rPr lang="hu-HU" dirty="0" smtClean="0"/>
              <a:t> </a:t>
            </a:r>
            <a:r>
              <a:rPr lang="hu-HU" dirty="0" err="1" smtClean="0"/>
              <a:t>pixels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vertical</a:t>
            </a:r>
            <a:r>
              <a:rPr lang="hu-HU" dirty="0" smtClean="0"/>
              <a:t> and </a:t>
            </a:r>
            <a:r>
              <a:rPr lang="hu-HU" dirty="0" err="1" smtClean="0"/>
              <a:t>horizontal</a:t>
            </a:r>
            <a:r>
              <a:rPr lang="hu-HU" dirty="0" smtClean="0"/>
              <a:t> </a:t>
            </a:r>
            <a:r>
              <a:rPr lang="hu-HU" dirty="0" err="1" smtClean="0"/>
              <a:t>scan</a:t>
            </a:r>
            <a:r>
              <a:rPr lang="hu-HU" dirty="0" smtClean="0"/>
              <a:t> </a:t>
            </a:r>
            <a:r>
              <a:rPr lang="hu-HU" dirty="0" err="1" smtClean="0"/>
              <a:t>lines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counted</a:t>
            </a:r>
            <a:r>
              <a:rPr lang="hu-HU" dirty="0" smtClean="0"/>
              <a:t>, </a:t>
            </a:r>
            <a:r>
              <a:rPr lang="hu-HU" dirty="0" err="1" smtClean="0"/>
              <a:t>reducing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dimensionality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width</a:t>
            </a:r>
            <a:r>
              <a:rPr lang="hu-HU" dirty="0" smtClean="0"/>
              <a:t> </a:t>
            </a:r>
            <a:r>
              <a:rPr lang="hu-HU" dirty="0" err="1" smtClean="0"/>
              <a:t>times</a:t>
            </a:r>
            <a:r>
              <a:rPr lang="hu-HU" dirty="0" smtClean="0"/>
              <a:t> </a:t>
            </a:r>
            <a:r>
              <a:rPr lang="hu-HU" dirty="0" err="1" smtClean="0"/>
              <a:t>height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width</a:t>
            </a:r>
            <a:r>
              <a:rPr lang="hu-HU" dirty="0" smtClean="0"/>
              <a:t> plus </a:t>
            </a:r>
            <a:r>
              <a:rPr lang="hu-HU" dirty="0" err="1" smtClean="0"/>
              <a:t>height</a:t>
            </a:r>
            <a:endParaRPr lang="hu-HU" dirty="0" smtClean="0"/>
          </a:p>
          <a:p>
            <a:pPr lvl="2"/>
            <a:r>
              <a:rPr lang="hu-HU" dirty="0" err="1" smtClean="0"/>
              <a:t>example</a:t>
            </a:r>
            <a:r>
              <a:rPr lang="hu-HU" dirty="0" smtClean="0"/>
              <a:t>: </a:t>
            </a:r>
            <a:r>
              <a:rPr lang="hu-HU" dirty="0" err="1" smtClean="0"/>
              <a:t>NLP</a:t>
            </a:r>
            <a:r>
              <a:rPr lang="hu-HU" dirty="0" smtClean="0"/>
              <a:t> (</a:t>
            </a:r>
            <a:r>
              <a:rPr lang="hu-HU" dirty="0" err="1" smtClean="0"/>
              <a:t>natural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 smtClean="0"/>
              <a:t>)</a:t>
            </a:r>
          </a:p>
          <a:p>
            <a:pPr lvl="3"/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a text </a:t>
            </a:r>
            <a:r>
              <a:rPr lang="hu-HU" dirty="0" err="1" smtClean="0"/>
              <a:t>classifier</a:t>
            </a:r>
            <a:r>
              <a:rPr lang="hu-HU" dirty="0" smtClean="0"/>
              <a:t>,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contained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text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filtered (</a:t>
            </a:r>
            <a:r>
              <a:rPr lang="hu-HU" dirty="0" err="1" smtClean="0"/>
              <a:t>punctuation</a:t>
            </a:r>
            <a:r>
              <a:rPr lang="hu-HU" dirty="0" smtClean="0"/>
              <a:t>, </a:t>
            </a:r>
            <a:r>
              <a:rPr lang="hu-HU" dirty="0" err="1" smtClean="0"/>
              <a:t>stopwords</a:t>
            </a:r>
            <a:r>
              <a:rPr lang="hu-HU" dirty="0" smtClean="0"/>
              <a:t>, </a:t>
            </a:r>
            <a:r>
              <a:rPr lang="hu-HU" dirty="0" err="1" smtClean="0"/>
              <a:t>unique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removed</a:t>
            </a:r>
            <a:r>
              <a:rPr lang="hu-HU" dirty="0" smtClean="0"/>
              <a:t>,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lower-cased</a:t>
            </a:r>
            <a:r>
              <a:rPr lang="hu-HU" dirty="0" smtClean="0"/>
              <a:t> and </a:t>
            </a:r>
            <a:r>
              <a:rPr lang="hu-HU" dirty="0" err="1" smtClean="0"/>
              <a:t>lemmatised</a:t>
            </a:r>
            <a:r>
              <a:rPr lang="hu-HU" dirty="0" smtClean="0"/>
              <a:t>)</a:t>
            </a:r>
          </a:p>
          <a:p>
            <a:pPr lvl="2"/>
            <a:r>
              <a:rPr lang="hu-HU" dirty="0" smtClean="0"/>
              <a:t>more </a:t>
            </a:r>
            <a:r>
              <a:rPr lang="hu-HU" dirty="0" err="1" smtClean="0"/>
              <a:t>general</a:t>
            </a:r>
            <a:r>
              <a:rPr lang="hu-HU" dirty="0" smtClean="0"/>
              <a:t> </a:t>
            </a:r>
            <a:r>
              <a:rPr lang="hu-HU" dirty="0" err="1" smtClean="0"/>
              <a:t>approach</a:t>
            </a:r>
            <a:r>
              <a:rPr lang="hu-HU" dirty="0" smtClean="0"/>
              <a:t>: </a:t>
            </a:r>
            <a:r>
              <a:rPr lang="hu-HU" dirty="0" err="1" smtClean="0"/>
              <a:t>dimensionality</a:t>
            </a:r>
            <a:r>
              <a:rPr lang="hu-HU" dirty="0" smtClean="0"/>
              <a:t> </a:t>
            </a:r>
            <a:r>
              <a:rPr lang="hu-HU" dirty="0" err="1" smtClean="0"/>
              <a:t>reduction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mathematical</a:t>
            </a:r>
            <a:r>
              <a:rPr lang="hu-HU" dirty="0" smtClean="0"/>
              <a:t> </a:t>
            </a:r>
            <a:r>
              <a:rPr lang="hu-HU" dirty="0" err="1" smtClean="0"/>
              <a:t>methods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principal</a:t>
            </a:r>
            <a:r>
              <a:rPr lang="hu-HU" dirty="0" smtClean="0"/>
              <a:t> </a:t>
            </a:r>
            <a:r>
              <a:rPr lang="hu-HU" dirty="0" err="1" smtClean="0"/>
              <a:t>component</a:t>
            </a:r>
            <a:r>
              <a:rPr lang="hu-HU" dirty="0" smtClean="0"/>
              <a:t> </a:t>
            </a:r>
            <a:r>
              <a:rPr lang="hu-HU" dirty="0" err="1" smtClean="0"/>
              <a:t>analysis</a:t>
            </a:r>
            <a:r>
              <a:rPr lang="hu-HU" dirty="0" smtClean="0"/>
              <a:t> (</a:t>
            </a:r>
            <a:r>
              <a:rPr lang="hu-HU" dirty="0" err="1" smtClean="0"/>
              <a:t>PCA</a:t>
            </a:r>
            <a:r>
              <a:rPr lang="hu-HU" dirty="0" smtClean="0"/>
              <a:t>)</a:t>
            </a:r>
          </a:p>
          <a:p>
            <a:pPr lvl="1"/>
            <a:r>
              <a:rPr lang="hu-HU" b="1" dirty="0" err="1" smtClean="0"/>
              <a:t>feature</a:t>
            </a:r>
            <a:r>
              <a:rPr lang="hu-HU" b="1" dirty="0" smtClean="0"/>
              <a:t> </a:t>
            </a:r>
            <a:r>
              <a:rPr lang="hu-HU" b="1" dirty="0" err="1" smtClean="0"/>
              <a:t>extraction</a:t>
            </a:r>
            <a:r>
              <a:rPr lang="hu-HU" b="1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b="1" dirty="0" err="1" smtClean="0"/>
              <a:t>feature</a:t>
            </a:r>
            <a:r>
              <a:rPr lang="hu-HU" b="1" dirty="0" smtClean="0"/>
              <a:t> </a:t>
            </a:r>
            <a:r>
              <a:rPr lang="hu-HU" b="1" dirty="0" err="1" smtClean="0"/>
              <a:t>engineering</a:t>
            </a:r>
            <a:r>
              <a:rPr lang="hu-HU" b="1" dirty="0" smtClean="0"/>
              <a:t> </a:t>
            </a:r>
            <a:r>
              <a:rPr lang="hu-HU" dirty="0" err="1" smtClean="0"/>
              <a:t>precedes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endParaRPr lang="hu-HU" dirty="0" smtClean="0"/>
          </a:p>
          <a:p>
            <a:pPr lvl="1"/>
            <a:r>
              <a:rPr lang="hu-HU" dirty="0" smtClean="0"/>
              <a:t>input </a:t>
            </a:r>
            <a:r>
              <a:rPr lang="hu-HU" dirty="0" err="1" smtClean="0"/>
              <a:t>should</a:t>
            </a:r>
            <a:r>
              <a:rPr lang="hu-HU" dirty="0" smtClean="0"/>
              <a:t> be </a:t>
            </a:r>
            <a:r>
              <a:rPr lang="hu-HU" b="1" dirty="0" err="1" smtClean="0"/>
              <a:t>clean</a:t>
            </a:r>
            <a:r>
              <a:rPr lang="hu-HU" dirty="0" smtClean="0"/>
              <a:t>, </a:t>
            </a:r>
            <a:r>
              <a:rPr lang="hu-HU" dirty="0" err="1" smtClean="0"/>
              <a:t>extreme</a:t>
            </a:r>
            <a:r>
              <a:rPr lang="hu-HU" dirty="0" smtClean="0"/>
              <a:t> </a:t>
            </a:r>
            <a:r>
              <a:rPr lang="hu-HU" dirty="0" err="1" smtClean="0"/>
              <a:t>outliers</a:t>
            </a:r>
            <a:r>
              <a:rPr lang="hu-HU" dirty="0" smtClean="0"/>
              <a:t>, </a:t>
            </a:r>
            <a:r>
              <a:rPr lang="hu-HU" dirty="0" err="1"/>
              <a:t>incorrect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removed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0782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Deep </a:t>
            </a:r>
            <a:r>
              <a:rPr lang="hu-HU" dirty="0" err="1"/>
              <a:t>Learning</a:t>
            </a:r>
            <a:r>
              <a:rPr lang="hu-HU" dirty="0"/>
              <a:t> </a:t>
            </a:r>
            <a:r>
              <a:rPr lang="hu-HU" dirty="0" err="1"/>
              <a:t>vs</a:t>
            </a:r>
            <a:r>
              <a:rPr lang="hu-HU" dirty="0"/>
              <a:t/>
            </a:r>
            <a:br>
              <a:rPr lang="hu-HU" dirty="0"/>
            </a:br>
            <a:r>
              <a:rPr lang="hu-HU" dirty="0" err="1"/>
              <a:t>Traditional</a:t>
            </a:r>
            <a:r>
              <a:rPr lang="hu-HU" dirty="0"/>
              <a:t> ML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 smtClean="0"/>
              <a:t>Deep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,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contrast</a:t>
            </a:r>
            <a:r>
              <a:rPr lang="hu-HU" dirty="0" smtClean="0"/>
              <a:t>, </a:t>
            </a:r>
            <a:r>
              <a:rPr lang="hu-HU" b="1" dirty="0" err="1" smtClean="0"/>
              <a:t>do</a:t>
            </a:r>
            <a:r>
              <a:rPr lang="hu-HU" b="1" dirty="0" smtClean="0"/>
              <a:t> </a:t>
            </a:r>
            <a:r>
              <a:rPr lang="hu-HU" b="1" dirty="0" err="1" smtClean="0"/>
              <a:t>not</a:t>
            </a:r>
            <a:r>
              <a:rPr lang="hu-HU" b="1" dirty="0" smtClean="0"/>
              <a:t> </a:t>
            </a:r>
            <a:r>
              <a:rPr lang="hu-HU" b="1" dirty="0" err="1" smtClean="0"/>
              <a:t>require</a:t>
            </a:r>
            <a:r>
              <a:rPr lang="hu-HU" b="1" dirty="0" smtClean="0"/>
              <a:t> </a:t>
            </a:r>
            <a:r>
              <a:rPr lang="hu-HU" b="1" dirty="0" err="1" smtClean="0"/>
              <a:t>feature</a:t>
            </a:r>
            <a:r>
              <a:rPr lang="hu-HU" b="1" dirty="0" smtClean="0"/>
              <a:t> </a:t>
            </a:r>
            <a:r>
              <a:rPr lang="hu-HU" b="1" dirty="0" err="1" smtClean="0"/>
              <a:t>engineering</a:t>
            </a:r>
            <a:r>
              <a:rPr lang="hu-HU" b="1" dirty="0" smtClean="0"/>
              <a:t> </a:t>
            </a:r>
            <a:r>
              <a:rPr lang="hu-HU" b="1" dirty="0" err="1" smtClean="0"/>
              <a:t>or</a:t>
            </a:r>
            <a:r>
              <a:rPr lang="hu-HU" b="1" dirty="0" smtClean="0"/>
              <a:t> </a:t>
            </a:r>
            <a:r>
              <a:rPr lang="hu-HU" b="1" dirty="0" err="1" smtClean="0"/>
              <a:t>extraction</a:t>
            </a:r>
            <a:endParaRPr lang="hu-HU" b="1" dirty="0" smtClean="0"/>
          </a:p>
          <a:p>
            <a:pPr lvl="1"/>
            <a:r>
              <a:rPr lang="hu-HU" dirty="0" smtClean="0"/>
              <a:t>OCR: </a:t>
            </a:r>
            <a:r>
              <a:rPr lang="hu-HU" dirty="0" err="1"/>
              <a:t>i</a:t>
            </a:r>
            <a:r>
              <a:rPr lang="hu-HU" dirty="0" err="1" smtClean="0"/>
              <a:t>nstead</a:t>
            </a:r>
            <a:r>
              <a:rPr lang="hu-HU" dirty="0" smtClean="0"/>
              <a:t> of </a:t>
            </a:r>
            <a:r>
              <a:rPr lang="hu-HU" dirty="0" err="1" smtClean="0"/>
              <a:t>pre-processing</a:t>
            </a:r>
            <a:r>
              <a:rPr lang="hu-HU" dirty="0" smtClean="0"/>
              <a:t> an image </a:t>
            </a:r>
            <a:r>
              <a:rPr lang="hu-HU" dirty="0" err="1" smtClean="0"/>
              <a:t>before</a:t>
            </a:r>
            <a:r>
              <a:rPr lang="hu-HU" dirty="0" smtClean="0"/>
              <a:t> </a:t>
            </a:r>
            <a:r>
              <a:rPr lang="hu-HU" dirty="0" err="1" smtClean="0"/>
              <a:t>recognition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raw</a:t>
            </a:r>
            <a:r>
              <a:rPr lang="hu-HU" b="1" dirty="0" smtClean="0"/>
              <a:t> image’s pixel </a:t>
            </a:r>
            <a:r>
              <a:rPr lang="hu-HU" b="1" dirty="0" err="1" smtClean="0"/>
              <a:t>values</a:t>
            </a:r>
            <a:r>
              <a:rPr lang="hu-HU" b="1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passed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input</a:t>
            </a:r>
          </a:p>
          <a:p>
            <a:pPr lvl="2"/>
            <a:r>
              <a:rPr lang="hu-HU" dirty="0" err="1" smtClean="0"/>
              <a:t>there</a:t>
            </a:r>
            <a:r>
              <a:rPr lang="hu-HU" dirty="0" smtClean="0"/>
              <a:t> </a:t>
            </a:r>
            <a:r>
              <a:rPr lang="hu-HU" dirty="0" err="1" smtClean="0"/>
              <a:t>may</a:t>
            </a:r>
            <a:r>
              <a:rPr lang="hu-HU" dirty="0" smtClean="0"/>
              <a:t> be </a:t>
            </a:r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partial</a:t>
            </a:r>
            <a:r>
              <a:rPr lang="hu-HU" dirty="0" smtClean="0"/>
              <a:t> </a:t>
            </a:r>
            <a:r>
              <a:rPr lang="hu-HU" dirty="0" err="1" smtClean="0"/>
              <a:t>preprocessing</a:t>
            </a:r>
            <a:r>
              <a:rPr lang="hu-HU" dirty="0" smtClean="0"/>
              <a:t>,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, </a:t>
            </a:r>
            <a:r>
              <a:rPr lang="hu-HU" b="1" dirty="0" err="1" smtClean="0"/>
              <a:t>identifying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lines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only</a:t>
            </a:r>
            <a:r>
              <a:rPr lang="hu-HU" dirty="0" smtClean="0"/>
              <a:t> a </a:t>
            </a:r>
            <a:r>
              <a:rPr lang="hu-HU" dirty="0" err="1" smtClean="0"/>
              <a:t>single</a:t>
            </a:r>
            <a:r>
              <a:rPr lang="hu-HU" dirty="0" smtClean="0"/>
              <a:t> line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recognition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; </a:t>
            </a:r>
            <a:r>
              <a:rPr lang="hu-HU" dirty="0" err="1" smtClean="0"/>
              <a:t>this</a:t>
            </a:r>
            <a:r>
              <a:rPr lang="hu-HU" dirty="0" smtClean="0"/>
              <a:t> is </a:t>
            </a:r>
            <a:r>
              <a:rPr lang="hu-HU" dirty="0" err="1" smtClean="0"/>
              <a:t>how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Tesseract</a:t>
            </a:r>
            <a:r>
              <a:rPr lang="hu-HU" dirty="0" smtClean="0"/>
              <a:t> </a:t>
            </a:r>
            <a:r>
              <a:rPr lang="hu-HU" dirty="0" err="1" smtClean="0"/>
              <a:t>open-source</a:t>
            </a:r>
            <a:r>
              <a:rPr lang="hu-HU" dirty="0" smtClean="0"/>
              <a:t> OCR software </a:t>
            </a:r>
            <a:r>
              <a:rPr lang="hu-HU" dirty="0" err="1" smtClean="0"/>
              <a:t>works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Linux</a:t>
            </a:r>
          </a:p>
          <a:p>
            <a:pPr lvl="2"/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line is fed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matrix</a:t>
            </a:r>
            <a:r>
              <a:rPr lang="hu-HU" dirty="0" smtClean="0"/>
              <a:t> of </a:t>
            </a:r>
            <a:r>
              <a:rPr lang="hu-HU" dirty="0" err="1" smtClean="0"/>
              <a:t>pixels</a:t>
            </a:r>
            <a:endParaRPr lang="hu-HU" dirty="0" smtClean="0"/>
          </a:p>
          <a:p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essence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neuron </a:t>
            </a:r>
            <a:r>
              <a:rPr lang="hu-HU" dirty="0" err="1" smtClean="0"/>
              <a:t>activations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hidden</a:t>
            </a:r>
            <a:r>
              <a:rPr lang="hu-HU" b="1" dirty="0" smtClean="0"/>
              <a:t> </a:t>
            </a:r>
            <a:r>
              <a:rPr lang="hu-HU" b="1" dirty="0" err="1" smtClean="0"/>
              <a:t>layers</a:t>
            </a:r>
            <a:r>
              <a:rPr lang="hu-HU" b="1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understood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b="1" dirty="0" err="1" smtClean="0"/>
              <a:t>automatically</a:t>
            </a:r>
            <a:r>
              <a:rPr lang="hu-HU" dirty="0" smtClean="0"/>
              <a:t> </a:t>
            </a:r>
            <a:r>
              <a:rPr lang="hu-HU" b="1" dirty="0" err="1" smtClean="0"/>
              <a:t>extracted</a:t>
            </a:r>
            <a:r>
              <a:rPr lang="hu-HU" b="1" dirty="0" smtClean="0"/>
              <a:t> </a:t>
            </a:r>
            <a:r>
              <a:rPr lang="hu-HU" b="1" dirty="0" err="1" smtClean="0"/>
              <a:t>features</a:t>
            </a:r>
            <a:endParaRPr lang="hu-HU" b="1" dirty="0" smtClean="0"/>
          </a:p>
          <a:p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features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not</a:t>
            </a:r>
            <a:r>
              <a:rPr lang="hu-HU" b="1" dirty="0" smtClean="0"/>
              <a:t> </a:t>
            </a:r>
            <a:r>
              <a:rPr lang="hu-HU" b="1" dirty="0" err="1" smtClean="0"/>
              <a:t>interpretable</a:t>
            </a:r>
            <a:r>
              <a:rPr lang="hu-HU" b="1" dirty="0" smtClean="0"/>
              <a:t> </a:t>
            </a:r>
            <a:r>
              <a:rPr lang="hu-HU" dirty="0" err="1" smtClean="0"/>
              <a:t>directly</a:t>
            </a:r>
            <a:r>
              <a:rPr lang="hu-HU" dirty="0" smtClean="0"/>
              <a:t> and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discrete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rather</a:t>
            </a:r>
            <a:r>
              <a:rPr lang="hu-HU" dirty="0" smtClean="0"/>
              <a:t> </a:t>
            </a:r>
            <a:r>
              <a:rPr lang="hu-HU" b="1" dirty="0" err="1" smtClean="0"/>
              <a:t>distributed</a:t>
            </a:r>
            <a:r>
              <a:rPr lang="hu-HU" b="1" dirty="0" smtClean="0"/>
              <a:t> </a:t>
            </a:r>
            <a:r>
              <a:rPr lang="hu-HU" b="1" dirty="0" err="1" smtClean="0"/>
              <a:t>representations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recall</a:t>
            </a:r>
            <a:r>
              <a:rPr lang="hu-HU" dirty="0" smtClean="0"/>
              <a:t> </a:t>
            </a:r>
            <a:r>
              <a:rPr lang="hu-HU" dirty="0" err="1" smtClean="0"/>
              <a:t>connectionism</a:t>
            </a:r>
            <a:r>
              <a:rPr lang="hu-HU" dirty="0" smtClean="0"/>
              <a:t>)</a:t>
            </a:r>
          </a:p>
          <a:p>
            <a:r>
              <a:rPr lang="hu-HU" dirty="0" err="1" smtClean="0"/>
              <a:t>This</a:t>
            </a:r>
            <a:r>
              <a:rPr lang="hu-HU" dirty="0" smtClean="0"/>
              <a:t> idea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learn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extract</a:t>
            </a:r>
            <a:r>
              <a:rPr lang="hu-HU" b="1" dirty="0" smtClean="0"/>
              <a:t> </a:t>
            </a:r>
            <a:r>
              <a:rPr lang="hu-HU" b="1" dirty="0" err="1" smtClean="0"/>
              <a:t>useful</a:t>
            </a:r>
            <a:r>
              <a:rPr lang="hu-HU" b="1" dirty="0" smtClean="0"/>
              <a:t> </a:t>
            </a:r>
            <a:r>
              <a:rPr lang="hu-HU" b="1" dirty="0" err="1" smtClean="0"/>
              <a:t>patterns</a:t>
            </a:r>
            <a:r>
              <a:rPr lang="hu-HU" b="1" dirty="0" smtClean="0"/>
              <a:t> </a:t>
            </a:r>
            <a:r>
              <a:rPr lang="hu-HU" b="1" dirty="0" err="1" smtClean="0"/>
              <a:t>from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input </a:t>
            </a:r>
            <a:r>
              <a:rPr lang="hu-HU" dirty="0" err="1" smtClean="0"/>
              <a:t>spontaneously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result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 is </a:t>
            </a:r>
            <a:r>
              <a:rPr lang="hu-HU" dirty="0" err="1" smtClean="0"/>
              <a:t>referred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b="1" dirty="0" err="1" smtClean="0"/>
              <a:t>representation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endParaRPr lang="hu-HU" b="1" dirty="0" smtClean="0"/>
          </a:p>
          <a:p>
            <a:r>
              <a:rPr lang="hu-HU" dirty="0" smtClean="0"/>
              <a:t>Data </a:t>
            </a:r>
            <a:r>
              <a:rPr lang="hu-HU" b="1" dirty="0" err="1" smtClean="0"/>
              <a:t>need</a:t>
            </a:r>
            <a:r>
              <a:rPr lang="hu-HU" b="1" dirty="0" smtClean="0"/>
              <a:t> </a:t>
            </a:r>
            <a:r>
              <a:rPr lang="hu-HU" b="1" dirty="0" err="1" smtClean="0"/>
              <a:t>not</a:t>
            </a:r>
            <a:r>
              <a:rPr lang="hu-HU" b="1" dirty="0" smtClean="0"/>
              <a:t> be </a:t>
            </a:r>
            <a:r>
              <a:rPr lang="hu-HU" b="1" dirty="0" err="1" smtClean="0"/>
              <a:t>clean</a:t>
            </a:r>
            <a:r>
              <a:rPr lang="hu-HU" b="1" dirty="0" smtClean="0"/>
              <a:t>,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be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b="1" dirty="0" err="1" smtClean="0"/>
              <a:t>noisy</a:t>
            </a:r>
            <a:r>
              <a:rPr lang="hu-HU" b="1" dirty="0" smtClean="0"/>
              <a:t> </a:t>
            </a:r>
            <a:r>
              <a:rPr lang="hu-HU" b="1" dirty="0" err="1" smtClean="0"/>
              <a:t>data</a:t>
            </a:r>
            <a:endParaRPr lang="hu-HU" dirty="0" smtClean="0"/>
          </a:p>
          <a:p>
            <a:pPr lvl="1"/>
            <a:r>
              <a:rPr lang="hu-HU" dirty="0" smtClean="0"/>
              <a:t>Deep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b="1" dirty="0" err="1" smtClean="0"/>
              <a:t>huge</a:t>
            </a:r>
            <a:r>
              <a:rPr lang="hu-HU" b="1" dirty="0" smtClean="0"/>
              <a:t> </a:t>
            </a:r>
            <a:r>
              <a:rPr lang="hu-HU" b="1" dirty="0" err="1" smtClean="0"/>
              <a:t>amount</a:t>
            </a:r>
            <a:r>
              <a:rPr lang="hu-HU" b="1" dirty="0" smtClean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examples</a:t>
            </a:r>
            <a:endParaRPr lang="hu-HU" dirty="0"/>
          </a:p>
          <a:p>
            <a:pPr lvl="1"/>
            <a:r>
              <a:rPr lang="hu-HU" dirty="0" err="1" smtClean="0"/>
              <a:t>If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examples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broken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various</a:t>
            </a:r>
            <a:r>
              <a:rPr lang="hu-HU" dirty="0" smtClean="0"/>
              <a:t> </a:t>
            </a:r>
            <a:r>
              <a:rPr lang="hu-HU" dirty="0" err="1" smtClean="0"/>
              <a:t>ways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general</a:t>
            </a:r>
            <a:r>
              <a:rPr lang="hu-HU" dirty="0" smtClean="0"/>
              <a:t> </a:t>
            </a:r>
            <a:r>
              <a:rPr lang="hu-HU" dirty="0" err="1" smtClean="0"/>
              <a:t>statistical</a:t>
            </a:r>
            <a:r>
              <a:rPr lang="hu-HU" dirty="0" smtClean="0"/>
              <a:t> </a:t>
            </a:r>
            <a:r>
              <a:rPr lang="hu-HU" dirty="0" err="1" smtClean="0"/>
              <a:t>patterns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population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still</a:t>
            </a:r>
            <a:r>
              <a:rPr lang="hu-HU" dirty="0" smtClean="0"/>
              <a:t> be </a:t>
            </a:r>
            <a:r>
              <a:rPr lang="hu-HU" dirty="0" err="1" smtClean="0"/>
              <a:t>extracted</a:t>
            </a:r>
            <a:endParaRPr lang="hu-HU" dirty="0" smtClean="0"/>
          </a:p>
          <a:p>
            <a:pPr lvl="1"/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, a (</a:t>
            </a:r>
            <a:r>
              <a:rPr lang="hu-HU" dirty="0" err="1" smtClean="0"/>
              <a:t>deep</a:t>
            </a:r>
            <a:r>
              <a:rPr lang="hu-HU" dirty="0" smtClean="0"/>
              <a:t>)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b="1" dirty="0" err="1" smtClean="0"/>
              <a:t>learns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b="1" dirty="0" err="1" smtClean="0"/>
              <a:t>ignore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noise</a:t>
            </a:r>
            <a:r>
              <a:rPr lang="hu-HU" b="1" dirty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endParaRPr lang="hu-HU" dirty="0" smtClean="0"/>
          </a:p>
          <a:p>
            <a:r>
              <a:rPr lang="hu-HU" b="1" dirty="0" err="1" smtClean="0"/>
              <a:t>Noise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err="1" smtClean="0"/>
              <a:t>representation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closely</a:t>
            </a:r>
            <a:r>
              <a:rPr lang="hu-HU" dirty="0" smtClean="0"/>
              <a:t> </a:t>
            </a:r>
            <a:r>
              <a:rPr lang="hu-HU" dirty="0" err="1" smtClean="0"/>
              <a:t>connected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1323415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Noise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600" dirty="0" err="1" smtClean="0"/>
              <a:t>Noise</a:t>
            </a:r>
            <a:r>
              <a:rPr lang="hu-HU" sz="1600" dirty="0" smtClean="0"/>
              <a:t> </a:t>
            </a:r>
            <a:r>
              <a:rPr lang="hu-HU" sz="1600" dirty="0" err="1" smtClean="0"/>
              <a:t>in</a:t>
            </a:r>
            <a:r>
              <a:rPr lang="hu-HU" sz="1600" dirty="0" smtClean="0"/>
              <a:t> </a:t>
            </a:r>
            <a:r>
              <a:rPr lang="hu-HU" sz="1600" b="1" dirty="0" err="1" smtClean="0"/>
              <a:t>everyday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contexts</a:t>
            </a:r>
            <a:r>
              <a:rPr lang="hu-HU" sz="1600" dirty="0" smtClean="0"/>
              <a:t>: </a:t>
            </a:r>
            <a:r>
              <a:rPr lang="hu-HU" sz="1600" dirty="0" err="1" smtClean="0"/>
              <a:t>disturbing</a:t>
            </a:r>
            <a:r>
              <a:rPr lang="hu-HU" sz="1600" dirty="0" smtClean="0"/>
              <a:t>, </a:t>
            </a:r>
            <a:r>
              <a:rPr lang="hu-HU" sz="1600" dirty="0" err="1" smtClean="0"/>
              <a:t>disruptive</a:t>
            </a:r>
            <a:r>
              <a:rPr lang="hu-HU" sz="1600" dirty="0" smtClean="0"/>
              <a:t> </a:t>
            </a:r>
            <a:r>
              <a:rPr lang="hu-HU" sz="1600" dirty="0" err="1" smtClean="0"/>
              <a:t>unpleasant</a:t>
            </a:r>
            <a:r>
              <a:rPr lang="hu-HU" sz="1600" dirty="0" smtClean="0"/>
              <a:t>, </a:t>
            </a:r>
            <a:r>
              <a:rPr lang="hu-HU" sz="1600" dirty="0" err="1" smtClean="0"/>
              <a:t>unwanted</a:t>
            </a:r>
            <a:r>
              <a:rPr lang="hu-HU" sz="1600" dirty="0" smtClean="0"/>
              <a:t> </a:t>
            </a:r>
            <a:r>
              <a:rPr lang="hu-HU" sz="1600" dirty="0" err="1" smtClean="0"/>
              <a:t>sound</a:t>
            </a:r>
            <a:endParaRPr lang="hu-HU" sz="1600" dirty="0" smtClean="0"/>
          </a:p>
          <a:p>
            <a:r>
              <a:rPr lang="hu-HU" sz="1600" dirty="0" err="1" smtClean="0"/>
              <a:t>In</a:t>
            </a:r>
            <a:r>
              <a:rPr lang="hu-HU" sz="1600" dirty="0" smtClean="0"/>
              <a:t> </a:t>
            </a:r>
            <a:r>
              <a:rPr lang="hu-HU" sz="1600" b="1" dirty="0" err="1" smtClean="0"/>
              <a:t>machine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learning</a:t>
            </a:r>
            <a:r>
              <a:rPr lang="hu-HU" sz="1600" b="1" dirty="0" smtClean="0"/>
              <a:t> </a:t>
            </a:r>
            <a:r>
              <a:rPr lang="hu-HU" sz="1600" dirty="0" err="1" smtClean="0"/>
              <a:t>as</a:t>
            </a:r>
            <a:r>
              <a:rPr lang="hu-HU" sz="1600" dirty="0" smtClean="0"/>
              <a:t> a </a:t>
            </a:r>
            <a:r>
              <a:rPr lang="hu-HU" sz="1600" b="1" dirty="0" err="1" smtClean="0"/>
              <a:t>technical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term</a:t>
            </a:r>
            <a:r>
              <a:rPr lang="hu-HU" sz="1600" dirty="0" smtClean="0"/>
              <a:t>: </a:t>
            </a:r>
            <a:r>
              <a:rPr lang="en-GB" sz="1600" b="1" dirty="0" smtClean="0"/>
              <a:t>random or irrelevant variation </a:t>
            </a:r>
            <a:r>
              <a:rPr lang="en-GB" sz="1600" dirty="0" smtClean="0"/>
              <a:t>in data that does not represent the </a:t>
            </a:r>
            <a:r>
              <a:rPr lang="en-GB" sz="1600" b="1" dirty="0" smtClean="0"/>
              <a:t>true underlying patterns </a:t>
            </a:r>
            <a:r>
              <a:rPr lang="en-GB" sz="1600" dirty="0" smtClean="0"/>
              <a:t>the model is trying to learn</a:t>
            </a:r>
            <a:endParaRPr lang="hu-HU" sz="1600" dirty="0" smtClean="0"/>
          </a:p>
          <a:p>
            <a:pPr lvl="1"/>
            <a:r>
              <a:rPr lang="en-GB" sz="1400" dirty="0" smtClean="0"/>
              <a:t>"junk" or "error" in the </a:t>
            </a:r>
            <a:r>
              <a:rPr lang="hu-HU" sz="1400" dirty="0" err="1" smtClean="0"/>
              <a:t>training</a:t>
            </a:r>
            <a:r>
              <a:rPr lang="hu-HU" sz="1400" dirty="0" smtClean="0"/>
              <a:t> </a:t>
            </a:r>
            <a:r>
              <a:rPr lang="en-GB" sz="1400" dirty="0" smtClean="0"/>
              <a:t>data that makes it harder for a model to learn the real relationships between inputs and outputs</a:t>
            </a:r>
            <a:endParaRPr lang="hu-HU" sz="1400" dirty="0" smtClean="0"/>
          </a:p>
          <a:p>
            <a:r>
              <a:rPr lang="hu-HU" sz="1600" dirty="0" err="1" smtClean="0"/>
              <a:t>Can</a:t>
            </a:r>
            <a:r>
              <a:rPr lang="hu-HU" sz="1600" dirty="0" smtClean="0"/>
              <a:t> be:</a:t>
            </a:r>
          </a:p>
          <a:p>
            <a:pPr lvl="1"/>
            <a:r>
              <a:rPr lang="hu-HU" sz="1400" b="1" dirty="0" err="1" smtClean="0"/>
              <a:t>label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noise</a:t>
            </a:r>
            <a:r>
              <a:rPr lang="hu-HU" sz="1400" b="1" dirty="0" smtClean="0"/>
              <a:t>: </a:t>
            </a:r>
            <a:r>
              <a:rPr lang="hu-HU" sz="1400" dirty="0" smtClean="0"/>
              <a:t>i</a:t>
            </a:r>
            <a:r>
              <a:rPr lang="en-GB" sz="1400" dirty="0" err="1" smtClean="0"/>
              <a:t>ncorrect</a:t>
            </a:r>
            <a:r>
              <a:rPr lang="en-GB" sz="1400" dirty="0" smtClean="0"/>
              <a:t> or inconsistent target values</a:t>
            </a:r>
            <a:r>
              <a:rPr lang="hu-HU" sz="1400" dirty="0" smtClean="0"/>
              <a:t>, </a:t>
            </a:r>
            <a:r>
              <a:rPr lang="hu-HU" sz="1400" dirty="0" err="1" smtClean="0"/>
              <a:t>e.g</a:t>
            </a:r>
            <a:r>
              <a:rPr lang="hu-HU" sz="1400" dirty="0" smtClean="0"/>
              <a:t>. i</a:t>
            </a:r>
            <a:r>
              <a:rPr lang="en-GB" sz="1400" dirty="0" smtClean="0"/>
              <a:t>n a dataset of cat and dog images, some cat images are mistakenly </a:t>
            </a:r>
            <a:r>
              <a:rPr lang="en-GB" sz="1400" dirty="0" err="1" smtClean="0"/>
              <a:t>labeled</a:t>
            </a:r>
            <a:r>
              <a:rPr lang="en-GB" sz="1400" dirty="0" smtClean="0"/>
              <a:t> as dogs</a:t>
            </a:r>
            <a:endParaRPr lang="hu-HU" sz="1400" dirty="0" smtClean="0"/>
          </a:p>
          <a:p>
            <a:pPr lvl="1"/>
            <a:r>
              <a:rPr lang="hu-HU" sz="1400" b="1" dirty="0" smtClean="0"/>
              <a:t>f</a:t>
            </a:r>
            <a:r>
              <a:rPr lang="en-GB" sz="1400" b="1" dirty="0" err="1" smtClean="0"/>
              <a:t>eature</a:t>
            </a:r>
            <a:r>
              <a:rPr lang="en-GB" sz="1400" b="1" dirty="0" smtClean="0"/>
              <a:t> </a:t>
            </a:r>
            <a:r>
              <a:rPr lang="hu-HU" sz="1400" b="1" dirty="0" smtClean="0"/>
              <a:t>n</a:t>
            </a:r>
            <a:r>
              <a:rPr lang="en-GB" sz="1400" b="1" dirty="0" err="1" smtClean="0"/>
              <a:t>oise</a:t>
            </a:r>
            <a:r>
              <a:rPr lang="hu-HU" sz="1400" b="1" dirty="0" smtClean="0"/>
              <a:t>: </a:t>
            </a:r>
            <a:r>
              <a:rPr lang="hu-HU" sz="1400" dirty="0" smtClean="0"/>
              <a:t>e</a:t>
            </a:r>
            <a:r>
              <a:rPr lang="en-GB" sz="1400" dirty="0" err="1" smtClean="0"/>
              <a:t>rrors</a:t>
            </a:r>
            <a:r>
              <a:rPr lang="en-GB" sz="1400" dirty="0" smtClean="0"/>
              <a:t> or randomness in the input features</a:t>
            </a:r>
            <a:r>
              <a:rPr lang="hu-HU" sz="1400" dirty="0" smtClean="0"/>
              <a:t>, </a:t>
            </a:r>
            <a:r>
              <a:rPr lang="hu-HU" sz="1400" dirty="0" err="1" smtClean="0"/>
              <a:t>e.g</a:t>
            </a:r>
            <a:r>
              <a:rPr lang="hu-HU" sz="1400" dirty="0" smtClean="0"/>
              <a:t>. s</a:t>
            </a:r>
            <a:r>
              <a:rPr lang="en-GB" sz="1400" dirty="0" err="1" smtClean="0"/>
              <a:t>ensor</a:t>
            </a:r>
            <a:r>
              <a:rPr lang="en-GB" sz="1400" dirty="0" smtClean="0"/>
              <a:t> readings fluctuate </a:t>
            </a:r>
            <a:r>
              <a:rPr lang="hu-HU" sz="1400" dirty="0" err="1" smtClean="0"/>
              <a:t>because</a:t>
            </a:r>
            <a:r>
              <a:rPr lang="hu-HU" sz="1400" dirty="0" smtClean="0"/>
              <a:t> </a:t>
            </a:r>
            <a:r>
              <a:rPr lang="hu-HU" sz="1400" dirty="0" err="1" smtClean="0"/>
              <a:t>they</a:t>
            </a:r>
            <a:r>
              <a:rPr lang="hu-HU" sz="1400" dirty="0" smtClean="0"/>
              <a:t> </a:t>
            </a:r>
            <a:r>
              <a:rPr lang="hu-HU" sz="1400" dirty="0" err="1" smtClean="0"/>
              <a:t>are</a:t>
            </a:r>
            <a:r>
              <a:rPr lang="hu-HU" sz="1400" dirty="0" smtClean="0"/>
              <a:t> </a:t>
            </a:r>
            <a:r>
              <a:rPr lang="hu-HU" sz="1400" dirty="0" err="1" smtClean="0"/>
              <a:t>not</a:t>
            </a:r>
            <a:r>
              <a:rPr lang="hu-HU" sz="1400" dirty="0" smtClean="0"/>
              <a:t> </a:t>
            </a:r>
            <a:r>
              <a:rPr lang="hu-HU" sz="1400" dirty="0" err="1" smtClean="0"/>
              <a:t>perfectly</a:t>
            </a:r>
            <a:r>
              <a:rPr lang="hu-HU" sz="1400" dirty="0" smtClean="0"/>
              <a:t> </a:t>
            </a:r>
            <a:r>
              <a:rPr lang="hu-HU" sz="1400" dirty="0" err="1" smtClean="0"/>
              <a:t>accurate</a:t>
            </a:r>
            <a:endParaRPr lang="hu-HU" sz="1400" dirty="0" smtClean="0"/>
          </a:p>
          <a:p>
            <a:pPr lvl="1"/>
            <a:r>
              <a:rPr lang="hu-HU" sz="1400" b="1" dirty="0" err="1" smtClean="0"/>
              <a:t>inherent</a:t>
            </a:r>
            <a:r>
              <a:rPr lang="hu-HU" sz="1400" b="1" dirty="0" smtClean="0"/>
              <a:t> (</a:t>
            </a:r>
            <a:r>
              <a:rPr lang="hu-HU" sz="1400" b="1" dirty="0" err="1" smtClean="0"/>
              <a:t>irreducible</a:t>
            </a:r>
            <a:r>
              <a:rPr lang="hu-HU" sz="1400" b="1" dirty="0" smtClean="0"/>
              <a:t>) </a:t>
            </a:r>
            <a:r>
              <a:rPr lang="hu-HU" sz="1400" b="1" dirty="0" err="1" smtClean="0"/>
              <a:t>noise</a:t>
            </a:r>
            <a:r>
              <a:rPr lang="hu-HU" sz="1400" b="1" dirty="0" smtClean="0"/>
              <a:t> </a:t>
            </a:r>
            <a:r>
              <a:rPr lang="hu-HU" sz="1400" dirty="0" err="1" smtClean="0"/>
              <a:t>in</a:t>
            </a:r>
            <a:r>
              <a:rPr lang="hu-HU" sz="1400" dirty="0" smtClean="0"/>
              <a:t> </a:t>
            </a:r>
            <a:r>
              <a:rPr lang="hu-HU" sz="1400" dirty="0" err="1" smtClean="0"/>
              <a:t>the</a:t>
            </a:r>
            <a:r>
              <a:rPr lang="hu-HU" sz="1400" dirty="0" smtClean="0"/>
              <a:t> </a:t>
            </a:r>
            <a:r>
              <a:rPr lang="hu-HU" sz="1400" dirty="0" err="1" smtClean="0"/>
              <a:t>population</a:t>
            </a:r>
            <a:r>
              <a:rPr lang="hu-HU" sz="1400" dirty="0" smtClean="0"/>
              <a:t>: u</a:t>
            </a:r>
            <a:r>
              <a:rPr lang="en-GB" sz="1400" dirty="0" err="1" smtClean="0"/>
              <a:t>navoidable</a:t>
            </a:r>
            <a:r>
              <a:rPr lang="en-GB" sz="1400" dirty="0" smtClean="0"/>
              <a:t> randomness in the data that no model can fully explain</a:t>
            </a:r>
            <a:r>
              <a:rPr lang="hu-HU" sz="1400" dirty="0" smtClean="0"/>
              <a:t>, </a:t>
            </a:r>
            <a:r>
              <a:rPr lang="hu-HU" sz="1400" dirty="0" err="1" smtClean="0"/>
              <a:t>e.g</a:t>
            </a:r>
            <a:r>
              <a:rPr lang="hu-HU" sz="1400" dirty="0" smtClean="0"/>
              <a:t>. </a:t>
            </a:r>
            <a:r>
              <a:rPr lang="hu-HU" sz="1400" dirty="0" err="1" smtClean="0"/>
              <a:t>who</a:t>
            </a:r>
            <a:r>
              <a:rPr lang="hu-HU" sz="1400" dirty="0" smtClean="0"/>
              <a:t> </a:t>
            </a:r>
            <a:r>
              <a:rPr lang="hu-HU" sz="1400" dirty="0" err="1" smtClean="0"/>
              <a:t>gets</a:t>
            </a:r>
            <a:r>
              <a:rPr lang="hu-HU" sz="1400" dirty="0" smtClean="0"/>
              <a:t> </a:t>
            </a:r>
            <a:r>
              <a:rPr lang="hu-HU" sz="1400" dirty="0" err="1" smtClean="0"/>
              <a:t>cancer</a:t>
            </a:r>
            <a:r>
              <a:rPr lang="hu-HU" sz="1400" dirty="0" smtClean="0"/>
              <a:t>? </a:t>
            </a:r>
            <a:r>
              <a:rPr lang="hu-HU" sz="1400" dirty="0" err="1" smtClean="0"/>
              <a:t>how</a:t>
            </a:r>
            <a:r>
              <a:rPr lang="hu-HU" sz="1400" dirty="0" smtClean="0"/>
              <a:t> </a:t>
            </a:r>
            <a:r>
              <a:rPr lang="hu-HU" sz="1400" dirty="0" err="1" smtClean="0"/>
              <a:t>tall</a:t>
            </a:r>
            <a:r>
              <a:rPr lang="hu-HU" sz="1400" dirty="0" smtClean="0"/>
              <a:t> </a:t>
            </a:r>
            <a:r>
              <a:rPr lang="hu-HU" sz="1400" dirty="0" err="1" smtClean="0"/>
              <a:t>are</a:t>
            </a:r>
            <a:r>
              <a:rPr lang="hu-HU" sz="1400" dirty="0" smtClean="0"/>
              <a:t> </a:t>
            </a:r>
            <a:r>
              <a:rPr lang="hu-HU" sz="1400" dirty="0" err="1" smtClean="0"/>
              <a:t>you</a:t>
            </a:r>
            <a:r>
              <a:rPr lang="hu-HU" sz="1400" dirty="0" smtClean="0"/>
              <a:t>? – </a:t>
            </a:r>
            <a:r>
              <a:rPr lang="hu-HU" sz="1400" dirty="0" err="1" smtClean="0"/>
              <a:t>partly</a:t>
            </a:r>
            <a:r>
              <a:rPr lang="hu-HU" sz="1400" dirty="0" smtClean="0"/>
              <a:t> </a:t>
            </a:r>
            <a:r>
              <a:rPr lang="hu-HU" sz="1400" dirty="0" err="1" smtClean="0"/>
              <a:t>just</a:t>
            </a:r>
            <a:r>
              <a:rPr lang="hu-HU" sz="1400" dirty="0" smtClean="0"/>
              <a:t> a </a:t>
            </a:r>
            <a:r>
              <a:rPr lang="hu-HU" sz="1400" dirty="0" err="1" smtClean="0"/>
              <a:t>matter</a:t>
            </a:r>
            <a:r>
              <a:rPr lang="hu-HU" sz="1400" dirty="0" smtClean="0"/>
              <a:t> of </a:t>
            </a:r>
            <a:r>
              <a:rPr lang="hu-HU" sz="1400" dirty="0" err="1" smtClean="0"/>
              <a:t>luck</a:t>
            </a:r>
            <a:endParaRPr lang="hu-HU" sz="1400" dirty="0" smtClean="0"/>
          </a:p>
          <a:p>
            <a:pPr lvl="1"/>
            <a:r>
              <a:rPr lang="hu-HU" sz="1400" b="1" dirty="0" err="1" smtClean="0"/>
              <a:t>outliers</a:t>
            </a:r>
            <a:r>
              <a:rPr lang="hu-HU" sz="1400" b="1" dirty="0" smtClean="0"/>
              <a:t>:</a:t>
            </a:r>
            <a:r>
              <a:rPr lang="hu-HU" sz="1400" dirty="0" smtClean="0"/>
              <a:t> e</a:t>
            </a:r>
            <a:r>
              <a:rPr lang="en-GB" sz="1400" dirty="0" err="1" smtClean="0"/>
              <a:t>xtreme</a:t>
            </a:r>
            <a:r>
              <a:rPr lang="en-GB" sz="1400" dirty="0" smtClean="0"/>
              <a:t> data points that don’t follow the general pattern</a:t>
            </a:r>
            <a:r>
              <a:rPr lang="hu-HU" sz="1400" dirty="0" smtClean="0"/>
              <a:t>, </a:t>
            </a:r>
            <a:r>
              <a:rPr lang="hu-HU" sz="1400" dirty="0" err="1" smtClean="0"/>
              <a:t>might</a:t>
            </a:r>
            <a:r>
              <a:rPr lang="hu-HU" sz="1400" dirty="0" smtClean="0"/>
              <a:t> be </a:t>
            </a:r>
            <a:r>
              <a:rPr lang="hu-HU" sz="1400" dirty="0" err="1" smtClean="0"/>
              <a:t>noise</a:t>
            </a:r>
            <a:r>
              <a:rPr lang="hu-HU" sz="1400" dirty="0" smtClean="0"/>
              <a:t> </a:t>
            </a:r>
            <a:r>
              <a:rPr lang="hu-HU" sz="1400" dirty="0" err="1" smtClean="0"/>
              <a:t>or</a:t>
            </a:r>
            <a:r>
              <a:rPr lang="hu-HU" sz="1400" dirty="0" smtClean="0"/>
              <a:t> </a:t>
            </a:r>
            <a:r>
              <a:rPr lang="hu-HU" sz="1400" dirty="0" err="1" smtClean="0"/>
              <a:t>meaningful</a:t>
            </a:r>
            <a:r>
              <a:rPr lang="hu-HU" sz="1400" dirty="0" smtClean="0"/>
              <a:t> </a:t>
            </a:r>
            <a:r>
              <a:rPr lang="hu-HU" sz="1400" dirty="0" err="1" smtClean="0"/>
              <a:t>depending</a:t>
            </a:r>
            <a:r>
              <a:rPr lang="hu-HU" sz="1400" dirty="0" smtClean="0"/>
              <a:t> </a:t>
            </a:r>
            <a:r>
              <a:rPr lang="hu-HU" sz="1400" dirty="0" err="1" smtClean="0"/>
              <a:t>on</a:t>
            </a:r>
            <a:r>
              <a:rPr lang="hu-HU" sz="1400" dirty="0" smtClean="0"/>
              <a:t> </a:t>
            </a:r>
            <a:r>
              <a:rPr lang="hu-HU" sz="1400" dirty="0" err="1" smtClean="0"/>
              <a:t>the</a:t>
            </a:r>
            <a:r>
              <a:rPr lang="hu-HU" sz="1400" dirty="0" smtClean="0"/>
              <a:t> </a:t>
            </a:r>
            <a:r>
              <a:rPr lang="hu-HU" sz="1400" dirty="0" err="1" smtClean="0"/>
              <a:t>problem</a:t>
            </a:r>
            <a:endParaRPr lang="hu-HU" sz="1400" dirty="0" smtClean="0"/>
          </a:p>
          <a:p>
            <a:r>
              <a:rPr lang="hu-HU" sz="1600" dirty="0" err="1" smtClean="0"/>
              <a:t>Example</a:t>
            </a:r>
            <a:r>
              <a:rPr lang="hu-HU" sz="1600" dirty="0" smtClean="0"/>
              <a:t>: </a:t>
            </a:r>
            <a:r>
              <a:rPr lang="hu-HU" sz="1600" dirty="0" err="1" smtClean="0"/>
              <a:t>linear</a:t>
            </a:r>
            <a:r>
              <a:rPr lang="hu-HU" sz="1600" dirty="0" smtClean="0"/>
              <a:t> </a:t>
            </a:r>
            <a:r>
              <a:rPr lang="hu-HU" sz="1600" dirty="0" err="1" smtClean="0"/>
              <a:t>relationship</a:t>
            </a:r>
            <a:r>
              <a:rPr lang="hu-HU" sz="1600" dirty="0" smtClean="0"/>
              <a:t> </a:t>
            </a:r>
            <a:r>
              <a:rPr lang="hu-HU" sz="1600" dirty="0" err="1" smtClean="0"/>
              <a:t>between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err="1" smtClean="0"/>
              <a:t>foot</a:t>
            </a:r>
            <a:r>
              <a:rPr lang="hu-HU" sz="1600" dirty="0" smtClean="0"/>
              <a:t> </a:t>
            </a:r>
            <a:r>
              <a:rPr lang="hu-HU" sz="1600" dirty="0" err="1" smtClean="0"/>
              <a:t>length</a:t>
            </a:r>
            <a:r>
              <a:rPr lang="hu-HU" sz="1600" dirty="0" smtClean="0"/>
              <a:t> and body </a:t>
            </a:r>
            <a:r>
              <a:rPr lang="hu-HU" sz="1600" dirty="0" err="1" smtClean="0"/>
              <a:t>height</a:t>
            </a:r>
            <a:endParaRPr lang="hu-HU" sz="1600" dirty="0" smtClean="0"/>
          </a:p>
          <a:p>
            <a:pPr lvl="1"/>
            <a:r>
              <a:rPr lang="hu-HU" sz="1400" dirty="0" smtClean="0"/>
              <a:t>Image:</a:t>
            </a:r>
            <a:br>
              <a:rPr lang="hu-HU" sz="1400" dirty="0" smtClean="0"/>
            </a:br>
            <a:r>
              <a:rPr lang="en-GB" sz="1400" dirty="0" smtClean="0"/>
              <a:t>https</a:t>
            </a:r>
            <a:r>
              <a:rPr lang="en-GB" sz="1400" dirty="0"/>
              <a:t>://</a:t>
            </a:r>
            <a:r>
              <a:rPr lang="en-GB" sz="1400" dirty="0" err="1"/>
              <a:t>rpubs.com</a:t>
            </a:r>
            <a:r>
              <a:rPr lang="en-GB" sz="1400" dirty="0"/>
              <a:t>/</a:t>
            </a:r>
            <a:r>
              <a:rPr lang="en-GB" sz="1400" dirty="0" err="1"/>
              <a:t>rbatzing</a:t>
            </a:r>
            <a:r>
              <a:rPr lang="en-GB" sz="1400" dirty="0"/>
              <a:t>/</a:t>
            </a:r>
            <a:r>
              <a:rPr lang="en-GB" sz="1400" dirty="0" err="1"/>
              <a:t>FootStrideHt</a:t>
            </a:r>
            <a:endParaRPr lang="en-GB" sz="1400" dirty="0"/>
          </a:p>
        </p:txBody>
      </p:sp>
      <p:sp>
        <p:nvSpPr>
          <p:cNvPr id="4" name="AutoShape 2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5" name="AutoShape 4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6" name="AutoShape 6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AutoShape 8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AutoShape 10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AutoShape 12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085" name="Picture 1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4894448"/>
            <a:ext cx="3096344" cy="19091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5459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Noise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548880"/>
          </a:xfrm>
        </p:spPr>
        <p:txBody>
          <a:bodyPr>
            <a:noAutofit/>
          </a:bodyPr>
          <a:lstStyle/>
          <a:p>
            <a:r>
              <a:rPr lang="hu-HU" sz="1600" dirty="0" err="1" smtClean="0"/>
              <a:t>Dealing</a:t>
            </a:r>
            <a:r>
              <a:rPr lang="hu-HU" sz="1600" dirty="0" smtClean="0"/>
              <a:t> </a:t>
            </a:r>
            <a:r>
              <a:rPr lang="hu-HU" sz="1600" dirty="0" err="1" smtClean="0"/>
              <a:t>with</a:t>
            </a:r>
            <a:r>
              <a:rPr lang="hu-HU" sz="1600" dirty="0" smtClean="0"/>
              <a:t> </a:t>
            </a:r>
            <a:r>
              <a:rPr lang="hu-HU" sz="1600" dirty="0" err="1" smtClean="0"/>
              <a:t>noise</a:t>
            </a:r>
            <a:r>
              <a:rPr lang="hu-HU" sz="1600" dirty="0" smtClean="0"/>
              <a:t> </a:t>
            </a:r>
            <a:r>
              <a:rPr lang="hu-HU" sz="1600" dirty="0" err="1" smtClean="0"/>
              <a:t>in</a:t>
            </a:r>
            <a:r>
              <a:rPr lang="hu-HU" sz="1600" dirty="0" smtClean="0"/>
              <a:t> </a:t>
            </a:r>
            <a:r>
              <a:rPr lang="hu-HU" sz="1600" dirty="0" err="1" smtClean="0"/>
              <a:t>machine</a:t>
            </a:r>
            <a:r>
              <a:rPr lang="hu-HU" sz="1600" dirty="0" smtClean="0"/>
              <a:t> </a:t>
            </a:r>
            <a:r>
              <a:rPr lang="hu-HU" sz="1600" dirty="0" err="1" smtClean="0"/>
              <a:t>learning</a:t>
            </a:r>
            <a:r>
              <a:rPr lang="hu-HU" sz="1600" dirty="0" smtClean="0"/>
              <a:t>:</a:t>
            </a:r>
          </a:p>
          <a:p>
            <a:pPr lvl="1"/>
            <a:r>
              <a:rPr lang="hu-HU" sz="1400" dirty="0" err="1" smtClean="0"/>
              <a:t>data</a:t>
            </a:r>
            <a:r>
              <a:rPr lang="hu-HU" sz="1400" dirty="0" smtClean="0"/>
              <a:t> </a:t>
            </a:r>
            <a:r>
              <a:rPr lang="hu-HU" sz="1400" dirty="0" err="1" smtClean="0"/>
              <a:t>cleaning</a:t>
            </a:r>
            <a:r>
              <a:rPr lang="hu-HU" sz="1400" dirty="0" smtClean="0"/>
              <a:t>: </a:t>
            </a:r>
            <a:r>
              <a:rPr lang="hu-HU" sz="1400" dirty="0" err="1" smtClean="0"/>
              <a:t>remove</a:t>
            </a:r>
            <a:r>
              <a:rPr lang="hu-HU" sz="1400" dirty="0" smtClean="0"/>
              <a:t> </a:t>
            </a:r>
            <a:r>
              <a:rPr lang="hu-HU" sz="1400" dirty="0" err="1" smtClean="0"/>
              <a:t>or</a:t>
            </a:r>
            <a:r>
              <a:rPr lang="hu-HU" sz="1400" dirty="0" smtClean="0"/>
              <a:t> </a:t>
            </a:r>
            <a:r>
              <a:rPr lang="hu-HU" sz="1400" dirty="0" err="1" smtClean="0"/>
              <a:t>correct</a:t>
            </a:r>
            <a:r>
              <a:rPr lang="hu-HU" sz="1400" dirty="0" smtClean="0"/>
              <a:t> </a:t>
            </a:r>
            <a:r>
              <a:rPr lang="hu-HU" sz="1400" dirty="0" err="1" smtClean="0"/>
              <a:t>incorrect</a:t>
            </a:r>
            <a:r>
              <a:rPr lang="hu-HU" sz="1400" dirty="0" smtClean="0"/>
              <a:t> </a:t>
            </a:r>
            <a:r>
              <a:rPr lang="hu-HU" sz="1400" dirty="0" err="1" smtClean="0"/>
              <a:t>labels</a:t>
            </a:r>
            <a:r>
              <a:rPr lang="hu-HU" sz="1400" dirty="0"/>
              <a:t> </a:t>
            </a:r>
            <a:r>
              <a:rPr lang="hu-HU" sz="1400" dirty="0" smtClean="0"/>
              <a:t>and </a:t>
            </a:r>
            <a:r>
              <a:rPr lang="hu-HU" sz="1400" dirty="0" err="1" smtClean="0"/>
              <a:t>feature</a:t>
            </a:r>
            <a:r>
              <a:rPr lang="hu-HU" sz="1400" dirty="0" smtClean="0"/>
              <a:t> </a:t>
            </a:r>
            <a:r>
              <a:rPr lang="hu-HU" sz="1400" dirty="0" err="1" smtClean="0"/>
              <a:t>values</a:t>
            </a:r>
            <a:endParaRPr lang="hu-HU" sz="1400" dirty="0"/>
          </a:p>
          <a:p>
            <a:pPr lvl="1"/>
            <a:r>
              <a:rPr lang="hu-HU" sz="1400" dirty="0" err="1" smtClean="0"/>
              <a:t>feature</a:t>
            </a:r>
            <a:r>
              <a:rPr lang="hu-HU" sz="1400" dirty="0" smtClean="0"/>
              <a:t> </a:t>
            </a:r>
            <a:r>
              <a:rPr lang="hu-HU" sz="1400" dirty="0" err="1" smtClean="0"/>
              <a:t>engineering</a:t>
            </a:r>
            <a:r>
              <a:rPr lang="hu-HU" sz="1400" dirty="0" smtClean="0"/>
              <a:t>: </a:t>
            </a:r>
            <a:r>
              <a:rPr lang="hu-HU" sz="1400" dirty="0" err="1" smtClean="0"/>
              <a:t>smooth</a:t>
            </a:r>
            <a:r>
              <a:rPr lang="hu-HU" sz="1400" dirty="0" smtClean="0"/>
              <a:t> </a:t>
            </a:r>
            <a:r>
              <a:rPr lang="hu-HU" sz="1400" dirty="0" err="1" smtClean="0"/>
              <a:t>or</a:t>
            </a:r>
            <a:r>
              <a:rPr lang="hu-HU" sz="1400" dirty="0" smtClean="0"/>
              <a:t> </a:t>
            </a:r>
            <a:r>
              <a:rPr lang="hu-HU" sz="1400" dirty="0" err="1" smtClean="0"/>
              <a:t>normalise</a:t>
            </a:r>
            <a:r>
              <a:rPr lang="hu-HU" sz="1400" dirty="0" smtClean="0"/>
              <a:t> </a:t>
            </a:r>
            <a:r>
              <a:rPr lang="hu-HU" sz="1400" dirty="0" err="1" smtClean="0"/>
              <a:t>noisy</a:t>
            </a:r>
            <a:r>
              <a:rPr lang="hu-HU" sz="1400" dirty="0" smtClean="0"/>
              <a:t> </a:t>
            </a:r>
            <a:r>
              <a:rPr lang="hu-HU" sz="1400" dirty="0" err="1" smtClean="0"/>
              <a:t>features</a:t>
            </a:r>
            <a:endParaRPr lang="hu-HU" sz="1400" dirty="0" smtClean="0"/>
          </a:p>
          <a:p>
            <a:pPr lvl="1"/>
            <a:r>
              <a:rPr lang="hu-HU" sz="1400" b="1" dirty="0" err="1" smtClean="0"/>
              <a:t>regularisation</a:t>
            </a:r>
            <a:r>
              <a:rPr lang="hu-HU" sz="1400" dirty="0" smtClean="0"/>
              <a:t>: part of a </a:t>
            </a:r>
            <a:r>
              <a:rPr lang="hu-HU" sz="1400" dirty="0" err="1" smtClean="0"/>
              <a:t>model</a:t>
            </a:r>
            <a:r>
              <a:rPr lang="hu-HU" sz="1400" dirty="0" smtClean="0"/>
              <a:t> </a:t>
            </a:r>
            <a:r>
              <a:rPr lang="hu-HU" sz="1400" dirty="0" err="1" smtClean="0"/>
              <a:t>that</a:t>
            </a:r>
            <a:r>
              <a:rPr lang="hu-HU" sz="1400" dirty="0" smtClean="0"/>
              <a:t> </a:t>
            </a:r>
            <a:r>
              <a:rPr lang="hu-HU" sz="1400" dirty="0" err="1" smtClean="0"/>
              <a:t>prevents</a:t>
            </a:r>
            <a:r>
              <a:rPr lang="hu-HU" sz="1400" dirty="0" smtClean="0"/>
              <a:t> </a:t>
            </a:r>
            <a:r>
              <a:rPr lang="hu-HU" sz="1400" dirty="0" err="1" smtClean="0"/>
              <a:t>a</a:t>
            </a:r>
            <a:r>
              <a:rPr lang="hu-HU" sz="1400" dirty="0" smtClean="0"/>
              <a:t> </a:t>
            </a:r>
            <a:r>
              <a:rPr lang="hu-HU" sz="1400" dirty="0" err="1" smtClean="0"/>
              <a:t>model</a:t>
            </a:r>
            <a:r>
              <a:rPr lang="hu-HU" sz="1400" dirty="0" smtClean="0"/>
              <a:t> </a:t>
            </a:r>
            <a:r>
              <a:rPr lang="hu-HU" sz="1400" dirty="0" err="1" smtClean="0"/>
              <a:t>from</a:t>
            </a:r>
            <a:r>
              <a:rPr lang="hu-HU" sz="1400" dirty="0" smtClean="0"/>
              <a:t> </a:t>
            </a:r>
            <a:r>
              <a:rPr lang="hu-HU" sz="1400" dirty="0" err="1" smtClean="0"/>
              <a:t>fitting</a:t>
            </a:r>
            <a:r>
              <a:rPr lang="hu-HU" sz="1400" dirty="0" smtClean="0"/>
              <a:t> </a:t>
            </a:r>
            <a:r>
              <a:rPr lang="hu-HU" sz="1400" dirty="0" err="1" smtClean="0"/>
              <a:t>to</a:t>
            </a:r>
            <a:r>
              <a:rPr lang="hu-HU" sz="1400" dirty="0" smtClean="0"/>
              <a:t> </a:t>
            </a:r>
            <a:r>
              <a:rPr lang="hu-HU" sz="1400" dirty="0" err="1" smtClean="0"/>
              <a:t>noise</a:t>
            </a:r>
            <a:r>
              <a:rPr lang="hu-HU" sz="1400" dirty="0" smtClean="0"/>
              <a:t> </a:t>
            </a:r>
            <a:r>
              <a:rPr lang="hu-HU" sz="1400" dirty="0" err="1" smtClean="0"/>
              <a:t>during</a:t>
            </a:r>
            <a:r>
              <a:rPr lang="hu-HU" sz="1400" dirty="0" smtClean="0"/>
              <a:t> </a:t>
            </a:r>
            <a:r>
              <a:rPr lang="hu-HU" sz="1400" dirty="0" err="1" smtClean="0"/>
              <a:t>training</a:t>
            </a:r>
            <a:r>
              <a:rPr lang="hu-HU" sz="1400" dirty="0" smtClean="0"/>
              <a:t>, </a:t>
            </a:r>
            <a:r>
              <a:rPr lang="hu-HU" sz="1400" dirty="0" err="1" smtClean="0"/>
              <a:t>such</a:t>
            </a:r>
            <a:r>
              <a:rPr lang="hu-HU" sz="1400" dirty="0" smtClean="0"/>
              <a:t> </a:t>
            </a:r>
            <a:r>
              <a:rPr lang="hu-HU" sz="1400" dirty="0" err="1" smtClean="0"/>
              <a:t>as</a:t>
            </a:r>
            <a:r>
              <a:rPr lang="hu-HU" sz="1400" dirty="0" smtClean="0"/>
              <a:t> </a:t>
            </a:r>
            <a:r>
              <a:rPr lang="hu-HU" sz="1400" b="1" dirty="0" err="1" smtClean="0"/>
              <a:t>dropout</a:t>
            </a:r>
            <a:r>
              <a:rPr lang="hu-HU" sz="1400" b="1" dirty="0" smtClean="0"/>
              <a:t> </a:t>
            </a:r>
            <a:r>
              <a:rPr lang="hu-HU" sz="1400" dirty="0" err="1" smtClean="0"/>
              <a:t>in</a:t>
            </a:r>
            <a:r>
              <a:rPr lang="hu-HU" sz="1400" dirty="0" smtClean="0"/>
              <a:t> </a:t>
            </a:r>
            <a:r>
              <a:rPr lang="hu-HU" sz="1400" dirty="0" err="1" smtClean="0"/>
              <a:t>deep</a:t>
            </a:r>
            <a:r>
              <a:rPr lang="hu-HU" sz="1400" dirty="0" smtClean="0"/>
              <a:t> </a:t>
            </a:r>
            <a:r>
              <a:rPr lang="hu-HU" sz="1400" dirty="0" err="1" smtClean="0"/>
              <a:t>neural</a:t>
            </a:r>
            <a:r>
              <a:rPr lang="hu-HU" sz="1400" dirty="0" smtClean="0"/>
              <a:t> </a:t>
            </a:r>
            <a:r>
              <a:rPr lang="hu-HU" sz="1400" dirty="0" err="1" smtClean="0"/>
              <a:t>networks</a:t>
            </a:r>
            <a:endParaRPr lang="hu-HU" sz="1400" dirty="0" smtClean="0"/>
          </a:p>
          <a:p>
            <a:pPr lvl="1"/>
            <a:r>
              <a:rPr lang="hu-HU" sz="1400" b="1" dirty="0" err="1" smtClean="0"/>
              <a:t>robust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model</a:t>
            </a:r>
            <a:r>
              <a:rPr lang="hu-HU" sz="1400" dirty="0" smtClean="0"/>
              <a:t>: </a:t>
            </a:r>
            <a:r>
              <a:rPr lang="hu-HU" sz="1400" dirty="0" err="1" smtClean="0"/>
              <a:t>choose</a:t>
            </a:r>
            <a:r>
              <a:rPr lang="hu-HU" sz="1400" dirty="0" smtClean="0"/>
              <a:t> a </a:t>
            </a:r>
            <a:r>
              <a:rPr lang="hu-HU" sz="1400" dirty="0" err="1" smtClean="0"/>
              <a:t>model</a:t>
            </a:r>
            <a:r>
              <a:rPr lang="hu-HU" sz="1400" dirty="0" smtClean="0"/>
              <a:t> </a:t>
            </a:r>
            <a:r>
              <a:rPr lang="hu-HU" sz="1400" dirty="0" err="1" smtClean="0"/>
              <a:t>that</a:t>
            </a:r>
            <a:r>
              <a:rPr lang="hu-HU" sz="1400" dirty="0" smtClean="0"/>
              <a:t> is </a:t>
            </a:r>
            <a:r>
              <a:rPr lang="hu-HU" sz="1400" dirty="0" err="1" smtClean="0"/>
              <a:t>not</a:t>
            </a:r>
            <a:r>
              <a:rPr lang="hu-HU" sz="1400" dirty="0" smtClean="0"/>
              <a:t> </a:t>
            </a:r>
            <a:r>
              <a:rPr lang="hu-HU" sz="1400" dirty="0" err="1" smtClean="0"/>
              <a:t>sensitive</a:t>
            </a:r>
            <a:r>
              <a:rPr lang="hu-HU" sz="1400" dirty="0" smtClean="0"/>
              <a:t> </a:t>
            </a:r>
            <a:r>
              <a:rPr lang="hu-HU" sz="1400" dirty="0" err="1" smtClean="0"/>
              <a:t>to</a:t>
            </a:r>
            <a:r>
              <a:rPr lang="hu-HU" sz="1400" dirty="0" smtClean="0"/>
              <a:t> </a:t>
            </a:r>
            <a:r>
              <a:rPr lang="hu-HU" sz="1400" dirty="0" err="1" smtClean="0"/>
              <a:t>noise</a:t>
            </a:r>
            <a:r>
              <a:rPr lang="hu-HU" sz="1400" dirty="0" smtClean="0"/>
              <a:t>, </a:t>
            </a:r>
            <a:r>
              <a:rPr lang="hu-HU" sz="1400" dirty="0" err="1" smtClean="0"/>
              <a:t>like</a:t>
            </a:r>
            <a:r>
              <a:rPr lang="hu-HU" sz="1400" dirty="0" smtClean="0"/>
              <a:t> a </a:t>
            </a:r>
            <a:r>
              <a:rPr lang="hu-HU" sz="1400" b="1" dirty="0" err="1" smtClean="0"/>
              <a:t>neural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network</a:t>
            </a:r>
            <a:endParaRPr lang="hu-HU" sz="1400" dirty="0" smtClean="0"/>
          </a:p>
          <a:p>
            <a:r>
              <a:rPr lang="hu-HU" sz="1600" dirty="0" err="1" smtClean="0"/>
              <a:t>Related</a:t>
            </a:r>
            <a:r>
              <a:rPr lang="hu-HU" sz="1600" dirty="0" smtClean="0"/>
              <a:t> </a:t>
            </a:r>
            <a:r>
              <a:rPr lang="hu-HU" sz="1600" dirty="0" err="1" smtClean="0"/>
              <a:t>concept</a:t>
            </a:r>
            <a:r>
              <a:rPr lang="hu-HU" sz="1600" dirty="0" smtClean="0"/>
              <a:t>: </a:t>
            </a:r>
            <a:r>
              <a:rPr lang="hu-HU" sz="1600" b="1" dirty="0" err="1" smtClean="0"/>
              <a:t>noise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in</a:t>
            </a:r>
            <a:r>
              <a:rPr lang="hu-HU" sz="1600" b="1" dirty="0" smtClean="0"/>
              <a:t> image </a:t>
            </a:r>
            <a:r>
              <a:rPr lang="hu-HU" sz="1600" b="1" dirty="0" err="1" smtClean="0"/>
              <a:t>processing</a:t>
            </a:r>
            <a:r>
              <a:rPr lang="hu-HU" sz="1600" b="1" dirty="0" smtClean="0"/>
              <a:t>, </a:t>
            </a:r>
            <a:r>
              <a:rPr lang="hu-HU" sz="1600" dirty="0" err="1" smtClean="0"/>
              <a:t>including</a:t>
            </a:r>
            <a:r>
              <a:rPr lang="hu-HU" sz="1600" dirty="0" smtClean="0"/>
              <a:t> </a:t>
            </a:r>
            <a:r>
              <a:rPr lang="hu-HU" sz="1600" dirty="0" err="1" smtClean="0"/>
              <a:t>by</a:t>
            </a:r>
            <a:r>
              <a:rPr lang="hu-HU" sz="1600" dirty="0" smtClean="0"/>
              <a:t> </a:t>
            </a:r>
            <a:r>
              <a:rPr lang="hu-HU" sz="1600" dirty="0" err="1" smtClean="0"/>
              <a:t>deep</a:t>
            </a:r>
            <a:r>
              <a:rPr lang="hu-HU" sz="1600" dirty="0" smtClean="0"/>
              <a:t> </a:t>
            </a:r>
            <a:r>
              <a:rPr lang="hu-HU" sz="1600" dirty="0" err="1" smtClean="0"/>
              <a:t>learning</a:t>
            </a:r>
            <a:endParaRPr lang="hu-HU" sz="1600" dirty="0" smtClean="0"/>
          </a:p>
          <a:p>
            <a:pPr lvl="1"/>
            <a:r>
              <a:rPr lang="hu-HU" sz="1400" b="1" dirty="0" smtClean="0"/>
              <a:t>image </a:t>
            </a:r>
            <a:r>
              <a:rPr lang="hu-HU" sz="1400" b="1" dirty="0" err="1" smtClean="0"/>
              <a:t>noise</a:t>
            </a:r>
            <a:r>
              <a:rPr lang="hu-HU" sz="1400" b="1" dirty="0" smtClean="0"/>
              <a:t>:</a:t>
            </a:r>
            <a:r>
              <a:rPr lang="hu-HU" sz="1400" b="1" dirty="0"/>
              <a:t> </a:t>
            </a:r>
            <a:r>
              <a:rPr lang="hu-HU" sz="1400" dirty="0" err="1" smtClean="0"/>
              <a:t>unwanted</a:t>
            </a:r>
            <a:r>
              <a:rPr lang="hu-HU" sz="1400" dirty="0" smtClean="0"/>
              <a:t> </a:t>
            </a:r>
            <a:r>
              <a:rPr lang="en-GB" sz="1400" dirty="0" smtClean="0"/>
              <a:t>random </a:t>
            </a:r>
            <a:r>
              <a:rPr lang="en-GB" sz="1400" dirty="0"/>
              <a:t>variations in </a:t>
            </a:r>
            <a:r>
              <a:rPr lang="en-GB" sz="1400" b="1" dirty="0"/>
              <a:t>pixel intensity values</a:t>
            </a:r>
            <a:r>
              <a:rPr lang="en-GB" sz="1400" dirty="0"/>
              <a:t> that degrade image </a:t>
            </a:r>
            <a:r>
              <a:rPr lang="en-GB" sz="1400" dirty="0" smtClean="0"/>
              <a:t>quality</a:t>
            </a:r>
            <a:endParaRPr lang="hu-HU" sz="1400" dirty="0" smtClean="0"/>
          </a:p>
          <a:p>
            <a:pPr lvl="1"/>
            <a:r>
              <a:rPr lang="en-GB" sz="1400" b="1" dirty="0"/>
              <a:t>visual corruption</a:t>
            </a:r>
            <a:r>
              <a:rPr lang="en-GB" sz="1400" dirty="0"/>
              <a:t> of the image </a:t>
            </a:r>
            <a:r>
              <a:rPr lang="en-GB" sz="1400" dirty="0" smtClean="0"/>
              <a:t>data</a:t>
            </a:r>
            <a:endParaRPr lang="hu-HU" sz="1400" dirty="0" smtClean="0"/>
          </a:p>
          <a:p>
            <a:pPr lvl="1"/>
            <a:r>
              <a:rPr lang="hu-HU" sz="1400" dirty="0" smtClean="0"/>
              <a:t>i</a:t>
            </a:r>
            <a:r>
              <a:rPr lang="en-GB" sz="1400" dirty="0" smtClean="0"/>
              <a:t>mage </a:t>
            </a:r>
            <a:r>
              <a:rPr lang="en-GB" sz="1400" dirty="0"/>
              <a:t>appears blurry, grainy, or </a:t>
            </a:r>
            <a:r>
              <a:rPr lang="en-GB" sz="1400" dirty="0" smtClean="0"/>
              <a:t>distorted</a:t>
            </a:r>
            <a:r>
              <a:rPr lang="hu-HU" sz="1400" dirty="0" smtClean="0"/>
              <a:t>: </a:t>
            </a:r>
            <a:r>
              <a:rPr lang="hu-HU" sz="1400" dirty="0" err="1" smtClean="0"/>
              <a:t>obscures</a:t>
            </a:r>
            <a:r>
              <a:rPr lang="hu-HU" sz="1400" dirty="0" smtClean="0"/>
              <a:t> </a:t>
            </a:r>
            <a:r>
              <a:rPr lang="hu-HU" sz="1400" dirty="0" err="1" smtClean="0"/>
              <a:t>the</a:t>
            </a:r>
            <a:r>
              <a:rPr lang="hu-HU" sz="1400" dirty="0" smtClean="0"/>
              <a:t> </a:t>
            </a:r>
            <a:r>
              <a:rPr lang="en-GB" sz="1400" dirty="0" smtClean="0"/>
              <a:t>"</a:t>
            </a:r>
            <a:r>
              <a:rPr lang="hu-HU" sz="1400" dirty="0" err="1" smtClean="0"/>
              <a:t>true</a:t>
            </a:r>
            <a:r>
              <a:rPr lang="en-GB" sz="1400" dirty="0" smtClean="0"/>
              <a:t>"</a:t>
            </a:r>
            <a:r>
              <a:rPr lang="hu-HU" sz="1400" dirty="0" smtClean="0"/>
              <a:t> image</a:t>
            </a:r>
          </a:p>
          <a:p>
            <a:pPr lvl="1"/>
            <a:r>
              <a:rPr lang="hu-HU" sz="1400" dirty="0" err="1" smtClean="0"/>
              <a:t>Examples</a:t>
            </a:r>
            <a:r>
              <a:rPr lang="hu-HU" sz="1400" dirty="0" smtClean="0"/>
              <a:t> </a:t>
            </a:r>
            <a:r>
              <a:rPr lang="hu-HU" sz="1400" dirty="0" err="1" smtClean="0"/>
              <a:t>from</a:t>
            </a:r>
            <a:r>
              <a:rPr lang="hu-HU" sz="1400" dirty="0"/>
              <a:t>: </a:t>
            </a:r>
            <a:r>
              <a:rPr lang="hu-HU" sz="1400" dirty="0" err="1"/>
              <a:t>https</a:t>
            </a:r>
            <a:r>
              <a:rPr lang="hu-HU" sz="1400" dirty="0"/>
              <a:t>://</a:t>
            </a:r>
            <a:r>
              <a:rPr lang="hu-HU" sz="1400" dirty="0" err="1" smtClean="0"/>
              <a:t>www.researchgate.net</a:t>
            </a:r>
            <a:r>
              <a:rPr lang="hu-HU" sz="1400" dirty="0" smtClean="0"/>
              <a:t>/</a:t>
            </a:r>
            <a:r>
              <a:rPr lang="hu-HU" sz="1400" dirty="0" err="1" smtClean="0"/>
              <a:t>publication</a:t>
            </a:r>
            <a:r>
              <a:rPr lang="hu-HU" sz="1400" dirty="0" smtClean="0"/>
              <a:t>/266015548</a:t>
            </a:r>
          </a:p>
        </p:txBody>
      </p:sp>
      <p:sp>
        <p:nvSpPr>
          <p:cNvPr id="4" name="AutoShape 2" descr="The original image. Noisy image (noise density 50%). Image denoised with linear interpolation and median filter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51" y="4975033"/>
            <a:ext cx="4608512" cy="11656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zövegdoboz 4"/>
          <p:cNvSpPr txBox="1"/>
          <p:nvPr/>
        </p:nvSpPr>
        <p:spPr>
          <a:xfrm>
            <a:off x="539552" y="6112460"/>
            <a:ext cx="3522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/>
              <a:t>1: </a:t>
            </a:r>
            <a:r>
              <a:rPr lang="hu-HU" sz="1400" dirty="0" err="1" smtClean="0"/>
              <a:t>original</a:t>
            </a:r>
            <a:r>
              <a:rPr lang="hu-HU" sz="1400" dirty="0" smtClean="0"/>
              <a:t> image, 2: 50% </a:t>
            </a:r>
            <a:r>
              <a:rPr lang="hu-HU" sz="1400" dirty="0" err="1" smtClean="0"/>
              <a:t>density</a:t>
            </a:r>
            <a:r>
              <a:rPr lang="hu-HU" sz="1400" dirty="0" smtClean="0"/>
              <a:t> </a:t>
            </a:r>
            <a:r>
              <a:rPr lang="hu-HU" sz="1400" dirty="0" err="1" smtClean="0"/>
              <a:t>noise</a:t>
            </a:r>
            <a:r>
              <a:rPr lang="hu-HU" sz="1400" dirty="0" smtClean="0"/>
              <a:t> </a:t>
            </a:r>
            <a:r>
              <a:rPr lang="hu-HU" sz="1400" dirty="0" err="1" smtClean="0"/>
              <a:t>added</a:t>
            </a:r>
            <a:r>
              <a:rPr lang="hu-HU" sz="1400" dirty="0" smtClean="0"/>
              <a:t>,</a:t>
            </a:r>
            <a:br>
              <a:rPr lang="hu-HU" sz="1400" dirty="0" smtClean="0"/>
            </a:br>
            <a:r>
              <a:rPr lang="hu-HU" sz="1400" dirty="0" smtClean="0"/>
              <a:t>3, 4: </a:t>
            </a:r>
            <a:r>
              <a:rPr lang="hu-HU" sz="1400" dirty="0" err="1" smtClean="0"/>
              <a:t>denoised</a:t>
            </a:r>
            <a:r>
              <a:rPr lang="hu-HU" sz="1400" dirty="0" smtClean="0"/>
              <a:t> </a:t>
            </a:r>
            <a:r>
              <a:rPr lang="hu-HU" sz="1400" dirty="0" err="1" smtClean="0"/>
              <a:t>with</a:t>
            </a:r>
            <a:r>
              <a:rPr lang="hu-HU" sz="1400" dirty="0" smtClean="0"/>
              <a:t> </a:t>
            </a:r>
            <a:r>
              <a:rPr lang="hu-HU" sz="1400" dirty="0" err="1" smtClean="0"/>
              <a:t>two</a:t>
            </a:r>
            <a:r>
              <a:rPr lang="hu-HU" sz="1400" dirty="0" smtClean="0"/>
              <a:t> </a:t>
            </a:r>
            <a:r>
              <a:rPr lang="hu-HU" sz="1400" dirty="0" err="1" smtClean="0"/>
              <a:t>different</a:t>
            </a:r>
            <a:r>
              <a:rPr lang="hu-HU" sz="1400" dirty="0" smtClean="0"/>
              <a:t> </a:t>
            </a:r>
            <a:r>
              <a:rPr lang="hu-HU" sz="1400" dirty="0" err="1" smtClean="0"/>
              <a:t>filters</a:t>
            </a:r>
            <a:endParaRPr lang="en-GB" sz="1400" dirty="0"/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4975033"/>
            <a:ext cx="4587776" cy="1160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zövegdoboz 7"/>
          <p:cNvSpPr txBox="1"/>
          <p:nvPr/>
        </p:nvSpPr>
        <p:spPr>
          <a:xfrm>
            <a:off x="5364088" y="6135471"/>
            <a:ext cx="26748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/>
              <a:t>5</a:t>
            </a:r>
            <a:r>
              <a:rPr lang="hu-HU" sz="1400" dirty="0" smtClean="0"/>
              <a:t>: 95% </a:t>
            </a:r>
            <a:r>
              <a:rPr lang="hu-HU" sz="1400" dirty="0" err="1" smtClean="0"/>
              <a:t>density</a:t>
            </a:r>
            <a:r>
              <a:rPr lang="hu-HU" sz="1400" dirty="0" smtClean="0"/>
              <a:t> </a:t>
            </a:r>
            <a:r>
              <a:rPr lang="hu-HU" sz="1400" dirty="0" err="1" smtClean="0"/>
              <a:t>noise</a:t>
            </a:r>
            <a:r>
              <a:rPr lang="hu-HU" sz="1400" dirty="0" smtClean="0"/>
              <a:t> </a:t>
            </a:r>
            <a:r>
              <a:rPr lang="hu-HU" sz="1400" dirty="0" err="1" smtClean="0"/>
              <a:t>added</a:t>
            </a:r>
            <a:r>
              <a:rPr lang="hu-HU" sz="1400" dirty="0" smtClean="0"/>
              <a:t>,</a:t>
            </a:r>
            <a:br>
              <a:rPr lang="hu-HU" sz="1400" dirty="0" smtClean="0"/>
            </a:br>
            <a:r>
              <a:rPr lang="hu-HU" sz="1400" dirty="0" smtClean="0"/>
              <a:t>6-8: </a:t>
            </a:r>
            <a:r>
              <a:rPr lang="hu-HU" sz="1400" dirty="0" err="1" smtClean="0"/>
              <a:t>denoised</a:t>
            </a:r>
            <a:r>
              <a:rPr lang="hu-HU" sz="1400" dirty="0" smtClean="0"/>
              <a:t> </a:t>
            </a:r>
            <a:r>
              <a:rPr lang="hu-HU" sz="1400" dirty="0" err="1" smtClean="0"/>
              <a:t>with</a:t>
            </a:r>
            <a:r>
              <a:rPr lang="hu-HU" sz="1400" dirty="0" smtClean="0"/>
              <a:t> </a:t>
            </a:r>
            <a:r>
              <a:rPr lang="hu-HU" sz="1400" dirty="0" err="1" smtClean="0"/>
              <a:t>different</a:t>
            </a:r>
            <a:r>
              <a:rPr lang="hu-HU" sz="1400" dirty="0" smtClean="0"/>
              <a:t> </a:t>
            </a:r>
            <a:r>
              <a:rPr lang="hu-HU" sz="1400" dirty="0" err="1" smtClean="0"/>
              <a:t>filters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9811496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19256" cy="778098"/>
          </a:xfrm>
        </p:spPr>
        <p:txBody>
          <a:bodyPr>
            <a:normAutofit/>
          </a:bodyPr>
          <a:lstStyle/>
          <a:p>
            <a:r>
              <a:rPr lang="hu-HU" sz="3600" dirty="0" err="1" smtClean="0"/>
              <a:t>Representation</a:t>
            </a:r>
            <a:r>
              <a:rPr lang="hu-HU" sz="3600" dirty="0" smtClean="0"/>
              <a:t> </a:t>
            </a:r>
            <a:r>
              <a:rPr lang="hu-HU" sz="3600" dirty="0" err="1" smtClean="0"/>
              <a:t>Learning</a:t>
            </a:r>
            <a:endParaRPr lang="en-GB" sz="36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99170" y="1268760"/>
            <a:ext cx="8229600" cy="4525963"/>
          </a:xfrm>
        </p:spPr>
        <p:txBody>
          <a:bodyPr>
            <a:normAutofit/>
          </a:bodyPr>
          <a:lstStyle/>
          <a:p>
            <a:r>
              <a:rPr lang="hu-HU" sz="2400" dirty="0" err="1" smtClean="0"/>
              <a:t>Example</a:t>
            </a:r>
            <a:r>
              <a:rPr lang="hu-HU" sz="2400" dirty="0" smtClean="0"/>
              <a:t> 1: </a:t>
            </a:r>
            <a:r>
              <a:rPr lang="hu-HU" sz="2400" dirty="0" err="1" smtClean="0"/>
              <a:t>Learned</a:t>
            </a:r>
            <a:r>
              <a:rPr lang="hu-HU" sz="2400" dirty="0" smtClean="0"/>
              <a:t> </a:t>
            </a:r>
            <a:r>
              <a:rPr lang="hu-HU" sz="2400" dirty="0" err="1" smtClean="0"/>
              <a:t>Filters</a:t>
            </a:r>
            <a:r>
              <a:rPr lang="hu-HU" sz="2400" dirty="0" smtClean="0"/>
              <a:t> </a:t>
            </a:r>
            <a:r>
              <a:rPr lang="hu-HU" sz="2400" dirty="0" err="1" smtClean="0"/>
              <a:t>in</a:t>
            </a:r>
            <a:r>
              <a:rPr lang="hu-HU" sz="2400" dirty="0" smtClean="0"/>
              <a:t> </a:t>
            </a:r>
            <a:r>
              <a:rPr lang="hu-HU" sz="2400" dirty="0" err="1" smtClean="0"/>
              <a:t>CNNs</a:t>
            </a:r>
            <a:endParaRPr lang="hu-HU" sz="2400" dirty="0" smtClean="0"/>
          </a:p>
          <a:p>
            <a:pPr lvl="1"/>
            <a:r>
              <a:rPr lang="hu-HU" sz="1400" dirty="0" err="1" smtClean="0"/>
              <a:t>Filters</a:t>
            </a:r>
            <a:r>
              <a:rPr lang="hu-HU" sz="1400" dirty="0" smtClean="0"/>
              <a:t> of </a:t>
            </a:r>
            <a:r>
              <a:rPr lang="hu-HU" sz="1400" b="1" dirty="0" err="1" smtClean="0"/>
              <a:t>first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convolutional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layer</a:t>
            </a:r>
            <a:r>
              <a:rPr lang="hu-HU" sz="1400" b="1" dirty="0" smtClean="0"/>
              <a:t> </a:t>
            </a:r>
            <a:r>
              <a:rPr lang="hu-HU" sz="1400" dirty="0" err="1" smtClean="0"/>
              <a:t>from</a:t>
            </a:r>
            <a:r>
              <a:rPr lang="hu-HU" sz="1400" dirty="0" smtClean="0"/>
              <a:t> </a:t>
            </a:r>
            <a:r>
              <a:rPr lang="hu-HU" sz="1400" dirty="0" err="1" smtClean="0"/>
              <a:t>seminal</a:t>
            </a:r>
            <a:r>
              <a:rPr lang="hu-HU" sz="1400" dirty="0" smtClean="0"/>
              <a:t> </a:t>
            </a:r>
            <a:r>
              <a:rPr lang="hu-HU" sz="1400" dirty="0" err="1" smtClean="0"/>
              <a:t>paper</a:t>
            </a:r>
            <a:r>
              <a:rPr lang="hu-HU" sz="1400" dirty="0" smtClean="0"/>
              <a:t> (184.000 </a:t>
            </a:r>
            <a:r>
              <a:rPr lang="hu-HU" sz="1400" dirty="0" err="1" smtClean="0"/>
              <a:t>citations</a:t>
            </a:r>
            <a:r>
              <a:rPr lang="hu-HU" sz="1400" dirty="0" smtClean="0"/>
              <a:t>!) </a:t>
            </a:r>
            <a:r>
              <a:rPr lang="hu-HU" sz="1400" dirty="0" err="1" smtClean="0"/>
              <a:t>Krizhevsky</a:t>
            </a:r>
            <a:r>
              <a:rPr lang="hu-HU" sz="1400" dirty="0" smtClean="0"/>
              <a:t>, </a:t>
            </a:r>
            <a:r>
              <a:rPr lang="hu-HU" sz="1400" dirty="0" err="1" smtClean="0"/>
              <a:t>Sutskever</a:t>
            </a:r>
            <a:r>
              <a:rPr lang="hu-HU" sz="1400" dirty="0" smtClean="0"/>
              <a:t>, </a:t>
            </a:r>
            <a:r>
              <a:rPr lang="hu-HU" sz="1400" dirty="0" err="1" smtClean="0"/>
              <a:t>Hinton</a:t>
            </a:r>
            <a:r>
              <a:rPr lang="hu-HU" sz="1400" dirty="0" smtClean="0"/>
              <a:t>: </a:t>
            </a:r>
            <a:r>
              <a:rPr lang="en-GB" sz="1400" dirty="0" smtClean="0"/>
              <a:t>ImageNet </a:t>
            </a:r>
            <a:r>
              <a:rPr lang="en-GB" sz="1400" dirty="0"/>
              <a:t>Classification with Deep Convolutional Neural </a:t>
            </a:r>
            <a:r>
              <a:rPr lang="en-GB" sz="1400" dirty="0" smtClean="0"/>
              <a:t>Networks</a:t>
            </a:r>
            <a:r>
              <a:rPr lang="hu-HU" sz="1400" dirty="0" smtClean="0"/>
              <a:t>, </a:t>
            </a:r>
            <a:r>
              <a:rPr lang="hu-HU" sz="1400" dirty="0" err="1" smtClean="0"/>
              <a:t>NIPS</a:t>
            </a:r>
            <a:r>
              <a:rPr lang="hu-HU" sz="1400" dirty="0" smtClean="0"/>
              <a:t> 2012</a:t>
            </a:r>
          </a:p>
          <a:p>
            <a:pPr lvl="1"/>
            <a:endParaRPr lang="hu-HU" sz="1400" dirty="0" smtClean="0"/>
          </a:p>
          <a:p>
            <a:pPr lvl="1"/>
            <a:endParaRPr lang="hu-HU" sz="1400" dirty="0"/>
          </a:p>
          <a:p>
            <a:pPr lvl="1"/>
            <a:endParaRPr lang="hu-HU" sz="1400" dirty="0" smtClean="0"/>
          </a:p>
          <a:p>
            <a:pPr lvl="1"/>
            <a:endParaRPr lang="hu-HU" sz="1400" dirty="0"/>
          </a:p>
          <a:p>
            <a:pPr lvl="1"/>
            <a:endParaRPr lang="hu-HU" sz="1400" dirty="0" smtClean="0"/>
          </a:p>
          <a:p>
            <a:pPr lvl="1"/>
            <a:endParaRPr lang="hu-HU" sz="1400" dirty="0"/>
          </a:p>
          <a:p>
            <a:pPr lvl="1"/>
            <a:r>
              <a:rPr lang="hu-HU" sz="1400" dirty="0" err="1" smtClean="0"/>
              <a:t>Filters</a:t>
            </a:r>
            <a:r>
              <a:rPr lang="hu-HU" sz="1400" dirty="0" smtClean="0"/>
              <a:t> of </a:t>
            </a:r>
            <a:r>
              <a:rPr lang="hu-HU" sz="1400" b="1" dirty="0" err="1" smtClean="0"/>
              <a:t>second</a:t>
            </a:r>
            <a:r>
              <a:rPr lang="hu-HU" sz="1400" b="1" dirty="0" smtClean="0"/>
              <a:t> (top) and </a:t>
            </a:r>
            <a:r>
              <a:rPr lang="hu-HU" sz="1400" b="1" dirty="0" err="1" smtClean="0"/>
              <a:t>third</a:t>
            </a:r>
            <a:r>
              <a:rPr lang="hu-HU" sz="1400" b="1" dirty="0" smtClean="0"/>
              <a:t> (</a:t>
            </a:r>
            <a:r>
              <a:rPr lang="hu-HU" sz="1400" b="1" dirty="0" err="1" smtClean="0"/>
              <a:t>bottom</a:t>
            </a:r>
            <a:r>
              <a:rPr lang="hu-HU" sz="1400" b="1" dirty="0" smtClean="0"/>
              <a:t>) </a:t>
            </a:r>
            <a:r>
              <a:rPr lang="hu-HU" sz="1400" b="1" dirty="0" err="1" smtClean="0"/>
              <a:t>convolutional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layer</a:t>
            </a:r>
            <a:r>
              <a:rPr lang="hu-HU" sz="1400" b="1" dirty="0" smtClean="0"/>
              <a:t> </a:t>
            </a:r>
            <a:r>
              <a:rPr lang="hu-HU" sz="1400" dirty="0" smtClean="0"/>
              <a:t>of </a:t>
            </a:r>
            <a:r>
              <a:rPr lang="hu-HU" sz="1400" dirty="0" err="1" smtClean="0"/>
              <a:t>different</a:t>
            </a:r>
            <a:r>
              <a:rPr lang="hu-HU" sz="1400" dirty="0" smtClean="0"/>
              <a:t> </a:t>
            </a:r>
            <a:r>
              <a:rPr lang="hu-HU" sz="1400" dirty="0" err="1" smtClean="0"/>
              <a:t>CNNs</a:t>
            </a:r>
            <a:r>
              <a:rPr lang="hu-HU" sz="1400" dirty="0" smtClean="0"/>
              <a:t> </a:t>
            </a:r>
            <a:r>
              <a:rPr lang="hu-HU" sz="1400" dirty="0" err="1" smtClean="0"/>
              <a:t>trained</a:t>
            </a:r>
            <a:r>
              <a:rPr lang="hu-HU" sz="1400" dirty="0" smtClean="0"/>
              <a:t> </a:t>
            </a:r>
            <a:r>
              <a:rPr lang="hu-HU" sz="1400" dirty="0" err="1" smtClean="0"/>
              <a:t>on</a:t>
            </a:r>
            <a:r>
              <a:rPr lang="hu-HU" sz="1400" dirty="0" smtClean="0"/>
              <a:t> </a:t>
            </a:r>
            <a:r>
              <a:rPr lang="hu-HU" sz="1400" dirty="0" err="1" smtClean="0"/>
              <a:t>images</a:t>
            </a:r>
            <a:r>
              <a:rPr lang="hu-HU" sz="1400" dirty="0" smtClean="0"/>
              <a:t> </a:t>
            </a:r>
            <a:r>
              <a:rPr lang="hu-HU" sz="1400" dirty="0" err="1" smtClean="0"/>
              <a:t>showing</a:t>
            </a:r>
            <a:r>
              <a:rPr lang="hu-HU" sz="1400" dirty="0" smtClean="0"/>
              <a:t> </a:t>
            </a:r>
            <a:r>
              <a:rPr lang="hu-HU" sz="1400" dirty="0" err="1" smtClean="0"/>
              <a:t>specific</a:t>
            </a:r>
            <a:r>
              <a:rPr lang="hu-HU" sz="1400" dirty="0" smtClean="0"/>
              <a:t> </a:t>
            </a:r>
            <a:r>
              <a:rPr lang="hu-HU" sz="1400" dirty="0" err="1" smtClean="0"/>
              <a:t>object</a:t>
            </a:r>
            <a:r>
              <a:rPr lang="hu-HU" sz="1400" dirty="0" smtClean="0"/>
              <a:t> </a:t>
            </a:r>
            <a:r>
              <a:rPr lang="hu-HU" sz="1400" dirty="0" err="1" smtClean="0"/>
              <a:t>categories</a:t>
            </a:r>
            <a:r>
              <a:rPr lang="hu-HU" sz="1400" dirty="0" smtClean="0"/>
              <a:t>, </a:t>
            </a:r>
            <a:r>
              <a:rPr lang="hu-HU" sz="1400" dirty="0" err="1" smtClean="0"/>
              <a:t>from</a:t>
            </a:r>
            <a:r>
              <a:rPr lang="hu-HU" sz="1400" dirty="0" smtClean="0"/>
              <a:t> Lee et </a:t>
            </a:r>
            <a:r>
              <a:rPr lang="hu-HU" sz="1400" dirty="0" err="1" smtClean="0"/>
              <a:t>al</a:t>
            </a:r>
            <a:r>
              <a:rPr lang="hu-HU" sz="1400" dirty="0" smtClean="0"/>
              <a:t>.: </a:t>
            </a:r>
            <a:r>
              <a:rPr lang="en-GB" sz="1400" dirty="0" smtClean="0"/>
              <a:t>Convolutional </a:t>
            </a:r>
            <a:r>
              <a:rPr lang="en-GB" sz="1400" dirty="0"/>
              <a:t>Deep Belief </a:t>
            </a:r>
            <a:r>
              <a:rPr lang="en-GB" sz="1400" dirty="0" smtClean="0"/>
              <a:t>Networks</a:t>
            </a:r>
            <a:r>
              <a:rPr lang="hu-HU" sz="1400" dirty="0" smtClean="0"/>
              <a:t> </a:t>
            </a:r>
            <a:r>
              <a:rPr lang="en-GB" sz="1400" dirty="0" smtClean="0"/>
              <a:t>for </a:t>
            </a:r>
            <a:r>
              <a:rPr lang="en-GB" sz="1400" dirty="0"/>
              <a:t>Scalable Unsupervised Learning of Hierarchical </a:t>
            </a:r>
            <a:r>
              <a:rPr lang="en-GB" sz="1400" dirty="0" smtClean="0"/>
              <a:t>Representations</a:t>
            </a:r>
            <a:r>
              <a:rPr lang="hu-HU" sz="1400" dirty="0" smtClean="0"/>
              <a:t>, </a:t>
            </a:r>
            <a:r>
              <a:rPr lang="hu-HU" sz="1400" dirty="0" err="1" smtClean="0"/>
              <a:t>ICMS</a:t>
            </a:r>
            <a:r>
              <a:rPr lang="hu-HU" sz="1400" dirty="0" smtClean="0"/>
              <a:t> 2009.</a:t>
            </a:r>
            <a:endParaRPr lang="en-GB" sz="1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715" y="4437112"/>
            <a:ext cx="8724900" cy="2319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142444"/>
            <a:ext cx="3960440" cy="1569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26269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87405" y="1268760"/>
            <a:ext cx="8229600" cy="4929411"/>
          </a:xfrm>
        </p:spPr>
        <p:txBody>
          <a:bodyPr/>
          <a:lstStyle/>
          <a:p>
            <a:r>
              <a:rPr lang="hu-HU" sz="2400" dirty="0" err="1" smtClean="0"/>
              <a:t>Example</a:t>
            </a:r>
            <a:r>
              <a:rPr lang="hu-HU" sz="2400" dirty="0" smtClean="0"/>
              <a:t> 2: </a:t>
            </a:r>
            <a:r>
              <a:rPr lang="hu-HU" sz="2400" dirty="0" err="1" smtClean="0"/>
              <a:t>Learning</a:t>
            </a:r>
            <a:r>
              <a:rPr lang="hu-HU" sz="2400" dirty="0" smtClean="0"/>
              <a:t> </a:t>
            </a:r>
            <a:r>
              <a:rPr lang="hu-HU" sz="2400" dirty="0" err="1" smtClean="0"/>
              <a:t>family</a:t>
            </a:r>
            <a:r>
              <a:rPr lang="hu-HU" sz="2400" dirty="0" smtClean="0"/>
              <a:t> </a:t>
            </a:r>
            <a:r>
              <a:rPr lang="hu-HU" sz="2400" dirty="0" err="1" smtClean="0"/>
              <a:t>relationships</a:t>
            </a:r>
            <a:endParaRPr lang="hu-HU" sz="2400" dirty="0" smtClean="0"/>
          </a:p>
          <a:p>
            <a:pPr lvl="1"/>
            <a:r>
              <a:rPr lang="hu-HU" sz="1600" dirty="0" err="1" smtClean="0"/>
              <a:t>Not</a:t>
            </a:r>
            <a:r>
              <a:rPr lang="hu-HU" sz="1600" dirty="0" smtClean="0"/>
              <a:t> a </a:t>
            </a:r>
            <a:r>
              <a:rPr lang="hu-HU" sz="1600" dirty="0" err="1" smtClean="0"/>
              <a:t>deep</a:t>
            </a:r>
            <a:r>
              <a:rPr lang="hu-HU" sz="1600" dirty="0" smtClean="0"/>
              <a:t> </a:t>
            </a:r>
            <a:r>
              <a:rPr lang="hu-HU" sz="1600" dirty="0" err="1" smtClean="0"/>
              <a:t>neural</a:t>
            </a:r>
            <a:r>
              <a:rPr lang="hu-HU" sz="1600" dirty="0" smtClean="0"/>
              <a:t> </a:t>
            </a:r>
            <a:r>
              <a:rPr lang="hu-HU" sz="1600" dirty="0" err="1" smtClean="0"/>
              <a:t>network</a:t>
            </a:r>
            <a:r>
              <a:rPr lang="hu-HU" sz="1600" dirty="0" smtClean="0"/>
              <a:t> </a:t>
            </a:r>
            <a:r>
              <a:rPr lang="hu-HU" sz="1600" dirty="0" err="1" smtClean="0"/>
              <a:t>but</a:t>
            </a:r>
            <a:r>
              <a:rPr lang="hu-HU" sz="1600" dirty="0" smtClean="0"/>
              <a:t> </a:t>
            </a:r>
            <a:r>
              <a:rPr lang="hu-HU" sz="1600" dirty="0" err="1" smtClean="0"/>
              <a:t>a</a:t>
            </a:r>
            <a:r>
              <a:rPr lang="hu-HU" sz="1600" dirty="0" smtClean="0"/>
              <a:t> </a:t>
            </a:r>
            <a:r>
              <a:rPr lang="hu-HU" sz="1600" dirty="0" err="1" smtClean="0"/>
              <a:t>regular</a:t>
            </a:r>
            <a:r>
              <a:rPr lang="hu-HU" sz="1600" dirty="0" smtClean="0"/>
              <a:t> </a:t>
            </a:r>
            <a:r>
              <a:rPr lang="hu-HU" sz="1600" dirty="0" err="1" smtClean="0"/>
              <a:t>one</a:t>
            </a:r>
            <a:r>
              <a:rPr lang="hu-HU" sz="1600" dirty="0" smtClean="0"/>
              <a:t> </a:t>
            </a:r>
            <a:r>
              <a:rPr lang="hu-HU" sz="1600" dirty="0" err="1" smtClean="0"/>
              <a:t>from</a:t>
            </a:r>
            <a:r>
              <a:rPr lang="hu-HU" sz="1600" dirty="0" smtClean="0"/>
              <a:t> </a:t>
            </a:r>
            <a:r>
              <a:rPr lang="hu-HU" sz="1600" dirty="0" err="1" smtClean="0"/>
              <a:t>Rumelhart</a:t>
            </a:r>
            <a:r>
              <a:rPr lang="hu-HU" sz="1600" dirty="0" smtClean="0"/>
              <a:t>, </a:t>
            </a:r>
            <a:r>
              <a:rPr lang="hu-HU" sz="1600" dirty="0" err="1" smtClean="0"/>
              <a:t>Hinton</a:t>
            </a:r>
            <a:r>
              <a:rPr lang="hu-HU" sz="1600" dirty="0" smtClean="0"/>
              <a:t>, Williams: </a:t>
            </a:r>
            <a:r>
              <a:rPr lang="en-GB" sz="1600" i="1" dirty="0" smtClean="0"/>
              <a:t>Learning </a:t>
            </a:r>
            <a:r>
              <a:rPr lang="en-GB" sz="1600" i="1" dirty="0"/>
              <a:t>representations by back-propagating </a:t>
            </a:r>
            <a:r>
              <a:rPr lang="en-GB" sz="1600" i="1" dirty="0" smtClean="0"/>
              <a:t>errors</a:t>
            </a:r>
            <a:r>
              <a:rPr lang="hu-HU" sz="1600" i="1" dirty="0" smtClean="0"/>
              <a:t>. </a:t>
            </a:r>
            <a:r>
              <a:rPr lang="hu-HU" sz="1600" dirty="0" err="1" smtClean="0"/>
              <a:t>Nature</a:t>
            </a:r>
            <a:r>
              <a:rPr lang="hu-HU" sz="1600" dirty="0" smtClean="0"/>
              <a:t>, 1986.</a:t>
            </a:r>
          </a:p>
          <a:p>
            <a:pPr lvl="1"/>
            <a:r>
              <a:rPr lang="hu-HU" sz="1600" dirty="0" err="1" smtClean="0"/>
              <a:t>Facts</a:t>
            </a:r>
            <a:r>
              <a:rPr lang="hu-HU" sz="1600" dirty="0" smtClean="0"/>
              <a:t> </a:t>
            </a:r>
            <a:r>
              <a:rPr lang="hu-HU" sz="1600" dirty="0" err="1" smtClean="0"/>
              <a:t>from</a:t>
            </a:r>
            <a:r>
              <a:rPr lang="hu-HU" sz="1600" dirty="0" smtClean="0"/>
              <a:t> </a:t>
            </a:r>
            <a:r>
              <a:rPr lang="hu-HU" sz="1600" dirty="0" err="1" smtClean="0"/>
              <a:t>two</a:t>
            </a:r>
            <a:r>
              <a:rPr lang="hu-HU" sz="1600" dirty="0" smtClean="0"/>
              <a:t> </a:t>
            </a:r>
            <a:r>
              <a:rPr lang="hu-HU" sz="1600" dirty="0" err="1" smtClean="0"/>
              <a:t>isomorphic</a:t>
            </a:r>
            <a:r>
              <a:rPr lang="hu-HU" sz="1600" dirty="0" smtClean="0"/>
              <a:t> </a:t>
            </a:r>
            <a:r>
              <a:rPr lang="hu-HU" sz="1600" dirty="0" err="1" smtClean="0"/>
              <a:t>family</a:t>
            </a:r>
            <a:r>
              <a:rPr lang="hu-HU" sz="1600" dirty="0" smtClean="0"/>
              <a:t> </a:t>
            </a:r>
            <a:r>
              <a:rPr lang="hu-HU" sz="1600" dirty="0" err="1" smtClean="0"/>
              <a:t>trees</a:t>
            </a:r>
            <a:r>
              <a:rPr lang="hu-HU" sz="1600" dirty="0" smtClean="0"/>
              <a:t> </a:t>
            </a:r>
            <a:r>
              <a:rPr lang="hu-HU" sz="1600" dirty="0" err="1" smtClean="0"/>
              <a:t>are</a:t>
            </a:r>
            <a:r>
              <a:rPr lang="hu-HU" sz="1600" dirty="0" smtClean="0"/>
              <a:t> </a:t>
            </a:r>
            <a:r>
              <a:rPr lang="hu-HU" sz="1600" dirty="0" err="1" smtClean="0"/>
              <a:t>presented</a:t>
            </a:r>
            <a:r>
              <a:rPr lang="hu-HU" sz="1600" dirty="0" smtClean="0"/>
              <a:t> </a:t>
            </a:r>
            <a:r>
              <a:rPr lang="hu-HU" sz="1600" dirty="0" err="1" smtClean="0"/>
              <a:t>as</a:t>
            </a:r>
            <a:r>
              <a:rPr lang="hu-HU" sz="1600" dirty="0" smtClean="0"/>
              <a:t> </a:t>
            </a:r>
            <a:r>
              <a:rPr lang="hu-HU" sz="1600" dirty="0" err="1" smtClean="0"/>
              <a:t>training</a:t>
            </a:r>
            <a:r>
              <a:rPr lang="hu-HU" sz="1600" dirty="0" smtClean="0"/>
              <a:t> </a:t>
            </a:r>
            <a:r>
              <a:rPr lang="hu-HU" sz="1600" dirty="0" err="1" smtClean="0"/>
              <a:t>examples</a:t>
            </a:r>
            <a:r>
              <a:rPr lang="hu-HU" sz="1600" dirty="0" smtClean="0"/>
              <a:t> </a:t>
            </a:r>
            <a:r>
              <a:rPr lang="hu-HU" sz="1600" dirty="0" err="1" smtClean="0"/>
              <a:t>in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form</a:t>
            </a:r>
            <a:r>
              <a:rPr lang="hu-HU" sz="1600" dirty="0" smtClean="0"/>
              <a:t> &lt;</a:t>
            </a:r>
            <a:r>
              <a:rPr lang="hu-HU" sz="1600" dirty="0" err="1" smtClean="0"/>
              <a:t>person</a:t>
            </a:r>
            <a:r>
              <a:rPr lang="hu-HU" sz="1600" dirty="0" smtClean="0"/>
              <a:t> 1&gt; &lt;</a:t>
            </a:r>
            <a:r>
              <a:rPr lang="hu-HU" sz="1600" dirty="0" err="1" smtClean="0"/>
              <a:t>relationship</a:t>
            </a:r>
            <a:r>
              <a:rPr lang="hu-HU" sz="1600" dirty="0" smtClean="0"/>
              <a:t>&gt; &lt;</a:t>
            </a:r>
            <a:r>
              <a:rPr lang="hu-HU" sz="1600" dirty="0" err="1" smtClean="0"/>
              <a:t>person</a:t>
            </a:r>
            <a:r>
              <a:rPr lang="hu-HU" sz="1600" dirty="0" smtClean="0"/>
              <a:t> 2&gt;,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persons</a:t>
            </a:r>
            <a:r>
              <a:rPr lang="hu-HU" sz="1600" dirty="0" smtClean="0"/>
              <a:t> and </a:t>
            </a:r>
            <a:r>
              <a:rPr lang="hu-HU" sz="1600" dirty="0" err="1" smtClean="0"/>
              <a:t>relationships</a:t>
            </a:r>
            <a:r>
              <a:rPr lang="hu-HU" sz="1600" dirty="0" smtClean="0"/>
              <a:t> </a:t>
            </a:r>
            <a:r>
              <a:rPr lang="hu-HU" sz="1600" dirty="0" err="1" smtClean="0"/>
              <a:t>were</a:t>
            </a:r>
            <a:r>
              <a:rPr lang="hu-HU" sz="1600" dirty="0" smtClean="0"/>
              <a:t> </a:t>
            </a:r>
            <a:r>
              <a:rPr lang="hu-HU" sz="1600" dirty="0" err="1" smtClean="0"/>
              <a:t>one-hot</a:t>
            </a:r>
            <a:r>
              <a:rPr lang="hu-HU" sz="1600" dirty="0" smtClean="0"/>
              <a:t> </a:t>
            </a:r>
            <a:r>
              <a:rPr lang="hu-HU" sz="1600" dirty="0" err="1" smtClean="0"/>
              <a:t>encoded</a:t>
            </a:r>
            <a:r>
              <a:rPr lang="hu-HU" sz="1600" dirty="0" smtClean="0"/>
              <a:t>. </a:t>
            </a:r>
            <a:r>
              <a:rPr lang="hu-HU" sz="1600" dirty="0" err="1" smtClean="0"/>
              <a:t>Relationship</a:t>
            </a:r>
            <a:r>
              <a:rPr lang="hu-HU" sz="1600" dirty="0" smtClean="0"/>
              <a:t> </a:t>
            </a:r>
            <a:r>
              <a:rPr lang="hu-HU" sz="1600" dirty="0" err="1" smtClean="0"/>
              <a:t>can</a:t>
            </a:r>
            <a:r>
              <a:rPr lang="hu-HU" sz="1600" dirty="0" smtClean="0"/>
              <a:t> be </a:t>
            </a:r>
            <a:r>
              <a:rPr lang="hu-HU" sz="1600" dirty="0" err="1" smtClean="0"/>
              <a:t>father</a:t>
            </a:r>
            <a:r>
              <a:rPr lang="hu-HU" sz="1600" dirty="0" smtClean="0"/>
              <a:t>, </a:t>
            </a:r>
            <a:r>
              <a:rPr lang="hu-HU" sz="1600" dirty="0" err="1" smtClean="0"/>
              <a:t>mother</a:t>
            </a:r>
            <a:r>
              <a:rPr lang="hu-HU" sz="1600" dirty="0" smtClean="0"/>
              <a:t>, </a:t>
            </a:r>
            <a:r>
              <a:rPr lang="hu-HU" sz="1600" dirty="0" err="1" smtClean="0"/>
              <a:t>husband</a:t>
            </a:r>
            <a:r>
              <a:rPr lang="hu-HU" sz="1600" dirty="0" smtClean="0"/>
              <a:t>, </a:t>
            </a:r>
            <a:r>
              <a:rPr lang="hu-HU" sz="1600" dirty="0" err="1" smtClean="0"/>
              <a:t>wife</a:t>
            </a:r>
            <a:r>
              <a:rPr lang="hu-HU" sz="1600" dirty="0" smtClean="0"/>
              <a:t>, </a:t>
            </a:r>
            <a:r>
              <a:rPr lang="hu-HU" sz="1600" dirty="0" err="1" smtClean="0"/>
              <a:t>sister</a:t>
            </a:r>
            <a:r>
              <a:rPr lang="hu-HU" sz="1600" dirty="0" smtClean="0"/>
              <a:t>, </a:t>
            </a:r>
            <a:r>
              <a:rPr lang="hu-HU" sz="1600" dirty="0" err="1" smtClean="0"/>
              <a:t>brother</a:t>
            </a:r>
            <a:r>
              <a:rPr lang="hu-HU" sz="1600" dirty="0" smtClean="0"/>
              <a:t>, </a:t>
            </a:r>
            <a:r>
              <a:rPr lang="hu-HU" sz="1600" dirty="0" err="1" smtClean="0"/>
              <a:t>uncle</a:t>
            </a:r>
            <a:r>
              <a:rPr lang="hu-HU" sz="1600" dirty="0" smtClean="0"/>
              <a:t>, </a:t>
            </a:r>
            <a:r>
              <a:rPr lang="hu-HU" sz="1600" dirty="0" err="1" smtClean="0"/>
              <a:t>aunt</a:t>
            </a:r>
            <a:r>
              <a:rPr lang="hu-HU" sz="1600" dirty="0" smtClean="0"/>
              <a:t>, etc. </a:t>
            </a:r>
            <a:r>
              <a:rPr lang="hu-HU" sz="1600" dirty="0" err="1" smtClean="0"/>
              <a:t>Person</a:t>
            </a:r>
            <a:r>
              <a:rPr lang="hu-HU" sz="1600" dirty="0" smtClean="0"/>
              <a:t> 1 and </a:t>
            </a:r>
            <a:r>
              <a:rPr lang="hu-HU" sz="1600" dirty="0" err="1" smtClean="0"/>
              <a:t>relationship</a:t>
            </a:r>
            <a:r>
              <a:rPr lang="hu-HU" sz="1600" dirty="0" smtClean="0"/>
              <a:t> </a:t>
            </a:r>
            <a:r>
              <a:rPr lang="hu-HU" sz="1600" dirty="0" err="1" smtClean="0"/>
              <a:t>are</a:t>
            </a:r>
            <a:r>
              <a:rPr lang="hu-HU" sz="1600" dirty="0" smtClean="0"/>
              <a:t> </a:t>
            </a:r>
            <a:r>
              <a:rPr lang="hu-HU" sz="1600" dirty="0" err="1" smtClean="0"/>
              <a:t>in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input </a:t>
            </a:r>
            <a:r>
              <a:rPr lang="hu-HU" sz="1600" dirty="0" err="1" smtClean="0"/>
              <a:t>layer</a:t>
            </a:r>
            <a:r>
              <a:rPr lang="hu-HU" sz="1600" dirty="0" smtClean="0"/>
              <a:t>, </a:t>
            </a:r>
            <a:r>
              <a:rPr lang="hu-HU" sz="1600" dirty="0" err="1" smtClean="0"/>
              <a:t>person</a:t>
            </a:r>
            <a:r>
              <a:rPr lang="hu-HU" sz="1600" dirty="0" smtClean="0"/>
              <a:t> 2 is </a:t>
            </a:r>
            <a:r>
              <a:rPr lang="hu-HU" sz="1600" dirty="0" err="1" smtClean="0"/>
              <a:t>the</a:t>
            </a:r>
            <a:r>
              <a:rPr lang="hu-HU" sz="1600" dirty="0" smtClean="0"/>
              <a:t> output </a:t>
            </a:r>
            <a:r>
              <a:rPr lang="hu-HU" sz="1600" dirty="0" err="1" smtClean="0"/>
              <a:t>layer</a:t>
            </a:r>
            <a:r>
              <a:rPr lang="hu-HU" sz="1600" dirty="0" smtClean="0"/>
              <a:t>.</a:t>
            </a:r>
          </a:p>
          <a:p>
            <a:pPr lvl="1"/>
            <a:r>
              <a:rPr lang="hu-HU" sz="1600" dirty="0" smtClean="0"/>
              <a:t>The </a:t>
            </a:r>
            <a:r>
              <a:rPr lang="hu-HU" sz="1600" dirty="0" err="1" smtClean="0"/>
              <a:t>first</a:t>
            </a:r>
            <a:r>
              <a:rPr lang="hu-HU" sz="1600" dirty="0" smtClean="0"/>
              <a:t> </a:t>
            </a:r>
            <a:r>
              <a:rPr lang="hu-HU" sz="1600" dirty="0" err="1" smtClean="0"/>
              <a:t>hidden</a:t>
            </a:r>
            <a:r>
              <a:rPr lang="hu-HU" sz="1600" dirty="0" smtClean="0"/>
              <a:t> </a:t>
            </a:r>
            <a:r>
              <a:rPr lang="hu-HU" sz="1600" dirty="0" err="1" smtClean="0"/>
              <a:t>layer</a:t>
            </a:r>
            <a:r>
              <a:rPr lang="hu-HU" sz="1600" dirty="0" smtClean="0"/>
              <a:t> </a:t>
            </a:r>
            <a:r>
              <a:rPr lang="hu-HU" sz="1600" dirty="0" err="1" smtClean="0"/>
              <a:t>contains</a:t>
            </a:r>
            <a:r>
              <a:rPr lang="hu-HU" sz="1600" dirty="0" smtClean="0"/>
              <a:t> 6 </a:t>
            </a:r>
            <a:r>
              <a:rPr lang="hu-HU" sz="1600" dirty="0" err="1" smtClean="0"/>
              <a:t>neurons</a:t>
            </a:r>
            <a:r>
              <a:rPr lang="hu-HU" sz="1600" dirty="0" smtClean="0"/>
              <a:t>,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figure</a:t>
            </a:r>
            <a:r>
              <a:rPr lang="hu-HU" sz="1600" dirty="0" smtClean="0"/>
              <a:t> </a:t>
            </a:r>
            <a:r>
              <a:rPr lang="hu-HU" sz="1600" dirty="0" err="1" smtClean="0"/>
              <a:t>on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right </a:t>
            </a:r>
            <a:r>
              <a:rPr lang="hu-HU" sz="1600" dirty="0" err="1" smtClean="0"/>
              <a:t>shows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value</a:t>
            </a:r>
            <a:r>
              <a:rPr lang="hu-HU" sz="1600" dirty="0" smtClean="0"/>
              <a:t> of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weights</a:t>
            </a:r>
            <a:r>
              <a:rPr lang="hu-HU" sz="1600" dirty="0" smtClean="0"/>
              <a:t> (</a:t>
            </a:r>
            <a:r>
              <a:rPr lang="hu-HU" sz="1600" dirty="0" err="1" smtClean="0"/>
              <a:t>black</a:t>
            </a:r>
            <a:r>
              <a:rPr lang="hu-HU" sz="1600" dirty="0" smtClean="0"/>
              <a:t> </a:t>
            </a:r>
            <a:r>
              <a:rPr lang="hu-HU" sz="1600" dirty="0" err="1" smtClean="0"/>
              <a:t>negative</a:t>
            </a:r>
            <a:r>
              <a:rPr lang="hu-HU" sz="1600" dirty="0" smtClean="0"/>
              <a:t>, </a:t>
            </a:r>
            <a:r>
              <a:rPr lang="hu-HU" sz="1600" dirty="0" err="1" smtClean="0"/>
              <a:t>white</a:t>
            </a:r>
            <a:r>
              <a:rPr lang="hu-HU" sz="1600" dirty="0" smtClean="0"/>
              <a:t> </a:t>
            </a:r>
            <a:r>
              <a:rPr lang="hu-HU" sz="1600" dirty="0" err="1" smtClean="0"/>
              <a:t>positive</a:t>
            </a:r>
            <a:r>
              <a:rPr lang="hu-HU" sz="1600" dirty="0" smtClean="0"/>
              <a:t>, </a:t>
            </a:r>
            <a:r>
              <a:rPr lang="hu-HU" sz="1600" dirty="0" err="1" smtClean="0"/>
              <a:t>size</a:t>
            </a:r>
            <a:r>
              <a:rPr lang="hu-HU" sz="1600" dirty="0" smtClean="0"/>
              <a:t> </a:t>
            </a:r>
            <a:r>
              <a:rPr lang="hu-HU" sz="1600" dirty="0" err="1" smtClean="0"/>
              <a:t>magnitude</a:t>
            </a:r>
            <a:r>
              <a:rPr lang="hu-HU" sz="1600" dirty="0" smtClean="0"/>
              <a:t>) </a:t>
            </a:r>
            <a:r>
              <a:rPr lang="hu-HU" sz="1600" dirty="0" err="1" smtClean="0"/>
              <a:t>connecting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input </a:t>
            </a:r>
            <a:r>
              <a:rPr lang="hu-HU" sz="1600" dirty="0" err="1" smtClean="0"/>
              <a:t>feature</a:t>
            </a:r>
            <a:r>
              <a:rPr lang="hu-HU" sz="1600" dirty="0" smtClean="0"/>
              <a:t> </a:t>
            </a:r>
            <a:r>
              <a:rPr lang="hu-HU" sz="1600" dirty="0" err="1" smtClean="0"/>
              <a:t>representing</a:t>
            </a:r>
            <a:r>
              <a:rPr lang="hu-HU" sz="1600" dirty="0" smtClean="0"/>
              <a:t> </a:t>
            </a:r>
            <a:r>
              <a:rPr lang="hu-HU" sz="1600" dirty="0" err="1" smtClean="0"/>
              <a:t>each</a:t>
            </a:r>
            <a:r>
              <a:rPr lang="hu-HU" sz="1600" dirty="0" smtClean="0"/>
              <a:t> </a:t>
            </a:r>
            <a:r>
              <a:rPr lang="hu-HU" sz="1600" dirty="0" err="1" smtClean="0"/>
              <a:t>person</a:t>
            </a:r>
            <a:r>
              <a:rPr lang="hu-HU" sz="1600" dirty="0" smtClean="0"/>
              <a:t> </a:t>
            </a:r>
            <a:r>
              <a:rPr lang="hu-HU" sz="1600" dirty="0" err="1" smtClean="0"/>
              <a:t>to</a:t>
            </a:r>
            <a:r>
              <a:rPr lang="hu-HU" sz="1600" dirty="0" smtClean="0"/>
              <a:t> </a:t>
            </a:r>
            <a:r>
              <a:rPr lang="hu-HU" sz="1600" dirty="0" err="1" smtClean="0"/>
              <a:t>each</a:t>
            </a:r>
            <a:r>
              <a:rPr lang="hu-HU" sz="1600" dirty="0" smtClean="0"/>
              <a:t> neuron (1 </a:t>
            </a:r>
            <a:r>
              <a:rPr lang="hu-HU" sz="1600" dirty="0" err="1" smtClean="0"/>
              <a:t>through</a:t>
            </a:r>
            <a:r>
              <a:rPr lang="hu-HU" sz="1600" dirty="0" smtClean="0"/>
              <a:t> 6). Neuron 1 </a:t>
            </a:r>
            <a:r>
              <a:rPr lang="hu-HU" sz="1600" dirty="0" err="1" smtClean="0"/>
              <a:t>learned</a:t>
            </a:r>
            <a:r>
              <a:rPr lang="hu-HU" sz="1600" dirty="0" smtClean="0"/>
              <a:t> </a:t>
            </a:r>
            <a:r>
              <a:rPr lang="hu-HU" sz="1600" dirty="0" err="1" smtClean="0"/>
              <a:t>to</a:t>
            </a:r>
            <a:r>
              <a:rPr lang="hu-HU" sz="1600" dirty="0" smtClean="0"/>
              <a:t> </a:t>
            </a:r>
            <a:r>
              <a:rPr lang="hu-HU" sz="1600" dirty="0" err="1" smtClean="0"/>
              <a:t>represent</a:t>
            </a:r>
            <a:r>
              <a:rPr lang="hu-HU" sz="1600" dirty="0" smtClean="0"/>
              <a:t> Italian vs. English </a:t>
            </a:r>
            <a:r>
              <a:rPr lang="hu-HU" sz="1600" dirty="0" err="1" smtClean="0"/>
              <a:t>tree</a:t>
            </a:r>
            <a:r>
              <a:rPr lang="hu-HU" sz="1600" dirty="0" smtClean="0"/>
              <a:t>, 2 is </a:t>
            </a:r>
            <a:r>
              <a:rPr lang="hu-HU" sz="1600" dirty="0" err="1" smtClean="0"/>
              <a:t>generation</a:t>
            </a:r>
            <a:r>
              <a:rPr lang="hu-HU" sz="1600" dirty="0" smtClean="0"/>
              <a:t>, 6 is </a:t>
            </a:r>
            <a:r>
              <a:rPr lang="hu-HU" sz="1600" dirty="0" err="1" smtClean="0"/>
              <a:t>left</a:t>
            </a:r>
            <a:r>
              <a:rPr lang="hu-HU" sz="1600" dirty="0" smtClean="0"/>
              <a:t> vs. right </a:t>
            </a:r>
            <a:r>
              <a:rPr lang="hu-HU" sz="1600" dirty="0" err="1" smtClean="0"/>
              <a:t>branch</a:t>
            </a:r>
            <a:r>
              <a:rPr lang="hu-HU" sz="1600" dirty="0" smtClean="0"/>
              <a:t>.</a:t>
            </a:r>
            <a:endParaRPr lang="en-GB" sz="1600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457200" y="274638"/>
            <a:ext cx="8219256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3600" dirty="0" err="1" smtClean="0"/>
              <a:t>Representation</a:t>
            </a:r>
            <a:r>
              <a:rPr lang="hu-HU" sz="3600" dirty="0" smtClean="0"/>
              <a:t> </a:t>
            </a:r>
            <a:r>
              <a:rPr lang="hu-HU" sz="3600" dirty="0" err="1" smtClean="0"/>
              <a:t>Learning</a:t>
            </a:r>
            <a:endParaRPr lang="en-GB" sz="36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4791399"/>
            <a:ext cx="3456384" cy="18059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108" y="4437112"/>
            <a:ext cx="5050964" cy="23042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74736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95536" y="1052736"/>
            <a:ext cx="8229600" cy="4525963"/>
          </a:xfrm>
        </p:spPr>
        <p:txBody>
          <a:bodyPr>
            <a:normAutofit fontScale="55000" lnSpcReduction="20000"/>
          </a:bodyPr>
          <a:lstStyle/>
          <a:p>
            <a:r>
              <a:rPr lang="hu-HU" sz="2900" dirty="0" err="1" smtClean="0"/>
              <a:t>Example</a:t>
            </a:r>
            <a:r>
              <a:rPr lang="hu-HU" sz="2900" dirty="0" smtClean="0"/>
              <a:t> 3: </a:t>
            </a:r>
            <a:r>
              <a:rPr lang="hu-HU" sz="2900" dirty="0" err="1" smtClean="0"/>
              <a:t>Autoencoders</a:t>
            </a:r>
            <a:endParaRPr lang="hu-HU" sz="2900" dirty="0" smtClean="0"/>
          </a:p>
          <a:p>
            <a:pPr lvl="1"/>
            <a:r>
              <a:rPr lang="hu-HU" sz="2200" dirty="0" smtClean="0"/>
              <a:t>An </a:t>
            </a:r>
            <a:r>
              <a:rPr lang="hu-HU" sz="2200" b="1" dirty="0" err="1" smtClean="0"/>
              <a:t>autoencoder</a:t>
            </a:r>
            <a:r>
              <a:rPr lang="hu-HU" sz="2200" dirty="0" smtClean="0"/>
              <a:t> is a </a:t>
            </a:r>
            <a:r>
              <a:rPr lang="hu-HU" sz="2200" dirty="0" err="1" smtClean="0"/>
              <a:t>neural</a:t>
            </a:r>
            <a:r>
              <a:rPr lang="hu-HU" sz="2200" dirty="0" smtClean="0"/>
              <a:t> </a:t>
            </a:r>
            <a:r>
              <a:rPr lang="hu-HU" sz="2200" dirty="0" err="1" smtClean="0"/>
              <a:t>network</a:t>
            </a:r>
            <a:r>
              <a:rPr lang="hu-HU" sz="2200" dirty="0" smtClean="0"/>
              <a:t> </a:t>
            </a:r>
            <a:r>
              <a:rPr lang="hu-HU" sz="2200" dirty="0" err="1" smtClean="0"/>
              <a:t>which</a:t>
            </a:r>
            <a:r>
              <a:rPr lang="hu-HU" sz="2200" dirty="0" smtClean="0"/>
              <a:t> is </a:t>
            </a:r>
            <a:r>
              <a:rPr lang="hu-HU" sz="2200" dirty="0" err="1" smtClean="0"/>
              <a:t>trained</a:t>
            </a:r>
            <a:r>
              <a:rPr lang="hu-HU" sz="2200" dirty="0" smtClean="0"/>
              <a:t> </a:t>
            </a:r>
            <a:r>
              <a:rPr lang="hu-HU" sz="2200" dirty="0" err="1" smtClean="0"/>
              <a:t>to</a:t>
            </a:r>
            <a:r>
              <a:rPr lang="hu-HU" sz="2200" dirty="0" smtClean="0"/>
              <a:t> </a:t>
            </a:r>
            <a:r>
              <a:rPr lang="hu-HU" sz="2200" b="1" dirty="0" smtClean="0"/>
              <a:t>output </a:t>
            </a:r>
            <a:r>
              <a:rPr lang="hu-HU" sz="2200" b="1" dirty="0" err="1" smtClean="0"/>
              <a:t>the</a:t>
            </a:r>
            <a:r>
              <a:rPr lang="hu-HU" sz="2200" b="1" dirty="0" smtClean="0"/>
              <a:t> </a:t>
            </a:r>
            <a:r>
              <a:rPr lang="hu-HU" sz="2200" b="1" dirty="0" err="1" smtClean="0"/>
              <a:t>same</a:t>
            </a:r>
            <a:r>
              <a:rPr lang="hu-HU" sz="2200" b="1" dirty="0" smtClean="0"/>
              <a:t> </a:t>
            </a:r>
            <a:r>
              <a:rPr lang="hu-HU" sz="2200" b="1" dirty="0" err="1" smtClean="0"/>
              <a:t>vector</a:t>
            </a:r>
            <a:r>
              <a:rPr lang="hu-HU" sz="2200" b="1" dirty="0" smtClean="0"/>
              <a:t> </a:t>
            </a:r>
            <a:r>
              <a:rPr lang="hu-HU" sz="2200" dirty="0" err="1" smtClean="0"/>
              <a:t>that</a:t>
            </a:r>
            <a:r>
              <a:rPr lang="hu-HU" sz="2200" dirty="0" smtClean="0"/>
              <a:t> is </a:t>
            </a:r>
            <a:r>
              <a:rPr lang="hu-HU" sz="2200" dirty="0" err="1" smtClean="0"/>
              <a:t>passed</a:t>
            </a:r>
            <a:r>
              <a:rPr lang="hu-HU" sz="2200" dirty="0" smtClean="0"/>
              <a:t> </a:t>
            </a:r>
            <a:r>
              <a:rPr lang="hu-HU" sz="2200" dirty="0" err="1" smtClean="0"/>
              <a:t>to</a:t>
            </a:r>
            <a:r>
              <a:rPr lang="hu-HU" sz="2200" dirty="0" smtClean="0"/>
              <a:t> </a:t>
            </a:r>
            <a:r>
              <a:rPr lang="hu-HU" sz="2200" dirty="0" err="1" smtClean="0"/>
              <a:t>it</a:t>
            </a:r>
            <a:r>
              <a:rPr lang="hu-HU" sz="2200" dirty="0" smtClean="0"/>
              <a:t> </a:t>
            </a:r>
            <a:r>
              <a:rPr lang="hu-HU" sz="2200" b="1" dirty="0" err="1" smtClean="0"/>
              <a:t>as</a:t>
            </a:r>
            <a:r>
              <a:rPr lang="hu-HU" sz="2200" b="1" dirty="0" smtClean="0"/>
              <a:t> </a:t>
            </a:r>
            <a:r>
              <a:rPr lang="hu-HU" sz="2200" b="1" dirty="0" err="1" smtClean="0"/>
              <a:t>its</a:t>
            </a:r>
            <a:r>
              <a:rPr lang="hu-HU" sz="2200" b="1" dirty="0" smtClean="0"/>
              <a:t> input</a:t>
            </a:r>
            <a:r>
              <a:rPr lang="hu-HU" sz="2200" dirty="0" smtClean="0"/>
              <a:t>.</a:t>
            </a:r>
          </a:p>
          <a:p>
            <a:pPr lvl="1"/>
            <a:r>
              <a:rPr lang="hu-HU" sz="2200" dirty="0" err="1" smtClean="0"/>
              <a:t>It</a:t>
            </a:r>
            <a:r>
              <a:rPr lang="hu-HU" sz="2200" dirty="0" smtClean="0"/>
              <a:t> </a:t>
            </a:r>
            <a:r>
              <a:rPr lang="hu-HU" sz="2200" dirty="0" err="1" smtClean="0"/>
              <a:t>contains</a:t>
            </a:r>
            <a:r>
              <a:rPr lang="hu-HU" sz="2200" dirty="0" smtClean="0"/>
              <a:t> </a:t>
            </a:r>
            <a:r>
              <a:rPr lang="hu-HU" sz="2200" b="1" dirty="0" err="1" smtClean="0"/>
              <a:t>two</a:t>
            </a:r>
            <a:r>
              <a:rPr lang="hu-HU" sz="2200" b="1" dirty="0" smtClean="0"/>
              <a:t> </a:t>
            </a:r>
            <a:r>
              <a:rPr lang="hu-HU" sz="2200" b="1" dirty="0" err="1" smtClean="0"/>
              <a:t>halves</a:t>
            </a:r>
            <a:r>
              <a:rPr lang="hu-HU" sz="2200" dirty="0" smtClean="0"/>
              <a:t>:</a:t>
            </a:r>
          </a:p>
          <a:p>
            <a:pPr lvl="2"/>
            <a:r>
              <a:rPr lang="hu-HU" sz="1900" b="1" dirty="0" err="1" smtClean="0"/>
              <a:t>encoder</a:t>
            </a:r>
            <a:r>
              <a:rPr lang="hu-HU" sz="1900" dirty="0" smtClean="0"/>
              <a:t>: </a:t>
            </a:r>
            <a:r>
              <a:rPr lang="hu-HU" sz="1900" dirty="0" err="1" smtClean="0"/>
              <a:t>maps</a:t>
            </a:r>
            <a:r>
              <a:rPr lang="hu-HU" sz="1900" dirty="0" smtClean="0"/>
              <a:t> input </a:t>
            </a:r>
            <a:r>
              <a:rPr lang="hu-HU" sz="1900" dirty="0" err="1" smtClean="0"/>
              <a:t>to</a:t>
            </a:r>
            <a:r>
              <a:rPr lang="hu-HU" sz="1900" dirty="0" smtClean="0"/>
              <a:t> a </a:t>
            </a:r>
            <a:r>
              <a:rPr lang="hu-HU" sz="1900" b="1" dirty="0" err="1" smtClean="0"/>
              <a:t>low-dimensional</a:t>
            </a:r>
            <a:r>
              <a:rPr lang="hu-HU" sz="1900" b="1" dirty="0" smtClean="0"/>
              <a:t> </a:t>
            </a:r>
            <a:r>
              <a:rPr lang="hu-HU" sz="1900" b="1" dirty="0" err="1" smtClean="0"/>
              <a:t>representation</a:t>
            </a:r>
            <a:r>
              <a:rPr lang="hu-HU" sz="1900" dirty="0" smtClean="0"/>
              <a:t> of </a:t>
            </a:r>
            <a:r>
              <a:rPr lang="hu-HU" sz="1900" dirty="0" err="1" smtClean="0"/>
              <a:t>the</a:t>
            </a:r>
            <a:r>
              <a:rPr lang="hu-HU" sz="1900" dirty="0" smtClean="0"/>
              <a:t> input (ex.: 28*</a:t>
            </a:r>
            <a:r>
              <a:rPr lang="hu-HU" sz="1900" dirty="0" err="1" smtClean="0"/>
              <a:t>28</a:t>
            </a:r>
            <a:r>
              <a:rPr lang="hu-HU" sz="1900" dirty="0" smtClean="0"/>
              <a:t>=754 </a:t>
            </a:r>
            <a:r>
              <a:rPr lang="hu-HU" sz="1900" dirty="0" err="1" smtClean="0"/>
              <a:t>features</a:t>
            </a:r>
            <a:r>
              <a:rPr lang="hu-HU" sz="1900" dirty="0" smtClean="0"/>
              <a:t> </a:t>
            </a:r>
            <a:r>
              <a:rPr lang="hu-HU" sz="1900" dirty="0" err="1" smtClean="0"/>
              <a:t>to</a:t>
            </a:r>
            <a:r>
              <a:rPr lang="hu-HU" sz="1900" dirty="0" smtClean="0"/>
              <a:t> 10)</a:t>
            </a:r>
          </a:p>
          <a:p>
            <a:pPr lvl="2"/>
            <a:r>
              <a:rPr lang="hu-HU" sz="1900" b="1" dirty="0" err="1" smtClean="0"/>
              <a:t>decoder</a:t>
            </a:r>
            <a:r>
              <a:rPr lang="hu-HU" sz="1900" dirty="0" smtClean="0"/>
              <a:t>: </a:t>
            </a:r>
            <a:r>
              <a:rPr lang="hu-HU" sz="1900" dirty="0" err="1" smtClean="0"/>
              <a:t>reconstructs</a:t>
            </a:r>
            <a:r>
              <a:rPr lang="hu-HU" sz="1900" dirty="0" smtClean="0"/>
              <a:t> </a:t>
            </a:r>
            <a:r>
              <a:rPr lang="hu-HU" sz="1900" dirty="0" err="1" smtClean="0"/>
              <a:t>the</a:t>
            </a:r>
            <a:r>
              <a:rPr lang="hu-HU" sz="1900" dirty="0" smtClean="0"/>
              <a:t> </a:t>
            </a:r>
            <a:r>
              <a:rPr lang="hu-HU" sz="1900" dirty="0" err="1" smtClean="0"/>
              <a:t>original</a:t>
            </a:r>
            <a:r>
              <a:rPr lang="hu-HU" sz="1900" dirty="0" smtClean="0"/>
              <a:t> input </a:t>
            </a:r>
            <a:r>
              <a:rPr lang="hu-HU" sz="1900" dirty="0" err="1" smtClean="0"/>
              <a:t>approximately</a:t>
            </a:r>
            <a:r>
              <a:rPr lang="hu-HU" sz="1900" dirty="0" smtClean="0"/>
              <a:t> </a:t>
            </a:r>
            <a:r>
              <a:rPr lang="hu-HU" sz="1900" dirty="0" err="1" smtClean="0"/>
              <a:t>from</a:t>
            </a:r>
            <a:r>
              <a:rPr lang="hu-HU" sz="1900" dirty="0" smtClean="0"/>
              <a:t> </a:t>
            </a:r>
            <a:r>
              <a:rPr lang="hu-HU" sz="1900" dirty="0" err="1" smtClean="0"/>
              <a:t>the</a:t>
            </a:r>
            <a:r>
              <a:rPr lang="hu-HU" sz="1900" dirty="0" smtClean="0"/>
              <a:t> </a:t>
            </a:r>
            <a:r>
              <a:rPr lang="hu-HU" sz="1900" dirty="0" err="1" smtClean="0"/>
              <a:t>low-level</a:t>
            </a:r>
            <a:r>
              <a:rPr lang="hu-HU" sz="1900" dirty="0" smtClean="0"/>
              <a:t> </a:t>
            </a:r>
            <a:r>
              <a:rPr lang="hu-HU" sz="1900" dirty="0" err="1" smtClean="0"/>
              <a:t>representation</a:t>
            </a:r>
            <a:endParaRPr lang="hu-HU" sz="1900" dirty="0" smtClean="0"/>
          </a:p>
          <a:p>
            <a:pPr lvl="2"/>
            <a:r>
              <a:rPr lang="hu-HU" sz="1900" b="1" dirty="0" err="1" smtClean="0"/>
              <a:t>lossy</a:t>
            </a:r>
            <a:r>
              <a:rPr lang="hu-HU" sz="1900" b="1" dirty="0" smtClean="0"/>
              <a:t> </a:t>
            </a:r>
            <a:r>
              <a:rPr lang="hu-HU" sz="1900" b="1" dirty="0" err="1" smtClean="0"/>
              <a:t>compression</a:t>
            </a:r>
            <a:endParaRPr lang="hu-HU" sz="1900" b="1" dirty="0" smtClean="0"/>
          </a:p>
          <a:p>
            <a:pPr lvl="1"/>
            <a:r>
              <a:rPr lang="hu-HU" sz="2200" dirty="0" err="1" smtClean="0"/>
              <a:t>In</a:t>
            </a:r>
            <a:r>
              <a:rPr lang="hu-HU" sz="2200" dirty="0" smtClean="0"/>
              <a:t> </a:t>
            </a:r>
            <a:r>
              <a:rPr lang="hu-HU" sz="2200" dirty="0" err="1" smtClean="0"/>
              <a:t>essence</a:t>
            </a:r>
            <a:r>
              <a:rPr lang="hu-HU" sz="2200" dirty="0" smtClean="0"/>
              <a:t>, an </a:t>
            </a:r>
            <a:r>
              <a:rPr lang="hu-HU" sz="2200" dirty="0" err="1" smtClean="0"/>
              <a:t>autoencoder</a:t>
            </a:r>
            <a:r>
              <a:rPr lang="hu-HU" sz="2200" dirty="0" smtClean="0"/>
              <a:t> </a:t>
            </a:r>
            <a:r>
              <a:rPr lang="hu-HU" sz="2200" b="1" dirty="0" err="1" smtClean="0"/>
              <a:t>extracts</a:t>
            </a:r>
            <a:r>
              <a:rPr lang="hu-HU" sz="2200" b="1" dirty="0" smtClean="0"/>
              <a:t> </a:t>
            </a:r>
            <a:r>
              <a:rPr lang="hu-HU" sz="2200" b="1" dirty="0" err="1" smtClean="0"/>
              <a:t>useful</a:t>
            </a:r>
            <a:r>
              <a:rPr lang="hu-HU" sz="2200" b="1" dirty="0" smtClean="0"/>
              <a:t> </a:t>
            </a:r>
            <a:r>
              <a:rPr lang="hu-HU" sz="2200" b="1" dirty="0" err="1" smtClean="0"/>
              <a:t>features</a:t>
            </a:r>
            <a:r>
              <a:rPr lang="hu-HU" sz="2200" dirty="0" smtClean="0"/>
              <a:t> </a:t>
            </a:r>
            <a:r>
              <a:rPr lang="hu-HU" sz="2200" dirty="0" err="1" smtClean="0"/>
              <a:t>from</a:t>
            </a:r>
            <a:r>
              <a:rPr lang="hu-HU" sz="2200" dirty="0" smtClean="0"/>
              <a:t> </a:t>
            </a:r>
            <a:r>
              <a:rPr lang="hu-HU" sz="2200" dirty="0" err="1" smtClean="0"/>
              <a:t>high-dimensional</a:t>
            </a:r>
            <a:r>
              <a:rPr lang="hu-HU" sz="2200" dirty="0" smtClean="0"/>
              <a:t> </a:t>
            </a:r>
            <a:r>
              <a:rPr lang="hu-HU" sz="2200" dirty="0" err="1" smtClean="0"/>
              <a:t>data</a:t>
            </a:r>
            <a:endParaRPr lang="hu-HU" sz="2200" dirty="0" smtClean="0"/>
          </a:p>
          <a:p>
            <a:pPr lvl="1"/>
            <a:r>
              <a:rPr lang="hu-HU" sz="2200" dirty="0" err="1" smtClean="0"/>
              <a:t>describing</a:t>
            </a:r>
            <a:r>
              <a:rPr lang="hu-HU" sz="2200" dirty="0" smtClean="0"/>
              <a:t> an image </a:t>
            </a:r>
            <a:r>
              <a:rPr lang="hu-HU" sz="2200" dirty="0" err="1" smtClean="0"/>
              <a:t>using</a:t>
            </a:r>
            <a:r>
              <a:rPr lang="hu-HU" sz="2200" dirty="0" smtClean="0"/>
              <a:t> a </a:t>
            </a:r>
            <a:r>
              <a:rPr lang="hu-HU" sz="2200" dirty="0" err="1" smtClean="0"/>
              <a:t>few</a:t>
            </a:r>
            <a:r>
              <a:rPr lang="hu-HU" sz="2200" dirty="0" smtClean="0"/>
              <a:t> </a:t>
            </a:r>
            <a:r>
              <a:rPr lang="hu-HU" sz="2200" dirty="0" err="1" smtClean="0"/>
              <a:t>words</a:t>
            </a:r>
            <a:r>
              <a:rPr lang="hu-HU" sz="2200" dirty="0" smtClean="0"/>
              <a:t> is </a:t>
            </a:r>
            <a:r>
              <a:rPr lang="hu-HU" sz="2200" dirty="0" err="1" smtClean="0"/>
              <a:t>much</a:t>
            </a:r>
            <a:r>
              <a:rPr lang="hu-HU" sz="2200" dirty="0" smtClean="0"/>
              <a:t> </a:t>
            </a:r>
            <a:r>
              <a:rPr lang="hu-HU" sz="2200" dirty="0" err="1" smtClean="0"/>
              <a:t>like</a:t>
            </a:r>
            <a:r>
              <a:rPr lang="hu-HU" sz="2200" dirty="0" smtClean="0"/>
              <a:t> </a:t>
            </a:r>
            <a:r>
              <a:rPr lang="hu-HU" sz="2200" dirty="0" err="1" smtClean="0"/>
              <a:t>this</a:t>
            </a:r>
            <a:endParaRPr lang="hu-HU" sz="2200" dirty="0" smtClean="0"/>
          </a:p>
          <a:p>
            <a:pPr lvl="1"/>
            <a:r>
              <a:rPr lang="hu-HU" sz="2200" dirty="0" smtClean="0"/>
              <a:t>Image: </a:t>
            </a:r>
            <a:r>
              <a:rPr lang="hu-HU" sz="2200" dirty="0" err="1" smtClean="0"/>
              <a:t>Guo</a:t>
            </a:r>
            <a:r>
              <a:rPr lang="hu-HU" sz="2200" dirty="0" smtClean="0"/>
              <a:t>, </a:t>
            </a:r>
            <a:r>
              <a:rPr lang="hu-HU" sz="2200" dirty="0" err="1" smtClean="0"/>
              <a:t>Liu</a:t>
            </a:r>
            <a:r>
              <a:rPr lang="hu-HU" sz="2200" dirty="0" smtClean="0"/>
              <a:t>, </a:t>
            </a:r>
            <a:r>
              <a:rPr lang="hu-HU" sz="2200" dirty="0" err="1" smtClean="0"/>
              <a:t>Yin</a:t>
            </a:r>
            <a:r>
              <a:rPr lang="hu-HU" sz="2200" dirty="0" smtClean="0"/>
              <a:t>: </a:t>
            </a:r>
            <a:r>
              <a:rPr lang="en-GB" sz="2200" i="1" dirty="0" smtClean="0"/>
              <a:t>Deep Clustering with Convolutional </a:t>
            </a:r>
            <a:r>
              <a:rPr lang="en-GB" sz="2200" i="1" dirty="0" err="1" smtClean="0"/>
              <a:t>Autoencoders</a:t>
            </a:r>
            <a:r>
              <a:rPr lang="hu-HU" sz="2200" i="1" dirty="0" smtClean="0"/>
              <a:t>, </a:t>
            </a:r>
            <a:r>
              <a:rPr lang="hu-HU" sz="2200" dirty="0" err="1" smtClean="0"/>
              <a:t>ICONIP</a:t>
            </a:r>
            <a:r>
              <a:rPr lang="hu-HU" sz="2200" dirty="0" smtClean="0"/>
              <a:t> 2017</a:t>
            </a:r>
          </a:p>
          <a:p>
            <a:pPr lvl="1"/>
            <a:endParaRPr lang="hu-HU" sz="2600" dirty="0"/>
          </a:p>
          <a:p>
            <a:pPr lvl="1"/>
            <a:endParaRPr lang="hu-HU" sz="2600" dirty="0" smtClean="0"/>
          </a:p>
          <a:p>
            <a:pPr lvl="1"/>
            <a:endParaRPr lang="hu-HU" sz="2600" dirty="0" smtClean="0"/>
          </a:p>
          <a:p>
            <a:pPr lvl="1"/>
            <a:endParaRPr lang="hu-HU" sz="2600" dirty="0"/>
          </a:p>
          <a:p>
            <a:pPr lvl="1"/>
            <a:endParaRPr lang="hu-HU" sz="2600" dirty="0" smtClean="0"/>
          </a:p>
          <a:p>
            <a:pPr lvl="1"/>
            <a:endParaRPr lang="hu-HU" sz="2600" dirty="0" smtClean="0"/>
          </a:p>
          <a:p>
            <a:pPr lvl="1"/>
            <a:endParaRPr lang="hu-HU" sz="2600" dirty="0" smtClean="0"/>
          </a:p>
          <a:p>
            <a:pPr lvl="1"/>
            <a:endParaRPr lang="hu-HU" sz="2600" dirty="0"/>
          </a:p>
          <a:p>
            <a:pPr lvl="1"/>
            <a:endParaRPr lang="hu-HU" sz="2600" dirty="0"/>
          </a:p>
          <a:p>
            <a:pPr lvl="1"/>
            <a:endParaRPr lang="hu-HU" sz="2200" dirty="0" smtClean="0"/>
          </a:p>
          <a:p>
            <a:pPr lvl="1"/>
            <a:r>
              <a:rPr lang="hu-HU" sz="2200" dirty="0" err="1" smtClean="0"/>
              <a:t>Among</a:t>
            </a:r>
            <a:r>
              <a:rPr lang="hu-HU" sz="2200" dirty="0" smtClean="0"/>
              <a:t> </a:t>
            </a:r>
            <a:r>
              <a:rPr lang="hu-HU" sz="2200" dirty="0" err="1" smtClean="0"/>
              <a:t>others</a:t>
            </a:r>
            <a:r>
              <a:rPr lang="hu-HU" sz="2200" dirty="0" smtClean="0"/>
              <a:t>, </a:t>
            </a:r>
            <a:r>
              <a:rPr lang="hu-HU" sz="2200" dirty="0" err="1" smtClean="0"/>
              <a:t>autoencoders</a:t>
            </a:r>
            <a:r>
              <a:rPr lang="hu-HU" sz="2200" dirty="0" smtClean="0"/>
              <a:t> </a:t>
            </a:r>
            <a:r>
              <a:rPr lang="hu-HU" sz="2200" dirty="0" err="1" smtClean="0"/>
              <a:t>can</a:t>
            </a:r>
            <a:r>
              <a:rPr lang="hu-HU" sz="2200" dirty="0" smtClean="0"/>
              <a:t> be </a:t>
            </a:r>
            <a:r>
              <a:rPr lang="hu-HU" sz="2200" b="1" dirty="0" err="1" smtClean="0"/>
              <a:t>used</a:t>
            </a:r>
            <a:r>
              <a:rPr lang="hu-HU" sz="2200" b="1" dirty="0" smtClean="0"/>
              <a:t> </a:t>
            </a:r>
            <a:r>
              <a:rPr lang="hu-HU" sz="2200" b="1" dirty="0" err="1" smtClean="0"/>
              <a:t>for</a:t>
            </a:r>
            <a:r>
              <a:rPr lang="hu-HU" sz="2200" b="1" dirty="0" smtClean="0"/>
              <a:t> image </a:t>
            </a:r>
            <a:r>
              <a:rPr lang="hu-HU" sz="2200" b="1" dirty="0" err="1" smtClean="0"/>
              <a:t>denoising</a:t>
            </a:r>
            <a:r>
              <a:rPr lang="hu-HU" sz="2200" b="1" dirty="0" smtClean="0"/>
              <a:t> and image </a:t>
            </a:r>
            <a:r>
              <a:rPr lang="hu-HU" sz="2200" b="1" dirty="0" err="1" smtClean="0"/>
              <a:t>generation</a:t>
            </a:r>
            <a:r>
              <a:rPr lang="hu-HU" sz="2200" b="1" dirty="0" smtClean="0"/>
              <a:t> </a:t>
            </a:r>
            <a:r>
              <a:rPr lang="hu-HU" sz="2200" dirty="0" smtClean="0"/>
              <a:t>(</a:t>
            </a:r>
            <a:r>
              <a:rPr lang="hu-HU" sz="2200" dirty="0" err="1" smtClean="0"/>
              <a:t>for</a:t>
            </a:r>
            <a:r>
              <a:rPr lang="hu-HU" sz="2200" dirty="0" smtClean="0"/>
              <a:t> </a:t>
            </a:r>
            <a:r>
              <a:rPr lang="hu-HU" sz="2200" dirty="0" err="1" smtClean="0"/>
              <a:t>example</a:t>
            </a:r>
            <a:r>
              <a:rPr lang="hu-HU" sz="2200" dirty="0" smtClean="0"/>
              <a:t>, </a:t>
            </a:r>
            <a:r>
              <a:rPr lang="hu-HU" sz="2200" dirty="0" err="1" smtClean="0"/>
              <a:t>in</a:t>
            </a:r>
            <a:r>
              <a:rPr lang="hu-HU" sz="2200" dirty="0" smtClean="0"/>
              <a:t> </a:t>
            </a:r>
            <a:r>
              <a:rPr lang="hu-HU" sz="2200" dirty="0" err="1" smtClean="0"/>
              <a:t>GANs</a:t>
            </a:r>
            <a:r>
              <a:rPr lang="hu-HU" sz="2200" dirty="0" smtClean="0"/>
              <a:t>)</a:t>
            </a:r>
          </a:p>
          <a:p>
            <a:pPr lvl="1"/>
            <a:r>
              <a:rPr lang="hu-HU" sz="2200" dirty="0" smtClean="0"/>
              <a:t>A </a:t>
            </a:r>
            <a:r>
              <a:rPr lang="hu-HU" sz="2200" dirty="0" err="1" smtClean="0"/>
              <a:t>denoising</a:t>
            </a:r>
            <a:r>
              <a:rPr lang="hu-HU" sz="2200" dirty="0" smtClean="0"/>
              <a:t> </a:t>
            </a:r>
            <a:r>
              <a:rPr lang="hu-HU" sz="2200" dirty="0" err="1" smtClean="0"/>
              <a:t>autoencoder</a:t>
            </a:r>
            <a:r>
              <a:rPr lang="hu-HU" sz="2200" dirty="0"/>
              <a:t>, </a:t>
            </a:r>
            <a:r>
              <a:rPr lang="hu-HU" sz="2200" dirty="0" err="1"/>
              <a:t>https</a:t>
            </a:r>
            <a:r>
              <a:rPr lang="hu-HU" sz="2200" dirty="0"/>
              <a:t>://</a:t>
            </a:r>
            <a:r>
              <a:rPr lang="hu-HU" sz="2200" dirty="0" err="1"/>
              <a:t>pyimagesearch.com</a:t>
            </a:r>
            <a:r>
              <a:rPr lang="hu-HU" sz="2200" dirty="0"/>
              <a:t>/2020/02/24/</a:t>
            </a:r>
            <a:r>
              <a:rPr lang="hu-HU" sz="2200" dirty="0" err="1"/>
              <a:t>denoising-autoencoders-with-keras-tensorflow-and-deep-learning</a:t>
            </a:r>
            <a:r>
              <a:rPr lang="hu-HU" sz="2200" dirty="0"/>
              <a:t>/</a:t>
            </a:r>
            <a:endParaRPr lang="hu-HU" sz="2200" dirty="0" smtClean="0"/>
          </a:p>
        </p:txBody>
      </p:sp>
      <p:sp>
        <p:nvSpPr>
          <p:cNvPr id="4" name="Cím 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3200" dirty="0" err="1" smtClean="0"/>
              <a:t>Representation</a:t>
            </a:r>
            <a:r>
              <a:rPr lang="hu-HU" sz="3200" dirty="0" smtClean="0"/>
              <a:t> </a:t>
            </a:r>
            <a:r>
              <a:rPr lang="hu-HU" sz="3200" dirty="0" err="1" smtClean="0"/>
              <a:t>Learning</a:t>
            </a:r>
            <a:endParaRPr lang="en-GB" sz="3200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910" y="2780928"/>
            <a:ext cx="5146141" cy="1882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1" y="5373216"/>
            <a:ext cx="4680520" cy="12559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71104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Transfer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Traditionally, every single machine learning model was trained </a:t>
            </a:r>
            <a:r>
              <a:rPr lang="en-GB" b="1" dirty="0"/>
              <a:t>for a different task with a separate dataset</a:t>
            </a:r>
            <a:r>
              <a:rPr lang="en-GB" dirty="0"/>
              <a:t>.</a:t>
            </a:r>
          </a:p>
          <a:p>
            <a:r>
              <a:rPr lang="en-GB" dirty="0"/>
              <a:t>Transfer learning is the opposite approach:</a:t>
            </a:r>
          </a:p>
          <a:p>
            <a:pPr lvl="1"/>
            <a:r>
              <a:rPr lang="hu-HU" dirty="0" smtClean="0"/>
              <a:t>a</a:t>
            </a:r>
            <a:r>
              <a:rPr lang="en-GB" dirty="0" smtClean="0"/>
              <a:t> </a:t>
            </a:r>
            <a:r>
              <a:rPr lang="en-GB" dirty="0"/>
              <a:t>deep neural model is trained on one task, which learns useful representations for solving that specific task.</a:t>
            </a:r>
          </a:p>
          <a:p>
            <a:pPr lvl="2"/>
            <a:r>
              <a:rPr lang="en-GB" dirty="0"/>
              <a:t>e.g</a:t>
            </a:r>
            <a:r>
              <a:rPr lang="en-GB" dirty="0" smtClean="0"/>
              <a:t>. </a:t>
            </a:r>
            <a:r>
              <a:rPr lang="en-GB" dirty="0"/>
              <a:t>an image recognition model for face recognition learns: edges, patterns, the general shape of a face.</a:t>
            </a:r>
          </a:p>
          <a:p>
            <a:pPr lvl="2"/>
            <a:r>
              <a:rPr lang="en-GB" dirty="0"/>
              <a:t>e.g</a:t>
            </a:r>
            <a:r>
              <a:rPr lang="en-GB" dirty="0" smtClean="0"/>
              <a:t>. </a:t>
            </a:r>
            <a:r>
              <a:rPr lang="en-GB" dirty="0"/>
              <a:t>an ImageNet image recognition model learns: similar features, and also the typical forms of various </a:t>
            </a:r>
            <a:r>
              <a:rPr lang="en-GB" dirty="0" smtClean="0"/>
              <a:t>objects</a:t>
            </a:r>
            <a:r>
              <a:rPr lang="hu-HU" dirty="0" smtClean="0"/>
              <a:t>, </a:t>
            </a:r>
            <a:r>
              <a:rPr lang="hu-HU" dirty="0" err="1" smtClean="0"/>
              <a:t>plants</a:t>
            </a:r>
            <a:r>
              <a:rPr lang="hu-HU" dirty="0" smtClean="0"/>
              <a:t>, </a:t>
            </a:r>
            <a:r>
              <a:rPr lang="hu-HU" dirty="0" err="1" smtClean="0"/>
              <a:t>animals</a:t>
            </a:r>
            <a:r>
              <a:rPr lang="hu-HU" dirty="0" smtClean="0"/>
              <a:t>, etc.</a:t>
            </a:r>
            <a:endParaRPr lang="en-GB" dirty="0"/>
          </a:p>
          <a:p>
            <a:pPr lvl="1"/>
            <a:r>
              <a:rPr lang="en-GB" dirty="0"/>
              <a:t>The given model can only solve this one task, but the </a:t>
            </a:r>
            <a:r>
              <a:rPr lang="en-GB" b="1" dirty="0"/>
              <a:t>representations stored in its hidden layers </a:t>
            </a:r>
            <a:r>
              <a:rPr lang="en-GB" dirty="0"/>
              <a:t>are not necessarily useful only for solving this one task.</a:t>
            </a:r>
          </a:p>
          <a:p>
            <a:pPr lvl="2"/>
            <a:r>
              <a:rPr lang="en-GB" dirty="0"/>
              <a:t>e.g., </a:t>
            </a:r>
            <a:r>
              <a:rPr lang="hu-HU" dirty="0"/>
              <a:t>a</a:t>
            </a:r>
            <a:r>
              <a:rPr lang="en-GB" dirty="0"/>
              <a:t> model trained for face recognition has learned what a face looks like, so its representations can be used to </a:t>
            </a:r>
            <a:r>
              <a:rPr lang="en-GB" b="1" dirty="0"/>
              <a:t>generate new faces.</a:t>
            </a:r>
            <a:endParaRPr lang="en-GB" dirty="0"/>
          </a:p>
          <a:p>
            <a:pPr lvl="2"/>
            <a:r>
              <a:rPr lang="en-GB" dirty="0" smtClean="0"/>
              <a:t>e.g.</a:t>
            </a:r>
            <a:r>
              <a:rPr lang="hu-HU" dirty="0" smtClean="0"/>
              <a:t> t</a:t>
            </a:r>
            <a:r>
              <a:rPr lang="en-GB" dirty="0" smtClean="0"/>
              <a:t>he ImageNet</a:t>
            </a:r>
            <a:r>
              <a:rPr lang="hu-HU" dirty="0" err="1" smtClean="0"/>
              <a:t>-based</a:t>
            </a:r>
            <a:r>
              <a:rPr lang="en-GB" dirty="0" smtClean="0"/>
              <a:t> </a:t>
            </a:r>
            <a:r>
              <a:rPr lang="en-GB" dirty="0"/>
              <a:t>model learns to classify input images into </a:t>
            </a:r>
            <a:r>
              <a:rPr lang="en-GB" dirty="0" smtClean="0"/>
              <a:t>10,000 </a:t>
            </a:r>
            <a:r>
              <a:rPr lang="en-GB" dirty="0"/>
              <a:t>classes featured in </a:t>
            </a:r>
            <a:r>
              <a:rPr lang="en-GB" dirty="0" smtClean="0"/>
              <a:t>ImageNet, </a:t>
            </a:r>
            <a:r>
              <a:rPr lang="en-GB" dirty="0"/>
              <a:t>but the patterns </a:t>
            </a:r>
            <a:r>
              <a:rPr lang="hu-HU" dirty="0" err="1" smtClean="0"/>
              <a:t>appearing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photos</a:t>
            </a:r>
            <a:r>
              <a:rPr lang="hu-HU" dirty="0" smtClean="0"/>
              <a:t> </a:t>
            </a:r>
            <a:r>
              <a:rPr lang="hu-HU" dirty="0" err="1" smtClean="0"/>
              <a:t>taken</a:t>
            </a:r>
            <a:r>
              <a:rPr lang="hu-HU" dirty="0" smtClean="0"/>
              <a:t> of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types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objects</a:t>
            </a:r>
            <a:r>
              <a:rPr lang="hu-HU" dirty="0" smtClean="0"/>
              <a:t> </a:t>
            </a:r>
            <a:r>
              <a:rPr lang="en-GB" dirty="0" smtClean="0"/>
              <a:t>not </a:t>
            </a:r>
            <a:r>
              <a:rPr lang="en-GB" dirty="0"/>
              <a:t>present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ImageNet</a:t>
            </a:r>
            <a:r>
              <a:rPr lang="hu-HU" dirty="0" smtClean="0"/>
              <a:t> </a:t>
            </a:r>
            <a:r>
              <a:rPr lang="en-GB" dirty="0" smtClean="0"/>
              <a:t>(</a:t>
            </a:r>
            <a:r>
              <a:rPr lang="hu-HU" dirty="0" err="1" smtClean="0"/>
              <a:t>their</a:t>
            </a:r>
            <a:r>
              <a:rPr lang="hu-HU" dirty="0" smtClean="0"/>
              <a:t> </a:t>
            </a:r>
            <a:r>
              <a:rPr lang="en-GB" dirty="0" smtClean="0"/>
              <a:t>edges</a:t>
            </a:r>
            <a:r>
              <a:rPr lang="en-GB" dirty="0"/>
              <a:t>, </a:t>
            </a:r>
            <a:r>
              <a:rPr lang="en-GB" dirty="0" smtClean="0"/>
              <a:t>form, </a:t>
            </a:r>
            <a:r>
              <a:rPr lang="en-GB" dirty="0"/>
              <a:t>etc.)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en-GB" dirty="0" smtClean="0"/>
              <a:t>very </a:t>
            </a:r>
            <a:r>
              <a:rPr lang="en-GB" dirty="0"/>
              <a:t>similar, </a:t>
            </a:r>
            <a:r>
              <a:rPr lang="hu-HU" dirty="0" err="1" smtClean="0"/>
              <a:t>thus</a:t>
            </a:r>
            <a:r>
              <a:rPr lang="hu-HU" dirty="0" smtClean="0"/>
              <a:t> </a:t>
            </a:r>
            <a:r>
              <a:rPr lang="en-GB" dirty="0" smtClean="0"/>
              <a:t>the </a:t>
            </a:r>
            <a:r>
              <a:rPr lang="en-GB" dirty="0"/>
              <a:t>model's representations can be used to quickly learn new classes</a:t>
            </a:r>
            <a:r>
              <a:rPr lang="en-GB" dirty="0" smtClean="0"/>
              <a:t>.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3465226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Transfer</a:t>
            </a:r>
            <a:r>
              <a:rPr lang="hu-HU" dirty="0"/>
              <a:t> </a:t>
            </a:r>
            <a:r>
              <a:rPr lang="hu-HU" dirty="0" err="1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Transfer learning can </a:t>
            </a:r>
            <a:r>
              <a:rPr lang="hu-HU" dirty="0" smtClean="0"/>
              <a:t>be </a:t>
            </a:r>
            <a:r>
              <a:rPr lang="hu-HU" dirty="0" err="1" smtClean="0"/>
              <a:t>implemented</a:t>
            </a:r>
            <a:r>
              <a:rPr lang="hu-HU" dirty="0" smtClean="0"/>
              <a:t> </a:t>
            </a:r>
            <a:r>
              <a:rPr lang="en-GB" dirty="0" smtClean="0"/>
              <a:t>in </a:t>
            </a:r>
            <a:r>
              <a:rPr lang="en-GB" dirty="0"/>
              <a:t>various </a:t>
            </a:r>
            <a:r>
              <a:rPr lang="en-GB" dirty="0" smtClean="0"/>
              <a:t>ways</a:t>
            </a:r>
            <a:endParaRPr lang="en-GB" dirty="0"/>
          </a:p>
          <a:p>
            <a:pPr lvl="1"/>
            <a:r>
              <a:rPr lang="en-GB" dirty="0"/>
              <a:t>e.g., ImageNet contains photos, so the image recognition model </a:t>
            </a:r>
            <a:r>
              <a:rPr lang="hu-HU" dirty="0" err="1" smtClean="0"/>
              <a:t>learns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en-GB" dirty="0" err="1" smtClean="0"/>
              <a:t>recogni</a:t>
            </a:r>
            <a:r>
              <a:rPr lang="hu-HU" dirty="0" smtClean="0"/>
              <a:t>s</a:t>
            </a:r>
            <a:r>
              <a:rPr lang="en-GB" dirty="0" smtClean="0"/>
              <a:t>e </a:t>
            </a:r>
            <a:r>
              <a:rPr lang="hu-HU" dirty="0" err="1" smtClean="0"/>
              <a:t>these</a:t>
            </a:r>
            <a:r>
              <a:rPr lang="en-GB" dirty="0" smtClean="0"/>
              <a:t>, </a:t>
            </a:r>
            <a:r>
              <a:rPr lang="en-GB" dirty="0"/>
              <a:t>but it can be further trained with </a:t>
            </a:r>
            <a:r>
              <a:rPr lang="en-GB" dirty="0" smtClean="0"/>
              <a:t>images </a:t>
            </a:r>
            <a:r>
              <a:rPr lang="en-GB" dirty="0"/>
              <a:t>of paintings or drawings. This way, it learns to recognize </a:t>
            </a:r>
            <a:r>
              <a:rPr lang="en-GB" dirty="0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latter</a:t>
            </a:r>
            <a:r>
              <a:rPr lang="en-GB" dirty="0" smtClean="0"/>
              <a:t> </a:t>
            </a:r>
            <a:r>
              <a:rPr lang="en-GB" dirty="0"/>
              <a:t>much faster than if we were to start the training from </a:t>
            </a:r>
            <a:r>
              <a:rPr lang="en-GB" dirty="0" smtClean="0"/>
              <a:t>scratch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just</a:t>
            </a:r>
            <a:r>
              <a:rPr lang="hu-HU" dirty="0" smtClean="0"/>
              <a:t> </a:t>
            </a:r>
            <a:r>
              <a:rPr lang="hu-HU" dirty="0" err="1" smtClean="0"/>
              <a:t>paintings</a:t>
            </a:r>
            <a:r>
              <a:rPr lang="hu-HU" dirty="0" smtClean="0"/>
              <a:t> and </a:t>
            </a:r>
            <a:r>
              <a:rPr lang="hu-HU" dirty="0" err="1" smtClean="0"/>
              <a:t>drawings</a:t>
            </a:r>
            <a:r>
              <a:rPr lang="en-GB" dirty="0" smtClean="0"/>
              <a:t>.</a:t>
            </a:r>
            <a:endParaRPr lang="en-GB" dirty="0"/>
          </a:p>
          <a:p>
            <a:pPr lvl="2"/>
            <a:r>
              <a:rPr lang="en-GB" dirty="0"/>
              <a:t>The original model training is usually called </a:t>
            </a:r>
            <a:r>
              <a:rPr lang="en-GB" b="1" dirty="0"/>
              <a:t>pre-training</a:t>
            </a:r>
            <a:r>
              <a:rPr lang="en-GB" dirty="0"/>
              <a:t>, and the subsequent training on the new task is called </a:t>
            </a:r>
            <a:r>
              <a:rPr lang="en-GB" b="1" dirty="0"/>
              <a:t>fine-tuning</a:t>
            </a:r>
            <a:r>
              <a:rPr lang="en-GB" dirty="0"/>
              <a:t>.</a:t>
            </a:r>
          </a:p>
          <a:p>
            <a:pPr lvl="2"/>
            <a:r>
              <a:rPr lang="en-GB" dirty="0"/>
              <a:t>Fine-tuning is a type of training where the model's weights, which were set during pre-training, are modified to a greater or lesser extent.</a:t>
            </a:r>
          </a:p>
          <a:p>
            <a:pPr lvl="1"/>
            <a:r>
              <a:rPr lang="en-GB" dirty="0"/>
              <a:t>e.g., </a:t>
            </a:r>
            <a:r>
              <a:rPr lang="hu-HU" dirty="0" smtClean="0"/>
              <a:t>a</a:t>
            </a:r>
            <a:r>
              <a:rPr lang="en-GB" dirty="0" smtClean="0"/>
              <a:t> </a:t>
            </a:r>
            <a:r>
              <a:rPr lang="en-GB" dirty="0"/>
              <a:t>BERT language model is pre-trained to predict which actual word was covered (masked) in a text. During this pre-training, the model learns to deduce </a:t>
            </a:r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en-GB" dirty="0" smtClean="0"/>
              <a:t>the</a:t>
            </a:r>
            <a:r>
              <a:rPr lang="hu-HU" dirty="0" smtClean="0"/>
              <a:t>se</a:t>
            </a:r>
            <a:r>
              <a:rPr lang="en-GB" dirty="0" smtClean="0"/>
              <a:t> </a:t>
            </a:r>
            <a:r>
              <a:rPr lang="hu-HU" dirty="0" err="1" smtClean="0"/>
              <a:t>hidden</a:t>
            </a:r>
            <a:r>
              <a:rPr lang="hu-HU" dirty="0" smtClean="0"/>
              <a:t> </a:t>
            </a:r>
            <a:r>
              <a:rPr lang="en-GB" dirty="0" smtClean="0"/>
              <a:t>words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en-GB" dirty="0" smtClean="0"/>
              <a:t>from </a:t>
            </a:r>
            <a:r>
              <a:rPr lang="en-GB" dirty="0"/>
              <a:t>the </a:t>
            </a:r>
            <a:r>
              <a:rPr lang="en-GB" dirty="0" smtClean="0"/>
              <a:t>context</a:t>
            </a:r>
            <a:r>
              <a:rPr lang="hu-HU" dirty="0" smtClean="0"/>
              <a:t>,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en-GB" dirty="0" smtClean="0"/>
              <a:t>a </a:t>
            </a:r>
            <a:r>
              <a:rPr lang="en-GB" dirty="0"/>
              <a:t>very large amount 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en-GB" dirty="0" smtClean="0"/>
              <a:t>text </a:t>
            </a:r>
            <a:r>
              <a:rPr lang="en-GB" dirty="0"/>
              <a:t>(billions of words).</a:t>
            </a:r>
          </a:p>
          <a:p>
            <a:pPr lvl="2"/>
            <a:r>
              <a:rPr lang="en-GB" dirty="0"/>
              <a:t>Such a pre-trained model can then be fine-tuned by adding further hidden layers and an output layer to group news articles by topic or distinguish spam from non-spam</a:t>
            </a:r>
            <a:r>
              <a:rPr lang="en-GB" dirty="0" smtClean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340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Advantages</a:t>
            </a:r>
            <a:r>
              <a:rPr lang="hu-HU" dirty="0" smtClean="0"/>
              <a:t> of </a:t>
            </a:r>
            <a:r>
              <a:rPr lang="hu-HU" dirty="0" err="1"/>
              <a:t>T</a:t>
            </a:r>
            <a:r>
              <a:rPr lang="hu-HU" dirty="0" err="1" smtClean="0"/>
              <a:t>ransfer</a:t>
            </a:r>
            <a:r>
              <a:rPr lang="hu-HU" dirty="0" smtClean="0"/>
              <a:t> </a:t>
            </a:r>
            <a:r>
              <a:rPr lang="hu-HU" dirty="0" err="1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Computational Efficiency:</a:t>
            </a:r>
            <a:r>
              <a:rPr lang="en-GB" dirty="0"/>
              <a:t> Significantly less computational resources are required to fine-tune </a:t>
            </a:r>
            <a:r>
              <a:rPr lang="en-GB" dirty="0" smtClean="0"/>
              <a:t>a</a:t>
            </a:r>
            <a:r>
              <a:rPr lang="hu-HU" dirty="0" smtClean="0"/>
              <a:t>n </a:t>
            </a:r>
            <a:r>
              <a:rPr lang="hu-HU" dirty="0" err="1" smtClean="0"/>
              <a:t>existing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en-GB" dirty="0" smtClean="0"/>
              <a:t> </a:t>
            </a:r>
            <a:r>
              <a:rPr lang="en-GB" dirty="0"/>
              <a:t>model for a task than to train an entirely new </a:t>
            </a:r>
            <a:r>
              <a:rPr lang="hu-HU" dirty="0" err="1" smtClean="0"/>
              <a:t>one</a:t>
            </a:r>
            <a:r>
              <a:rPr lang="en-GB" dirty="0" smtClean="0"/>
              <a:t>.</a:t>
            </a:r>
            <a:endParaRPr lang="en-GB" dirty="0"/>
          </a:p>
          <a:p>
            <a:r>
              <a:rPr lang="en-GB" b="1" dirty="0"/>
              <a:t>Data Efficiency:</a:t>
            </a:r>
            <a:r>
              <a:rPr lang="en-GB" dirty="0"/>
              <a:t> Pre-training a deep neural network typically requires millions, or possibly billions, of data points, whereas a few thousand or tens of thousands are usually </a:t>
            </a:r>
            <a:r>
              <a:rPr lang="hu-HU" dirty="0" err="1" smtClean="0"/>
              <a:t>sufficient</a:t>
            </a:r>
            <a:r>
              <a:rPr lang="en-GB" dirty="0" smtClean="0"/>
              <a:t> </a:t>
            </a:r>
            <a:r>
              <a:rPr lang="en-GB" dirty="0"/>
              <a:t>for fine-tuning.</a:t>
            </a:r>
          </a:p>
          <a:p>
            <a:r>
              <a:rPr lang="en-GB" b="1" dirty="0"/>
              <a:t>Generalization:</a:t>
            </a:r>
            <a:r>
              <a:rPr lang="en-GB" dirty="0"/>
              <a:t> Models obtained by fine-tuning large deep learning </a:t>
            </a:r>
            <a:r>
              <a:rPr lang="en-GB" dirty="0" smtClean="0"/>
              <a:t>model</a:t>
            </a:r>
            <a:r>
              <a:rPr lang="hu-HU" dirty="0" smtClean="0"/>
              <a:t>s, </a:t>
            </a:r>
            <a:r>
              <a:rPr lang="en-GB" dirty="0" smtClean="0"/>
              <a:t>pre-trained </a:t>
            </a:r>
            <a:r>
              <a:rPr lang="en-GB" dirty="0"/>
              <a:t>on large, diverse datasets containing many different types of </a:t>
            </a:r>
            <a:r>
              <a:rPr lang="en-GB" dirty="0" smtClean="0"/>
              <a:t>data</a:t>
            </a:r>
            <a:r>
              <a:rPr lang="hu-HU" dirty="0" smtClean="0"/>
              <a:t>, </a:t>
            </a:r>
            <a:r>
              <a:rPr lang="en-GB" dirty="0" smtClean="0"/>
              <a:t>are </a:t>
            </a:r>
            <a:r>
              <a:rPr lang="en-GB" dirty="0"/>
              <a:t>generally much more successful at solving specific tasks than models pre-trained specifically for that particular task.</a:t>
            </a:r>
          </a:p>
          <a:p>
            <a:pPr lvl="1"/>
            <a:r>
              <a:rPr lang="en-GB" dirty="0"/>
              <a:t>e.g., </a:t>
            </a:r>
            <a:r>
              <a:rPr lang="hu-HU" dirty="0" smtClean="0"/>
              <a:t>a</a:t>
            </a:r>
            <a:r>
              <a:rPr lang="en-GB" dirty="0" smtClean="0"/>
              <a:t> </a:t>
            </a:r>
            <a:r>
              <a:rPr lang="en-GB" dirty="0"/>
              <a:t>multilingual language model pre-trained on vast amounts of data </a:t>
            </a:r>
            <a:r>
              <a:rPr lang="hu-HU" dirty="0" smtClean="0"/>
              <a:t>(</a:t>
            </a:r>
            <a:r>
              <a:rPr lang="hu-HU" dirty="0" err="1" smtClean="0"/>
              <a:t>hundreds</a:t>
            </a:r>
            <a:r>
              <a:rPr lang="hu-HU" dirty="0" smtClean="0"/>
              <a:t> of </a:t>
            </a:r>
            <a:r>
              <a:rPr lang="hu-HU" dirty="0" err="1" smtClean="0"/>
              <a:t>billions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total</a:t>
            </a:r>
            <a:r>
              <a:rPr lang="hu-HU" dirty="0" smtClean="0"/>
              <a:t>) </a:t>
            </a:r>
            <a:r>
              <a:rPr lang="en-GB" dirty="0" smtClean="0"/>
              <a:t>from </a:t>
            </a:r>
            <a:r>
              <a:rPr lang="en-GB" dirty="0"/>
              <a:t>many languages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much</a:t>
            </a:r>
            <a:r>
              <a:rPr lang="hu-HU" dirty="0" smtClean="0"/>
              <a:t> less </a:t>
            </a:r>
            <a:r>
              <a:rPr lang="hu-HU" dirty="0" err="1" smtClean="0"/>
              <a:t>data</a:t>
            </a:r>
            <a:r>
              <a:rPr lang="hu-HU" dirty="0" smtClean="0"/>
              <a:t> </a:t>
            </a:r>
            <a:r>
              <a:rPr lang="en-GB" dirty="0" smtClean="0"/>
              <a:t>for </a:t>
            </a:r>
            <a:r>
              <a:rPr lang="en-GB" dirty="0"/>
              <a:t>a specific language (e.g., </a:t>
            </a:r>
            <a:r>
              <a:rPr lang="en-GB" dirty="0" smtClean="0"/>
              <a:t>Polish)</a:t>
            </a:r>
            <a:r>
              <a:rPr lang="hu-HU" dirty="0" smtClean="0"/>
              <a:t>,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en-GB" dirty="0" smtClean="0"/>
              <a:t>100 </a:t>
            </a:r>
            <a:r>
              <a:rPr lang="en-GB" dirty="0"/>
              <a:t>million </a:t>
            </a:r>
            <a:r>
              <a:rPr lang="en-GB" dirty="0" smtClean="0"/>
              <a:t>words</a:t>
            </a:r>
            <a:r>
              <a:rPr lang="hu-HU" dirty="0" smtClean="0"/>
              <a:t>,</a:t>
            </a:r>
            <a:r>
              <a:rPr lang="en-GB" dirty="0" smtClean="0"/>
              <a:t> will </a:t>
            </a:r>
            <a:r>
              <a:rPr lang="hu-HU" dirty="0" err="1" smtClean="0"/>
              <a:t>likely</a:t>
            </a:r>
            <a:r>
              <a:rPr lang="hu-HU" dirty="0" smtClean="0"/>
              <a:t> </a:t>
            </a:r>
            <a:r>
              <a:rPr lang="en-GB" dirty="0" smtClean="0"/>
              <a:t>perform </a:t>
            </a:r>
            <a:r>
              <a:rPr lang="en-GB" dirty="0"/>
              <a:t>much better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en-GB" dirty="0" smtClean="0"/>
              <a:t>Polish </a:t>
            </a:r>
            <a:r>
              <a:rPr lang="en-GB" dirty="0"/>
              <a:t>than a model trained on a much larger amount of data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en-GB" dirty="0" smtClean="0"/>
              <a:t>Polis</a:t>
            </a:r>
            <a:r>
              <a:rPr lang="hu-HU" dirty="0" smtClean="0"/>
              <a:t>h (</a:t>
            </a:r>
            <a:r>
              <a:rPr lang="hu-HU" dirty="0" err="1" smtClean="0"/>
              <a:t>e.g</a:t>
            </a:r>
            <a:r>
              <a:rPr lang="hu-HU" dirty="0" smtClean="0"/>
              <a:t>. 10 </a:t>
            </a:r>
            <a:r>
              <a:rPr lang="hu-HU" dirty="0" err="1" smtClean="0"/>
              <a:t>billion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) </a:t>
            </a:r>
            <a:r>
              <a:rPr lang="hu-HU" dirty="0" err="1" smtClean="0"/>
              <a:t>but</a:t>
            </a:r>
            <a:r>
              <a:rPr lang="hu-HU" dirty="0" smtClean="0"/>
              <a:t> no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8802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The </a:t>
            </a:r>
            <a:r>
              <a:rPr lang="hu-HU" dirty="0" err="1" smtClean="0"/>
              <a:t>Rise</a:t>
            </a:r>
            <a:r>
              <a:rPr lang="hu-HU" dirty="0" smtClean="0"/>
              <a:t> of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b="1" dirty="0" err="1" smtClean="0"/>
              <a:t>Generative</a:t>
            </a:r>
            <a:r>
              <a:rPr lang="hu-HU" b="1" dirty="0" smtClean="0"/>
              <a:t> </a:t>
            </a:r>
            <a:r>
              <a:rPr lang="hu-HU" b="1" dirty="0" err="1" smtClean="0"/>
              <a:t>AI</a:t>
            </a:r>
            <a:r>
              <a:rPr lang="hu-HU" b="1" dirty="0" smtClean="0"/>
              <a:t> </a:t>
            </a:r>
            <a:r>
              <a:rPr lang="hu-HU" dirty="0" smtClean="0"/>
              <a:t>is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different</a:t>
            </a:r>
            <a:r>
              <a:rPr lang="hu-HU" dirty="0" smtClean="0"/>
              <a:t> </a:t>
            </a:r>
            <a:r>
              <a:rPr lang="hu-HU" dirty="0" err="1" smtClean="0"/>
              <a:t>types</a:t>
            </a:r>
            <a:r>
              <a:rPr lang="hu-HU" dirty="0" smtClean="0"/>
              <a:t>.</a:t>
            </a:r>
          </a:p>
          <a:p>
            <a:r>
              <a:rPr lang="hu-HU" dirty="0" smtClean="0"/>
              <a:t>The </a:t>
            </a:r>
            <a:r>
              <a:rPr lang="hu-HU" dirty="0" err="1" smtClean="0"/>
              <a:t>earliest</a:t>
            </a:r>
            <a:r>
              <a:rPr lang="hu-HU" dirty="0" smtClean="0"/>
              <a:t> </a:t>
            </a:r>
            <a:r>
              <a:rPr lang="hu-HU" dirty="0" err="1" smtClean="0"/>
              <a:t>influential</a:t>
            </a:r>
            <a:r>
              <a:rPr lang="hu-HU" dirty="0" smtClean="0"/>
              <a:t> </a:t>
            </a:r>
            <a:r>
              <a:rPr lang="hu-HU" dirty="0" err="1" smtClean="0"/>
              <a:t>type</a:t>
            </a:r>
            <a:r>
              <a:rPr lang="hu-HU" dirty="0" smtClean="0"/>
              <a:t> of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generative</a:t>
            </a:r>
            <a:r>
              <a:rPr lang="hu-HU" b="1" dirty="0" smtClean="0"/>
              <a:t> </a:t>
            </a:r>
            <a:r>
              <a:rPr lang="hu-HU" b="1" dirty="0" err="1" smtClean="0"/>
              <a:t>adversarial</a:t>
            </a:r>
            <a:r>
              <a:rPr lang="hu-HU" b="1" dirty="0" smtClean="0"/>
              <a:t> </a:t>
            </a:r>
            <a:r>
              <a:rPr lang="hu-HU" b="1" dirty="0" err="1" smtClean="0"/>
              <a:t>network</a:t>
            </a:r>
            <a:r>
              <a:rPr lang="hu-HU" b="1" dirty="0" smtClean="0"/>
              <a:t> (</a:t>
            </a:r>
            <a:r>
              <a:rPr lang="hu-HU" b="1" dirty="0" err="1" smtClean="0"/>
              <a:t>GAN</a:t>
            </a:r>
            <a:r>
              <a:rPr lang="hu-HU" b="1" dirty="0" smtClean="0"/>
              <a:t>),</a:t>
            </a:r>
            <a:r>
              <a:rPr lang="hu-HU" dirty="0" smtClean="0"/>
              <a:t> </a:t>
            </a:r>
            <a:r>
              <a:rPr lang="hu-HU" dirty="0" err="1" smtClean="0"/>
              <a:t>invented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2014,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became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influential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second</a:t>
            </a:r>
            <a:r>
              <a:rPr lang="hu-HU" dirty="0" smtClean="0"/>
              <a:t> </a:t>
            </a:r>
            <a:r>
              <a:rPr lang="hu-HU" dirty="0" err="1" smtClean="0"/>
              <a:t>half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2010s and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b="1" dirty="0" smtClean="0"/>
              <a:t>image </a:t>
            </a:r>
            <a:r>
              <a:rPr lang="hu-HU" b="1" dirty="0" err="1" smtClean="0"/>
              <a:t>generation</a:t>
            </a:r>
            <a:r>
              <a:rPr lang="hu-HU" dirty="0" smtClean="0"/>
              <a:t>.</a:t>
            </a:r>
          </a:p>
          <a:p>
            <a:r>
              <a:rPr lang="hu-HU" dirty="0" smtClean="0"/>
              <a:t>The </a:t>
            </a:r>
            <a:r>
              <a:rPr lang="hu-HU" dirty="0" err="1" smtClean="0"/>
              <a:t>invention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architecture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2017 </a:t>
            </a:r>
            <a:r>
              <a:rPr lang="hu-HU" dirty="0" err="1" smtClean="0"/>
              <a:t>was</a:t>
            </a:r>
            <a:r>
              <a:rPr lang="hu-HU" dirty="0" smtClean="0"/>
              <a:t> a </a:t>
            </a:r>
            <a:r>
              <a:rPr lang="hu-HU" b="1" dirty="0" err="1" smtClean="0"/>
              <a:t>turning</a:t>
            </a:r>
            <a:r>
              <a:rPr lang="hu-HU" b="1" dirty="0" smtClean="0"/>
              <a:t> </a:t>
            </a:r>
            <a:r>
              <a:rPr lang="hu-HU" b="1" dirty="0" err="1" smtClean="0"/>
              <a:t>point</a:t>
            </a:r>
            <a:r>
              <a:rPr lang="hu-HU" b="1" dirty="0" smtClean="0"/>
              <a:t> </a:t>
            </a:r>
            <a:r>
              <a:rPr lang="hu-HU" b="1" dirty="0" err="1" smtClean="0"/>
              <a:t>in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development</a:t>
            </a:r>
            <a:r>
              <a:rPr lang="hu-HU" b="1" dirty="0" smtClean="0"/>
              <a:t> of </a:t>
            </a:r>
            <a:r>
              <a:rPr lang="hu-HU" b="1" dirty="0" err="1" smtClean="0"/>
              <a:t>deep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endParaRPr lang="hu-HU" b="1" dirty="0" smtClean="0"/>
          </a:p>
          <a:p>
            <a:pPr lvl="1"/>
            <a:r>
              <a:rPr lang="hu-HU" dirty="0" err="1" smtClean="0"/>
              <a:t>Vaswani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 (</a:t>
            </a:r>
            <a:r>
              <a:rPr lang="hu-HU" dirty="0" err="1" smtClean="0"/>
              <a:t>Google</a:t>
            </a:r>
            <a:r>
              <a:rPr lang="hu-HU" dirty="0" smtClean="0"/>
              <a:t> Research):</a:t>
            </a:r>
            <a:r>
              <a:rPr lang="hu-HU" i="1" dirty="0" smtClean="0"/>
              <a:t> </a:t>
            </a:r>
            <a:r>
              <a:rPr lang="en-GB" i="1" dirty="0" smtClean="0">
                <a:hlinkClick r:id="rId3"/>
              </a:rPr>
              <a:t>Attention </a:t>
            </a:r>
            <a:r>
              <a:rPr lang="en-GB" i="1" dirty="0">
                <a:hlinkClick r:id="rId3"/>
              </a:rPr>
              <a:t>Is All You </a:t>
            </a:r>
            <a:r>
              <a:rPr lang="en-GB" i="1" dirty="0" smtClean="0">
                <a:hlinkClick r:id="rId3"/>
              </a:rPr>
              <a:t>Need</a:t>
            </a:r>
            <a:r>
              <a:rPr lang="hu-HU" dirty="0" smtClean="0"/>
              <a:t>, 2017 (208,000 </a:t>
            </a:r>
            <a:r>
              <a:rPr lang="hu-HU" dirty="0" err="1" smtClean="0"/>
              <a:t>citations</a:t>
            </a:r>
            <a:r>
              <a:rPr lang="hu-HU" dirty="0" smtClean="0"/>
              <a:t>)</a:t>
            </a:r>
          </a:p>
          <a:p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influential</a:t>
            </a:r>
            <a:r>
              <a:rPr lang="hu-HU" dirty="0" smtClean="0"/>
              <a:t> </a:t>
            </a:r>
            <a:r>
              <a:rPr lang="hu-HU" dirty="0" err="1" smtClean="0"/>
              <a:t>application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encoder-only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2018</a:t>
            </a:r>
          </a:p>
          <a:p>
            <a:pPr lvl="1"/>
            <a:r>
              <a:rPr lang="hu-HU" dirty="0" err="1" smtClean="0"/>
              <a:t>Devlin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 (</a:t>
            </a:r>
            <a:r>
              <a:rPr lang="hu-HU" dirty="0" err="1" smtClean="0"/>
              <a:t>Google</a:t>
            </a:r>
            <a:r>
              <a:rPr lang="hu-HU" dirty="0" smtClean="0"/>
              <a:t> </a:t>
            </a:r>
            <a:r>
              <a:rPr lang="hu-HU" dirty="0" err="1" smtClean="0"/>
              <a:t>AI</a:t>
            </a:r>
            <a:r>
              <a:rPr lang="hu-HU" dirty="0" smtClean="0"/>
              <a:t>): </a:t>
            </a:r>
            <a:r>
              <a:rPr lang="en-GB" i="1" dirty="0" smtClean="0">
                <a:hlinkClick r:id="rId4"/>
              </a:rPr>
              <a:t>BERT: Pre-training of Deep Bidirectional Transformers for Language Understanding</a:t>
            </a:r>
            <a:r>
              <a:rPr lang="hu-HU" dirty="0" smtClean="0"/>
              <a:t>, 2018 (150,000 </a:t>
            </a:r>
            <a:r>
              <a:rPr lang="hu-HU" dirty="0" err="1" smtClean="0"/>
              <a:t>citations</a:t>
            </a:r>
            <a:r>
              <a:rPr lang="hu-HU" dirty="0" smtClean="0"/>
              <a:t>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4880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Rise</a:t>
            </a:r>
            <a:r>
              <a:rPr lang="hu-HU" dirty="0"/>
              <a:t> of </a:t>
            </a:r>
            <a:r>
              <a:rPr lang="hu-HU" dirty="0" err="1"/>
              <a:t>Generative</a:t>
            </a:r>
            <a:r>
              <a:rPr lang="hu-HU" dirty="0"/>
              <a:t> </a:t>
            </a:r>
            <a:r>
              <a:rPr lang="hu-HU" dirty="0" err="1"/>
              <a:t>Models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err="1" smtClean="0"/>
              <a:t>Every</a:t>
            </a:r>
            <a:r>
              <a:rPr lang="hu-HU" dirty="0" smtClean="0"/>
              <a:t> </a:t>
            </a:r>
            <a:r>
              <a:rPr lang="hu-HU" dirty="0" err="1" smtClean="0"/>
              <a:t>milestone</a:t>
            </a:r>
            <a:r>
              <a:rPr lang="hu-HU" dirty="0" smtClean="0"/>
              <a:t> of modern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AI</a:t>
            </a:r>
            <a:r>
              <a:rPr lang="hu-HU" dirty="0" smtClean="0"/>
              <a:t> is </a:t>
            </a:r>
            <a:r>
              <a:rPr lang="hu-HU" dirty="0" err="1" smtClean="0"/>
              <a:t>similarly</a:t>
            </a:r>
            <a:r>
              <a:rPr lang="hu-HU" dirty="0" smtClean="0"/>
              <a:t> </a:t>
            </a:r>
            <a:r>
              <a:rPr lang="hu-HU" dirty="0" err="1" smtClean="0"/>
              <a:t>connected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</a:t>
            </a:r>
            <a:r>
              <a:rPr lang="hu-HU" dirty="0" err="1" smtClean="0"/>
              <a:t>seminal</a:t>
            </a:r>
            <a:r>
              <a:rPr lang="hu-HU" dirty="0" smtClean="0"/>
              <a:t> </a:t>
            </a:r>
            <a:r>
              <a:rPr lang="hu-HU" dirty="0" err="1" smtClean="0"/>
              <a:t>paper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Radford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 smtClean="0">
                <a:hlinkClick r:id="rId2"/>
              </a:rPr>
              <a:t>Improving </a:t>
            </a:r>
            <a:r>
              <a:rPr lang="en-GB" i="1" dirty="0">
                <a:hlinkClick r:id="rId2"/>
              </a:rPr>
              <a:t>language understanding by generative </a:t>
            </a:r>
            <a:r>
              <a:rPr lang="en-GB" i="1" dirty="0" smtClean="0">
                <a:hlinkClick r:id="rId2"/>
              </a:rPr>
              <a:t>pre-training</a:t>
            </a:r>
            <a:r>
              <a:rPr lang="hu-HU" i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2018</a:t>
            </a:r>
          </a:p>
          <a:p>
            <a:pPr lvl="2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paper</a:t>
            </a:r>
            <a:r>
              <a:rPr lang="hu-HU" dirty="0" smtClean="0"/>
              <a:t> </a:t>
            </a:r>
            <a:r>
              <a:rPr lang="hu-HU" dirty="0" err="1" smtClean="0"/>
              <a:t>introducing</a:t>
            </a:r>
            <a:r>
              <a:rPr lang="hu-HU" dirty="0" smtClean="0"/>
              <a:t> </a:t>
            </a:r>
            <a:r>
              <a:rPr lang="hu-HU" b="1" dirty="0" smtClean="0"/>
              <a:t>GPT-1,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first</a:t>
            </a:r>
            <a:r>
              <a:rPr lang="hu-HU" b="1" dirty="0" smtClean="0"/>
              <a:t> </a:t>
            </a:r>
            <a:r>
              <a:rPr lang="hu-HU" b="1" dirty="0" err="1" smtClean="0"/>
              <a:t>decoder-only</a:t>
            </a:r>
            <a:r>
              <a:rPr lang="hu-HU" b="1" dirty="0" smtClean="0"/>
              <a:t>, </a:t>
            </a:r>
            <a:r>
              <a:rPr lang="hu-HU" b="1" dirty="0" err="1" smtClean="0"/>
              <a:t>transformer-based</a:t>
            </a:r>
            <a:r>
              <a:rPr lang="hu-HU" b="1" dirty="0" smtClean="0"/>
              <a:t> </a:t>
            </a:r>
            <a:r>
              <a:rPr lang="hu-HU" b="1" dirty="0" err="1" smtClean="0"/>
              <a:t>generative</a:t>
            </a:r>
            <a:r>
              <a:rPr lang="hu-HU" b="1" dirty="0" smtClean="0"/>
              <a:t> </a:t>
            </a:r>
            <a:r>
              <a:rPr lang="hu-HU" b="1" dirty="0" err="1" smtClean="0"/>
              <a:t>language</a:t>
            </a:r>
            <a:r>
              <a:rPr lang="hu-HU" b="1" dirty="0" smtClean="0"/>
              <a:t> </a:t>
            </a:r>
            <a:r>
              <a:rPr lang="hu-HU" b="1" dirty="0" err="1" smtClean="0"/>
              <a:t>model</a:t>
            </a:r>
            <a:endParaRPr lang="hu-HU" dirty="0" smtClean="0"/>
          </a:p>
          <a:p>
            <a:pPr lvl="1"/>
            <a:r>
              <a:rPr lang="hu-HU" dirty="0" err="1" smtClean="0"/>
              <a:t>Radford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>
                <a:hlinkClick r:id="rId3"/>
              </a:rPr>
              <a:t>Language Models are Unsupervised Multitask </a:t>
            </a:r>
            <a:r>
              <a:rPr lang="en-GB" i="1" dirty="0" smtClean="0">
                <a:hlinkClick r:id="rId3"/>
              </a:rPr>
              <a:t>Learners</a:t>
            </a:r>
            <a:r>
              <a:rPr lang="hu-HU" i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2019</a:t>
            </a:r>
          </a:p>
          <a:p>
            <a:pPr lvl="2"/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release</a:t>
            </a:r>
            <a:r>
              <a:rPr lang="hu-HU" dirty="0" smtClean="0"/>
              <a:t> of GPT-2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realised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larger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billion-parameter</a:t>
            </a:r>
            <a:r>
              <a:rPr lang="hu-HU" dirty="0" smtClean="0"/>
              <a:t> </a:t>
            </a:r>
            <a:r>
              <a:rPr lang="hu-HU" dirty="0" err="1" smtClean="0"/>
              <a:t>range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able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perform</a:t>
            </a:r>
            <a:r>
              <a:rPr lang="hu-HU" dirty="0" smtClean="0"/>
              <a:t> </a:t>
            </a:r>
            <a:r>
              <a:rPr lang="hu-HU" dirty="0" err="1" smtClean="0"/>
              <a:t>several</a:t>
            </a:r>
            <a:r>
              <a:rPr lang="hu-HU" dirty="0" smtClean="0"/>
              <a:t> </a:t>
            </a:r>
            <a:r>
              <a:rPr lang="hu-HU" dirty="0" err="1" smtClean="0"/>
              <a:t>NLP-related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 (</a:t>
            </a:r>
            <a:r>
              <a:rPr lang="hu-HU" dirty="0" err="1" smtClean="0"/>
              <a:t>summarisation</a:t>
            </a:r>
            <a:r>
              <a:rPr lang="hu-HU" dirty="0" smtClean="0"/>
              <a:t>, </a:t>
            </a:r>
            <a:r>
              <a:rPr lang="hu-HU" dirty="0" err="1" smtClean="0"/>
              <a:t>translation</a:t>
            </a:r>
            <a:r>
              <a:rPr lang="hu-HU" dirty="0" smtClean="0"/>
              <a:t>, </a:t>
            </a:r>
            <a:r>
              <a:rPr lang="hu-HU" dirty="0" err="1" smtClean="0"/>
              <a:t>question</a:t>
            </a:r>
            <a:r>
              <a:rPr lang="hu-HU" dirty="0" smtClean="0"/>
              <a:t> </a:t>
            </a:r>
            <a:r>
              <a:rPr lang="hu-HU" dirty="0" err="1" smtClean="0"/>
              <a:t>answering</a:t>
            </a:r>
            <a:r>
              <a:rPr lang="hu-HU" dirty="0" smtClean="0"/>
              <a:t>) </a:t>
            </a:r>
            <a:r>
              <a:rPr lang="hu-HU" b="1" dirty="0" err="1" smtClean="0"/>
              <a:t>without</a:t>
            </a:r>
            <a:r>
              <a:rPr lang="hu-HU" b="1" dirty="0" smtClean="0"/>
              <a:t> </a:t>
            </a:r>
            <a:r>
              <a:rPr lang="hu-HU" b="1" dirty="0" err="1" smtClean="0"/>
              <a:t>explicitly</a:t>
            </a:r>
            <a:r>
              <a:rPr lang="hu-HU" b="1" dirty="0" smtClean="0"/>
              <a:t> being </a:t>
            </a:r>
            <a:r>
              <a:rPr lang="hu-HU" b="1" dirty="0" err="1" smtClean="0"/>
              <a:t>trained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them</a:t>
            </a:r>
            <a:endParaRPr lang="hu-HU" b="1" dirty="0" smtClean="0"/>
          </a:p>
          <a:p>
            <a:pPr lvl="1"/>
            <a:r>
              <a:rPr lang="hu-HU" dirty="0" err="1" smtClean="0"/>
              <a:t>Ziegler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: </a:t>
            </a:r>
            <a:r>
              <a:rPr lang="en-GB" i="1" dirty="0">
                <a:hlinkClick r:id="rId4"/>
              </a:rPr>
              <a:t>Fine-tuning language models from human </a:t>
            </a:r>
            <a:r>
              <a:rPr lang="en-GB" i="1" dirty="0" smtClean="0">
                <a:hlinkClick r:id="rId4"/>
              </a:rPr>
              <a:t>preferences</a:t>
            </a:r>
            <a:r>
              <a:rPr lang="hu-HU" i="1" dirty="0" smtClean="0">
                <a:hlinkClick r:id="rId4"/>
              </a:rPr>
              <a:t>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2019</a:t>
            </a:r>
          </a:p>
          <a:p>
            <a:pPr lvl="2"/>
            <a:r>
              <a:rPr lang="hu-HU" dirty="0" err="1" smtClean="0"/>
              <a:t>introduces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concept</a:t>
            </a:r>
            <a:r>
              <a:rPr lang="hu-HU" dirty="0" smtClean="0"/>
              <a:t> of </a:t>
            </a:r>
            <a:r>
              <a:rPr lang="hu-HU" b="1" dirty="0" err="1" smtClean="0"/>
              <a:t>reinforcement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b="1" dirty="0" err="1" smtClean="0"/>
              <a:t>from</a:t>
            </a:r>
            <a:r>
              <a:rPr lang="hu-HU" b="1" dirty="0" smtClean="0"/>
              <a:t> human </a:t>
            </a:r>
            <a:r>
              <a:rPr lang="hu-HU" b="1" dirty="0" err="1" smtClean="0"/>
              <a:t>feedback</a:t>
            </a:r>
            <a:r>
              <a:rPr lang="hu-HU" b="1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a </a:t>
            </a:r>
            <a:r>
              <a:rPr lang="hu-HU" dirty="0" err="1" smtClean="0"/>
              <a:t>crucial</a:t>
            </a:r>
            <a:r>
              <a:rPr lang="hu-HU" dirty="0" smtClean="0"/>
              <a:t> </a:t>
            </a:r>
            <a:r>
              <a:rPr lang="hu-HU" dirty="0" err="1" smtClean="0"/>
              <a:t>component</a:t>
            </a:r>
            <a:r>
              <a:rPr lang="hu-HU" dirty="0" smtClean="0"/>
              <a:t> of </a:t>
            </a:r>
            <a:r>
              <a:rPr lang="hu-HU" dirty="0" err="1" smtClean="0"/>
              <a:t>making</a:t>
            </a:r>
            <a:r>
              <a:rPr lang="hu-HU" dirty="0" smtClean="0"/>
              <a:t> a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behave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chatbot, i.e. </a:t>
            </a:r>
            <a:r>
              <a:rPr lang="hu-HU" dirty="0" err="1" smtClean="0"/>
              <a:t>creating</a:t>
            </a:r>
            <a:r>
              <a:rPr lang="hu-HU" dirty="0" smtClean="0"/>
              <a:t> </a:t>
            </a:r>
            <a:r>
              <a:rPr lang="hu-HU" dirty="0" err="1" smtClean="0"/>
              <a:t>ChatGPT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top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GPT-3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released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following</a:t>
            </a:r>
            <a:r>
              <a:rPr lang="hu-HU" dirty="0" smtClean="0"/>
              <a:t> </a:t>
            </a:r>
            <a:r>
              <a:rPr lang="hu-HU" dirty="0" err="1" smtClean="0"/>
              <a:t>year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4094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Rise</a:t>
            </a:r>
            <a:r>
              <a:rPr lang="hu-HU" dirty="0"/>
              <a:t> of </a:t>
            </a:r>
            <a:r>
              <a:rPr lang="hu-HU" dirty="0" err="1"/>
              <a:t>Generative</a:t>
            </a:r>
            <a:r>
              <a:rPr lang="hu-HU" dirty="0"/>
              <a:t> </a:t>
            </a:r>
            <a:r>
              <a:rPr lang="hu-HU" dirty="0" err="1"/>
              <a:t>Models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milestone</a:t>
            </a:r>
            <a:r>
              <a:rPr lang="hu-HU" dirty="0"/>
              <a:t> of modern </a:t>
            </a:r>
            <a:r>
              <a:rPr lang="hu-HU" dirty="0" err="1"/>
              <a:t>generative</a:t>
            </a:r>
            <a:r>
              <a:rPr lang="hu-HU" dirty="0"/>
              <a:t> </a:t>
            </a:r>
            <a:r>
              <a:rPr lang="hu-HU" dirty="0" err="1"/>
              <a:t>AI</a:t>
            </a:r>
            <a:r>
              <a:rPr lang="hu-HU" dirty="0"/>
              <a:t> is </a:t>
            </a:r>
            <a:r>
              <a:rPr lang="hu-HU" dirty="0" err="1"/>
              <a:t>similarly</a:t>
            </a:r>
            <a:r>
              <a:rPr lang="hu-HU" dirty="0"/>
              <a:t> </a:t>
            </a:r>
            <a:r>
              <a:rPr lang="hu-HU" dirty="0" err="1"/>
              <a:t>connected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a </a:t>
            </a:r>
            <a:r>
              <a:rPr lang="hu-HU" dirty="0" err="1"/>
              <a:t>seminal</a:t>
            </a:r>
            <a:r>
              <a:rPr lang="hu-HU" dirty="0"/>
              <a:t> </a:t>
            </a:r>
            <a:r>
              <a:rPr lang="hu-HU" dirty="0" err="1"/>
              <a:t>paper</a:t>
            </a:r>
            <a:r>
              <a:rPr lang="hu-HU" dirty="0"/>
              <a:t>:</a:t>
            </a:r>
          </a:p>
          <a:p>
            <a:pPr lvl="1"/>
            <a:r>
              <a:rPr lang="hu-HU" dirty="0" smtClean="0"/>
              <a:t>Brown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 smtClean="0">
                <a:hlinkClick r:id="rId2"/>
              </a:rPr>
              <a:t>Language </a:t>
            </a:r>
            <a:r>
              <a:rPr lang="en-GB" i="1" dirty="0">
                <a:hlinkClick r:id="rId2"/>
              </a:rPr>
              <a:t>models are few-shot </a:t>
            </a:r>
            <a:r>
              <a:rPr lang="en-GB" i="1" dirty="0" smtClean="0">
                <a:hlinkClick r:id="rId2"/>
              </a:rPr>
              <a:t>learners</a:t>
            </a:r>
            <a:r>
              <a:rPr lang="hu-HU" i="1" dirty="0" smtClean="0"/>
              <a:t>.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</a:t>
            </a:r>
            <a:r>
              <a:rPr lang="hu-HU" dirty="0" err="1" smtClean="0"/>
              <a:t>NeurIPS</a:t>
            </a:r>
            <a:r>
              <a:rPr lang="hu-HU" dirty="0" smtClean="0"/>
              <a:t> 2020</a:t>
            </a:r>
          </a:p>
          <a:p>
            <a:pPr lvl="2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paper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GPT-3,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first</a:t>
            </a:r>
            <a:r>
              <a:rPr lang="hu-HU" b="1" dirty="0" smtClean="0"/>
              <a:t> </a:t>
            </a:r>
            <a:r>
              <a:rPr lang="hu-HU" b="1" dirty="0" err="1" smtClean="0"/>
              <a:t>real</a:t>
            </a:r>
            <a:r>
              <a:rPr lang="hu-HU" b="1" dirty="0" smtClean="0"/>
              <a:t> </a:t>
            </a:r>
            <a:r>
              <a:rPr lang="hu-HU" b="1" dirty="0" err="1" smtClean="0"/>
              <a:t>large</a:t>
            </a:r>
            <a:r>
              <a:rPr lang="hu-HU" b="1" dirty="0" smtClean="0"/>
              <a:t> </a:t>
            </a:r>
            <a:r>
              <a:rPr lang="hu-HU" b="1" dirty="0" err="1" smtClean="0"/>
              <a:t>language</a:t>
            </a:r>
            <a:r>
              <a:rPr lang="hu-HU" b="1" dirty="0" smtClean="0"/>
              <a:t> </a:t>
            </a:r>
            <a:r>
              <a:rPr lang="hu-HU" b="1" dirty="0" err="1" smtClean="0"/>
              <a:t>model</a:t>
            </a:r>
            <a:r>
              <a:rPr lang="hu-HU" b="1" dirty="0" smtClean="0"/>
              <a:t> (175 </a:t>
            </a:r>
            <a:r>
              <a:rPr lang="hu-HU" b="1" dirty="0" err="1" smtClean="0"/>
              <a:t>billion</a:t>
            </a:r>
            <a:r>
              <a:rPr lang="hu-HU" b="1" dirty="0" smtClean="0"/>
              <a:t> </a:t>
            </a:r>
            <a:r>
              <a:rPr lang="hu-HU" b="1" dirty="0" err="1" smtClean="0"/>
              <a:t>parameters</a:t>
            </a:r>
            <a:r>
              <a:rPr lang="hu-HU" b="1" dirty="0" smtClean="0"/>
              <a:t>); </a:t>
            </a:r>
            <a:r>
              <a:rPr lang="hu-HU" dirty="0" err="1" smtClean="0"/>
              <a:t>scaling</a:t>
            </a:r>
            <a:r>
              <a:rPr lang="hu-HU" dirty="0" smtClean="0"/>
              <a:t> </a:t>
            </a:r>
            <a:r>
              <a:rPr lang="hu-HU" dirty="0" err="1" smtClean="0"/>
              <a:t>up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10- and 100-billion </a:t>
            </a:r>
            <a:r>
              <a:rPr lang="hu-HU" dirty="0" err="1" smtClean="0"/>
              <a:t>parameter</a:t>
            </a:r>
            <a:r>
              <a:rPr lang="hu-HU" dirty="0" smtClean="0"/>
              <a:t> </a:t>
            </a:r>
            <a:r>
              <a:rPr lang="hu-HU" dirty="0" err="1" smtClean="0"/>
              <a:t>range</a:t>
            </a:r>
            <a:r>
              <a:rPr lang="hu-HU" dirty="0" smtClean="0"/>
              <a:t> </a:t>
            </a:r>
            <a:r>
              <a:rPr lang="hu-HU" b="1" dirty="0" err="1" smtClean="0"/>
              <a:t>greatly</a:t>
            </a:r>
            <a:r>
              <a:rPr lang="hu-HU" b="1" dirty="0" smtClean="0"/>
              <a:t> </a:t>
            </a:r>
            <a:r>
              <a:rPr lang="hu-HU" b="1" dirty="0" err="1" smtClean="0"/>
              <a:t>improves</a:t>
            </a:r>
            <a:r>
              <a:rPr lang="hu-HU" b="1" dirty="0" smtClean="0"/>
              <a:t> </a:t>
            </a:r>
            <a:r>
              <a:rPr lang="hu-HU" b="1" dirty="0" err="1" smtClean="0"/>
              <a:t>their</a:t>
            </a:r>
            <a:r>
              <a:rPr lang="hu-HU" b="1" dirty="0" smtClean="0"/>
              <a:t> performance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 </a:t>
            </a:r>
            <a:r>
              <a:rPr lang="hu-HU" dirty="0" err="1" smtClean="0"/>
              <a:t>they</a:t>
            </a:r>
            <a:r>
              <a:rPr lang="hu-HU" dirty="0" smtClean="0"/>
              <a:t> had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been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endParaRPr lang="hu-HU" dirty="0" smtClean="0"/>
          </a:p>
          <a:p>
            <a:pPr lvl="1"/>
            <a:r>
              <a:rPr lang="hu-HU" dirty="0" smtClean="0"/>
              <a:t>Kaplan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>
                <a:hlinkClick r:id="rId3"/>
              </a:rPr>
              <a:t>Scaling laws for neural language </a:t>
            </a:r>
            <a:r>
              <a:rPr lang="en-GB" i="1" dirty="0" smtClean="0">
                <a:hlinkClick r:id="rId3"/>
              </a:rPr>
              <a:t>models</a:t>
            </a:r>
            <a:r>
              <a:rPr lang="hu-HU" i="1" dirty="0" smtClean="0"/>
              <a:t>.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2020</a:t>
            </a:r>
          </a:p>
          <a:p>
            <a:pPr lvl="2"/>
            <a:r>
              <a:rPr lang="hu-HU" b="1" dirty="0" err="1" smtClean="0"/>
              <a:t>exactly</a:t>
            </a:r>
            <a:r>
              <a:rPr lang="hu-HU" b="1" dirty="0" smtClean="0"/>
              <a:t> </a:t>
            </a:r>
            <a:r>
              <a:rPr lang="hu-HU" b="1" dirty="0" err="1" smtClean="0"/>
              <a:t>how</a:t>
            </a:r>
            <a:r>
              <a:rPr lang="hu-HU" b="1" dirty="0"/>
              <a:t> </a:t>
            </a:r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loss</a:t>
            </a:r>
            <a:r>
              <a:rPr lang="hu-HU" b="1" dirty="0" smtClean="0"/>
              <a:t> </a:t>
            </a:r>
            <a:r>
              <a:rPr lang="hu-HU" dirty="0" smtClean="0"/>
              <a:t>of a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scale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b="1" dirty="0" err="1" smtClean="0"/>
              <a:t>model</a:t>
            </a:r>
            <a:r>
              <a:rPr lang="hu-HU" b="1" dirty="0" smtClean="0"/>
              <a:t> </a:t>
            </a:r>
            <a:r>
              <a:rPr lang="hu-HU" b="1" dirty="0" err="1" smtClean="0"/>
              <a:t>size</a:t>
            </a:r>
            <a:r>
              <a:rPr lang="hu-HU" b="1" dirty="0" smtClean="0"/>
              <a:t>, </a:t>
            </a:r>
            <a:r>
              <a:rPr lang="hu-HU" b="1" dirty="0" err="1" smtClean="0"/>
              <a:t>dataset</a:t>
            </a:r>
            <a:r>
              <a:rPr lang="hu-HU" b="1" dirty="0" smtClean="0"/>
              <a:t> </a:t>
            </a:r>
            <a:r>
              <a:rPr lang="hu-HU" b="1" dirty="0" err="1" smtClean="0"/>
              <a:t>size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compute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?</a:t>
            </a:r>
          </a:p>
          <a:p>
            <a:pPr lvl="1"/>
            <a:r>
              <a:rPr lang="hu-HU" dirty="0" err="1" smtClean="0"/>
              <a:t>Radford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>
                <a:hlinkClick r:id="rId4"/>
              </a:rPr>
              <a:t>Learning Transferable Visual Models From Natural Language </a:t>
            </a:r>
            <a:r>
              <a:rPr lang="en-GB" i="1" dirty="0" smtClean="0">
                <a:hlinkClick r:id="rId4"/>
              </a:rPr>
              <a:t>Supervision</a:t>
            </a:r>
            <a:r>
              <a:rPr lang="hu-HU" i="1" dirty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</a:t>
            </a:r>
            <a:r>
              <a:rPr lang="hu-HU" dirty="0" err="1" smtClean="0"/>
              <a:t>PMLR</a:t>
            </a:r>
            <a:r>
              <a:rPr lang="hu-HU" dirty="0" smtClean="0"/>
              <a:t> 139, 2021</a:t>
            </a:r>
          </a:p>
          <a:p>
            <a:pPr lvl="2"/>
            <a:r>
              <a:rPr lang="hu-HU" dirty="0" err="1" smtClean="0"/>
              <a:t>instead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vision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classify</a:t>
            </a:r>
            <a:r>
              <a:rPr lang="hu-HU" dirty="0" smtClean="0"/>
              <a:t> </a:t>
            </a:r>
            <a:r>
              <a:rPr lang="hu-HU" dirty="0" err="1" smtClean="0"/>
              <a:t>images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predetermined</a:t>
            </a:r>
            <a:r>
              <a:rPr lang="hu-HU" dirty="0" smtClean="0"/>
              <a:t> </a:t>
            </a:r>
            <a:r>
              <a:rPr lang="hu-HU" dirty="0" err="1" smtClean="0"/>
              <a:t>categories</a:t>
            </a:r>
            <a:r>
              <a:rPr lang="hu-HU" dirty="0" smtClean="0"/>
              <a:t>, </a:t>
            </a:r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associate</a:t>
            </a:r>
            <a:r>
              <a:rPr lang="hu-HU" b="1" dirty="0" smtClean="0"/>
              <a:t> </a:t>
            </a:r>
            <a:r>
              <a:rPr lang="hu-HU" b="1" dirty="0" err="1" smtClean="0"/>
              <a:t>images</a:t>
            </a:r>
            <a:r>
              <a:rPr lang="hu-HU" b="1" dirty="0" smtClean="0"/>
              <a:t> </a:t>
            </a:r>
            <a:r>
              <a:rPr lang="hu-HU" b="1" dirty="0" err="1" smtClean="0"/>
              <a:t>with</a:t>
            </a:r>
            <a:r>
              <a:rPr lang="hu-HU" b="1" dirty="0" smtClean="0"/>
              <a:t> </a:t>
            </a:r>
            <a:r>
              <a:rPr lang="hu-HU" b="1" dirty="0" err="1" smtClean="0"/>
              <a:t>raw</a:t>
            </a:r>
            <a:r>
              <a:rPr lang="hu-HU" b="1" dirty="0" smtClean="0"/>
              <a:t> text </a:t>
            </a:r>
            <a:r>
              <a:rPr lang="hu-HU" b="1" dirty="0" err="1" smtClean="0"/>
              <a:t>captions</a:t>
            </a:r>
            <a:r>
              <a:rPr lang="hu-HU" dirty="0" smtClean="0"/>
              <a:t>;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crucial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development</a:t>
            </a:r>
            <a:r>
              <a:rPr lang="hu-HU" dirty="0" smtClean="0"/>
              <a:t> of </a:t>
            </a:r>
            <a:r>
              <a:rPr lang="hu-HU" b="1" dirty="0" smtClean="0"/>
              <a:t>image </a:t>
            </a:r>
            <a:r>
              <a:rPr lang="hu-HU" b="1" dirty="0" err="1" smtClean="0"/>
              <a:t>generation</a:t>
            </a:r>
            <a:r>
              <a:rPr lang="hu-HU" b="1" dirty="0" smtClean="0"/>
              <a:t> </a:t>
            </a:r>
            <a:r>
              <a:rPr lang="hu-HU" b="1" dirty="0" err="1" smtClean="0"/>
              <a:t>based</a:t>
            </a:r>
            <a:r>
              <a:rPr lang="hu-HU" b="1" dirty="0" smtClean="0"/>
              <a:t> </a:t>
            </a:r>
            <a:r>
              <a:rPr lang="hu-HU" b="1" dirty="0" err="1" smtClean="0"/>
              <a:t>on</a:t>
            </a:r>
            <a:r>
              <a:rPr lang="hu-HU" b="1" dirty="0" smtClean="0"/>
              <a:t> text </a:t>
            </a:r>
            <a:r>
              <a:rPr lang="hu-HU" b="1" dirty="0" err="1" smtClean="0"/>
              <a:t>prompts</a:t>
            </a:r>
            <a:endParaRPr lang="hu-HU" b="1" dirty="0" smtClean="0"/>
          </a:p>
        </p:txBody>
      </p:sp>
    </p:spTree>
    <p:extLst>
      <p:ext uri="{BB962C8B-B14F-4D97-AF65-F5344CB8AC3E}">
        <p14:creationId xmlns:p14="http://schemas.microsoft.com/office/powerpoint/2010/main" val="412625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Foundation</a:t>
            </a:r>
            <a:r>
              <a:rPr lang="hu-HU" dirty="0" smtClean="0"/>
              <a:t> </a:t>
            </a:r>
            <a:r>
              <a:rPr lang="hu-HU" dirty="0" err="1"/>
              <a:t>M</a:t>
            </a:r>
            <a:r>
              <a:rPr lang="hu-HU" dirty="0" err="1" smtClean="0"/>
              <a:t>odels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smtClean="0"/>
              <a:t>The </a:t>
            </a:r>
            <a:r>
              <a:rPr lang="hu-HU" dirty="0" err="1" smtClean="0"/>
              <a:t>single</a:t>
            </a:r>
            <a:r>
              <a:rPr lang="hu-HU" dirty="0" smtClean="0"/>
              <a:t> most </a:t>
            </a:r>
            <a:r>
              <a:rPr lang="hu-HU" dirty="0" err="1" smtClean="0"/>
              <a:t>important</a:t>
            </a:r>
            <a:r>
              <a:rPr lang="hu-HU" dirty="0" smtClean="0"/>
              <a:t> </a:t>
            </a:r>
            <a:r>
              <a:rPr lang="hu-HU" dirty="0" err="1" smtClean="0"/>
              <a:t>event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development</a:t>
            </a:r>
            <a:r>
              <a:rPr lang="hu-HU" dirty="0" smtClean="0"/>
              <a:t> of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AI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release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GPT-3 </a:t>
            </a:r>
            <a:r>
              <a:rPr lang="hu-HU" dirty="0" err="1" smtClean="0"/>
              <a:t>in</a:t>
            </a:r>
            <a:r>
              <a:rPr lang="hu-HU" dirty="0" smtClean="0"/>
              <a:t> 2020.</a:t>
            </a:r>
          </a:p>
          <a:p>
            <a:pPr lvl="1"/>
            <a:r>
              <a:rPr lang="hu-HU" dirty="0" smtClean="0"/>
              <a:t>GPT-3 </a:t>
            </a:r>
            <a:r>
              <a:rPr lang="hu-HU" dirty="0" err="1" smtClean="0"/>
              <a:t>was</a:t>
            </a:r>
            <a:r>
              <a:rPr lang="hu-HU" dirty="0" smtClean="0"/>
              <a:t> a </a:t>
            </a:r>
            <a:r>
              <a:rPr lang="hu-HU" dirty="0" err="1" smtClean="0"/>
              <a:t>comparatively</a:t>
            </a:r>
            <a:r>
              <a:rPr lang="hu-HU" dirty="0" smtClean="0"/>
              <a:t> </a:t>
            </a:r>
            <a:r>
              <a:rPr lang="hu-HU" dirty="0" err="1" smtClean="0"/>
              <a:t>huge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, </a:t>
            </a:r>
            <a:r>
              <a:rPr lang="hu-HU" dirty="0" err="1" smtClean="0"/>
              <a:t>much</a:t>
            </a:r>
            <a:r>
              <a:rPr lang="hu-HU" dirty="0" smtClean="0"/>
              <a:t> </a:t>
            </a:r>
            <a:r>
              <a:rPr lang="hu-HU" dirty="0" err="1" smtClean="0"/>
              <a:t>bigger</a:t>
            </a:r>
            <a:r>
              <a:rPr lang="hu-HU" dirty="0" smtClean="0"/>
              <a:t>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anything</a:t>
            </a:r>
            <a:r>
              <a:rPr lang="hu-HU" dirty="0" smtClean="0"/>
              <a:t> </a:t>
            </a:r>
            <a:r>
              <a:rPr lang="hu-HU" dirty="0" err="1" smtClean="0"/>
              <a:t>seen</a:t>
            </a:r>
            <a:r>
              <a:rPr lang="hu-HU" dirty="0" smtClean="0"/>
              <a:t> </a:t>
            </a:r>
            <a:r>
              <a:rPr lang="hu-HU" dirty="0" err="1" smtClean="0"/>
              <a:t>before</a:t>
            </a:r>
            <a:r>
              <a:rPr lang="hu-HU" dirty="0" smtClean="0"/>
              <a:t>,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took</a:t>
            </a:r>
            <a:r>
              <a:rPr lang="hu-HU" dirty="0" smtClean="0"/>
              <a:t> </a:t>
            </a:r>
            <a:r>
              <a:rPr lang="hu-HU" dirty="0" err="1" smtClean="0"/>
              <a:t>immense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compute</a:t>
            </a:r>
            <a:r>
              <a:rPr lang="hu-HU" dirty="0" smtClean="0"/>
              <a:t> </a:t>
            </a:r>
            <a:r>
              <a:rPr lang="hu-HU" dirty="0" err="1" smtClean="0"/>
              <a:t>power</a:t>
            </a:r>
            <a:r>
              <a:rPr lang="hu-HU" dirty="0" smtClean="0"/>
              <a:t>, </a:t>
            </a:r>
            <a:r>
              <a:rPr lang="hu-HU" dirty="0" err="1" smtClean="0"/>
              <a:t>time</a:t>
            </a:r>
            <a:r>
              <a:rPr lang="hu-HU" dirty="0" smtClean="0"/>
              <a:t> and an </a:t>
            </a:r>
            <a:r>
              <a:rPr lang="hu-HU" dirty="0" err="1" smtClean="0"/>
              <a:t>extremely</a:t>
            </a:r>
            <a:r>
              <a:rPr lang="hu-HU" dirty="0" smtClean="0"/>
              <a:t> </a:t>
            </a:r>
            <a:r>
              <a:rPr lang="hu-HU" dirty="0" err="1" smtClean="0"/>
              <a:t>large</a:t>
            </a:r>
            <a:r>
              <a:rPr lang="hu-HU" dirty="0" smtClean="0"/>
              <a:t> corpus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train</a:t>
            </a:r>
            <a:endParaRPr lang="hu-HU" dirty="0" smtClean="0"/>
          </a:p>
          <a:p>
            <a:pPr lvl="1"/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developed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a </a:t>
            </a:r>
            <a:r>
              <a:rPr lang="hu-HU" dirty="0" err="1" smtClean="0"/>
              <a:t>startup</a:t>
            </a:r>
            <a:r>
              <a:rPr lang="hu-HU" dirty="0" smtClean="0"/>
              <a:t> </a:t>
            </a:r>
            <a:r>
              <a:rPr lang="hu-HU" dirty="0" err="1" smtClean="0"/>
              <a:t>called</a:t>
            </a:r>
            <a:r>
              <a:rPr lang="hu-HU" dirty="0" smtClean="0"/>
              <a:t> </a:t>
            </a:r>
            <a:r>
              <a:rPr lang="hu-HU" dirty="0" err="1" smtClean="0"/>
              <a:t>OpenAI</a:t>
            </a:r>
            <a:r>
              <a:rPr lang="hu-HU" dirty="0" smtClean="0"/>
              <a:t>, and </a:t>
            </a:r>
            <a:r>
              <a:rPr lang="hu-HU" dirty="0" err="1" smtClean="0"/>
              <a:t>weights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were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open-sourced</a:t>
            </a:r>
            <a:endParaRPr lang="hu-HU" dirty="0" smtClean="0"/>
          </a:p>
          <a:p>
            <a:pPr lvl="2"/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predecessors</a:t>
            </a:r>
            <a:r>
              <a:rPr lang="hu-HU" dirty="0" smtClean="0"/>
              <a:t>, GPT-1 and GPT-2 </a:t>
            </a:r>
            <a:r>
              <a:rPr lang="hu-HU" dirty="0" err="1" smtClean="0"/>
              <a:t>were</a:t>
            </a:r>
            <a:endParaRPr lang="hu-HU" dirty="0" smtClean="0"/>
          </a:p>
          <a:p>
            <a:pPr lvl="1"/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: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definition</a:t>
            </a:r>
            <a:r>
              <a:rPr lang="hu-HU" dirty="0" smtClean="0"/>
              <a:t>,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learns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estimate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conditional</a:t>
            </a:r>
            <a:r>
              <a:rPr lang="hu-HU" dirty="0" smtClean="0"/>
              <a:t>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potential</a:t>
            </a:r>
            <a:r>
              <a:rPr lang="hu-HU" dirty="0" smtClean="0"/>
              <a:t> (</a:t>
            </a:r>
            <a:r>
              <a:rPr lang="hu-HU" dirty="0" err="1" smtClean="0"/>
              <a:t>word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subword</a:t>
            </a:r>
            <a:r>
              <a:rPr lang="hu-HU" dirty="0" smtClean="0"/>
              <a:t>)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could</a:t>
            </a:r>
            <a:r>
              <a:rPr lang="hu-HU" dirty="0" smtClean="0"/>
              <a:t> </a:t>
            </a:r>
            <a:r>
              <a:rPr lang="hu-HU" dirty="0" err="1" smtClean="0"/>
              <a:t>appear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a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position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text </a:t>
            </a:r>
            <a:r>
              <a:rPr lang="hu-HU" dirty="0" err="1" smtClean="0"/>
              <a:t>given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actual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around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position</a:t>
            </a:r>
            <a:endParaRPr lang="hu-HU" dirty="0" smtClean="0"/>
          </a:p>
          <a:p>
            <a:pPr lvl="2"/>
            <a:r>
              <a:rPr lang="hu-HU" dirty="0" smtClean="0"/>
              <a:t>GPT-3 </a:t>
            </a:r>
            <a:r>
              <a:rPr lang="hu-HU" dirty="0" err="1" smtClean="0"/>
              <a:t>was</a:t>
            </a:r>
            <a:r>
              <a:rPr lang="hu-HU" dirty="0" smtClean="0"/>
              <a:t> a </a:t>
            </a:r>
            <a:r>
              <a:rPr lang="hu-HU" dirty="0" err="1" smtClean="0"/>
              <a:t>unidirectional</a:t>
            </a:r>
            <a:r>
              <a:rPr lang="hu-HU" dirty="0" smtClean="0"/>
              <a:t>, </a:t>
            </a:r>
            <a:r>
              <a:rPr lang="hu-HU" dirty="0" err="1" smtClean="0"/>
              <a:t>left-to-right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and </a:t>
            </a:r>
            <a:r>
              <a:rPr lang="hu-HU" dirty="0" err="1" smtClean="0"/>
              <a:t>learned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predict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probabilities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could</a:t>
            </a:r>
            <a:r>
              <a:rPr lang="hu-HU" dirty="0" smtClean="0"/>
              <a:t> </a:t>
            </a:r>
            <a:r>
              <a:rPr lang="hu-HU" dirty="0" err="1" smtClean="0"/>
              <a:t>appear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right </a:t>
            </a:r>
            <a:r>
              <a:rPr lang="hu-HU" dirty="0" err="1" smtClean="0"/>
              <a:t>given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actual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appearing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left</a:t>
            </a:r>
            <a:r>
              <a:rPr lang="hu-HU" dirty="0" smtClean="0"/>
              <a:t> of </a:t>
            </a:r>
            <a:r>
              <a:rPr lang="hu-HU" dirty="0" err="1" smtClean="0"/>
              <a:t>it</a:t>
            </a:r>
            <a:endParaRPr lang="hu-HU" dirty="0" smtClean="0"/>
          </a:p>
          <a:p>
            <a:pPr lvl="1"/>
            <a:r>
              <a:rPr lang="hu-HU" dirty="0" err="1" smtClean="0"/>
              <a:t>Surprisingly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could</a:t>
            </a:r>
            <a:r>
              <a:rPr lang="hu-HU" dirty="0" smtClean="0"/>
              <a:t> </a:t>
            </a:r>
            <a:r>
              <a:rPr lang="hu-HU" dirty="0" err="1" smtClean="0"/>
              <a:t>perform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different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r>
              <a:rPr lang="hu-HU" dirty="0" smtClean="0"/>
              <a:t>,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question</a:t>
            </a:r>
            <a:r>
              <a:rPr lang="hu-HU" dirty="0" smtClean="0"/>
              <a:t> </a:t>
            </a:r>
            <a:r>
              <a:rPr lang="hu-HU" dirty="0" err="1" smtClean="0"/>
              <a:t>answering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translation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Hypothesis</a:t>
            </a:r>
            <a:r>
              <a:rPr lang="hu-HU" dirty="0" smtClean="0"/>
              <a:t>: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larger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, </a:t>
            </a:r>
            <a:r>
              <a:rPr lang="hu-HU" dirty="0" err="1" smtClean="0"/>
              <a:t>abilities</a:t>
            </a:r>
            <a:r>
              <a:rPr lang="hu-HU" dirty="0" smtClean="0"/>
              <a:t> </a:t>
            </a:r>
            <a:r>
              <a:rPr lang="hu-HU" dirty="0" err="1" smtClean="0"/>
              <a:t>emerge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them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hey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been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and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present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smaller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1428863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Foundation</a:t>
            </a:r>
            <a:r>
              <a:rPr lang="hu-HU" dirty="0"/>
              <a:t> </a:t>
            </a:r>
            <a:r>
              <a:rPr lang="hu-HU" dirty="0" err="1"/>
              <a:t>Models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 err="1" smtClean="0"/>
              <a:t>Emergent</a:t>
            </a:r>
            <a:r>
              <a:rPr lang="hu-HU" dirty="0" smtClean="0"/>
              <a:t> </a:t>
            </a:r>
            <a:r>
              <a:rPr lang="hu-HU" dirty="0" err="1" smtClean="0"/>
              <a:t>abilities</a:t>
            </a:r>
            <a:endParaRPr lang="hu-HU" dirty="0" smtClean="0"/>
          </a:p>
          <a:p>
            <a:pPr lvl="1"/>
            <a:r>
              <a:rPr lang="hu-HU" dirty="0" err="1" smtClean="0"/>
              <a:t>Wei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>
                <a:hlinkClick r:id="rId2"/>
              </a:rPr>
              <a:t>Emergent Abilities of Large Language </a:t>
            </a:r>
            <a:r>
              <a:rPr lang="en-GB" i="1" dirty="0" smtClean="0">
                <a:hlinkClick r:id="rId2"/>
              </a:rPr>
              <a:t>Models</a:t>
            </a:r>
            <a:r>
              <a:rPr lang="hu-HU" i="1" dirty="0" smtClean="0"/>
              <a:t>. </a:t>
            </a:r>
            <a:r>
              <a:rPr lang="hu-HU" dirty="0" err="1" smtClean="0"/>
              <a:t>TMLR</a:t>
            </a:r>
            <a:r>
              <a:rPr lang="hu-HU" dirty="0"/>
              <a:t>, </a:t>
            </a:r>
            <a:r>
              <a:rPr lang="hu-HU" dirty="0" smtClean="0"/>
              <a:t>2022</a:t>
            </a:r>
          </a:p>
          <a:p>
            <a:r>
              <a:rPr lang="hu-HU" dirty="0" smtClean="0"/>
              <a:t>Stanford </a:t>
            </a:r>
            <a:r>
              <a:rPr lang="hu-HU" dirty="0" err="1"/>
              <a:t>HAI</a:t>
            </a:r>
            <a:r>
              <a:rPr lang="hu-HU" dirty="0"/>
              <a:t> </a:t>
            </a:r>
            <a:r>
              <a:rPr lang="hu-HU" dirty="0" err="1"/>
              <a:t>Workshop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Foundation</a:t>
            </a:r>
            <a:r>
              <a:rPr lang="hu-HU" dirty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2021</a:t>
            </a:r>
            <a:endParaRPr lang="hu-HU" dirty="0"/>
          </a:p>
          <a:p>
            <a:pPr lvl="1"/>
            <a:r>
              <a:rPr lang="en-GB" dirty="0"/>
              <a:t>"By foundation model (e.g. BERT, GPT-3, DALL-E), we mean </a:t>
            </a:r>
            <a:r>
              <a:rPr lang="en-GB" b="1" dirty="0"/>
              <a:t>a single model </a:t>
            </a:r>
            <a:r>
              <a:rPr lang="en-GB" dirty="0"/>
              <a:t>that is trained on raw data, potentially across multiple modalities, which can be usefully </a:t>
            </a:r>
            <a:r>
              <a:rPr lang="en-GB" b="1" dirty="0"/>
              <a:t>adapted to a wide range of tasks. </a:t>
            </a:r>
            <a:r>
              <a:rPr lang="en-GB" dirty="0"/>
              <a:t>These models have demonstrated clear potential, which we see as the beginnings of a </a:t>
            </a:r>
            <a:r>
              <a:rPr lang="en-GB" b="1" dirty="0"/>
              <a:t>sweeping paradigm shift in AI</a:t>
            </a:r>
            <a:r>
              <a:rPr lang="en-GB" dirty="0"/>
              <a:t>."</a:t>
            </a:r>
            <a:endParaRPr lang="hu-HU" dirty="0"/>
          </a:p>
          <a:p>
            <a:pPr lvl="1"/>
            <a:r>
              <a:rPr lang="hu-HU" dirty="0" err="1"/>
              <a:t>https</a:t>
            </a:r>
            <a:r>
              <a:rPr lang="hu-HU" dirty="0"/>
              <a:t>://</a:t>
            </a:r>
            <a:r>
              <a:rPr lang="hu-HU" dirty="0" err="1" smtClean="0"/>
              <a:t>crfm.stanford.edu</a:t>
            </a:r>
            <a:r>
              <a:rPr lang="hu-HU" dirty="0" smtClean="0"/>
              <a:t>/</a:t>
            </a:r>
            <a:r>
              <a:rPr lang="hu-HU" dirty="0" err="1" smtClean="0"/>
              <a:t>workshop.html</a:t>
            </a:r>
            <a:endParaRPr lang="hu-HU" dirty="0" smtClean="0"/>
          </a:p>
          <a:p>
            <a:r>
              <a:rPr lang="hu-HU" dirty="0" smtClean="0"/>
              <a:t>The </a:t>
            </a:r>
            <a:r>
              <a:rPr lang="hu-HU" dirty="0" err="1" smtClean="0"/>
              <a:t>largest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regarded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foundation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43978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The </a:t>
            </a:r>
            <a:r>
              <a:rPr lang="hu-HU" dirty="0" err="1" smtClean="0"/>
              <a:t>Current</a:t>
            </a:r>
            <a:r>
              <a:rPr lang="hu-HU" dirty="0" smtClean="0"/>
              <a:t> </a:t>
            </a:r>
            <a:r>
              <a:rPr lang="hu-HU" dirty="0" err="1" smtClean="0"/>
              <a:t>State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Art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b="1" dirty="0" err="1" smtClean="0"/>
              <a:t>Symbolic</a:t>
            </a:r>
            <a:r>
              <a:rPr lang="hu-HU" b="1" dirty="0" smtClean="0"/>
              <a:t> </a:t>
            </a:r>
            <a:r>
              <a:rPr lang="hu-HU" b="1" dirty="0" err="1" smtClean="0"/>
              <a:t>AI</a:t>
            </a:r>
            <a:r>
              <a:rPr lang="hu-HU" b="1" dirty="0" smtClean="0"/>
              <a:t> </a:t>
            </a:r>
            <a:r>
              <a:rPr lang="hu-HU" dirty="0" err="1" smtClean="0"/>
              <a:t>tools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b="1" dirty="0" err="1" smtClean="0"/>
              <a:t>non-classical</a:t>
            </a:r>
            <a:r>
              <a:rPr lang="hu-HU" b="1" dirty="0" smtClean="0"/>
              <a:t> </a:t>
            </a:r>
            <a:r>
              <a:rPr lang="hu-HU" b="1" dirty="0" err="1" smtClean="0"/>
              <a:t>logics</a:t>
            </a:r>
            <a:r>
              <a:rPr lang="hu-HU" b="1" dirty="0" smtClean="0"/>
              <a:t>, </a:t>
            </a:r>
            <a:r>
              <a:rPr lang="hu-HU" b="1" dirty="0" err="1" smtClean="0"/>
              <a:t>knowledge</a:t>
            </a:r>
            <a:r>
              <a:rPr lang="hu-HU" b="1" dirty="0" smtClean="0"/>
              <a:t> </a:t>
            </a:r>
            <a:r>
              <a:rPr lang="hu-HU" b="1" dirty="0" err="1" smtClean="0"/>
              <a:t>representation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err="1" smtClean="0"/>
              <a:t>reasoning</a:t>
            </a:r>
            <a:r>
              <a:rPr lang="hu-HU" b="1" dirty="0" smtClean="0"/>
              <a:t> </a:t>
            </a:r>
            <a:r>
              <a:rPr lang="hu-HU" b="1" dirty="0" err="1" smtClean="0"/>
              <a:t>systems</a:t>
            </a:r>
            <a:r>
              <a:rPr lang="hu-HU" dirty="0" smtClean="0"/>
              <a:t>, </a:t>
            </a:r>
            <a:r>
              <a:rPr lang="hu-HU" b="1" dirty="0" err="1" smtClean="0"/>
              <a:t>search</a:t>
            </a:r>
            <a:r>
              <a:rPr lang="hu-HU" b="1" dirty="0" smtClean="0"/>
              <a:t> </a:t>
            </a:r>
            <a:r>
              <a:rPr lang="hu-HU" b="1" dirty="0" err="1" smtClean="0"/>
              <a:t>algorithms</a:t>
            </a:r>
            <a:r>
              <a:rPr lang="hu-HU" dirty="0" smtClean="0"/>
              <a:t>, etc.,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still</a:t>
            </a:r>
            <a:r>
              <a:rPr lang="hu-HU" dirty="0" smtClean="0"/>
              <a:t> being </a:t>
            </a:r>
            <a:r>
              <a:rPr lang="hu-HU" dirty="0" err="1" smtClean="0"/>
              <a:t>researched</a:t>
            </a:r>
            <a:r>
              <a:rPr lang="hu-HU" dirty="0" smtClean="0"/>
              <a:t> </a:t>
            </a:r>
            <a:r>
              <a:rPr lang="hu-HU" dirty="0" err="1" smtClean="0"/>
              <a:t>within</a:t>
            </a:r>
            <a:r>
              <a:rPr lang="hu-HU" dirty="0" smtClean="0"/>
              <a:t> computer </a:t>
            </a:r>
            <a:r>
              <a:rPr lang="hu-HU" dirty="0" err="1" smtClean="0"/>
              <a:t>science</a:t>
            </a:r>
            <a:r>
              <a:rPr lang="hu-HU" dirty="0" smtClean="0"/>
              <a:t> and </a:t>
            </a:r>
            <a:r>
              <a:rPr lang="hu-HU" dirty="0" err="1" smtClean="0"/>
              <a:t>applied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areas</a:t>
            </a:r>
            <a:endParaRPr lang="hu-HU" dirty="0" smtClean="0"/>
          </a:p>
          <a:p>
            <a:r>
              <a:rPr lang="hu-HU" b="1" dirty="0" err="1" smtClean="0"/>
              <a:t>Task-specific</a:t>
            </a:r>
            <a:r>
              <a:rPr lang="hu-HU" b="1" dirty="0" smtClean="0"/>
              <a:t> </a:t>
            </a:r>
            <a:r>
              <a:rPr lang="hu-HU" b="1" dirty="0" err="1" smtClean="0"/>
              <a:t>machine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b="1" dirty="0" err="1" smtClean="0"/>
              <a:t>models</a:t>
            </a:r>
            <a:r>
              <a:rPr lang="hu-HU" dirty="0" smtClean="0"/>
              <a:t>, </a:t>
            </a:r>
            <a:r>
              <a:rPr lang="hu-HU" dirty="0" err="1" smtClean="0"/>
              <a:t>including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crucial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application</a:t>
            </a:r>
            <a:r>
              <a:rPr lang="hu-HU" dirty="0" smtClean="0"/>
              <a:t> </a:t>
            </a:r>
            <a:r>
              <a:rPr lang="hu-HU" dirty="0" err="1" smtClean="0"/>
              <a:t>areas</a:t>
            </a:r>
            <a:endParaRPr lang="hu-HU" dirty="0" smtClean="0"/>
          </a:p>
          <a:p>
            <a:r>
              <a:rPr lang="hu-HU" b="1" dirty="0" err="1" smtClean="0"/>
              <a:t>Generative</a:t>
            </a:r>
            <a:r>
              <a:rPr lang="hu-HU" b="1" dirty="0" smtClean="0"/>
              <a:t> </a:t>
            </a:r>
            <a:r>
              <a:rPr lang="hu-HU" b="1" dirty="0" err="1" smtClean="0"/>
              <a:t>language</a:t>
            </a:r>
            <a:r>
              <a:rPr lang="hu-HU" b="1" dirty="0" smtClean="0"/>
              <a:t> </a:t>
            </a:r>
            <a:r>
              <a:rPr lang="hu-HU" b="1" dirty="0" err="1" smtClean="0"/>
              <a:t>models</a:t>
            </a:r>
            <a:r>
              <a:rPr lang="hu-HU" b="1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most </a:t>
            </a:r>
            <a:r>
              <a:rPr lang="hu-HU" b="1" dirty="0" err="1" smtClean="0"/>
              <a:t>natural</a:t>
            </a:r>
            <a:r>
              <a:rPr lang="hu-HU" b="1" dirty="0" smtClean="0"/>
              <a:t> </a:t>
            </a:r>
            <a:r>
              <a:rPr lang="hu-HU" b="1" dirty="0" err="1" smtClean="0"/>
              <a:t>language</a:t>
            </a:r>
            <a:r>
              <a:rPr lang="hu-HU" b="1" dirty="0" smtClean="0"/>
              <a:t> </a:t>
            </a:r>
            <a:r>
              <a:rPr lang="hu-HU" b="1" dirty="0" err="1" smtClean="0"/>
              <a:t>processing</a:t>
            </a:r>
            <a:r>
              <a:rPr lang="hu-HU" dirty="0" smtClean="0"/>
              <a:t> (</a:t>
            </a:r>
            <a:r>
              <a:rPr lang="hu-HU" dirty="0" err="1" smtClean="0"/>
              <a:t>NLP</a:t>
            </a:r>
            <a:r>
              <a:rPr lang="hu-HU" dirty="0" smtClean="0"/>
              <a:t>) </a:t>
            </a:r>
            <a:r>
              <a:rPr lang="hu-HU" dirty="0" err="1" smtClean="0"/>
              <a:t>tasks</a:t>
            </a:r>
            <a:r>
              <a:rPr lang="hu-HU" dirty="0" smtClean="0"/>
              <a:t>, </a:t>
            </a:r>
            <a:r>
              <a:rPr lang="hu-HU" dirty="0" err="1" smtClean="0"/>
              <a:t>especially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translation</a:t>
            </a:r>
            <a:r>
              <a:rPr lang="hu-HU" dirty="0" smtClean="0"/>
              <a:t>, chat and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support</a:t>
            </a:r>
            <a:r>
              <a:rPr lang="hu-HU" dirty="0" smtClean="0"/>
              <a:t> </a:t>
            </a:r>
            <a:r>
              <a:rPr lang="hu-HU" dirty="0" err="1" smtClean="0"/>
              <a:t>programmers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coding</a:t>
            </a:r>
            <a:r>
              <a:rPr lang="hu-HU" dirty="0" smtClean="0"/>
              <a:t> </a:t>
            </a:r>
            <a:r>
              <a:rPr lang="hu-HU" dirty="0" err="1" smtClean="0"/>
              <a:t>assistants</a:t>
            </a:r>
            <a:endParaRPr lang="hu-HU" dirty="0"/>
          </a:p>
          <a:p>
            <a:pPr lvl="1"/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general-purpose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far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is </a:t>
            </a:r>
            <a:r>
              <a:rPr lang="hu-HU" dirty="0" err="1" smtClean="0"/>
              <a:t>concerned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much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anything</a:t>
            </a:r>
            <a:r>
              <a:rPr lang="hu-HU" dirty="0" smtClean="0"/>
              <a:t> </a:t>
            </a:r>
            <a:r>
              <a:rPr lang="hu-HU" dirty="0" err="1" smtClean="0"/>
              <a:t>else</a:t>
            </a:r>
            <a:endParaRPr lang="hu-HU" dirty="0" smtClean="0"/>
          </a:p>
          <a:p>
            <a:r>
              <a:rPr lang="hu-HU" b="1" dirty="0" err="1" smtClean="0"/>
              <a:t>Generative</a:t>
            </a:r>
            <a:r>
              <a:rPr lang="hu-HU" b="1" dirty="0" smtClean="0"/>
              <a:t> </a:t>
            </a:r>
            <a:r>
              <a:rPr lang="hu-HU" b="1" dirty="0" err="1" smtClean="0"/>
              <a:t>vision</a:t>
            </a:r>
            <a:r>
              <a:rPr lang="hu-HU" b="1" dirty="0" smtClean="0"/>
              <a:t> </a:t>
            </a:r>
            <a:r>
              <a:rPr lang="hu-HU" b="1" dirty="0" err="1" smtClean="0"/>
              <a:t>models</a:t>
            </a:r>
            <a:r>
              <a:rPr lang="hu-HU" b="1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popular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image and video </a:t>
            </a:r>
            <a:r>
              <a:rPr lang="hu-HU" dirty="0" err="1" smtClean="0"/>
              <a:t>generation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4261464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Current</a:t>
            </a:r>
            <a:r>
              <a:rPr lang="hu-HU" dirty="0"/>
              <a:t> </a:t>
            </a:r>
            <a:r>
              <a:rPr lang="hu-HU" dirty="0" err="1"/>
              <a:t>State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Art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AI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b="1" dirty="0" smtClean="0"/>
              <a:t>Deep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b="1" dirty="0" err="1" smtClean="0"/>
              <a:t>many</a:t>
            </a:r>
            <a:r>
              <a:rPr lang="hu-HU" b="1" dirty="0" smtClean="0"/>
              <a:t> </a:t>
            </a:r>
            <a:r>
              <a:rPr lang="hu-HU" b="1" dirty="0" err="1" smtClean="0"/>
              <a:t>different</a:t>
            </a:r>
            <a:r>
              <a:rPr lang="hu-HU" b="1" dirty="0" smtClean="0"/>
              <a:t> </a:t>
            </a:r>
            <a:r>
              <a:rPr lang="hu-HU" b="1" dirty="0" err="1" smtClean="0"/>
              <a:t>areas</a:t>
            </a:r>
            <a:r>
              <a:rPr lang="hu-HU" dirty="0" smtClean="0"/>
              <a:t>, </a:t>
            </a:r>
            <a:r>
              <a:rPr lang="hu-HU" dirty="0" err="1" smtClean="0"/>
              <a:t>only</a:t>
            </a:r>
            <a:r>
              <a:rPr lang="hu-HU" dirty="0" smtClean="0"/>
              <a:t> a </a:t>
            </a:r>
            <a:r>
              <a:rPr lang="hu-HU" dirty="0" err="1" smtClean="0"/>
              <a:t>small</a:t>
            </a:r>
            <a:r>
              <a:rPr lang="hu-HU" dirty="0" smtClean="0"/>
              <a:t> </a:t>
            </a:r>
            <a:r>
              <a:rPr lang="hu-HU" dirty="0" err="1" smtClean="0"/>
              <a:t>fraction</a:t>
            </a:r>
            <a:r>
              <a:rPr lang="hu-HU" dirty="0" smtClean="0"/>
              <a:t> of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. General </a:t>
            </a:r>
            <a:r>
              <a:rPr lang="hu-HU" dirty="0" err="1" smtClean="0"/>
              <a:t>applications</a:t>
            </a:r>
            <a:r>
              <a:rPr lang="hu-HU" dirty="0" smtClean="0"/>
              <a:t>:</a:t>
            </a:r>
          </a:p>
          <a:p>
            <a:pPr lvl="1"/>
            <a:r>
              <a:rPr lang="hu-HU" dirty="0" smtClean="0"/>
              <a:t>1. Computer </a:t>
            </a:r>
            <a:r>
              <a:rPr lang="hu-HU" dirty="0" err="1" smtClean="0"/>
              <a:t>vision</a:t>
            </a:r>
            <a:r>
              <a:rPr lang="hu-HU" dirty="0" smtClean="0"/>
              <a:t> (~ image </a:t>
            </a:r>
            <a:r>
              <a:rPr lang="hu-HU" dirty="0" err="1" smtClean="0"/>
              <a:t>processing</a:t>
            </a:r>
            <a:r>
              <a:rPr lang="hu-HU" dirty="0" smtClean="0"/>
              <a:t>)</a:t>
            </a:r>
          </a:p>
          <a:p>
            <a:pPr lvl="2"/>
            <a:r>
              <a:rPr lang="hu-HU" dirty="0" smtClean="0"/>
              <a:t>image </a:t>
            </a:r>
            <a:r>
              <a:rPr lang="hu-HU" dirty="0" err="1" smtClean="0"/>
              <a:t>classification</a:t>
            </a:r>
            <a:r>
              <a:rPr lang="hu-HU" dirty="0" smtClean="0"/>
              <a:t>: </a:t>
            </a:r>
            <a:r>
              <a:rPr lang="hu-HU" dirty="0" err="1" smtClean="0"/>
              <a:t>identifying</a:t>
            </a:r>
            <a:r>
              <a:rPr lang="hu-HU" dirty="0" smtClean="0"/>
              <a:t> </a:t>
            </a:r>
            <a:r>
              <a:rPr lang="hu-HU" dirty="0" err="1" smtClean="0"/>
              <a:t>objects</a:t>
            </a:r>
            <a:r>
              <a:rPr lang="hu-HU" dirty="0" smtClean="0"/>
              <a:t>, </a:t>
            </a:r>
            <a:r>
              <a:rPr lang="hu-HU" dirty="0" err="1" smtClean="0"/>
              <a:t>image</a:t>
            </a:r>
            <a:r>
              <a:rPr lang="hu-HU" dirty="0" smtClean="0"/>
              <a:t> </a:t>
            </a:r>
            <a:r>
              <a:rPr lang="hu-HU" dirty="0" err="1" smtClean="0"/>
              <a:t>captioning</a:t>
            </a:r>
            <a:endParaRPr lang="hu-HU" dirty="0" smtClean="0"/>
          </a:p>
          <a:p>
            <a:pPr lvl="2"/>
            <a:r>
              <a:rPr lang="hu-HU" dirty="0" err="1" smtClean="0"/>
              <a:t>object</a:t>
            </a:r>
            <a:r>
              <a:rPr lang="hu-HU" dirty="0" smtClean="0"/>
              <a:t> </a:t>
            </a:r>
            <a:r>
              <a:rPr lang="hu-HU" dirty="0" err="1" smtClean="0"/>
              <a:t>detection</a:t>
            </a:r>
            <a:r>
              <a:rPr lang="hu-HU" dirty="0" smtClean="0"/>
              <a:t>: </a:t>
            </a:r>
            <a:r>
              <a:rPr lang="hu-HU" dirty="0" err="1" smtClean="0"/>
              <a:t>where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objects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image and </a:t>
            </a:r>
            <a:r>
              <a:rPr lang="hu-HU" dirty="0" err="1" smtClean="0"/>
              <a:t>how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,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smartphone</a:t>
            </a:r>
            <a:r>
              <a:rPr lang="hu-HU" dirty="0" smtClean="0"/>
              <a:t> camera software </a:t>
            </a:r>
            <a:r>
              <a:rPr lang="hu-HU" dirty="0" err="1" smtClean="0"/>
              <a:t>autonomous</a:t>
            </a:r>
            <a:r>
              <a:rPr lang="hu-HU" dirty="0" smtClean="0"/>
              <a:t> </a:t>
            </a:r>
            <a:r>
              <a:rPr lang="hu-HU" dirty="0" err="1" smtClean="0"/>
              <a:t>vehicles</a:t>
            </a:r>
            <a:r>
              <a:rPr lang="hu-HU" dirty="0" smtClean="0"/>
              <a:t>, </a:t>
            </a:r>
            <a:r>
              <a:rPr lang="hu-HU" dirty="0" err="1" smtClean="0"/>
              <a:t>surveillance</a:t>
            </a:r>
            <a:r>
              <a:rPr lang="hu-HU" dirty="0" smtClean="0"/>
              <a:t>, </a:t>
            </a:r>
            <a:r>
              <a:rPr lang="hu-HU" dirty="0" err="1" smtClean="0"/>
              <a:t>robotics</a:t>
            </a:r>
            <a:endParaRPr lang="hu-HU" dirty="0" smtClean="0"/>
          </a:p>
          <a:p>
            <a:pPr lvl="2"/>
            <a:r>
              <a:rPr lang="hu-HU" dirty="0"/>
              <a:t>image </a:t>
            </a:r>
            <a:r>
              <a:rPr lang="hu-HU" dirty="0" err="1"/>
              <a:t>segmentation</a:t>
            </a:r>
            <a:r>
              <a:rPr lang="hu-HU" dirty="0"/>
              <a:t>: </a:t>
            </a:r>
            <a:r>
              <a:rPr lang="hu-HU" dirty="0" err="1" smtClean="0"/>
              <a:t>similar</a:t>
            </a:r>
            <a:r>
              <a:rPr lang="hu-HU" dirty="0" smtClean="0"/>
              <a:t>, </a:t>
            </a:r>
            <a:r>
              <a:rPr lang="hu-HU" dirty="0" err="1" smtClean="0"/>
              <a:t>where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regions</a:t>
            </a:r>
            <a:r>
              <a:rPr lang="hu-HU" dirty="0" smtClean="0"/>
              <a:t> of interest </a:t>
            </a:r>
            <a:r>
              <a:rPr lang="hu-HU" dirty="0" err="1" smtClean="0"/>
              <a:t>in</a:t>
            </a:r>
            <a:r>
              <a:rPr lang="hu-HU" dirty="0" smtClean="0"/>
              <a:t> an image,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medical</a:t>
            </a:r>
            <a:r>
              <a:rPr lang="hu-HU" dirty="0" smtClean="0"/>
              <a:t> </a:t>
            </a:r>
            <a:r>
              <a:rPr lang="hu-HU" dirty="0" err="1" smtClean="0"/>
              <a:t>imaging</a:t>
            </a:r>
            <a:r>
              <a:rPr lang="hu-HU" dirty="0" smtClean="0"/>
              <a:t> (tumor </a:t>
            </a:r>
            <a:r>
              <a:rPr lang="hu-HU" dirty="0" err="1" smtClean="0"/>
              <a:t>detection</a:t>
            </a:r>
            <a:r>
              <a:rPr lang="hu-HU" dirty="0" smtClean="0"/>
              <a:t>)</a:t>
            </a:r>
            <a:endParaRPr lang="en-GB" dirty="0"/>
          </a:p>
          <a:p>
            <a:pPr lvl="2"/>
            <a:r>
              <a:rPr lang="hu-HU" dirty="0" err="1" smtClean="0"/>
              <a:t>face</a:t>
            </a:r>
            <a:r>
              <a:rPr lang="hu-HU" dirty="0" smtClean="0"/>
              <a:t> </a:t>
            </a:r>
            <a:r>
              <a:rPr lang="hu-HU" dirty="0" err="1" smtClean="0"/>
              <a:t>recognition</a:t>
            </a:r>
            <a:r>
              <a:rPr lang="hu-HU" dirty="0" smtClean="0"/>
              <a:t>: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authentication</a:t>
            </a:r>
            <a:r>
              <a:rPr lang="hu-HU" dirty="0" smtClean="0"/>
              <a:t>, </a:t>
            </a:r>
            <a:r>
              <a:rPr lang="hu-HU" dirty="0" err="1" smtClean="0"/>
              <a:t>emotion</a:t>
            </a:r>
            <a:r>
              <a:rPr lang="hu-HU" dirty="0" smtClean="0"/>
              <a:t> </a:t>
            </a:r>
            <a:r>
              <a:rPr lang="hu-HU" dirty="0" err="1" smtClean="0"/>
              <a:t>detection</a:t>
            </a:r>
            <a:endParaRPr lang="hu-HU" dirty="0" smtClean="0"/>
          </a:p>
          <a:p>
            <a:pPr lvl="2"/>
            <a:r>
              <a:rPr lang="hu-HU" dirty="0" smtClean="0"/>
              <a:t>OCR: </a:t>
            </a:r>
            <a:r>
              <a:rPr lang="hu-HU" dirty="0" err="1" smtClean="0"/>
              <a:t>extracting</a:t>
            </a:r>
            <a:r>
              <a:rPr lang="hu-HU" dirty="0" smtClean="0"/>
              <a:t> text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images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documents</a:t>
            </a:r>
            <a:endParaRPr lang="hu-HU" dirty="0" smtClean="0"/>
          </a:p>
          <a:p>
            <a:pPr lvl="2"/>
            <a:r>
              <a:rPr lang="hu-HU" b="1" dirty="0" smtClean="0"/>
              <a:t>image </a:t>
            </a:r>
            <a:r>
              <a:rPr lang="hu-HU" b="1" dirty="0" err="1" smtClean="0"/>
              <a:t>generation</a:t>
            </a:r>
            <a:r>
              <a:rPr lang="hu-HU" b="1" dirty="0" smtClean="0"/>
              <a:t>: </a:t>
            </a:r>
            <a:r>
              <a:rPr lang="hu-HU" dirty="0" err="1" smtClean="0"/>
              <a:t>from</a:t>
            </a:r>
            <a:r>
              <a:rPr lang="hu-HU" dirty="0" smtClean="0"/>
              <a:t> a text prompt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, </a:t>
            </a:r>
            <a:r>
              <a:rPr lang="hu-HU" dirty="0" err="1" smtClean="0"/>
              <a:t>style</a:t>
            </a:r>
            <a:r>
              <a:rPr lang="hu-HU" dirty="0" smtClean="0"/>
              <a:t> </a:t>
            </a:r>
            <a:r>
              <a:rPr lang="hu-HU" dirty="0" err="1" smtClean="0"/>
              <a:t>transfer</a:t>
            </a:r>
            <a:r>
              <a:rPr lang="hu-HU" dirty="0" smtClean="0"/>
              <a:t>, </a:t>
            </a:r>
            <a:r>
              <a:rPr lang="hu-HU" dirty="0" err="1" smtClean="0"/>
              <a:t>deepfakes</a:t>
            </a:r>
            <a:r>
              <a:rPr lang="hu-HU" dirty="0" smtClean="0"/>
              <a:t>, </a:t>
            </a:r>
            <a:r>
              <a:rPr lang="hu-HU" dirty="0" err="1" smtClean="0"/>
              <a:t>AI</a:t>
            </a:r>
            <a:r>
              <a:rPr lang="hu-HU" dirty="0" smtClean="0"/>
              <a:t> art</a:t>
            </a:r>
          </a:p>
          <a:p>
            <a:pPr lvl="1"/>
            <a:r>
              <a:rPr lang="hu-HU" dirty="0" smtClean="0"/>
              <a:t>2. </a:t>
            </a:r>
            <a:r>
              <a:rPr lang="hu-HU" dirty="0" err="1" smtClean="0"/>
              <a:t>Natural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NLP</a:t>
            </a:r>
            <a:r>
              <a:rPr lang="hu-HU" dirty="0" smtClean="0"/>
              <a:t>)</a:t>
            </a:r>
          </a:p>
          <a:p>
            <a:pPr lvl="2"/>
            <a:r>
              <a:rPr lang="hu-HU" dirty="0" err="1" smtClean="0"/>
              <a:t>information</a:t>
            </a:r>
            <a:r>
              <a:rPr lang="hu-HU" dirty="0" smtClean="0"/>
              <a:t> </a:t>
            </a:r>
            <a:r>
              <a:rPr lang="hu-HU" dirty="0" err="1" smtClean="0"/>
              <a:t>retrieval</a:t>
            </a:r>
            <a:r>
              <a:rPr lang="hu-HU" dirty="0"/>
              <a:t>:</a:t>
            </a:r>
            <a:r>
              <a:rPr lang="hu-HU" dirty="0" smtClean="0"/>
              <a:t> </a:t>
            </a:r>
            <a:r>
              <a:rPr lang="hu-HU" dirty="0" err="1" smtClean="0"/>
              <a:t>finding</a:t>
            </a:r>
            <a:r>
              <a:rPr lang="hu-HU" dirty="0" smtClean="0"/>
              <a:t> </a:t>
            </a:r>
            <a:r>
              <a:rPr lang="hu-HU" dirty="0" err="1" smtClean="0"/>
              <a:t>documents</a:t>
            </a:r>
            <a:r>
              <a:rPr lang="hu-HU" dirty="0" smtClean="0"/>
              <a:t> </a:t>
            </a:r>
            <a:r>
              <a:rPr lang="hu-HU" dirty="0" err="1" smtClean="0"/>
              <a:t>relevant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</a:t>
            </a:r>
            <a:r>
              <a:rPr lang="hu-HU" dirty="0" err="1" smtClean="0"/>
              <a:t>question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text </a:t>
            </a:r>
            <a:r>
              <a:rPr lang="hu-HU" dirty="0" err="1" smtClean="0"/>
              <a:t>database</a:t>
            </a:r>
            <a:endParaRPr lang="hu-HU" dirty="0" smtClean="0"/>
          </a:p>
          <a:p>
            <a:pPr lvl="2"/>
            <a:r>
              <a:rPr lang="hu-HU" b="1" dirty="0" err="1"/>
              <a:t>summarisation</a:t>
            </a:r>
            <a:r>
              <a:rPr lang="hu-HU" dirty="0"/>
              <a:t>: </a:t>
            </a:r>
            <a:r>
              <a:rPr lang="hu-HU" dirty="0" err="1"/>
              <a:t>summarising</a:t>
            </a:r>
            <a:r>
              <a:rPr lang="hu-HU" dirty="0"/>
              <a:t> </a:t>
            </a:r>
            <a:r>
              <a:rPr lang="hu-HU" dirty="0" err="1" smtClean="0"/>
              <a:t>documents</a:t>
            </a:r>
            <a:endParaRPr lang="hu-HU" dirty="0" smtClean="0"/>
          </a:p>
          <a:p>
            <a:pPr lvl="2"/>
            <a:r>
              <a:rPr lang="hu-HU" b="1" dirty="0" smtClean="0"/>
              <a:t>text </a:t>
            </a:r>
            <a:r>
              <a:rPr lang="hu-HU" b="1" dirty="0" err="1" smtClean="0"/>
              <a:t>generation</a:t>
            </a:r>
            <a:r>
              <a:rPr lang="hu-HU" dirty="0" smtClean="0"/>
              <a:t>: </a:t>
            </a:r>
            <a:r>
              <a:rPr lang="hu-HU" dirty="0" err="1" smtClean="0"/>
              <a:t>chatbots</a:t>
            </a:r>
            <a:r>
              <a:rPr lang="hu-HU" dirty="0" smtClean="0"/>
              <a:t> (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ChatGPT</a:t>
            </a:r>
            <a:r>
              <a:rPr lang="hu-HU" dirty="0" smtClean="0"/>
              <a:t>), </a:t>
            </a:r>
            <a:r>
              <a:rPr lang="hu-HU" dirty="0" err="1" smtClean="0"/>
              <a:t>content</a:t>
            </a:r>
            <a:r>
              <a:rPr lang="hu-HU" dirty="0" smtClean="0"/>
              <a:t> </a:t>
            </a:r>
            <a:r>
              <a:rPr lang="hu-HU" dirty="0" err="1" smtClean="0"/>
              <a:t>creation</a:t>
            </a:r>
            <a:endParaRPr lang="hu-HU" dirty="0" smtClean="0"/>
          </a:p>
          <a:p>
            <a:pPr lvl="2"/>
            <a:r>
              <a:rPr lang="hu-HU" b="1" dirty="0" err="1" smtClean="0"/>
              <a:t>machine</a:t>
            </a:r>
            <a:r>
              <a:rPr lang="hu-HU" b="1" dirty="0" smtClean="0"/>
              <a:t> </a:t>
            </a:r>
            <a:r>
              <a:rPr lang="hu-HU" b="1" dirty="0" err="1" smtClean="0"/>
              <a:t>translation</a:t>
            </a:r>
            <a:endParaRPr lang="hu-HU" b="1" dirty="0" smtClean="0"/>
          </a:p>
        </p:txBody>
      </p:sp>
    </p:spTree>
    <p:extLst>
      <p:ext uri="{BB962C8B-B14F-4D97-AF65-F5344CB8AC3E}">
        <p14:creationId xmlns:p14="http://schemas.microsoft.com/office/powerpoint/2010/main" val="3603084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Current</a:t>
            </a:r>
            <a:r>
              <a:rPr lang="hu-HU" dirty="0"/>
              <a:t> </a:t>
            </a:r>
            <a:r>
              <a:rPr lang="hu-HU" dirty="0" err="1"/>
              <a:t>State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Art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AI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342900" lvl="2" indent="-342900"/>
            <a:r>
              <a:rPr lang="hu-HU" b="1" dirty="0"/>
              <a:t>Deep </a:t>
            </a:r>
            <a:r>
              <a:rPr lang="hu-HU" b="1" dirty="0" err="1"/>
              <a:t>Learning</a:t>
            </a:r>
            <a:r>
              <a:rPr lang="hu-HU" b="1" dirty="0"/>
              <a:t> </a:t>
            </a:r>
            <a:r>
              <a:rPr lang="hu-HU" dirty="0" err="1"/>
              <a:t>models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used</a:t>
            </a:r>
            <a:r>
              <a:rPr lang="hu-HU" dirty="0"/>
              <a:t>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b="1" dirty="0" err="1"/>
              <a:t>many</a:t>
            </a:r>
            <a:r>
              <a:rPr lang="hu-HU" b="1" dirty="0"/>
              <a:t> </a:t>
            </a:r>
            <a:r>
              <a:rPr lang="hu-HU" b="1" dirty="0" err="1"/>
              <a:t>different</a:t>
            </a:r>
            <a:r>
              <a:rPr lang="hu-HU" b="1" dirty="0"/>
              <a:t> </a:t>
            </a:r>
            <a:r>
              <a:rPr lang="hu-HU" b="1" dirty="0" err="1"/>
              <a:t>areas</a:t>
            </a:r>
            <a:r>
              <a:rPr lang="hu-HU" dirty="0"/>
              <a:t>, </a:t>
            </a:r>
            <a:r>
              <a:rPr lang="hu-HU" dirty="0" err="1"/>
              <a:t>only</a:t>
            </a:r>
            <a:r>
              <a:rPr lang="hu-HU" dirty="0"/>
              <a:t> a </a:t>
            </a:r>
            <a:r>
              <a:rPr lang="hu-HU" dirty="0" err="1"/>
              <a:t>small</a:t>
            </a:r>
            <a:r>
              <a:rPr lang="hu-HU" dirty="0"/>
              <a:t> </a:t>
            </a:r>
            <a:r>
              <a:rPr lang="hu-HU" dirty="0" err="1"/>
              <a:t>fraction</a:t>
            </a:r>
            <a:r>
              <a:rPr lang="hu-HU" dirty="0"/>
              <a:t> of </a:t>
            </a:r>
            <a:r>
              <a:rPr lang="hu-HU" dirty="0" err="1"/>
              <a:t>which</a:t>
            </a:r>
            <a:r>
              <a:rPr lang="hu-HU" dirty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. General </a:t>
            </a:r>
            <a:r>
              <a:rPr lang="hu-HU" dirty="0" err="1" smtClean="0"/>
              <a:t>applications</a:t>
            </a:r>
            <a:r>
              <a:rPr lang="hu-HU" dirty="0" smtClean="0"/>
              <a:t>:</a:t>
            </a:r>
            <a:endParaRPr lang="hu-HU" dirty="0"/>
          </a:p>
          <a:p>
            <a:pPr marL="800100" lvl="3" indent="-342900"/>
            <a:r>
              <a:rPr lang="hu-HU" dirty="0" smtClean="0"/>
              <a:t>3. </a:t>
            </a:r>
            <a:r>
              <a:rPr lang="hu-HU" dirty="0" err="1" smtClean="0"/>
              <a:t>Speech</a:t>
            </a:r>
            <a:r>
              <a:rPr lang="hu-HU" dirty="0" smtClean="0"/>
              <a:t> and </a:t>
            </a:r>
            <a:r>
              <a:rPr lang="hu-HU" dirty="0" err="1" smtClean="0"/>
              <a:t>audio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/>
              <a:t>S</a:t>
            </a:r>
            <a:r>
              <a:rPr lang="hu-HU" dirty="0" err="1" smtClean="0"/>
              <a:t>peech</a:t>
            </a:r>
            <a:r>
              <a:rPr lang="hu-HU" dirty="0" smtClean="0"/>
              <a:t> </a:t>
            </a:r>
            <a:r>
              <a:rPr lang="hu-HU" dirty="0" err="1" smtClean="0"/>
              <a:t>recognition</a:t>
            </a:r>
            <a:r>
              <a:rPr lang="hu-HU" dirty="0" smtClean="0"/>
              <a:t> (</a:t>
            </a:r>
            <a:r>
              <a:rPr lang="hu-HU" dirty="0" err="1" smtClean="0"/>
              <a:t>ASR</a:t>
            </a:r>
            <a:r>
              <a:rPr lang="hu-HU" dirty="0" smtClean="0"/>
              <a:t>): </a:t>
            </a:r>
            <a:r>
              <a:rPr lang="hu-HU" dirty="0" err="1"/>
              <a:t>used</a:t>
            </a:r>
            <a:r>
              <a:rPr lang="hu-HU" dirty="0"/>
              <a:t>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digital</a:t>
            </a:r>
            <a:r>
              <a:rPr lang="hu-HU" dirty="0"/>
              <a:t> </a:t>
            </a:r>
            <a:r>
              <a:rPr lang="hu-HU" dirty="0" err="1" smtClean="0"/>
              <a:t>assistants</a:t>
            </a:r>
            <a:r>
              <a:rPr lang="hu-HU" dirty="0" smtClean="0"/>
              <a:t>, </a:t>
            </a:r>
            <a:r>
              <a:rPr lang="hu-HU" dirty="0" err="1" smtClean="0"/>
              <a:t>chatbots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audio</a:t>
            </a:r>
            <a:r>
              <a:rPr lang="hu-HU" dirty="0" smtClean="0"/>
              <a:t> </a:t>
            </a:r>
            <a:r>
              <a:rPr lang="hu-HU" dirty="0" err="1" smtClean="0"/>
              <a:t>transcription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OpenAI</a:t>
            </a:r>
            <a:r>
              <a:rPr lang="hu-HU" dirty="0" smtClean="0"/>
              <a:t>’s </a:t>
            </a:r>
            <a:r>
              <a:rPr lang="hu-HU" dirty="0" err="1" smtClean="0"/>
              <a:t>whisper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smtClean="0"/>
              <a:t>text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speech</a:t>
            </a:r>
            <a:r>
              <a:rPr lang="hu-HU" dirty="0" smtClean="0"/>
              <a:t> (</a:t>
            </a:r>
            <a:r>
              <a:rPr lang="hu-HU" dirty="0" err="1" smtClean="0"/>
              <a:t>TTS</a:t>
            </a:r>
            <a:r>
              <a:rPr lang="hu-HU" dirty="0" smtClean="0"/>
              <a:t>): </a:t>
            </a:r>
            <a:r>
              <a:rPr lang="hu-HU" dirty="0" err="1" smtClean="0"/>
              <a:t>natural</a:t>
            </a:r>
            <a:r>
              <a:rPr lang="hu-HU" dirty="0" smtClean="0"/>
              <a:t> </a:t>
            </a:r>
            <a:r>
              <a:rPr lang="hu-HU" dirty="0" err="1" smtClean="0"/>
              <a:t>voice</a:t>
            </a:r>
            <a:r>
              <a:rPr lang="hu-HU" dirty="0" smtClean="0"/>
              <a:t> </a:t>
            </a:r>
            <a:r>
              <a:rPr lang="hu-HU" dirty="0" err="1" smtClean="0"/>
              <a:t>generation</a:t>
            </a:r>
            <a:r>
              <a:rPr lang="hu-HU" dirty="0" smtClean="0"/>
              <a:t>, </a:t>
            </a:r>
            <a:r>
              <a:rPr lang="hu-HU" dirty="0" err="1" smtClean="0"/>
              <a:t>reading</a:t>
            </a:r>
            <a:r>
              <a:rPr lang="hu-HU" dirty="0" smtClean="0"/>
              <a:t> </a:t>
            </a:r>
            <a:r>
              <a:rPr lang="hu-HU" dirty="0" err="1" smtClean="0"/>
              <a:t>aloud</a:t>
            </a:r>
            <a:r>
              <a:rPr lang="hu-HU" dirty="0" smtClean="0"/>
              <a:t> </a:t>
            </a:r>
            <a:r>
              <a:rPr lang="hu-HU" dirty="0" err="1" smtClean="0"/>
              <a:t>texts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speaker</a:t>
            </a:r>
            <a:r>
              <a:rPr lang="hu-HU" dirty="0" smtClean="0"/>
              <a:t> </a:t>
            </a:r>
            <a:r>
              <a:rPr lang="hu-HU" dirty="0" err="1" smtClean="0"/>
              <a:t>identification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music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: </a:t>
            </a:r>
            <a:r>
              <a:rPr lang="hu-HU" dirty="0" err="1" smtClean="0"/>
              <a:t>genre</a:t>
            </a:r>
            <a:r>
              <a:rPr lang="hu-HU" dirty="0" smtClean="0"/>
              <a:t> </a:t>
            </a:r>
            <a:r>
              <a:rPr lang="hu-HU" dirty="0" err="1" smtClean="0"/>
              <a:t>detection</a:t>
            </a:r>
            <a:r>
              <a:rPr lang="hu-HU" dirty="0" smtClean="0"/>
              <a:t> etc.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b="1" dirty="0" err="1" smtClean="0"/>
              <a:t>music</a:t>
            </a:r>
            <a:r>
              <a:rPr lang="hu-HU" b="1" dirty="0" smtClean="0"/>
              <a:t> </a:t>
            </a:r>
            <a:r>
              <a:rPr lang="hu-HU" b="1" dirty="0" err="1" smtClean="0"/>
              <a:t>generation</a:t>
            </a:r>
            <a:r>
              <a:rPr lang="hu-HU" dirty="0" smtClean="0"/>
              <a:t>: </a:t>
            </a:r>
            <a:r>
              <a:rPr lang="hu-HU" dirty="0" err="1" smtClean="0"/>
              <a:t>AI</a:t>
            </a:r>
            <a:r>
              <a:rPr lang="hu-HU" dirty="0" smtClean="0"/>
              <a:t> </a:t>
            </a:r>
            <a:r>
              <a:rPr lang="hu-HU" dirty="0" err="1" smtClean="0"/>
              <a:t>composers</a:t>
            </a:r>
            <a:endParaRPr lang="hu-HU" dirty="0" smtClean="0"/>
          </a:p>
          <a:p>
            <a:pPr marL="342900" lvl="2" indent="-342900"/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areas</a:t>
            </a:r>
            <a:r>
              <a:rPr lang="hu-HU" dirty="0" smtClean="0"/>
              <a:t> of </a:t>
            </a:r>
            <a:r>
              <a:rPr lang="hu-HU" dirty="0" err="1" smtClean="0"/>
              <a:t>use</a:t>
            </a:r>
            <a:r>
              <a:rPr lang="hu-HU" dirty="0" smtClean="0"/>
              <a:t>:</a:t>
            </a:r>
          </a:p>
          <a:p>
            <a:pPr marL="800100" lvl="3" indent="-342900"/>
            <a:r>
              <a:rPr lang="hu-HU" dirty="0"/>
              <a:t>1</a:t>
            </a:r>
            <a:r>
              <a:rPr lang="hu-HU" dirty="0" smtClean="0"/>
              <a:t>. </a:t>
            </a:r>
            <a:r>
              <a:rPr lang="hu-HU" dirty="0" err="1" smtClean="0"/>
              <a:t>Healthcare</a:t>
            </a:r>
            <a:r>
              <a:rPr lang="hu-HU" dirty="0" smtClean="0"/>
              <a:t>, </a:t>
            </a:r>
            <a:r>
              <a:rPr lang="hu-HU" dirty="0" err="1" smtClean="0"/>
              <a:t>bioinformatics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medical</a:t>
            </a:r>
            <a:r>
              <a:rPr lang="hu-HU" dirty="0" smtClean="0"/>
              <a:t> </a:t>
            </a:r>
            <a:r>
              <a:rPr lang="hu-HU" dirty="0" err="1" smtClean="0"/>
              <a:t>imaging</a:t>
            </a:r>
            <a:r>
              <a:rPr lang="hu-HU" dirty="0" smtClean="0"/>
              <a:t> </a:t>
            </a:r>
            <a:r>
              <a:rPr lang="hu-HU" dirty="0" err="1" smtClean="0"/>
              <a:t>analysis</a:t>
            </a:r>
            <a:r>
              <a:rPr lang="hu-HU" dirty="0" smtClean="0"/>
              <a:t>: </a:t>
            </a:r>
            <a:r>
              <a:rPr lang="hu-HU" dirty="0" err="1" smtClean="0"/>
              <a:t>detecting</a:t>
            </a:r>
            <a:r>
              <a:rPr lang="hu-HU" dirty="0" smtClean="0"/>
              <a:t> </a:t>
            </a:r>
            <a:r>
              <a:rPr lang="hu-HU" dirty="0" err="1" smtClean="0"/>
              <a:t>anomalies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X-rays</a:t>
            </a:r>
            <a:r>
              <a:rPr lang="hu-HU" dirty="0" smtClean="0"/>
              <a:t>, </a:t>
            </a:r>
            <a:r>
              <a:rPr lang="hu-HU" dirty="0" err="1" smtClean="0"/>
              <a:t>MRI</a:t>
            </a:r>
            <a:r>
              <a:rPr lang="hu-HU" dirty="0" smtClean="0"/>
              <a:t>, CT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predictive</a:t>
            </a:r>
            <a:r>
              <a:rPr lang="hu-HU" dirty="0" smtClean="0"/>
              <a:t> </a:t>
            </a:r>
            <a:r>
              <a:rPr lang="hu-HU" dirty="0" err="1" smtClean="0"/>
              <a:t>diagnostics</a:t>
            </a:r>
            <a:r>
              <a:rPr lang="hu-HU" dirty="0" smtClean="0"/>
              <a:t>: </a:t>
            </a:r>
            <a:r>
              <a:rPr lang="hu-HU" dirty="0" err="1" smtClean="0"/>
              <a:t>disease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patient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genomics</a:t>
            </a:r>
            <a:r>
              <a:rPr lang="hu-HU" dirty="0" smtClean="0"/>
              <a:t>: </a:t>
            </a:r>
            <a:r>
              <a:rPr lang="hu-HU" dirty="0" err="1" smtClean="0"/>
              <a:t>high-throughput</a:t>
            </a:r>
            <a:r>
              <a:rPr lang="hu-HU" dirty="0" smtClean="0"/>
              <a:t> DNA </a:t>
            </a:r>
            <a:r>
              <a:rPr lang="hu-HU" dirty="0" err="1" smtClean="0"/>
              <a:t>sequencing</a:t>
            </a:r>
            <a:r>
              <a:rPr lang="hu-HU" dirty="0" smtClean="0"/>
              <a:t> and </a:t>
            </a:r>
            <a:r>
              <a:rPr lang="hu-HU" dirty="0" err="1" smtClean="0"/>
              <a:t>analysis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drug</a:t>
            </a:r>
            <a:r>
              <a:rPr lang="hu-HU" dirty="0" smtClean="0"/>
              <a:t> </a:t>
            </a:r>
            <a:r>
              <a:rPr lang="hu-HU" dirty="0" err="1" smtClean="0"/>
              <a:t>discovery</a:t>
            </a:r>
            <a:r>
              <a:rPr lang="hu-HU" dirty="0" smtClean="0"/>
              <a:t>: </a:t>
            </a:r>
            <a:r>
              <a:rPr lang="hu-HU" dirty="0" err="1" smtClean="0"/>
              <a:t>prediction</a:t>
            </a:r>
            <a:r>
              <a:rPr lang="hu-HU" dirty="0" smtClean="0"/>
              <a:t> of </a:t>
            </a:r>
            <a:r>
              <a:rPr lang="hu-HU" dirty="0" err="1" smtClean="0"/>
              <a:t>molecular</a:t>
            </a:r>
            <a:r>
              <a:rPr lang="hu-HU" dirty="0" smtClean="0"/>
              <a:t> </a:t>
            </a:r>
            <a:r>
              <a:rPr lang="hu-HU" dirty="0" err="1" smtClean="0"/>
              <a:t>structures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structure</a:t>
            </a:r>
            <a:r>
              <a:rPr lang="hu-HU" dirty="0" smtClean="0"/>
              <a:t> of </a:t>
            </a:r>
            <a:r>
              <a:rPr lang="hu-HU" dirty="0" err="1" smtClean="0"/>
              <a:t>proteins</a:t>
            </a:r>
            <a:r>
              <a:rPr lang="hu-HU" dirty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AlphaFold</a:t>
            </a:r>
            <a:r>
              <a:rPr lang="hu-HU" dirty="0" smtClean="0"/>
              <a:t>)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personalised</a:t>
            </a:r>
            <a:r>
              <a:rPr lang="hu-HU" dirty="0" smtClean="0"/>
              <a:t> </a:t>
            </a:r>
            <a:r>
              <a:rPr lang="hu-HU" dirty="0" err="1" smtClean="0"/>
              <a:t>medicine</a:t>
            </a:r>
            <a:r>
              <a:rPr lang="hu-HU" dirty="0" smtClean="0"/>
              <a:t>: </a:t>
            </a:r>
            <a:r>
              <a:rPr lang="hu-HU" dirty="0" err="1" smtClean="0"/>
              <a:t>instead</a:t>
            </a:r>
            <a:r>
              <a:rPr lang="hu-HU" dirty="0" smtClean="0"/>
              <a:t> of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</a:t>
            </a:r>
            <a:r>
              <a:rPr lang="hu-HU" dirty="0" err="1" smtClean="0"/>
              <a:t>protocol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patients</a:t>
            </a:r>
            <a:r>
              <a:rPr lang="hu-HU" dirty="0" smtClean="0"/>
              <a:t>, </a:t>
            </a:r>
            <a:r>
              <a:rPr lang="hu-HU" dirty="0" err="1" smtClean="0"/>
              <a:t>finding</a:t>
            </a:r>
            <a:r>
              <a:rPr lang="hu-HU" dirty="0" smtClean="0"/>
              <a:t> </a:t>
            </a:r>
            <a:r>
              <a:rPr lang="hu-HU" dirty="0" err="1" smtClean="0"/>
              <a:t>treatment</a:t>
            </a:r>
            <a:r>
              <a:rPr lang="hu-HU" dirty="0" smtClean="0"/>
              <a:t> and </a:t>
            </a:r>
            <a:r>
              <a:rPr lang="hu-HU" dirty="0" err="1" smtClean="0"/>
              <a:t>dosages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fit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given</a:t>
            </a:r>
            <a:r>
              <a:rPr lang="hu-HU" dirty="0" smtClean="0"/>
              <a:t> </a:t>
            </a:r>
            <a:r>
              <a:rPr lang="hu-HU" dirty="0" err="1" smtClean="0"/>
              <a:t>patient</a:t>
            </a:r>
            <a:r>
              <a:rPr lang="hu-HU" dirty="0" smtClean="0"/>
              <a:t>’s </a:t>
            </a:r>
            <a:r>
              <a:rPr lang="hu-HU" dirty="0" err="1" smtClean="0"/>
              <a:t>genetic</a:t>
            </a:r>
            <a:r>
              <a:rPr lang="hu-HU" dirty="0" smtClean="0"/>
              <a:t> </a:t>
            </a:r>
            <a:r>
              <a:rPr lang="hu-HU" dirty="0" err="1" smtClean="0"/>
              <a:t>profile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18627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Current</a:t>
            </a:r>
            <a:r>
              <a:rPr lang="hu-HU" dirty="0"/>
              <a:t> </a:t>
            </a:r>
            <a:r>
              <a:rPr lang="hu-HU" dirty="0" err="1"/>
              <a:t>State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Art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AI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342900" lvl="2" indent="-342900"/>
            <a:r>
              <a:rPr lang="hu-HU" sz="3600" dirty="0" err="1"/>
              <a:t>Specific</a:t>
            </a:r>
            <a:r>
              <a:rPr lang="hu-HU" sz="3600" dirty="0"/>
              <a:t> </a:t>
            </a:r>
            <a:r>
              <a:rPr lang="hu-HU" sz="3600" dirty="0" err="1"/>
              <a:t>areas</a:t>
            </a:r>
            <a:r>
              <a:rPr lang="hu-HU" sz="3600" dirty="0"/>
              <a:t> of </a:t>
            </a:r>
            <a:r>
              <a:rPr lang="hu-HU" sz="3600" dirty="0" err="1"/>
              <a:t>use</a:t>
            </a:r>
            <a:r>
              <a:rPr lang="hu-HU" sz="3600" dirty="0"/>
              <a:t>:</a:t>
            </a:r>
          </a:p>
          <a:p>
            <a:pPr lvl="1"/>
            <a:r>
              <a:rPr lang="hu-HU" dirty="0" smtClean="0"/>
              <a:t>2. </a:t>
            </a:r>
            <a:r>
              <a:rPr lang="hu-HU" dirty="0" err="1"/>
              <a:t>Autonomous</a:t>
            </a:r>
            <a:r>
              <a:rPr lang="hu-HU" dirty="0"/>
              <a:t> </a:t>
            </a:r>
            <a:r>
              <a:rPr lang="hu-HU" dirty="0" err="1"/>
              <a:t>systems</a:t>
            </a:r>
            <a:endParaRPr lang="hu-HU" dirty="0" smtClean="0"/>
          </a:p>
          <a:p>
            <a:pPr lvl="2"/>
            <a:r>
              <a:rPr lang="en-GB" dirty="0"/>
              <a:t>self-driving cars, drones: combine perception, navigation and decision-making</a:t>
            </a:r>
          </a:p>
          <a:p>
            <a:pPr lvl="2"/>
            <a:r>
              <a:rPr lang="en-GB" dirty="0"/>
              <a:t>robotics: object recognition, motion planning</a:t>
            </a:r>
          </a:p>
          <a:p>
            <a:pPr lvl="1"/>
            <a:r>
              <a:rPr lang="hu-HU" dirty="0"/>
              <a:t>3</a:t>
            </a:r>
            <a:r>
              <a:rPr lang="hu-HU" dirty="0" smtClean="0"/>
              <a:t>. </a:t>
            </a:r>
            <a:r>
              <a:rPr lang="hu-HU" dirty="0" err="1"/>
              <a:t>Finance</a:t>
            </a:r>
            <a:r>
              <a:rPr lang="hu-HU" dirty="0"/>
              <a:t>, business </a:t>
            </a:r>
            <a:r>
              <a:rPr lang="hu-HU" dirty="0" err="1" smtClean="0"/>
              <a:t>intelligence</a:t>
            </a:r>
            <a:endParaRPr lang="hu-HU" dirty="0" smtClean="0"/>
          </a:p>
          <a:p>
            <a:pPr lvl="2"/>
            <a:r>
              <a:rPr lang="en-GB" dirty="0" smtClean="0"/>
              <a:t>"</a:t>
            </a:r>
            <a:r>
              <a:rPr lang="hu-HU" dirty="0" smtClean="0"/>
              <a:t>a</a:t>
            </a:r>
            <a:r>
              <a:rPr lang="en-GB" dirty="0" err="1" smtClean="0"/>
              <a:t>lgorithmic</a:t>
            </a:r>
            <a:r>
              <a:rPr lang="en-GB" dirty="0" smtClean="0"/>
              <a:t> trading"</a:t>
            </a:r>
            <a:r>
              <a:rPr lang="hu-HU" dirty="0" smtClean="0"/>
              <a:t>: </a:t>
            </a:r>
            <a:r>
              <a:rPr lang="en-GB" dirty="0" smtClean="0"/>
              <a:t>predicting </a:t>
            </a:r>
            <a:r>
              <a:rPr lang="en-GB" dirty="0"/>
              <a:t>market movements</a:t>
            </a:r>
            <a:endParaRPr lang="hu-HU" dirty="0" smtClean="0"/>
          </a:p>
          <a:p>
            <a:pPr lvl="2"/>
            <a:r>
              <a:rPr lang="hu-HU" dirty="0" smtClean="0"/>
              <a:t>f</a:t>
            </a:r>
            <a:r>
              <a:rPr lang="en-GB" dirty="0" err="1" smtClean="0"/>
              <a:t>raud</a:t>
            </a:r>
            <a:r>
              <a:rPr lang="en-GB" dirty="0" smtClean="0"/>
              <a:t> detection</a:t>
            </a:r>
            <a:r>
              <a:rPr lang="hu-HU" dirty="0" smtClean="0"/>
              <a:t>:</a:t>
            </a:r>
            <a:r>
              <a:rPr lang="en-GB" dirty="0" smtClean="0"/>
              <a:t> </a:t>
            </a:r>
            <a:r>
              <a:rPr lang="en-GB" dirty="0"/>
              <a:t>anomaly detection in transactions</a:t>
            </a:r>
            <a:endParaRPr lang="hu-HU" dirty="0" smtClean="0"/>
          </a:p>
          <a:p>
            <a:pPr lvl="2"/>
            <a:r>
              <a:rPr lang="hu-HU" dirty="0" smtClean="0"/>
              <a:t>c</a:t>
            </a:r>
            <a:r>
              <a:rPr lang="en-GB" dirty="0" err="1" smtClean="0"/>
              <a:t>redit</a:t>
            </a:r>
            <a:r>
              <a:rPr lang="en-GB" dirty="0" smtClean="0"/>
              <a:t> scoring</a:t>
            </a:r>
            <a:r>
              <a:rPr lang="hu-HU" dirty="0" smtClean="0"/>
              <a:t>:</a:t>
            </a:r>
            <a:r>
              <a:rPr lang="en-GB" dirty="0" smtClean="0"/>
              <a:t> </a:t>
            </a:r>
            <a:r>
              <a:rPr lang="en-GB" dirty="0"/>
              <a:t>risk assessment using </a:t>
            </a:r>
            <a:r>
              <a:rPr lang="hu-HU" dirty="0" err="1" smtClean="0"/>
              <a:t>past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 and profiling</a:t>
            </a:r>
          </a:p>
          <a:p>
            <a:pPr lvl="2"/>
            <a:r>
              <a:rPr lang="hu-HU" dirty="0" smtClean="0"/>
              <a:t>c</a:t>
            </a:r>
            <a:r>
              <a:rPr lang="en-GB" dirty="0" err="1" smtClean="0"/>
              <a:t>ustomer</a:t>
            </a:r>
            <a:r>
              <a:rPr lang="en-GB" dirty="0" smtClean="0"/>
              <a:t> analytics</a:t>
            </a:r>
            <a:r>
              <a:rPr lang="hu-HU" dirty="0" smtClean="0"/>
              <a:t>:</a:t>
            </a:r>
            <a:r>
              <a:rPr lang="en-GB" dirty="0" smtClean="0"/>
              <a:t> </a:t>
            </a:r>
            <a:r>
              <a:rPr lang="en-GB" dirty="0"/>
              <a:t>churn </a:t>
            </a:r>
            <a:r>
              <a:rPr lang="en-GB" dirty="0" smtClean="0"/>
              <a:t>prediction</a:t>
            </a:r>
            <a:r>
              <a:rPr lang="hu-HU" dirty="0" smtClean="0"/>
              <a:t> (</a:t>
            </a:r>
            <a:r>
              <a:rPr lang="hu-HU" dirty="0" err="1" smtClean="0"/>
              <a:t>who</a:t>
            </a:r>
            <a:r>
              <a:rPr lang="hu-HU" dirty="0" smtClean="0"/>
              <a:t> is </a:t>
            </a:r>
            <a:r>
              <a:rPr lang="hu-HU" dirty="0" err="1" smtClean="0"/>
              <a:t>likely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drop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product</a:t>
            </a:r>
            <a:r>
              <a:rPr lang="hu-HU" dirty="0" smtClean="0"/>
              <a:t>?)</a:t>
            </a:r>
            <a:r>
              <a:rPr lang="en-GB" dirty="0" smtClean="0"/>
              <a:t>, </a:t>
            </a:r>
            <a:r>
              <a:rPr lang="en-GB" dirty="0" err="1" smtClean="0"/>
              <a:t>personali</a:t>
            </a:r>
            <a:r>
              <a:rPr lang="hu-HU" dirty="0" smtClean="0"/>
              <a:t>s</a:t>
            </a:r>
            <a:r>
              <a:rPr lang="en-GB" dirty="0" err="1" smtClean="0"/>
              <a:t>ation</a:t>
            </a:r>
            <a:endParaRPr lang="hu-HU" dirty="0" smtClean="0"/>
          </a:p>
          <a:p>
            <a:pPr lvl="1"/>
            <a:r>
              <a:rPr lang="hu-HU" dirty="0"/>
              <a:t>4</a:t>
            </a:r>
            <a:r>
              <a:rPr lang="hu-HU" dirty="0" smtClean="0"/>
              <a:t>. </a:t>
            </a:r>
            <a:r>
              <a:rPr lang="hu-HU" dirty="0" err="1" smtClean="0"/>
              <a:t>Manufacturing</a:t>
            </a:r>
            <a:r>
              <a:rPr lang="hu-HU" dirty="0" smtClean="0"/>
              <a:t>, </a:t>
            </a:r>
            <a:r>
              <a:rPr lang="hu-HU" dirty="0" err="1" smtClean="0"/>
              <a:t>industry</a:t>
            </a:r>
            <a:endParaRPr lang="hu-HU" dirty="0" smtClean="0"/>
          </a:p>
          <a:p>
            <a:pPr lvl="2"/>
            <a:r>
              <a:rPr lang="hu-HU" dirty="0" err="1" smtClean="0"/>
              <a:t>Quality</a:t>
            </a:r>
            <a:r>
              <a:rPr lang="hu-HU" dirty="0" smtClean="0"/>
              <a:t> </a:t>
            </a:r>
            <a:r>
              <a:rPr lang="hu-HU" dirty="0" err="1" smtClean="0"/>
              <a:t>control</a:t>
            </a:r>
            <a:r>
              <a:rPr lang="hu-HU" dirty="0" smtClean="0"/>
              <a:t>: </a:t>
            </a:r>
            <a:r>
              <a:rPr lang="hu-HU" dirty="0" err="1" smtClean="0"/>
              <a:t>identifying</a:t>
            </a:r>
            <a:r>
              <a:rPr lang="hu-HU" dirty="0" smtClean="0"/>
              <a:t> </a:t>
            </a:r>
            <a:r>
              <a:rPr lang="hu-HU" dirty="0" err="1" smtClean="0"/>
              <a:t>faulty</a:t>
            </a:r>
            <a:r>
              <a:rPr lang="hu-HU" dirty="0" smtClean="0"/>
              <a:t> </a:t>
            </a:r>
            <a:r>
              <a:rPr lang="hu-HU" dirty="0" err="1" smtClean="0"/>
              <a:t>products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visual</a:t>
            </a:r>
            <a:r>
              <a:rPr lang="hu-HU" dirty="0" smtClean="0"/>
              <a:t> </a:t>
            </a:r>
            <a:r>
              <a:rPr lang="hu-HU" dirty="0" err="1" smtClean="0"/>
              <a:t>inspection</a:t>
            </a:r>
            <a:endParaRPr lang="hu-HU" dirty="0" smtClean="0"/>
          </a:p>
          <a:p>
            <a:pPr lvl="2"/>
            <a:r>
              <a:rPr lang="hu-HU" dirty="0" err="1" smtClean="0"/>
              <a:t>predictive</a:t>
            </a:r>
            <a:r>
              <a:rPr lang="hu-HU" dirty="0" smtClean="0"/>
              <a:t> </a:t>
            </a:r>
            <a:r>
              <a:rPr lang="hu-HU" dirty="0" err="1" smtClean="0"/>
              <a:t>maintenance</a:t>
            </a:r>
            <a:r>
              <a:rPr lang="hu-HU" dirty="0" smtClean="0"/>
              <a:t>: </a:t>
            </a:r>
            <a:r>
              <a:rPr lang="hu-HU" dirty="0" err="1" smtClean="0"/>
              <a:t>identifying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faults</a:t>
            </a:r>
            <a:r>
              <a:rPr lang="hu-HU" dirty="0" smtClean="0"/>
              <a:t> </a:t>
            </a:r>
            <a:r>
              <a:rPr lang="hu-HU" dirty="0" err="1" smtClean="0"/>
              <a:t>early</a:t>
            </a:r>
            <a:endParaRPr lang="hu-HU" dirty="0" smtClean="0"/>
          </a:p>
          <a:p>
            <a:pPr lvl="2"/>
            <a:r>
              <a:rPr lang="hu-HU" dirty="0" err="1" smtClean="0"/>
              <a:t>process</a:t>
            </a:r>
            <a:r>
              <a:rPr lang="hu-HU" dirty="0" smtClean="0"/>
              <a:t> </a:t>
            </a:r>
            <a:r>
              <a:rPr lang="hu-HU" dirty="0" err="1" smtClean="0"/>
              <a:t>optimisation</a:t>
            </a:r>
            <a:r>
              <a:rPr lang="hu-HU" dirty="0" smtClean="0"/>
              <a:t>: </a:t>
            </a:r>
            <a:r>
              <a:rPr lang="hu-HU" dirty="0" err="1" smtClean="0"/>
              <a:t>identifying</a:t>
            </a:r>
            <a:r>
              <a:rPr lang="hu-HU" dirty="0" smtClean="0"/>
              <a:t> </a:t>
            </a:r>
            <a:r>
              <a:rPr lang="hu-HU" dirty="0" err="1" smtClean="0"/>
              <a:t>bottlenecks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168901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Current</a:t>
            </a:r>
            <a:r>
              <a:rPr lang="hu-HU" dirty="0"/>
              <a:t> </a:t>
            </a:r>
            <a:r>
              <a:rPr lang="hu-HU" dirty="0" err="1"/>
              <a:t>State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Art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AI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b="1" dirty="0" smtClean="0"/>
              <a:t>Deep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b="1" dirty="0" err="1" smtClean="0"/>
              <a:t>many</a:t>
            </a:r>
            <a:r>
              <a:rPr lang="hu-HU" b="1" dirty="0" smtClean="0"/>
              <a:t> </a:t>
            </a:r>
            <a:r>
              <a:rPr lang="hu-HU" b="1" dirty="0" err="1" smtClean="0"/>
              <a:t>different</a:t>
            </a:r>
            <a:r>
              <a:rPr lang="hu-HU" b="1" dirty="0" smtClean="0"/>
              <a:t> </a:t>
            </a:r>
            <a:r>
              <a:rPr lang="hu-HU" b="1" dirty="0" err="1" smtClean="0"/>
              <a:t>areas</a:t>
            </a:r>
            <a:r>
              <a:rPr lang="hu-HU" dirty="0" smtClean="0"/>
              <a:t>, </a:t>
            </a:r>
            <a:r>
              <a:rPr lang="hu-HU" dirty="0" err="1" smtClean="0"/>
              <a:t>only</a:t>
            </a:r>
            <a:r>
              <a:rPr lang="hu-HU" dirty="0" smtClean="0"/>
              <a:t> a </a:t>
            </a:r>
            <a:r>
              <a:rPr lang="hu-HU" dirty="0" err="1" smtClean="0"/>
              <a:t>small</a:t>
            </a:r>
            <a:r>
              <a:rPr lang="hu-HU" dirty="0" smtClean="0"/>
              <a:t> </a:t>
            </a:r>
            <a:r>
              <a:rPr lang="hu-HU" dirty="0" err="1" smtClean="0"/>
              <a:t>fraction</a:t>
            </a:r>
            <a:r>
              <a:rPr lang="hu-HU" dirty="0" smtClean="0"/>
              <a:t> of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:</a:t>
            </a:r>
          </a:p>
          <a:p>
            <a:pPr lvl="1"/>
            <a:r>
              <a:rPr lang="hu-HU" dirty="0"/>
              <a:t>5</a:t>
            </a:r>
            <a:r>
              <a:rPr lang="hu-HU" dirty="0" smtClean="0"/>
              <a:t>. </a:t>
            </a:r>
            <a:r>
              <a:rPr lang="en-GB" dirty="0" smtClean="0"/>
              <a:t>Entertainment</a:t>
            </a:r>
            <a:endParaRPr lang="hu-HU" dirty="0" smtClean="0"/>
          </a:p>
          <a:p>
            <a:pPr lvl="2"/>
            <a:r>
              <a:rPr lang="hu-HU" dirty="0"/>
              <a:t>g</a:t>
            </a:r>
            <a:r>
              <a:rPr lang="hu-HU" dirty="0" smtClean="0"/>
              <a:t>ame </a:t>
            </a:r>
            <a:r>
              <a:rPr lang="hu-HU" dirty="0" err="1" smtClean="0"/>
              <a:t>AI</a:t>
            </a:r>
            <a:r>
              <a:rPr lang="hu-HU" dirty="0" smtClean="0"/>
              <a:t>: </a:t>
            </a:r>
            <a:r>
              <a:rPr lang="hu-HU" dirty="0" err="1" smtClean="0"/>
              <a:t>adaptive</a:t>
            </a:r>
            <a:r>
              <a:rPr lang="hu-HU" dirty="0" smtClean="0"/>
              <a:t>, </a:t>
            </a:r>
            <a:r>
              <a:rPr lang="hu-HU" dirty="0" err="1" smtClean="0"/>
              <a:t>intelligent</a:t>
            </a:r>
            <a:r>
              <a:rPr lang="hu-HU" dirty="0" smtClean="0"/>
              <a:t> </a:t>
            </a:r>
            <a:r>
              <a:rPr lang="hu-HU" dirty="0" err="1" smtClean="0"/>
              <a:t>opponents</a:t>
            </a:r>
            <a:r>
              <a:rPr lang="hu-HU" dirty="0" smtClean="0"/>
              <a:t>, </a:t>
            </a:r>
            <a:r>
              <a:rPr lang="hu-HU" dirty="0" err="1" smtClean="0"/>
              <a:t>NPCs</a:t>
            </a:r>
            <a:endParaRPr lang="hu-HU" dirty="0" smtClean="0"/>
          </a:p>
          <a:p>
            <a:pPr lvl="2"/>
            <a:r>
              <a:rPr lang="hu-HU" dirty="0" smtClean="0"/>
              <a:t>game-playing </a:t>
            </a:r>
            <a:r>
              <a:rPr lang="hu-HU" dirty="0" err="1" smtClean="0"/>
              <a:t>AI</a:t>
            </a:r>
            <a:r>
              <a:rPr lang="hu-HU" dirty="0" smtClean="0"/>
              <a:t>: a software </a:t>
            </a:r>
            <a:r>
              <a:rPr lang="hu-HU" dirty="0" err="1" smtClean="0"/>
              <a:t>system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plays</a:t>
            </a:r>
            <a:r>
              <a:rPr lang="hu-HU" dirty="0" smtClean="0"/>
              <a:t> a video game </a:t>
            </a:r>
            <a:r>
              <a:rPr lang="hu-HU" dirty="0" err="1" smtClean="0"/>
              <a:t>autonomously</a:t>
            </a:r>
            <a:endParaRPr lang="hu-HU" dirty="0" smtClean="0"/>
          </a:p>
          <a:p>
            <a:pPr lvl="2"/>
            <a:r>
              <a:rPr lang="hu-HU" b="1" dirty="0" err="1" smtClean="0"/>
              <a:t>content</a:t>
            </a:r>
            <a:r>
              <a:rPr lang="hu-HU" b="1" dirty="0" smtClean="0"/>
              <a:t> </a:t>
            </a:r>
            <a:r>
              <a:rPr lang="hu-HU" b="1" dirty="0" err="1" smtClean="0"/>
              <a:t>generation</a:t>
            </a:r>
            <a:r>
              <a:rPr lang="hu-HU" dirty="0" smtClean="0"/>
              <a:t>: </a:t>
            </a:r>
            <a:r>
              <a:rPr lang="hu-HU" dirty="0" err="1" smtClean="0"/>
              <a:t>music</a:t>
            </a:r>
            <a:r>
              <a:rPr lang="hu-HU" dirty="0" smtClean="0"/>
              <a:t>, art, video</a:t>
            </a:r>
            <a:endParaRPr lang="en-GB" dirty="0"/>
          </a:p>
          <a:p>
            <a:pPr lvl="1"/>
            <a:r>
              <a:rPr lang="hu-HU" dirty="0"/>
              <a:t>6</a:t>
            </a:r>
            <a:r>
              <a:rPr lang="hu-HU" dirty="0" smtClean="0"/>
              <a:t>. </a:t>
            </a:r>
            <a:r>
              <a:rPr lang="en-GB" dirty="0" smtClean="0"/>
              <a:t>Cybersecurity</a:t>
            </a:r>
            <a:endParaRPr lang="hu-HU" dirty="0" smtClean="0"/>
          </a:p>
          <a:p>
            <a:pPr lvl="2"/>
            <a:r>
              <a:rPr lang="hu-HU" dirty="0" err="1" smtClean="0"/>
              <a:t>intrusion</a:t>
            </a:r>
            <a:r>
              <a:rPr lang="hu-HU" dirty="0" smtClean="0"/>
              <a:t> </a:t>
            </a:r>
            <a:r>
              <a:rPr lang="hu-HU" dirty="0" err="1" smtClean="0"/>
              <a:t>detection</a:t>
            </a:r>
            <a:r>
              <a:rPr lang="hu-HU" dirty="0" smtClean="0"/>
              <a:t>: </a:t>
            </a:r>
            <a:r>
              <a:rPr lang="hu-HU" dirty="0" err="1" smtClean="0"/>
              <a:t>identifying</a:t>
            </a:r>
            <a:r>
              <a:rPr lang="hu-HU" dirty="0" smtClean="0"/>
              <a:t> </a:t>
            </a:r>
            <a:r>
              <a:rPr lang="hu-HU" dirty="0" err="1" smtClean="0"/>
              <a:t>abnormal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activity</a:t>
            </a:r>
            <a:endParaRPr lang="hu-HU" dirty="0" smtClean="0"/>
          </a:p>
          <a:p>
            <a:pPr lvl="2"/>
            <a:r>
              <a:rPr lang="hu-HU" dirty="0" err="1" smtClean="0"/>
              <a:t>malware</a:t>
            </a:r>
            <a:r>
              <a:rPr lang="hu-HU" dirty="0" smtClean="0"/>
              <a:t> </a:t>
            </a:r>
            <a:r>
              <a:rPr lang="hu-HU" dirty="0" err="1" smtClean="0"/>
              <a:t>detection</a:t>
            </a:r>
            <a:r>
              <a:rPr lang="hu-HU" dirty="0" smtClean="0"/>
              <a:t>: </a:t>
            </a:r>
            <a:r>
              <a:rPr lang="hu-HU" dirty="0" err="1" smtClean="0"/>
              <a:t>recognising</a:t>
            </a:r>
            <a:r>
              <a:rPr lang="hu-HU" dirty="0" smtClean="0"/>
              <a:t> </a:t>
            </a:r>
            <a:r>
              <a:rPr lang="hu-HU" dirty="0" err="1" smtClean="0"/>
              <a:t>malicious</a:t>
            </a:r>
            <a:r>
              <a:rPr lang="hu-HU" dirty="0" smtClean="0"/>
              <a:t> </a:t>
            </a:r>
            <a:r>
              <a:rPr lang="hu-HU" dirty="0" err="1" smtClean="0"/>
              <a:t>code</a:t>
            </a:r>
            <a:endParaRPr lang="hu-HU" dirty="0" smtClean="0"/>
          </a:p>
          <a:p>
            <a:pPr lvl="2"/>
            <a:r>
              <a:rPr lang="hu-HU" dirty="0" err="1" smtClean="0"/>
              <a:t>user</a:t>
            </a:r>
            <a:r>
              <a:rPr lang="hu-HU" dirty="0" smtClean="0"/>
              <a:t> </a:t>
            </a:r>
            <a:r>
              <a:rPr lang="hu-HU" dirty="0" err="1" smtClean="0"/>
              <a:t>behavior</a:t>
            </a:r>
            <a:r>
              <a:rPr lang="hu-HU" dirty="0" smtClean="0"/>
              <a:t> </a:t>
            </a:r>
            <a:r>
              <a:rPr lang="hu-HU" dirty="0" err="1" smtClean="0"/>
              <a:t>analytics</a:t>
            </a:r>
            <a:r>
              <a:rPr lang="hu-HU" dirty="0" smtClean="0"/>
              <a:t>: </a:t>
            </a:r>
            <a:r>
              <a:rPr lang="hu-HU" dirty="0" err="1" smtClean="0"/>
              <a:t>finding</a:t>
            </a:r>
            <a:r>
              <a:rPr lang="hu-HU" dirty="0" smtClean="0"/>
              <a:t> </a:t>
            </a:r>
            <a:r>
              <a:rPr lang="hu-HU" dirty="0" err="1" smtClean="0"/>
              <a:t>inside</a:t>
            </a:r>
            <a:r>
              <a:rPr lang="hu-HU" dirty="0" smtClean="0"/>
              <a:t> </a:t>
            </a:r>
            <a:r>
              <a:rPr lang="hu-HU" dirty="0" err="1" smtClean="0"/>
              <a:t>threats</a:t>
            </a:r>
            <a:endParaRPr lang="hu-HU" dirty="0" smtClean="0"/>
          </a:p>
          <a:p>
            <a:pPr lvl="1"/>
            <a:r>
              <a:rPr lang="hu-HU" dirty="0"/>
              <a:t>7</a:t>
            </a:r>
            <a:r>
              <a:rPr lang="hu-HU" dirty="0" smtClean="0"/>
              <a:t>. Science</a:t>
            </a:r>
          </a:p>
          <a:p>
            <a:pPr lvl="2"/>
            <a:r>
              <a:rPr lang="hu-HU" dirty="0" err="1" smtClean="0"/>
              <a:t>weather</a:t>
            </a:r>
            <a:r>
              <a:rPr lang="hu-HU" dirty="0" smtClean="0"/>
              <a:t> and </a:t>
            </a:r>
            <a:r>
              <a:rPr lang="hu-HU" dirty="0" err="1" smtClean="0"/>
              <a:t>climate</a:t>
            </a:r>
            <a:r>
              <a:rPr lang="hu-HU" dirty="0" smtClean="0"/>
              <a:t> modelling: </a:t>
            </a:r>
            <a:r>
              <a:rPr lang="hu-HU" dirty="0" err="1" smtClean="0"/>
              <a:t>predicting</a:t>
            </a:r>
            <a:r>
              <a:rPr lang="hu-HU" dirty="0" smtClean="0"/>
              <a:t> </a:t>
            </a:r>
            <a:r>
              <a:rPr lang="hu-HU" dirty="0" err="1" smtClean="0"/>
              <a:t>weather</a:t>
            </a:r>
            <a:r>
              <a:rPr lang="hu-HU" dirty="0" smtClean="0"/>
              <a:t>, </a:t>
            </a:r>
            <a:r>
              <a:rPr lang="hu-HU" dirty="0" err="1" smtClean="0"/>
              <a:t>climate</a:t>
            </a:r>
            <a:r>
              <a:rPr lang="hu-HU" dirty="0" smtClean="0"/>
              <a:t> </a:t>
            </a:r>
            <a:r>
              <a:rPr lang="hu-HU" dirty="0" err="1" smtClean="0"/>
              <a:t>change</a:t>
            </a:r>
            <a:r>
              <a:rPr lang="hu-HU" dirty="0" smtClean="0"/>
              <a:t> </a:t>
            </a:r>
            <a:r>
              <a:rPr lang="hu-HU" dirty="0" err="1" smtClean="0"/>
              <a:t>impacts</a:t>
            </a:r>
            <a:endParaRPr lang="hu-HU" dirty="0" smtClean="0"/>
          </a:p>
          <a:p>
            <a:pPr lvl="2"/>
            <a:r>
              <a:rPr lang="hu-HU" dirty="0" err="1" smtClean="0"/>
              <a:t>astronomy</a:t>
            </a:r>
            <a:r>
              <a:rPr lang="hu-HU" dirty="0" smtClean="0"/>
              <a:t>: </a:t>
            </a:r>
            <a:r>
              <a:rPr lang="hu-HU" dirty="0" err="1" smtClean="0"/>
              <a:t>identifying</a:t>
            </a:r>
            <a:r>
              <a:rPr lang="hu-HU" dirty="0" smtClean="0"/>
              <a:t> </a:t>
            </a:r>
            <a:r>
              <a:rPr lang="hu-HU" dirty="0" err="1" smtClean="0"/>
              <a:t>celestial</a:t>
            </a:r>
            <a:r>
              <a:rPr lang="hu-HU" dirty="0" smtClean="0"/>
              <a:t> </a:t>
            </a:r>
            <a:r>
              <a:rPr lang="hu-HU" dirty="0" err="1" smtClean="0"/>
              <a:t>objects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telescope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endParaRPr lang="hu-HU" dirty="0" smtClean="0"/>
          </a:p>
          <a:p>
            <a:pPr lvl="2"/>
            <a:r>
              <a:rPr lang="hu-HU" dirty="0" err="1" smtClean="0"/>
              <a:t>physics</a:t>
            </a:r>
            <a:r>
              <a:rPr lang="hu-HU" dirty="0" smtClean="0"/>
              <a:t>: </a:t>
            </a:r>
            <a:r>
              <a:rPr lang="hu-HU" dirty="0" err="1" smtClean="0"/>
              <a:t>interpreting</a:t>
            </a:r>
            <a:r>
              <a:rPr lang="hu-HU" dirty="0" smtClean="0"/>
              <a:t> </a:t>
            </a:r>
            <a:r>
              <a:rPr lang="hu-HU" dirty="0" err="1" smtClean="0"/>
              <a:t>sensor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endParaRPr lang="hu-HU" dirty="0" smtClean="0"/>
          </a:p>
          <a:p>
            <a:pPr lvl="2"/>
            <a:r>
              <a:rPr lang="hu-HU" dirty="0" err="1" smtClean="0"/>
              <a:t>agriculture</a:t>
            </a:r>
            <a:r>
              <a:rPr lang="hu-HU" dirty="0" smtClean="0"/>
              <a:t>: pest </a:t>
            </a:r>
            <a:r>
              <a:rPr lang="hu-HU" dirty="0" err="1" smtClean="0"/>
              <a:t>detection</a:t>
            </a:r>
            <a:r>
              <a:rPr lang="hu-HU" dirty="0" smtClean="0"/>
              <a:t>, </a:t>
            </a:r>
            <a:r>
              <a:rPr lang="hu-HU" dirty="0" err="1" smtClean="0"/>
              <a:t>yield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3188051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Current</a:t>
            </a:r>
            <a:r>
              <a:rPr lang="hu-HU" dirty="0"/>
              <a:t> </a:t>
            </a:r>
            <a:r>
              <a:rPr lang="hu-HU" dirty="0" err="1"/>
              <a:t>State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Art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AI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67544" y="1600200"/>
            <a:ext cx="8229600" cy="4525963"/>
          </a:xfrm>
        </p:spPr>
        <p:txBody>
          <a:bodyPr>
            <a:normAutofit fontScale="77500" lnSpcReduction="20000"/>
          </a:bodyPr>
          <a:lstStyle/>
          <a:p>
            <a:r>
              <a:rPr lang="hu-HU" dirty="0" err="1" smtClean="0"/>
              <a:t>Characterised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a </a:t>
            </a:r>
            <a:r>
              <a:rPr lang="hu-HU" b="1" dirty="0" err="1" smtClean="0"/>
              <a:t>strong</a:t>
            </a:r>
            <a:r>
              <a:rPr lang="hu-HU" b="1" dirty="0" smtClean="0"/>
              <a:t> </a:t>
            </a:r>
            <a:r>
              <a:rPr lang="hu-HU" b="1" dirty="0" err="1" smtClean="0"/>
              <a:t>culture</a:t>
            </a:r>
            <a:r>
              <a:rPr lang="hu-HU" b="1" dirty="0" smtClean="0"/>
              <a:t> of </a:t>
            </a:r>
            <a:r>
              <a:rPr lang="hu-HU" b="1" dirty="0" err="1" smtClean="0"/>
              <a:t>open</a:t>
            </a:r>
            <a:r>
              <a:rPr lang="hu-HU" b="1" dirty="0" smtClean="0"/>
              <a:t> </a:t>
            </a:r>
            <a:r>
              <a:rPr lang="hu-HU" b="1" dirty="0" err="1" smtClean="0"/>
              <a:t>knowledge</a:t>
            </a:r>
            <a:r>
              <a:rPr lang="hu-HU" b="1" dirty="0" smtClean="0"/>
              <a:t> </a:t>
            </a:r>
            <a:r>
              <a:rPr lang="hu-HU" b="1" dirty="0" err="1" smtClean="0"/>
              <a:t>sharing</a:t>
            </a:r>
            <a:endParaRPr lang="hu-HU" b="1" dirty="0" smtClean="0"/>
          </a:p>
          <a:p>
            <a:pPr lvl="1"/>
            <a:r>
              <a:rPr lang="hu-HU" dirty="0" err="1" smtClean="0"/>
              <a:t>traditionally</a:t>
            </a:r>
            <a:r>
              <a:rPr lang="hu-HU" dirty="0" smtClean="0"/>
              <a:t> </a:t>
            </a:r>
            <a:r>
              <a:rPr lang="hu-HU" dirty="0" err="1" smtClean="0"/>
              <a:t>companies</a:t>
            </a:r>
            <a:r>
              <a:rPr lang="hu-HU" dirty="0" smtClean="0"/>
              <a:t> had trade </a:t>
            </a:r>
            <a:r>
              <a:rPr lang="hu-HU" dirty="0" err="1" smtClean="0"/>
              <a:t>secrets</a:t>
            </a:r>
            <a:r>
              <a:rPr lang="hu-HU" dirty="0" smtClean="0"/>
              <a:t> </a:t>
            </a:r>
            <a:r>
              <a:rPr lang="hu-HU" dirty="0" err="1" smtClean="0"/>
              <a:t>while</a:t>
            </a:r>
            <a:r>
              <a:rPr lang="hu-HU" dirty="0" smtClean="0"/>
              <a:t> </a:t>
            </a:r>
            <a:r>
              <a:rPr lang="hu-HU" dirty="0" err="1" smtClean="0"/>
              <a:t>academic</a:t>
            </a:r>
            <a:r>
              <a:rPr lang="hu-HU" dirty="0" smtClean="0"/>
              <a:t> </a:t>
            </a:r>
            <a:r>
              <a:rPr lang="hu-HU" dirty="0" err="1" smtClean="0"/>
              <a:t>researcher</a:t>
            </a:r>
            <a:r>
              <a:rPr lang="hu-HU" dirty="0" smtClean="0"/>
              <a:t> </a:t>
            </a:r>
            <a:r>
              <a:rPr lang="hu-HU" dirty="0" err="1" smtClean="0"/>
              <a:t>shared</a:t>
            </a:r>
            <a:r>
              <a:rPr lang="hu-HU" dirty="0" smtClean="0"/>
              <a:t> </a:t>
            </a:r>
            <a:r>
              <a:rPr lang="hu-HU" dirty="0" err="1" smtClean="0"/>
              <a:t>their</a:t>
            </a:r>
            <a:r>
              <a:rPr lang="hu-HU" dirty="0" smtClean="0"/>
              <a:t> </a:t>
            </a:r>
            <a:r>
              <a:rPr lang="hu-HU" dirty="0" err="1" smtClean="0"/>
              <a:t>results</a:t>
            </a:r>
            <a:endParaRPr lang="hu-HU" dirty="0" smtClean="0"/>
          </a:p>
          <a:p>
            <a:pPr lvl="1"/>
            <a:r>
              <a:rPr lang="hu-HU" dirty="0" err="1" smtClean="0"/>
              <a:t>today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AI</a:t>
            </a:r>
            <a:r>
              <a:rPr lang="hu-HU" dirty="0" smtClean="0"/>
              <a:t>, </a:t>
            </a:r>
            <a:r>
              <a:rPr lang="hu-HU" dirty="0" err="1" smtClean="0"/>
              <a:t>company</a:t>
            </a:r>
            <a:r>
              <a:rPr lang="hu-HU" dirty="0" smtClean="0"/>
              <a:t> </a:t>
            </a:r>
            <a:r>
              <a:rPr lang="hu-HU" dirty="0" err="1" smtClean="0"/>
              <a:t>R&amp;D</a:t>
            </a:r>
            <a:r>
              <a:rPr lang="hu-HU" dirty="0" smtClean="0"/>
              <a:t> </a:t>
            </a:r>
            <a:r>
              <a:rPr lang="hu-HU" dirty="0" err="1" smtClean="0"/>
              <a:t>teams</a:t>
            </a:r>
            <a:r>
              <a:rPr lang="hu-HU" dirty="0" smtClean="0"/>
              <a:t> </a:t>
            </a:r>
            <a:r>
              <a:rPr lang="hu-HU" dirty="0" err="1" smtClean="0"/>
              <a:t>tend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share</a:t>
            </a:r>
            <a:r>
              <a:rPr lang="hu-HU" b="1" dirty="0" smtClean="0"/>
              <a:t> </a:t>
            </a:r>
            <a:r>
              <a:rPr lang="hu-HU" b="1" dirty="0" err="1" smtClean="0"/>
              <a:t>results</a:t>
            </a:r>
            <a:r>
              <a:rPr lang="hu-HU" b="1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b="1" dirty="0" err="1" smtClean="0"/>
              <a:t>immediately</a:t>
            </a:r>
            <a:endParaRPr lang="hu-HU" b="1" dirty="0"/>
          </a:p>
          <a:p>
            <a:pPr lvl="2"/>
            <a:r>
              <a:rPr lang="hu-HU" dirty="0" err="1" smtClean="0"/>
              <a:t>describe</a:t>
            </a:r>
            <a:r>
              <a:rPr lang="hu-HU" dirty="0" smtClean="0"/>
              <a:t> </a:t>
            </a:r>
            <a:r>
              <a:rPr lang="hu-HU" dirty="0" err="1" smtClean="0"/>
              <a:t>their</a:t>
            </a:r>
            <a:r>
              <a:rPr lang="hu-HU" dirty="0" smtClean="0"/>
              <a:t> </a:t>
            </a:r>
            <a:r>
              <a:rPr lang="hu-HU" dirty="0" err="1" smtClean="0"/>
              <a:t>approach</a:t>
            </a:r>
            <a:r>
              <a:rPr lang="hu-HU" dirty="0" smtClean="0"/>
              <a:t> and </a:t>
            </a:r>
            <a:r>
              <a:rPr lang="hu-HU" dirty="0" err="1" smtClean="0"/>
              <a:t>publish</a:t>
            </a:r>
            <a:r>
              <a:rPr lang="hu-HU" dirty="0" smtClean="0"/>
              <a:t> benchmark </a:t>
            </a:r>
            <a:r>
              <a:rPr lang="hu-HU" dirty="0" err="1" smtClean="0"/>
              <a:t>results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b="1" dirty="0" err="1" smtClean="0"/>
              <a:t>research</a:t>
            </a:r>
            <a:r>
              <a:rPr lang="hu-HU" b="1" dirty="0" smtClean="0"/>
              <a:t> </a:t>
            </a:r>
            <a:r>
              <a:rPr lang="hu-HU" b="1" dirty="0" err="1" smtClean="0"/>
              <a:t>paper</a:t>
            </a:r>
            <a:r>
              <a:rPr lang="hu-HU" b="1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conferences</a:t>
            </a:r>
            <a:r>
              <a:rPr lang="hu-HU" dirty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preprint</a:t>
            </a:r>
            <a:r>
              <a:rPr lang="hu-HU" dirty="0" smtClean="0"/>
              <a:t> site </a:t>
            </a:r>
            <a:r>
              <a:rPr lang="hu-HU" dirty="0" err="1" smtClean="0"/>
              <a:t>arXiv</a:t>
            </a:r>
            <a:r>
              <a:rPr lang="hu-HU" dirty="0" smtClean="0"/>
              <a:t> </a:t>
            </a:r>
            <a:r>
              <a:rPr lang="hu-HU" dirty="0" err="1" smtClean="0"/>
              <a:t>without</a:t>
            </a:r>
            <a:r>
              <a:rPr lang="hu-HU" dirty="0" smtClean="0"/>
              <a:t> </a:t>
            </a:r>
            <a:r>
              <a:rPr lang="hu-HU" dirty="0" err="1" smtClean="0"/>
              <a:t>peer</a:t>
            </a:r>
            <a:r>
              <a:rPr lang="hu-HU" dirty="0" smtClean="0"/>
              <a:t> </a:t>
            </a:r>
            <a:r>
              <a:rPr lang="hu-HU" dirty="0" err="1" smtClean="0"/>
              <a:t>review</a:t>
            </a:r>
            <a:endParaRPr lang="hu-HU" dirty="0"/>
          </a:p>
          <a:p>
            <a:pPr lvl="2"/>
            <a:r>
              <a:rPr lang="hu-HU" dirty="0" err="1" smtClean="0"/>
              <a:t>share</a:t>
            </a:r>
            <a:r>
              <a:rPr lang="hu-HU" dirty="0" smtClean="0"/>
              <a:t> </a:t>
            </a:r>
            <a:r>
              <a:rPr lang="hu-HU" b="1" dirty="0" err="1" smtClean="0"/>
              <a:t>code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GitHub</a:t>
            </a:r>
            <a:r>
              <a:rPr lang="hu-HU" dirty="0" smtClean="0"/>
              <a:t> </a:t>
            </a:r>
            <a:r>
              <a:rPr lang="hu-HU" dirty="0" err="1" smtClean="0"/>
              <a:t>publicly</a:t>
            </a:r>
            <a:endParaRPr lang="hu-HU" dirty="0" smtClean="0"/>
          </a:p>
          <a:p>
            <a:pPr lvl="2"/>
            <a:r>
              <a:rPr lang="hu-HU" dirty="0" err="1" smtClean="0"/>
              <a:t>share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trained</a:t>
            </a:r>
            <a:r>
              <a:rPr lang="hu-HU" b="1" dirty="0" smtClean="0"/>
              <a:t> </a:t>
            </a:r>
            <a:r>
              <a:rPr lang="hu-HU" b="1" dirty="0" err="1" smtClean="0"/>
              <a:t>model</a:t>
            </a:r>
            <a:r>
              <a:rPr lang="hu-HU" b="1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endParaRPr lang="hu-HU" dirty="0"/>
          </a:p>
          <a:p>
            <a:pPr lvl="2"/>
            <a:r>
              <a:rPr lang="hu-HU" dirty="0" err="1" smtClean="0"/>
              <a:t>publish</a:t>
            </a:r>
            <a:r>
              <a:rPr lang="hu-HU" dirty="0" smtClean="0"/>
              <a:t> an </a:t>
            </a:r>
            <a:r>
              <a:rPr lang="hu-HU" b="1" dirty="0" err="1" smtClean="0"/>
              <a:t>open</a:t>
            </a:r>
            <a:r>
              <a:rPr lang="hu-HU" b="1" dirty="0" smtClean="0"/>
              <a:t> </a:t>
            </a:r>
            <a:r>
              <a:rPr lang="hu-HU" b="1" dirty="0" err="1" smtClean="0"/>
              <a:t>problem</a:t>
            </a:r>
            <a:r>
              <a:rPr lang="hu-HU" b="1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Kaggle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competition</a:t>
            </a:r>
            <a:r>
              <a:rPr lang="hu-HU" dirty="0" smtClean="0"/>
              <a:t> and </a:t>
            </a:r>
            <a:r>
              <a:rPr lang="hu-HU" dirty="0" err="1" smtClean="0"/>
              <a:t>ask</a:t>
            </a:r>
            <a:r>
              <a:rPr lang="hu-HU" dirty="0" smtClean="0"/>
              <a:t> </a:t>
            </a:r>
            <a:r>
              <a:rPr lang="hu-HU" dirty="0" err="1" smtClean="0"/>
              <a:t>people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solve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, </a:t>
            </a:r>
            <a:r>
              <a:rPr lang="hu-HU" dirty="0" err="1" smtClean="0"/>
              <a:t>paying</a:t>
            </a:r>
            <a:r>
              <a:rPr lang="hu-HU" dirty="0" smtClean="0"/>
              <a:t> a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money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winner</a:t>
            </a:r>
            <a:endParaRPr lang="hu-HU" dirty="0" smtClean="0"/>
          </a:p>
          <a:p>
            <a:pPr lvl="1"/>
            <a:r>
              <a:rPr lang="hu-HU" dirty="0" smtClean="0"/>
              <a:t>a </a:t>
            </a:r>
            <a:r>
              <a:rPr lang="hu-HU" dirty="0" err="1" smtClean="0"/>
              <a:t>means</a:t>
            </a:r>
            <a:r>
              <a:rPr lang="hu-HU" dirty="0" smtClean="0"/>
              <a:t> of </a:t>
            </a:r>
            <a:r>
              <a:rPr lang="hu-HU" b="1" dirty="0" smtClean="0"/>
              <a:t>free </a:t>
            </a:r>
            <a:r>
              <a:rPr lang="hu-HU" b="1" dirty="0" err="1" smtClean="0"/>
              <a:t>publicity</a:t>
            </a:r>
            <a:r>
              <a:rPr lang="hu-HU" b="1" dirty="0" smtClean="0"/>
              <a:t> and </a:t>
            </a:r>
            <a:r>
              <a:rPr lang="hu-HU" b="1" dirty="0" err="1" smtClean="0"/>
              <a:t>promotion</a:t>
            </a:r>
            <a:r>
              <a:rPr lang="hu-HU" b="1" dirty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product</a:t>
            </a:r>
            <a:r>
              <a:rPr lang="hu-HU" b="1" dirty="0" smtClean="0"/>
              <a:t> </a:t>
            </a:r>
            <a:r>
              <a:rPr lang="hu-HU" dirty="0" err="1" smtClean="0"/>
              <a:t>and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b="1" dirty="0" err="1" smtClean="0"/>
              <a:t>themselves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250643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Current</a:t>
            </a:r>
            <a:r>
              <a:rPr lang="hu-HU" dirty="0"/>
              <a:t> </a:t>
            </a:r>
            <a:r>
              <a:rPr lang="hu-HU" dirty="0" err="1"/>
              <a:t>State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Art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AI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result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open</a:t>
            </a:r>
            <a:r>
              <a:rPr lang="hu-HU" dirty="0" smtClean="0"/>
              <a:t> </a:t>
            </a:r>
            <a:r>
              <a:rPr lang="hu-HU" dirty="0" err="1" smtClean="0"/>
              <a:t>knowledge</a:t>
            </a:r>
            <a:r>
              <a:rPr lang="hu-HU" dirty="0" smtClean="0"/>
              <a:t> </a:t>
            </a:r>
            <a:r>
              <a:rPr lang="hu-HU" dirty="0" err="1" smtClean="0"/>
              <a:t>sharing</a:t>
            </a:r>
            <a:r>
              <a:rPr lang="hu-HU" dirty="0" smtClean="0"/>
              <a:t>, </a:t>
            </a:r>
            <a:r>
              <a:rPr lang="hu-HU" dirty="0" err="1" smtClean="0"/>
              <a:t>it</a:t>
            </a:r>
            <a:r>
              <a:rPr lang="hu-HU" dirty="0" smtClean="0"/>
              <a:t> is </a:t>
            </a:r>
            <a:r>
              <a:rPr lang="hu-HU" dirty="0" err="1" smtClean="0"/>
              <a:t>known</a:t>
            </a:r>
            <a:r>
              <a:rPr lang="hu-HU" dirty="0" smtClean="0"/>
              <a:t> </a:t>
            </a:r>
            <a:r>
              <a:rPr lang="hu-HU" dirty="0" err="1" smtClean="0"/>
              <a:t>perfectly</a:t>
            </a:r>
            <a:r>
              <a:rPr lang="hu-HU" dirty="0" smtClean="0"/>
              <a:t> </a:t>
            </a:r>
            <a:r>
              <a:rPr lang="hu-HU" dirty="0" err="1" smtClean="0"/>
              <a:t>how</a:t>
            </a:r>
            <a:r>
              <a:rPr lang="hu-HU" dirty="0" smtClean="0"/>
              <a:t> an </a:t>
            </a:r>
            <a:r>
              <a:rPr lang="hu-HU" dirty="0" err="1" smtClean="0"/>
              <a:t>AI</a:t>
            </a:r>
            <a:r>
              <a:rPr lang="hu-HU" dirty="0" smtClean="0"/>
              <a:t> </a:t>
            </a:r>
            <a:r>
              <a:rPr lang="hu-HU" dirty="0" err="1" smtClean="0"/>
              <a:t>system</a:t>
            </a:r>
            <a:r>
              <a:rPr lang="hu-HU" dirty="0" smtClean="0"/>
              <a:t> </a:t>
            </a:r>
            <a:r>
              <a:rPr lang="hu-HU" dirty="0" err="1" smtClean="0"/>
              <a:t>works</a:t>
            </a:r>
            <a:r>
              <a:rPr lang="hu-HU" dirty="0" smtClean="0"/>
              <a:t>, </a:t>
            </a:r>
            <a:r>
              <a:rPr lang="hu-HU" b="1" dirty="0" err="1" smtClean="0"/>
              <a:t>there</a:t>
            </a:r>
            <a:r>
              <a:rPr lang="hu-HU" b="1" dirty="0" smtClean="0"/>
              <a:t> </a:t>
            </a:r>
            <a:r>
              <a:rPr lang="hu-HU" b="1" dirty="0" err="1" smtClean="0"/>
              <a:t>are</a:t>
            </a:r>
            <a:r>
              <a:rPr lang="hu-HU" b="1" dirty="0" smtClean="0"/>
              <a:t> no </a:t>
            </a:r>
            <a:r>
              <a:rPr lang="hu-HU" b="1" dirty="0" err="1" smtClean="0"/>
              <a:t>big</a:t>
            </a:r>
            <a:r>
              <a:rPr lang="hu-HU" b="1" dirty="0" smtClean="0"/>
              <a:t> </a:t>
            </a:r>
            <a:r>
              <a:rPr lang="hu-HU" b="1" dirty="0" err="1" smtClean="0"/>
              <a:t>company</a:t>
            </a:r>
            <a:r>
              <a:rPr lang="hu-HU" b="1" dirty="0" smtClean="0"/>
              <a:t> </a:t>
            </a:r>
            <a:r>
              <a:rPr lang="hu-HU" b="1" dirty="0" err="1" smtClean="0"/>
              <a:t>or</a:t>
            </a:r>
            <a:r>
              <a:rPr lang="hu-HU" b="1" dirty="0" smtClean="0"/>
              <a:t> </a:t>
            </a:r>
            <a:r>
              <a:rPr lang="hu-HU" b="1" dirty="0" err="1" smtClean="0"/>
              <a:t>government</a:t>
            </a:r>
            <a:r>
              <a:rPr lang="hu-HU" b="1" dirty="0" smtClean="0"/>
              <a:t> </a:t>
            </a:r>
            <a:r>
              <a:rPr lang="hu-HU" b="1" dirty="0" err="1" smtClean="0"/>
              <a:t>secrets</a:t>
            </a:r>
            <a:endParaRPr lang="hu-HU" b="1" dirty="0" smtClean="0"/>
          </a:p>
          <a:p>
            <a:pPr lvl="1"/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architecture</a:t>
            </a:r>
            <a:r>
              <a:rPr lang="hu-HU" dirty="0" smtClean="0"/>
              <a:t> is (</a:t>
            </a:r>
            <a:r>
              <a:rPr lang="hu-HU" dirty="0" err="1" smtClean="0"/>
              <a:t>transformer</a:t>
            </a:r>
            <a:r>
              <a:rPr lang="hu-HU" dirty="0" smtClean="0"/>
              <a:t> etc.)</a:t>
            </a:r>
          </a:p>
          <a:p>
            <a:pPr lvl="2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exact</a:t>
            </a:r>
            <a:r>
              <a:rPr lang="hu-HU" dirty="0" smtClean="0"/>
              <a:t> </a:t>
            </a:r>
            <a:r>
              <a:rPr lang="hu-HU" dirty="0" err="1" smtClean="0"/>
              <a:t>implementation</a:t>
            </a:r>
            <a:r>
              <a:rPr lang="hu-HU" dirty="0" smtClean="0"/>
              <a:t> </a:t>
            </a:r>
            <a:r>
              <a:rPr lang="hu-HU" dirty="0" err="1" smtClean="0"/>
              <a:t>details</a:t>
            </a:r>
            <a:r>
              <a:rPr lang="hu-HU" dirty="0" smtClean="0"/>
              <a:t> </a:t>
            </a:r>
            <a:r>
              <a:rPr lang="hu-HU" dirty="0" err="1" smtClean="0"/>
              <a:t>may</a:t>
            </a:r>
            <a:r>
              <a:rPr lang="hu-HU" dirty="0" smtClean="0"/>
              <a:t> be </a:t>
            </a:r>
            <a:r>
              <a:rPr lang="hu-HU" dirty="0" err="1" smtClean="0"/>
              <a:t>kept</a:t>
            </a:r>
            <a:r>
              <a:rPr lang="hu-HU" dirty="0" smtClean="0"/>
              <a:t> </a:t>
            </a:r>
            <a:r>
              <a:rPr lang="hu-HU" dirty="0" err="1" smtClean="0"/>
              <a:t>secret</a:t>
            </a:r>
            <a:r>
              <a:rPr lang="hu-HU" dirty="0" smtClean="0"/>
              <a:t>,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and </a:t>
            </a:r>
            <a:r>
              <a:rPr lang="hu-HU" dirty="0" err="1" smtClean="0"/>
              <a:t>type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, </a:t>
            </a:r>
            <a:r>
              <a:rPr lang="hu-HU" dirty="0" err="1" smtClean="0"/>
              <a:t>number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layers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blocks</a:t>
            </a:r>
            <a:r>
              <a:rPr lang="hu-HU" dirty="0" smtClean="0"/>
              <a:t>, </a:t>
            </a:r>
            <a:r>
              <a:rPr lang="hu-HU" dirty="0" err="1" smtClean="0"/>
              <a:t>parameters</a:t>
            </a:r>
            <a:r>
              <a:rPr lang="hu-HU" dirty="0" smtClean="0"/>
              <a:t>, etc.</a:t>
            </a:r>
          </a:p>
          <a:p>
            <a:pPr lvl="1"/>
            <a:r>
              <a:rPr lang="hu-HU" dirty="0" err="1" smtClean="0"/>
              <a:t>what</a:t>
            </a:r>
            <a:r>
              <a:rPr lang="hu-HU" dirty="0" smtClean="0"/>
              <a:t> sort of hardware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runs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endParaRPr lang="hu-HU" dirty="0" smtClean="0"/>
          </a:p>
          <a:p>
            <a:pPr lvl="2"/>
            <a:r>
              <a:rPr lang="hu-HU" dirty="0" err="1" smtClean="0"/>
              <a:t>exact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GPUs</a:t>
            </a:r>
            <a:r>
              <a:rPr lang="hu-HU" dirty="0" smtClean="0"/>
              <a:t> etc. is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known</a:t>
            </a:r>
            <a:r>
              <a:rPr lang="hu-HU" dirty="0" smtClean="0"/>
              <a:t> and </a:t>
            </a:r>
            <a:r>
              <a:rPr lang="hu-HU" dirty="0" err="1" smtClean="0"/>
              <a:t>changes</a:t>
            </a:r>
            <a:r>
              <a:rPr lang="hu-HU" dirty="0" smtClean="0"/>
              <a:t> </a:t>
            </a:r>
            <a:r>
              <a:rPr lang="hu-HU" dirty="0" err="1" smtClean="0"/>
              <a:t>dynamically</a:t>
            </a:r>
            <a:r>
              <a:rPr lang="hu-HU" dirty="0" smtClean="0"/>
              <a:t> </a:t>
            </a:r>
            <a:r>
              <a:rPr lang="hu-HU" dirty="0" err="1" smtClean="0"/>
              <a:t>anyway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server </a:t>
            </a:r>
            <a:r>
              <a:rPr lang="hu-HU" dirty="0" err="1" smtClean="0"/>
              <a:t>loads</a:t>
            </a:r>
            <a:endParaRPr lang="hu-HU" dirty="0" smtClean="0"/>
          </a:p>
          <a:p>
            <a:r>
              <a:rPr lang="hu-HU" dirty="0" err="1" smtClean="0"/>
              <a:t>AI</a:t>
            </a:r>
            <a:r>
              <a:rPr lang="hu-HU" dirty="0" smtClean="0"/>
              <a:t> </a:t>
            </a:r>
            <a:r>
              <a:rPr lang="hu-HU" dirty="0" err="1" smtClean="0"/>
              <a:t>systems</a:t>
            </a:r>
            <a:r>
              <a:rPr lang="hu-HU" dirty="0" smtClean="0"/>
              <a:t> </a:t>
            </a:r>
            <a:r>
              <a:rPr lang="hu-HU" b="1" dirty="0" err="1" smtClean="0"/>
              <a:t>that</a:t>
            </a:r>
            <a:r>
              <a:rPr lang="hu-HU" b="1" dirty="0" smtClean="0"/>
              <a:t> </a:t>
            </a:r>
            <a:r>
              <a:rPr lang="hu-HU" b="1" dirty="0" err="1" smtClean="0"/>
              <a:t>do</a:t>
            </a:r>
            <a:r>
              <a:rPr lang="hu-HU" b="1" dirty="0" smtClean="0"/>
              <a:t> almost </a:t>
            </a:r>
            <a:r>
              <a:rPr lang="hu-HU" b="1" dirty="0" err="1" smtClean="0"/>
              <a:t>exactly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same</a:t>
            </a:r>
            <a:r>
              <a:rPr lang="hu-HU" b="1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one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proprietary</a:t>
            </a:r>
            <a:r>
              <a:rPr lang="hu-HU" dirty="0" smtClean="0"/>
              <a:t> </a:t>
            </a:r>
            <a:r>
              <a:rPr lang="hu-HU" dirty="0" err="1" smtClean="0"/>
              <a:t>systems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b="1" dirty="0" err="1" smtClean="0"/>
              <a:t>reproduced</a:t>
            </a:r>
            <a:r>
              <a:rPr lang="hu-HU" b="1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’s </a:t>
            </a:r>
            <a:r>
              <a:rPr lang="hu-HU" b="1" dirty="0" err="1" smtClean="0"/>
              <a:t>own</a:t>
            </a:r>
            <a:r>
              <a:rPr lang="hu-HU" b="1" dirty="0" smtClean="0"/>
              <a:t> hardware</a:t>
            </a:r>
            <a:r>
              <a:rPr lang="hu-HU" dirty="0" smtClean="0"/>
              <a:t>,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hardware</a:t>
            </a:r>
            <a:r>
              <a:rPr lang="hu-HU" dirty="0" smtClean="0"/>
              <a:t> </a:t>
            </a:r>
            <a:r>
              <a:rPr lang="hu-HU" dirty="0" err="1" smtClean="0"/>
              <a:t>borrowed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a </a:t>
            </a:r>
            <a:r>
              <a:rPr lang="hu-HU" dirty="0" err="1" smtClean="0"/>
              <a:t>cloud</a:t>
            </a:r>
            <a:r>
              <a:rPr lang="hu-HU" dirty="0" smtClean="0"/>
              <a:t> </a:t>
            </a:r>
            <a:r>
              <a:rPr lang="hu-HU" dirty="0" err="1" smtClean="0"/>
              <a:t>infrastructure</a:t>
            </a:r>
            <a:r>
              <a:rPr lang="hu-HU" dirty="0" smtClean="0"/>
              <a:t> and platform </a:t>
            </a:r>
            <a:r>
              <a:rPr lang="hu-HU" dirty="0" err="1" smtClean="0"/>
              <a:t>provider</a:t>
            </a:r>
            <a:r>
              <a:rPr lang="hu-HU" dirty="0" smtClean="0"/>
              <a:t> (</a:t>
            </a:r>
            <a:r>
              <a:rPr lang="hu-HU" dirty="0" err="1" smtClean="0"/>
              <a:t>Google</a:t>
            </a:r>
            <a:r>
              <a:rPr lang="hu-HU" dirty="0" smtClean="0"/>
              <a:t> </a:t>
            </a:r>
            <a:r>
              <a:rPr lang="hu-HU" dirty="0" err="1" smtClean="0"/>
              <a:t>Cloud</a:t>
            </a:r>
            <a:r>
              <a:rPr lang="hu-HU" dirty="0" smtClean="0"/>
              <a:t>, Amazon </a:t>
            </a:r>
            <a:r>
              <a:rPr lang="hu-HU" dirty="0" err="1" smtClean="0"/>
              <a:t>AWS</a:t>
            </a:r>
            <a:r>
              <a:rPr lang="hu-HU" dirty="0" smtClean="0"/>
              <a:t>, Microsoft </a:t>
            </a:r>
            <a:r>
              <a:rPr lang="hu-HU" dirty="0" err="1" smtClean="0"/>
              <a:t>Azure</a:t>
            </a:r>
            <a:r>
              <a:rPr lang="hu-HU" dirty="0" smtClean="0"/>
              <a:t>)</a:t>
            </a:r>
          </a:p>
          <a:p>
            <a:pPr lvl="1"/>
            <a:r>
              <a:rPr lang="hu-HU" dirty="0" smtClean="0"/>
              <a:t>ML software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platform-specific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open-source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TensorFlow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Pytorch</a:t>
            </a:r>
            <a:endParaRPr lang="hu-HU" dirty="0" smtClean="0"/>
          </a:p>
          <a:p>
            <a:pPr lvl="1"/>
            <a:r>
              <a:rPr lang="hu-HU" dirty="0" smtClean="0"/>
              <a:t>performance and </a:t>
            </a:r>
            <a:r>
              <a:rPr lang="hu-HU" dirty="0" err="1" smtClean="0"/>
              <a:t>prediction</a:t>
            </a:r>
            <a:r>
              <a:rPr lang="hu-HU" dirty="0" smtClean="0"/>
              <a:t> </a:t>
            </a:r>
            <a:r>
              <a:rPr lang="hu-HU" dirty="0" err="1" smtClean="0"/>
              <a:t>accuracy</a:t>
            </a:r>
            <a:r>
              <a:rPr lang="hu-HU" dirty="0" smtClean="0"/>
              <a:t> </a:t>
            </a:r>
            <a:r>
              <a:rPr lang="hu-HU" dirty="0" err="1" smtClean="0"/>
              <a:t>will</a:t>
            </a:r>
            <a:r>
              <a:rPr lang="hu-HU" dirty="0" smtClean="0"/>
              <a:t> be </a:t>
            </a:r>
            <a:r>
              <a:rPr lang="hu-HU" dirty="0" err="1" smtClean="0"/>
              <a:t>likely</a:t>
            </a:r>
            <a:r>
              <a:rPr lang="hu-HU" dirty="0" smtClean="0"/>
              <a:t> </a:t>
            </a:r>
            <a:r>
              <a:rPr lang="hu-HU" dirty="0" err="1" smtClean="0"/>
              <a:t>poorer</a:t>
            </a:r>
            <a:r>
              <a:rPr lang="hu-HU" dirty="0" smtClean="0"/>
              <a:t> </a:t>
            </a:r>
            <a:r>
              <a:rPr lang="hu-HU" dirty="0" err="1" smtClean="0"/>
              <a:t>due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scale</a:t>
            </a:r>
            <a:r>
              <a:rPr lang="hu-HU" dirty="0" smtClean="0"/>
              <a:t> </a:t>
            </a:r>
            <a:r>
              <a:rPr lang="hu-HU" dirty="0" err="1" smtClean="0"/>
              <a:t>if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is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consumer</a:t>
            </a:r>
            <a:r>
              <a:rPr lang="hu-HU" dirty="0" smtClean="0"/>
              <a:t> hardware</a:t>
            </a:r>
          </a:p>
          <a:p>
            <a:r>
              <a:rPr lang="hu-HU" dirty="0" smtClean="0"/>
              <a:t>The </a:t>
            </a:r>
            <a:r>
              <a:rPr lang="hu-HU" dirty="0" err="1" smtClean="0"/>
              <a:t>user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b="1" dirty="0" err="1" smtClean="0"/>
              <a:t>adapt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model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their</a:t>
            </a:r>
            <a:r>
              <a:rPr lang="hu-HU" dirty="0" smtClean="0"/>
              <a:t> </a:t>
            </a:r>
            <a:r>
              <a:rPr lang="hu-HU" dirty="0" err="1" smtClean="0"/>
              <a:t>own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b="1" dirty="0" err="1" smtClean="0"/>
              <a:t>adding</a:t>
            </a:r>
            <a:r>
              <a:rPr lang="hu-HU" b="1" dirty="0" smtClean="0"/>
              <a:t> </a:t>
            </a:r>
            <a:r>
              <a:rPr lang="hu-HU" b="1" dirty="0" err="1" smtClean="0"/>
              <a:t>on</a:t>
            </a:r>
            <a:r>
              <a:rPr lang="hu-HU" b="1" dirty="0" smtClean="0"/>
              <a:t> </a:t>
            </a:r>
            <a:r>
              <a:rPr lang="hu-HU" b="1" dirty="0" err="1" smtClean="0"/>
              <a:t>parts</a:t>
            </a:r>
            <a:r>
              <a:rPr lang="hu-HU" b="1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b="1" dirty="0" err="1" smtClean="0"/>
              <a:t>fine-tuning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existing</a:t>
            </a:r>
            <a:r>
              <a:rPr lang="hu-HU" b="1" dirty="0" smtClean="0"/>
              <a:t> </a:t>
            </a:r>
            <a:r>
              <a:rPr lang="hu-HU" b="1" dirty="0" err="1" smtClean="0"/>
              <a:t>model</a:t>
            </a:r>
            <a:r>
              <a:rPr lang="hu-HU" b="1" dirty="0" smtClean="0"/>
              <a:t> </a:t>
            </a:r>
            <a:r>
              <a:rPr lang="hu-HU" b="1" dirty="0" err="1" smtClean="0"/>
              <a:t>weights</a:t>
            </a:r>
            <a:r>
              <a:rPr lang="hu-HU" dirty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73399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</a:t>
            </a:r>
            <a:r>
              <a:rPr lang="hu-HU" dirty="0" err="1"/>
              <a:t>Current</a:t>
            </a:r>
            <a:r>
              <a:rPr lang="hu-HU" dirty="0"/>
              <a:t> </a:t>
            </a:r>
            <a:r>
              <a:rPr lang="hu-HU" dirty="0" err="1"/>
              <a:t>State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Art </a:t>
            </a:r>
            <a:r>
              <a:rPr lang="hu-HU" dirty="0" err="1"/>
              <a:t>in</a:t>
            </a:r>
            <a:r>
              <a:rPr lang="hu-HU" dirty="0"/>
              <a:t> </a:t>
            </a:r>
            <a:r>
              <a:rPr lang="hu-HU" dirty="0" err="1"/>
              <a:t>AI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000" dirty="0" smtClean="0"/>
              <a:t>Access </a:t>
            </a:r>
            <a:r>
              <a:rPr lang="hu-HU" sz="2000" dirty="0" err="1" smtClean="0"/>
              <a:t>to</a:t>
            </a:r>
            <a:r>
              <a:rPr lang="hu-HU" sz="2000" dirty="0" smtClean="0"/>
              <a:t> </a:t>
            </a:r>
            <a:r>
              <a:rPr lang="hu-HU" sz="2000" dirty="0" err="1" smtClean="0"/>
              <a:t>compute</a:t>
            </a:r>
            <a:r>
              <a:rPr lang="hu-HU" sz="2000" dirty="0" smtClean="0"/>
              <a:t> </a:t>
            </a:r>
            <a:r>
              <a:rPr lang="hu-HU" sz="2000" dirty="0" err="1" smtClean="0"/>
              <a:t>resources</a:t>
            </a:r>
            <a:r>
              <a:rPr lang="hu-HU" sz="2000" dirty="0" smtClean="0"/>
              <a:t> and </a:t>
            </a:r>
            <a:r>
              <a:rPr lang="hu-HU" sz="2000" dirty="0" err="1" smtClean="0"/>
              <a:t>data</a:t>
            </a:r>
            <a:r>
              <a:rPr lang="hu-HU" sz="2000" dirty="0" smtClean="0"/>
              <a:t> is </a:t>
            </a:r>
            <a:r>
              <a:rPr lang="hu-HU" sz="2000" dirty="0" err="1" smtClean="0"/>
              <a:t>crucial</a:t>
            </a:r>
            <a:endParaRPr lang="hu-HU" sz="2000" dirty="0" smtClean="0"/>
          </a:p>
          <a:p>
            <a:r>
              <a:rPr lang="hu-HU" sz="2000" dirty="0" smtClean="0"/>
              <a:t>A </a:t>
            </a:r>
            <a:r>
              <a:rPr lang="hu-HU" sz="2000" dirty="0" err="1" smtClean="0"/>
              <a:t>mid-tier</a:t>
            </a:r>
            <a:r>
              <a:rPr lang="hu-HU" sz="2000" dirty="0" smtClean="0"/>
              <a:t> </a:t>
            </a:r>
            <a:r>
              <a:rPr lang="hu-HU" sz="2000" dirty="0" err="1" smtClean="0"/>
              <a:t>GPU</a:t>
            </a:r>
            <a:r>
              <a:rPr lang="hu-HU" sz="2000" dirty="0" smtClean="0"/>
              <a:t> </a:t>
            </a:r>
            <a:r>
              <a:rPr lang="hu-HU" sz="2000" dirty="0" err="1" smtClean="0"/>
              <a:t>card</a:t>
            </a:r>
            <a:r>
              <a:rPr lang="hu-HU" sz="2000" dirty="0" smtClean="0"/>
              <a:t> </a:t>
            </a:r>
            <a:r>
              <a:rPr lang="hu-HU" sz="2000" dirty="0" err="1" smtClean="0"/>
              <a:t>today</a:t>
            </a:r>
            <a:r>
              <a:rPr lang="hu-HU" sz="2000" dirty="0" smtClean="0"/>
              <a:t> is </a:t>
            </a:r>
            <a:r>
              <a:rPr lang="hu-HU" sz="2000" dirty="0" err="1" smtClean="0"/>
              <a:t>as</a:t>
            </a:r>
            <a:r>
              <a:rPr lang="hu-HU" sz="2000" dirty="0" smtClean="0"/>
              <a:t> </a:t>
            </a:r>
            <a:r>
              <a:rPr lang="hu-HU" sz="2000" dirty="0" err="1" smtClean="0"/>
              <a:t>fast</a:t>
            </a:r>
            <a:r>
              <a:rPr lang="hu-HU" sz="2000" dirty="0" smtClean="0"/>
              <a:t> </a:t>
            </a:r>
            <a:r>
              <a:rPr lang="hu-HU" sz="2000" dirty="0" err="1" smtClean="0"/>
              <a:t>as</a:t>
            </a:r>
            <a:r>
              <a:rPr lang="hu-HU" sz="2000" dirty="0" smtClean="0"/>
              <a:t> </a:t>
            </a:r>
            <a:r>
              <a:rPr lang="hu-HU" sz="2000" dirty="0" err="1" smtClean="0"/>
              <a:t>the</a:t>
            </a:r>
            <a:r>
              <a:rPr lang="hu-HU" sz="2000" dirty="0" smtClean="0"/>
              <a:t> </a:t>
            </a:r>
            <a:r>
              <a:rPr lang="hu-HU" sz="2000" dirty="0" err="1" smtClean="0"/>
              <a:t>world</a:t>
            </a:r>
            <a:r>
              <a:rPr lang="hu-HU" sz="2000" dirty="0" smtClean="0"/>
              <a:t>’s </a:t>
            </a:r>
            <a:r>
              <a:rPr lang="hu-HU" sz="2000" dirty="0" err="1" smtClean="0"/>
              <a:t>fastest</a:t>
            </a:r>
            <a:r>
              <a:rPr lang="hu-HU" sz="2000" dirty="0" smtClean="0"/>
              <a:t> </a:t>
            </a:r>
            <a:r>
              <a:rPr lang="hu-HU" sz="2000" dirty="0" err="1" smtClean="0"/>
              <a:t>supercomputers</a:t>
            </a:r>
            <a:r>
              <a:rPr lang="hu-HU" sz="2000" dirty="0" smtClean="0"/>
              <a:t> 20 </a:t>
            </a:r>
            <a:r>
              <a:rPr lang="hu-HU" sz="2000" dirty="0" err="1" smtClean="0"/>
              <a:t>years</a:t>
            </a:r>
            <a:r>
              <a:rPr lang="hu-HU" sz="2000" dirty="0" smtClean="0"/>
              <a:t> </a:t>
            </a:r>
            <a:r>
              <a:rPr lang="hu-HU" sz="2000" dirty="0" err="1" smtClean="0"/>
              <a:t>ago</a:t>
            </a:r>
            <a:endParaRPr lang="hu-HU" sz="2000" dirty="0" smtClean="0"/>
          </a:p>
          <a:p>
            <a:pPr lvl="1"/>
            <a:r>
              <a:rPr lang="hu-HU" sz="1800" dirty="0" err="1" smtClean="0"/>
              <a:t>Example</a:t>
            </a:r>
            <a:r>
              <a:rPr lang="hu-HU" sz="1800" dirty="0" smtClean="0"/>
              <a:t>: IBM </a:t>
            </a:r>
            <a:r>
              <a:rPr lang="hu-HU" sz="1800" dirty="0" err="1" smtClean="0"/>
              <a:t>ASCI</a:t>
            </a:r>
            <a:r>
              <a:rPr lang="hu-HU" sz="1800" dirty="0" smtClean="0"/>
              <a:t> White had a </a:t>
            </a:r>
            <a:r>
              <a:rPr lang="hu-HU" sz="1800" dirty="0" err="1" smtClean="0"/>
              <a:t>processing</a:t>
            </a:r>
            <a:r>
              <a:rPr lang="hu-HU" sz="1800" dirty="0" smtClean="0"/>
              <a:t> </a:t>
            </a:r>
            <a:r>
              <a:rPr lang="hu-HU" sz="1800" dirty="0" err="1" smtClean="0"/>
              <a:t>speed</a:t>
            </a:r>
            <a:r>
              <a:rPr lang="hu-HU" sz="1800" dirty="0" smtClean="0"/>
              <a:t> of 12 </a:t>
            </a:r>
            <a:r>
              <a:rPr lang="hu-HU" sz="1800" dirty="0" err="1" smtClean="0"/>
              <a:t>teraflops</a:t>
            </a:r>
            <a:r>
              <a:rPr lang="hu-HU" sz="1800" dirty="0" smtClean="0"/>
              <a:t>, 8000 </a:t>
            </a:r>
            <a:r>
              <a:rPr lang="hu-HU" sz="1800" dirty="0" err="1" smtClean="0"/>
              <a:t>processors</a:t>
            </a:r>
            <a:r>
              <a:rPr lang="hu-HU" sz="1800" dirty="0" smtClean="0"/>
              <a:t>, </a:t>
            </a:r>
            <a:r>
              <a:rPr lang="hu-HU" sz="1800" dirty="0" err="1" smtClean="0"/>
              <a:t>weighed</a:t>
            </a:r>
            <a:r>
              <a:rPr lang="hu-HU" sz="1800" dirty="0" smtClean="0"/>
              <a:t> 100 </a:t>
            </a:r>
            <a:r>
              <a:rPr lang="hu-HU" sz="1800" dirty="0" err="1" smtClean="0"/>
              <a:t>tons</a:t>
            </a:r>
            <a:r>
              <a:rPr lang="hu-HU" sz="1800" dirty="0" smtClean="0"/>
              <a:t> and </a:t>
            </a:r>
            <a:r>
              <a:rPr lang="hu-HU" sz="1800" dirty="0" err="1" smtClean="0"/>
              <a:t>consumed</a:t>
            </a:r>
            <a:r>
              <a:rPr lang="hu-HU" sz="1800" dirty="0" smtClean="0"/>
              <a:t> 6 MW </a:t>
            </a:r>
            <a:r>
              <a:rPr lang="hu-HU" sz="1800" dirty="0" err="1" smtClean="0"/>
              <a:t>electricity</a:t>
            </a:r>
            <a:r>
              <a:rPr lang="hu-HU" sz="1800" dirty="0" smtClean="0"/>
              <a:t> (</a:t>
            </a:r>
            <a:r>
              <a:rPr lang="hu-HU" sz="1800" dirty="0" err="1" smtClean="0">
                <a:hlinkClick r:id="rId2"/>
              </a:rPr>
              <a:t>source</a:t>
            </a:r>
            <a:r>
              <a:rPr lang="hu-HU" sz="1800" dirty="0" smtClean="0"/>
              <a:t>)</a:t>
            </a:r>
          </a:p>
          <a:p>
            <a:pPr lvl="1"/>
            <a:r>
              <a:rPr lang="hu-HU" sz="1800" dirty="0" err="1" smtClean="0"/>
              <a:t>GeForce</a:t>
            </a:r>
            <a:r>
              <a:rPr lang="hu-HU" sz="1800" dirty="0" smtClean="0"/>
              <a:t> 3060: 10 </a:t>
            </a:r>
            <a:r>
              <a:rPr lang="hu-HU" sz="1800" dirty="0" err="1" smtClean="0"/>
              <a:t>teraflops</a:t>
            </a:r>
            <a:r>
              <a:rPr lang="hu-HU" sz="1800" dirty="0" smtClean="0"/>
              <a:t>, 3500 </a:t>
            </a:r>
            <a:r>
              <a:rPr lang="hu-HU" sz="1800" dirty="0" err="1" smtClean="0"/>
              <a:t>processors</a:t>
            </a:r>
            <a:r>
              <a:rPr lang="hu-HU" sz="1800" dirty="0" smtClean="0"/>
              <a:t>, </a:t>
            </a:r>
            <a:r>
              <a:rPr lang="hu-HU" sz="1800" dirty="0" err="1" smtClean="0"/>
              <a:t>consumes</a:t>
            </a:r>
            <a:r>
              <a:rPr lang="hu-HU" sz="1800" dirty="0" smtClean="0"/>
              <a:t> 170 W, 12 GB RAM</a:t>
            </a:r>
          </a:p>
          <a:p>
            <a:r>
              <a:rPr lang="hu-HU" sz="2200" dirty="0" err="1" smtClean="0"/>
              <a:t>However</a:t>
            </a:r>
            <a:r>
              <a:rPr lang="hu-HU" sz="2200" dirty="0" smtClean="0"/>
              <a:t>, </a:t>
            </a:r>
            <a:r>
              <a:rPr lang="hu-HU" sz="2200" dirty="0" err="1" smtClean="0"/>
              <a:t>what</a:t>
            </a:r>
            <a:r>
              <a:rPr lang="hu-HU" sz="2200" dirty="0" smtClean="0"/>
              <a:t> is </a:t>
            </a:r>
            <a:r>
              <a:rPr lang="hu-HU" sz="2200" dirty="0" err="1" smtClean="0"/>
              <a:t>needed</a:t>
            </a:r>
            <a:r>
              <a:rPr lang="hu-HU" sz="2200" dirty="0" smtClean="0"/>
              <a:t> </a:t>
            </a:r>
            <a:r>
              <a:rPr lang="hu-HU" sz="2200" dirty="0" err="1" smtClean="0"/>
              <a:t>to</a:t>
            </a:r>
            <a:r>
              <a:rPr lang="hu-HU" sz="2200" dirty="0" smtClean="0"/>
              <a:t> </a:t>
            </a:r>
            <a:r>
              <a:rPr lang="hu-HU" sz="2200" dirty="0" err="1" smtClean="0"/>
              <a:t>even</a:t>
            </a:r>
            <a:r>
              <a:rPr lang="hu-HU" sz="2200" dirty="0" smtClean="0"/>
              <a:t> </a:t>
            </a:r>
            <a:r>
              <a:rPr lang="hu-HU" sz="2200" dirty="0" err="1" smtClean="0"/>
              <a:t>run</a:t>
            </a:r>
            <a:r>
              <a:rPr lang="hu-HU" sz="2200" dirty="0" smtClean="0"/>
              <a:t> a </a:t>
            </a:r>
            <a:r>
              <a:rPr lang="hu-HU" sz="2200" dirty="0" err="1" smtClean="0"/>
              <a:t>large</a:t>
            </a:r>
            <a:r>
              <a:rPr lang="hu-HU" sz="2200" dirty="0" smtClean="0"/>
              <a:t> </a:t>
            </a:r>
            <a:r>
              <a:rPr lang="hu-HU" sz="2200" dirty="0" err="1" smtClean="0"/>
              <a:t>deep</a:t>
            </a:r>
            <a:r>
              <a:rPr lang="hu-HU" sz="2200" dirty="0" smtClean="0"/>
              <a:t> </a:t>
            </a:r>
            <a:r>
              <a:rPr lang="hu-HU" sz="2200" dirty="0" err="1" smtClean="0"/>
              <a:t>neural</a:t>
            </a:r>
            <a:r>
              <a:rPr lang="hu-HU" sz="2200" dirty="0" smtClean="0"/>
              <a:t> </a:t>
            </a:r>
            <a:r>
              <a:rPr lang="hu-HU" sz="2200" dirty="0" err="1" smtClean="0"/>
              <a:t>network</a:t>
            </a:r>
            <a:r>
              <a:rPr lang="hu-HU" sz="2200" dirty="0" smtClean="0"/>
              <a:t> (</a:t>
            </a:r>
            <a:r>
              <a:rPr lang="hu-HU" sz="2200" dirty="0" err="1" smtClean="0"/>
              <a:t>such</a:t>
            </a:r>
            <a:r>
              <a:rPr lang="hu-HU" sz="2200" dirty="0" smtClean="0"/>
              <a:t> </a:t>
            </a:r>
            <a:r>
              <a:rPr lang="hu-HU" sz="2200" dirty="0" err="1" smtClean="0"/>
              <a:t>as</a:t>
            </a:r>
            <a:r>
              <a:rPr lang="hu-HU" sz="2200" dirty="0" smtClean="0"/>
              <a:t> an </a:t>
            </a:r>
            <a:r>
              <a:rPr lang="hu-HU" sz="2200" dirty="0" err="1" smtClean="0"/>
              <a:t>LLM</a:t>
            </a:r>
            <a:r>
              <a:rPr lang="hu-HU" sz="2200" dirty="0" smtClean="0"/>
              <a:t>) is </a:t>
            </a:r>
            <a:r>
              <a:rPr lang="hu-HU" sz="2200" dirty="0" err="1" smtClean="0"/>
              <a:t>tens</a:t>
            </a:r>
            <a:r>
              <a:rPr lang="hu-HU" sz="2200" dirty="0" smtClean="0"/>
              <a:t> of </a:t>
            </a:r>
            <a:r>
              <a:rPr lang="hu-HU" sz="2200" dirty="0" err="1" smtClean="0"/>
              <a:t>such</a:t>
            </a:r>
            <a:r>
              <a:rPr lang="hu-HU" sz="2200" dirty="0" smtClean="0"/>
              <a:t> </a:t>
            </a:r>
            <a:r>
              <a:rPr lang="hu-HU" sz="2200" dirty="0" err="1" smtClean="0"/>
              <a:t>cards</a:t>
            </a:r>
            <a:endParaRPr lang="en-GB" sz="2200" dirty="0"/>
          </a:p>
        </p:txBody>
      </p:sp>
      <p:pic>
        <p:nvPicPr>
          <p:cNvPr id="1026" name="Picture 2" descr="https://www.ithistory.org/sites/default/files/hardware/IBM%20Asci%20whit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9792" y="4437112"/>
            <a:ext cx="3312368" cy="2173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4627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5456</TotalTime>
  <Words>4034</Words>
  <Application>Microsoft Office PowerPoint</Application>
  <PresentationFormat>Diavetítés a képernyőre (4:3 oldalarány)</PresentationFormat>
  <Paragraphs>283</Paragraphs>
  <Slides>30</Slides>
  <Notes>2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30</vt:i4>
      </vt:variant>
    </vt:vector>
  </HeadingPairs>
  <TitlesOfParts>
    <vt:vector size="31" baseType="lpstr">
      <vt:lpstr>Office-téma</vt:lpstr>
      <vt:lpstr>Generative Artificial Intelligence Deep Learning and the State of the Art in AI Today</vt:lpstr>
      <vt:lpstr>Deep Learning</vt:lpstr>
      <vt:lpstr>Deep Learning</vt:lpstr>
      <vt:lpstr>Deep Learning</vt:lpstr>
      <vt:lpstr>Deep Learning</vt:lpstr>
      <vt:lpstr>Deep Learning</vt:lpstr>
      <vt:lpstr>Deep Learning</vt:lpstr>
      <vt:lpstr>Deep Learning vs Traditional ML</vt:lpstr>
      <vt:lpstr>Deep Learning vs Traditional ML</vt:lpstr>
      <vt:lpstr>Noise</vt:lpstr>
      <vt:lpstr>Noise</vt:lpstr>
      <vt:lpstr>Representation Learning</vt:lpstr>
      <vt:lpstr>PowerPoint bemutató</vt:lpstr>
      <vt:lpstr>Representation Learning</vt:lpstr>
      <vt:lpstr>Transfer Learning</vt:lpstr>
      <vt:lpstr>Transfer Learning</vt:lpstr>
      <vt:lpstr>Advantages of Transfer Learning</vt:lpstr>
      <vt:lpstr>The Rise of Generative Models</vt:lpstr>
      <vt:lpstr>The Rise of Generative Models</vt:lpstr>
      <vt:lpstr>The Rise of Generative Models</vt:lpstr>
      <vt:lpstr>Foundation Models</vt:lpstr>
      <vt:lpstr>Foundation Models</vt:lpstr>
      <vt:lpstr>The Current State of the Art in AI</vt:lpstr>
      <vt:lpstr>The Current State of the Art in AI</vt:lpstr>
      <vt:lpstr>The Current State of the Art in AI</vt:lpstr>
      <vt:lpstr>The Current State of the Art in AI</vt:lpstr>
      <vt:lpstr>The Current State of the Art in AI</vt:lpstr>
      <vt:lpstr>The Current State of the Art in AI</vt:lpstr>
      <vt:lpstr>The Current State of the Art in AI</vt:lpstr>
      <vt:lpstr>The Current State of the Art in AI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Generatív mesterséges intelligencia</dc:title>
  <dc:creator>Anonim</dc:creator>
  <cp:lastModifiedBy>Anonim</cp:lastModifiedBy>
  <cp:revision>157</cp:revision>
  <dcterms:created xsi:type="dcterms:W3CDTF">2025-09-30T21:12:38Z</dcterms:created>
  <dcterms:modified xsi:type="dcterms:W3CDTF">2025-10-30T17:53:52Z</dcterms:modified>
</cp:coreProperties>
</file>