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6" r:id="rId20"/>
    <p:sldId id="275" r:id="rId21"/>
    <p:sldId id="277" r:id="rId22"/>
    <p:sldId id="281" r:id="rId23"/>
    <p:sldId id="283" r:id="rId24"/>
    <p:sldId id="278" r:id="rId25"/>
    <p:sldId id="279" r:id="rId26"/>
    <p:sldId id="280" r:id="rId27"/>
    <p:sldId id="282" r:id="rId28"/>
    <p:sldId id="284" r:id="rId29"/>
    <p:sldId id="285"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1" d="100"/>
          <a:sy n="91" d="100"/>
        </p:scale>
        <p:origin x="-1018"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átum hely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EA2FFFB-FF04-4951-AFFB-2953F8C927C4}" type="datetimeFigureOut">
              <a:rPr lang="en-GB" smtClean="0"/>
              <a:t>03/12/2025</a:t>
            </a:fld>
            <a:endParaRPr lang="en-GB"/>
          </a:p>
        </p:txBody>
      </p:sp>
      <p:sp>
        <p:nvSpPr>
          <p:cNvPr id="4" name="Diakép hely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Jegyzetek helye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GB"/>
          </a:p>
        </p:txBody>
      </p:sp>
      <p:sp>
        <p:nvSpPr>
          <p:cNvPr id="6" name="Élőláb hely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Dia számának hely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FA1CB18-C186-4926-8EA1-5AE4E4CDDCF5}" type="slidenum">
              <a:rPr lang="en-GB" smtClean="0"/>
              <a:t>‹#›</a:t>
            </a:fld>
            <a:endParaRPr lang="en-GB"/>
          </a:p>
        </p:txBody>
      </p:sp>
    </p:spTree>
    <p:extLst>
      <p:ext uri="{BB962C8B-B14F-4D97-AF65-F5344CB8AC3E}">
        <p14:creationId xmlns:p14="http://schemas.microsoft.com/office/powerpoint/2010/main" val="2954519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endParaRPr lang="en-GB" dirty="0"/>
          </a:p>
        </p:txBody>
      </p:sp>
      <p:sp>
        <p:nvSpPr>
          <p:cNvPr id="4" name="Dia számának helye 3"/>
          <p:cNvSpPr>
            <a:spLocks noGrp="1"/>
          </p:cNvSpPr>
          <p:nvPr>
            <p:ph type="sldNum" sz="quarter" idx="10"/>
          </p:nvPr>
        </p:nvSpPr>
        <p:spPr/>
        <p:txBody>
          <a:bodyPr/>
          <a:lstStyle/>
          <a:p>
            <a:fld id="{AFA1CB18-C186-4926-8EA1-5AE4E4CDDCF5}" type="slidenum">
              <a:rPr lang="en-GB" smtClean="0"/>
              <a:t>9</a:t>
            </a:fld>
            <a:endParaRPr lang="en-GB"/>
          </a:p>
        </p:txBody>
      </p:sp>
    </p:spTree>
    <p:extLst>
      <p:ext uri="{BB962C8B-B14F-4D97-AF65-F5344CB8AC3E}">
        <p14:creationId xmlns:p14="http://schemas.microsoft.com/office/powerpoint/2010/main" val="2312956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sp>
        <p:nvSpPr>
          <p:cNvPr id="2" name="Cím 1"/>
          <p:cNvSpPr>
            <a:spLocks noGrp="1"/>
          </p:cNvSpPr>
          <p:nvPr>
            <p:ph type="ctrTitle"/>
          </p:nvPr>
        </p:nvSpPr>
        <p:spPr>
          <a:xfrm>
            <a:off x="685800" y="2130425"/>
            <a:ext cx="7772400" cy="1470025"/>
          </a:xfrm>
        </p:spPr>
        <p:txBody>
          <a:bodyPr/>
          <a:lstStyle/>
          <a:p>
            <a:r>
              <a:rPr lang="hu-HU" smtClean="0"/>
              <a:t>Mintacím szerkesztése</a:t>
            </a:r>
            <a:endParaRPr lang="en-GB"/>
          </a:p>
        </p:txBody>
      </p:sp>
      <p:sp>
        <p:nvSpPr>
          <p:cNvPr id="3" name="Alcím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u-HU" smtClean="0"/>
              <a:t>Alcím mintájának szerkesztése</a:t>
            </a:r>
            <a:endParaRPr lang="en-GB"/>
          </a:p>
        </p:txBody>
      </p:sp>
      <p:sp>
        <p:nvSpPr>
          <p:cNvPr id="4" name="Dátum helye 3"/>
          <p:cNvSpPr>
            <a:spLocks noGrp="1"/>
          </p:cNvSpPr>
          <p:nvPr>
            <p:ph type="dt" sz="half" idx="10"/>
          </p:nvPr>
        </p:nvSpPr>
        <p:spPr/>
        <p:txBody>
          <a:bodyPr/>
          <a:lstStyle/>
          <a:p>
            <a:fld id="{0642860B-0964-4C95-BF1A-62834899E920}" type="datetimeFigureOut">
              <a:rPr lang="en-GB" smtClean="0"/>
              <a:t>03/12/2025</a:t>
            </a:fld>
            <a:endParaRPr lang="en-GB"/>
          </a:p>
        </p:txBody>
      </p:sp>
      <p:sp>
        <p:nvSpPr>
          <p:cNvPr id="5" name="Élőláb helye 4"/>
          <p:cNvSpPr>
            <a:spLocks noGrp="1"/>
          </p:cNvSpPr>
          <p:nvPr>
            <p:ph type="ftr" sz="quarter" idx="11"/>
          </p:nvPr>
        </p:nvSpPr>
        <p:spPr/>
        <p:txBody>
          <a:bodyPr/>
          <a:lstStyle/>
          <a:p>
            <a:endParaRPr lang="en-GB"/>
          </a:p>
        </p:txBody>
      </p:sp>
      <p:sp>
        <p:nvSpPr>
          <p:cNvPr id="6" name="Dia számának helye 5"/>
          <p:cNvSpPr>
            <a:spLocks noGrp="1"/>
          </p:cNvSpPr>
          <p:nvPr>
            <p:ph type="sldNum" sz="quarter" idx="12"/>
          </p:nvPr>
        </p:nvSpPr>
        <p:spPr/>
        <p:txBody>
          <a:bodyPr/>
          <a:lstStyle/>
          <a:p>
            <a:fld id="{D1B48FE3-68F3-4711-B439-24C22D84FF56}" type="slidenum">
              <a:rPr lang="en-GB" smtClean="0"/>
              <a:t>‹#›</a:t>
            </a:fld>
            <a:endParaRPr lang="en-GB"/>
          </a:p>
        </p:txBody>
      </p:sp>
    </p:spTree>
    <p:extLst>
      <p:ext uri="{BB962C8B-B14F-4D97-AF65-F5344CB8AC3E}">
        <p14:creationId xmlns:p14="http://schemas.microsoft.com/office/powerpoint/2010/main" val="3062695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smtClean="0"/>
              <a:t>Mintacím szerkesztése</a:t>
            </a:r>
            <a:endParaRPr lang="en-GB"/>
          </a:p>
        </p:txBody>
      </p:sp>
      <p:sp>
        <p:nvSpPr>
          <p:cNvPr id="3" name="Tartalom helye 2"/>
          <p:cNvSpPr>
            <a:spLocks noGrp="1"/>
          </p:cNvSpPr>
          <p:nvPr>
            <p:ph idx="1"/>
          </p:nvPr>
        </p:nvSpPr>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GB"/>
          </a:p>
        </p:txBody>
      </p:sp>
      <p:sp>
        <p:nvSpPr>
          <p:cNvPr id="4" name="Dátum helye 3"/>
          <p:cNvSpPr>
            <a:spLocks noGrp="1"/>
          </p:cNvSpPr>
          <p:nvPr>
            <p:ph type="dt" sz="half" idx="10"/>
          </p:nvPr>
        </p:nvSpPr>
        <p:spPr/>
        <p:txBody>
          <a:bodyPr/>
          <a:lstStyle/>
          <a:p>
            <a:fld id="{0642860B-0964-4C95-BF1A-62834899E920}" type="datetimeFigureOut">
              <a:rPr lang="en-GB" smtClean="0"/>
              <a:t>03/12/2025</a:t>
            </a:fld>
            <a:endParaRPr lang="en-GB"/>
          </a:p>
        </p:txBody>
      </p:sp>
      <p:sp>
        <p:nvSpPr>
          <p:cNvPr id="5" name="Élőláb helye 4"/>
          <p:cNvSpPr>
            <a:spLocks noGrp="1"/>
          </p:cNvSpPr>
          <p:nvPr>
            <p:ph type="ftr" sz="quarter" idx="11"/>
          </p:nvPr>
        </p:nvSpPr>
        <p:spPr/>
        <p:txBody>
          <a:bodyPr/>
          <a:lstStyle/>
          <a:p>
            <a:endParaRPr lang="en-GB"/>
          </a:p>
        </p:txBody>
      </p:sp>
      <p:sp>
        <p:nvSpPr>
          <p:cNvPr id="6" name="Dia számának helye 5"/>
          <p:cNvSpPr>
            <a:spLocks noGrp="1"/>
          </p:cNvSpPr>
          <p:nvPr>
            <p:ph type="sldNum" sz="quarter" idx="12"/>
          </p:nvPr>
        </p:nvSpPr>
        <p:spPr/>
        <p:txBody>
          <a:bodyPr/>
          <a:lstStyle/>
          <a:p>
            <a:fld id="{D1B48FE3-68F3-4711-B439-24C22D84FF56}" type="slidenum">
              <a:rPr lang="en-GB" smtClean="0"/>
              <a:t>‹#›</a:t>
            </a:fld>
            <a:endParaRPr lang="en-GB"/>
          </a:p>
        </p:txBody>
      </p:sp>
    </p:spTree>
    <p:extLst>
      <p:ext uri="{BB962C8B-B14F-4D97-AF65-F5344CB8AC3E}">
        <p14:creationId xmlns:p14="http://schemas.microsoft.com/office/powerpoint/2010/main" val="2312244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Cím 1"/>
          <p:cNvSpPr>
            <a:spLocks noGrp="1"/>
          </p:cNvSpPr>
          <p:nvPr>
            <p:ph type="title"/>
          </p:nvPr>
        </p:nvSpPr>
        <p:spPr>
          <a:xfrm>
            <a:off x="722313" y="4406900"/>
            <a:ext cx="7772400" cy="1362075"/>
          </a:xfrm>
        </p:spPr>
        <p:txBody>
          <a:bodyPr anchor="t"/>
          <a:lstStyle>
            <a:lvl1pPr algn="l">
              <a:defRPr sz="4000" b="1" cap="all"/>
            </a:lvl1pPr>
          </a:lstStyle>
          <a:p>
            <a:r>
              <a:rPr lang="hu-HU" smtClean="0"/>
              <a:t>Mintacím szerkesztése</a:t>
            </a:r>
            <a:endParaRPr lang="en-GB"/>
          </a:p>
        </p:txBody>
      </p:sp>
      <p:sp>
        <p:nvSpPr>
          <p:cNvPr id="3" name="Szöveg hely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smtClean="0"/>
              <a:t>Mintaszöveg szerkesztése</a:t>
            </a:r>
          </a:p>
        </p:txBody>
      </p:sp>
      <p:sp>
        <p:nvSpPr>
          <p:cNvPr id="4" name="Dátum helye 3"/>
          <p:cNvSpPr>
            <a:spLocks noGrp="1"/>
          </p:cNvSpPr>
          <p:nvPr>
            <p:ph type="dt" sz="half" idx="10"/>
          </p:nvPr>
        </p:nvSpPr>
        <p:spPr/>
        <p:txBody>
          <a:bodyPr/>
          <a:lstStyle/>
          <a:p>
            <a:fld id="{0642860B-0964-4C95-BF1A-62834899E920}" type="datetimeFigureOut">
              <a:rPr lang="en-GB" smtClean="0"/>
              <a:t>03/12/2025</a:t>
            </a:fld>
            <a:endParaRPr lang="en-GB"/>
          </a:p>
        </p:txBody>
      </p:sp>
      <p:sp>
        <p:nvSpPr>
          <p:cNvPr id="5" name="Élőláb helye 4"/>
          <p:cNvSpPr>
            <a:spLocks noGrp="1"/>
          </p:cNvSpPr>
          <p:nvPr>
            <p:ph type="ftr" sz="quarter" idx="11"/>
          </p:nvPr>
        </p:nvSpPr>
        <p:spPr/>
        <p:txBody>
          <a:bodyPr/>
          <a:lstStyle/>
          <a:p>
            <a:endParaRPr lang="en-GB"/>
          </a:p>
        </p:txBody>
      </p:sp>
      <p:sp>
        <p:nvSpPr>
          <p:cNvPr id="6" name="Dia számának helye 5"/>
          <p:cNvSpPr>
            <a:spLocks noGrp="1"/>
          </p:cNvSpPr>
          <p:nvPr>
            <p:ph type="sldNum" sz="quarter" idx="12"/>
          </p:nvPr>
        </p:nvSpPr>
        <p:spPr/>
        <p:txBody>
          <a:bodyPr/>
          <a:lstStyle/>
          <a:p>
            <a:fld id="{D1B48FE3-68F3-4711-B439-24C22D84FF56}" type="slidenum">
              <a:rPr lang="en-GB" smtClean="0"/>
              <a:t>‹#›</a:t>
            </a:fld>
            <a:endParaRPr lang="en-GB"/>
          </a:p>
        </p:txBody>
      </p:sp>
    </p:spTree>
    <p:extLst>
      <p:ext uri="{BB962C8B-B14F-4D97-AF65-F5344CB8AC3E}">
        <p14:creationId xmlns:p14="http://schemas.microsoft.com/office/powerpoint/2010/main" val="1111465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smtClean="0"/>
              <a:t>Mintacím szerkesztése</a:t>
            </a:r>
            <a:endParaRPr lang="en-GB"/>
          </a:p>
        </p:txBody>
      </p:sp>
      <p:sp>
        <p:nvSpPr>
          <p:cNvPr id="3" name="Tartalom helye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GB"/>
          </a:p>
        </p:txBody>
      </p:sp>
      <p:sp>
        <p:nvSpPr>
          <p:cNvPr id="4" name="Tartalom helye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GB"/>
          </a:p>
        </p:txBody>
      </p:sp>
      <p:sp>
        <p:nvSpPr>
          <p:cNvPr id="5" name="Dátum helye 4"/>
          <p:cNvSpPr>
            <a:spLocks noGrp="1"/>
          </p:cNvSpPr>
          <p:nvPr>
            <p:ph type="dt" sz="half" idx="10"/>
          </p:nvPr>
        </p:nvSpPr>
        <p:spPr/>
        <p:txBody>
          <a:bodyPr/>
          <a:lstStyle/>
          <a:p>
            <a:fld id="{0642860B-0964-4C95-BF1A-62834899E920}" type="datetimeFigureOut">
              <a:rPr lang="en-GB" smtClean="0"/>
              <a:t>03/12/2025</a:t>
            </a:fld>
            <a:endParaRPr lang="en-GB"/>
          </a:p>
        </p:txBody>
      </p:sp>
      <p:sp>
        <p:nvSpPr>
          <p:cNvPr id="6" name="Élőláb helye 5"/>
          <p:cNvSpPr>
            <a:spLocks noGrp="1"/>
          </p:cNvSpPr>
          <p:nvPr>
            <p:ph type="ftr" sz="quarter" idx="11"/>
          </p:nvPr>
        </p:nvSpPr>
        <p:spPr/>
        <p:txBody>
          <a:bodyPr/>
          <a:lstStyle/>
          <a:p>
            <a:endParaRPr lang="en-GB"/>
          </a:p>
        </p:txBody>
      </p:sp>
      <p:sp>
        <p:nvSpPr>
          <p:cNvPr id="7" name="Dia számának helye 6"/>
          <p:cNvSpPr>
            <a:spLocks noGrp="1"/>
          </p:cNvSpPr>
          <p:nvPr>
            <p:ph type="sldNum" sz="quarter" idx="12"/>
          </p:nvPr>
        </p:nvSpPr>
        <p:spPr/>
        <p:txBody>
          <a:bodyPr/>
          <a:lstStyle/>
          <a:p>
            <a:fld id="{D1B48FE3-68F3-4711-B439-24C22D84FF56}" type="slidenum">
              <a:rPr lang="en-GB" smtClean="0"/>
              <a:t>‹#›</a:t>
            </a:fld>
            <a:endParaRPr lang="en-GB"/>
          </a:p>
        </p:txBody>
      </p:sp>
    </p:spTree>
    <p:extLst>
      <p:ext uri="{BB962C8B-B14F-4D97-AF65-F5344CB8AC3E}">
        <p14:creationId xmlns:p14="http://schemas.microsoft.com/office/powerpoint/2010/main" val="4218580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lvl1pPr>
              <a:defRPr/>
            </a:lvl1pPr>
          </a:lstStyle>
          <a:p>
            <a:r>
              <a:rPr lang="hu-HU" smtClean="0"/>
              <a:t>Mintacím szerkesztése</a:t>
            </a:r>
            <a:endParaRPr lang="en-GB"/>
          </a:p>
        </p:txBody>
      </p:sp>
      <p:sp>
        <p:nvSpPr>
          <p:cNvPr id="3" name="Szöveg hely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smtClean="0"/>
              <a:t>Mintaszöveg szerkesztése</a:t>
            </a:r>
          </a:p>
        </p:txBody>
      </p:sp>
      <p:sp>
        <p:nvSpPr>
          <p:cNvPr id="4" name="Tartalom helye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GB"/>
          </a:p>
        </p:txBody>
      </p:sp>
      <p:sp>
        <p:nvSpPr>
          <p:cNvPr id="5" name="Szöveg hely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smtClean="0"/>
              <a:t>Mintaszöveg szerkesztése</a:t>
            </a:r>
          </a:p>
        </p:txBody>
      </p:sp>
      <p:sp>
        <p:nvSpPr>
          <p:cNvPr id="6" name="Tartalom helye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GB"/>
          </a:p>
        </p:txBody>
      </p:sp>
      <p:sp>
        <p:nvSpPr>
          <p:cNvPr id="7" name="Dátum helye 6"/>
          <p:cNvSpPr>
            <a:spLocks noGrp="1"/>
          </p:cNvSpPr>
          <p:nvPr>
            <p:ph type="dt" sz="half" idx="10"/>
          </p:nvPr>
        </p:nvSpPr>
        <p:spPr/>
        <p:txBody>
          <a:bodyPr/>
          <a:lstStyle/>
          <a:p>
            <a:fld id="{0642860B-0964-4C95-BF1A-62834899E920}" type="datetimeFigureOut">
              <a:rPr lang="en-GB" smtClean="0"/>
              <a:t>03/12/2025</a:t>
            </a:fld>
            <a:endParaRPr lang="en-GB"/>
          </a:p>
        </p:txBody>
      </p:sp>
      <p:sp>
        <p:nvSpPr>
          <p:cNvPr id="8" name="Élőláb helye 7"/>
          <p:cNvSpPr>
            <a:spLocks noGrp="1"/>
          </p:cNvSpPr>
          <p:nvPr>
            <p:ph type="ftr" sz="quarter" idx="11"/>
          </p:nvPr>
        </p:nvSpPr>
        <p:spPr/>
        <p:txBody>
          <a:bodyPr/>
          <a:lstStyle/>
          <a:p>
            <a:endParaRPr lang="en-GB"/>
          </a:p>
        </p:txBody>
      </p:sp>
      <p:sp>
        <p:nvSpPr>
          <p:cNvPr id="9" name="Dia számának helye 8"/>
          <p:cNvSpPr>
            <a:spLocks noGrp="1"/>
          </p:cNvSpPr>
          <p:nvPr>
            <p:ph type="sldNum" sz="quarter" idx="12"/>
          </p:nvPr>
        </p:nvSpPr>
        <p:spPr/>
        <p:txBody>
          <a:bodyPr/>
          <a:lstStyle/>
          <a:p>
            <a:fld id="{D1B48FE3-68F3-4711-B439-24C22D84FF56}" type="slidenum">
              <a:rPr lang="en-GB" smtClean="0"/>
              <a:t>‹#›</a:t>
            </a:fld>
            <a:endParaRPr lang="en-GB"/>
          </a:p>
        </p:txBody>
      </p:sp>
    </p:spTree>
    <p:extLst>
      <p:ext uri="{BB962C8B-B14F-4D97-AF65-F5344CB8AC3E}">
        <p14:creationId xmlns:p14="http://schemas.microsoft.com/office/powerpoint/2010/main" val="2378838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smtClean="0"/>
              <a:t>Mintacím szerkesztése</a:t>
            </a:r>
            <a:endParaRPr lang="en-GB"/>
          </a:p>
        </p:txBody>
      </p:sp>
      <p:sp>
        <p:nvSpPr>
          <p:cNvPr id="3" name="Dátum helye 2"/>
          <p:cNvSpPr>
            <a:spLocks noGrp="1"/>
          </p:cNvSpPr>
          <p:nvPr>
            <p:ph type="dt" sz="half" idx="10"/>
          </p:nvPr>
        </p:nvSpPr>
        <p:spPr/>
        <p:txBody>
          <a:bodyPr/>
          <a:lstStyle/>
          <a:p>
            <a:fld id="{0642860B-0964-4C95-BF1A-62834899E920}" type="datetimeFigureOut">
              <a:rPr lang="en-GB" smtClean="0"/>
              <a:t>03/12/2025</a:t>
            </a:fld>
            <a:endParaRPr lang="en-GB"/>
          </a:p>
        </p:txBody>
      </p:sp>
      <p:sp>
        <p:nvSpPr>
          <p:cNvPr id="4" name="Élőláb helye 3"/>
          <p:cNvSpPr>
            <a:spLocks noGrp="1"/>
          </p:cNvSpPr>
          <p:nvPr>
            <p:ph type="ftr" sz="quarter" idx="11"/>
          </p:nvPr>
        </p:nvSpPr>
        <p:spPr/>
        <p:txBody>
          <a:bodyPr/>
          <a:lstStyle/>
          <a:p>
            <a:endParaRPr lang="en-GB"/>
          </a:p>
        </p:txBody>
      </p:sp>
      <p:sp>
        <p:nvSpPr>
          <p:cNvPr id="5" name="Dia számának helye 4"/>
          <p:cNvSpPr>
            <a:spLocks noGrp="1"/>
          </p:cNvSpPr>
          <p:nvPr>
            <p:ph type="sldNum" sz="quarter" idx="12"/>
          </p:nvPr>
        </p:nvSpPr>
        <p:spPr/>
        <p:txBody>
          <a:bodyPr/>
          <a:lstStyle/>
          <a:p>
            <a:fld id="{D1B48FE3-68F3-4711-B439-24C22D84FF56}" type="slidenum">
              <a:rPr lang="en-GB" smtClean="0"/>
              <a:t>‹#›</a:t>
            </a:fld>
            <a:endParaRPr lang="en-GB"/>
          </a:p>
        </p:txBody>
      </p:sp>
    </p:spTree>
    <p:extLst>
      <p:ext uri="{BB962C8B-B14F-4D97-AF65-F5344CB8AC3E}">
        <p14:creationId xmlns:p14="http://schemas.microsoft.com/office/powerpoint/2010/main" val="1653759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átum helye 1"/>
          <p:cNvSpPr>
            <a:spLocks noGrp="1"/>
          </p:cNvSpPr>
          <p:nvPr>
            <p:ph type="dt" sz="half" idx="10"/>
          </p:nvPr>
        </p:nvSpPr>
        <p:spPr/>
        <p:txBody>
          <a:bodyPr/>
          <a:lstStyle/>
          <a:p>
            <a:fld id="{0642860B-0964-4C95-BF1A-62834899E920}" type="datetimeFigureOut">
              <a:rPr lang="en-GB" smtClean="0"/>
              <a:t>03/12/2025</a:t>
            </a:fld>
            <a:endParaRPr lang="en-GB"/>
          </a:p>
        </p:txBody>
      </p:sp>
      <p:sp>
        <p:nvSpPr>
          <p:cNvPr id="3" name="Élőláb helye 2"/>
          <p:cNvSpPr>
            <a:spLocks noGrp="1"/>
          </p:cNvSpPr>
          <p:nvPr>
            <p:ph type="ftr" sz="quarter" idx="11"/>
          </p:nvPr>
        </p:nvSpPr>
        <p:spPr/>
        <p:txBody>
          <a:bodyPr/>
          <a:lstStyle/>
          <a:p>
            <a:endParaRPr lang="en-GB"/>
          </a:p>
        </p:txBody>
      </p:sp>
      <p:sp>
        <p:nvSpPr>
          <p:cNvPr id="4" name="Dia számának helye 3"/>
          <p:cNvSpPr>
            <a:spLocks noGrp="1"/>
          </p:cNvSpPr>
          <p:nvPr>
            <p:ph type="sldNum" sz="quarter" idx="12"/>
          </p:nvPr>
        </p:nvSpPr>
        <p:spPr/>
        <p:txBody>
          <a:bodyPr/>
          <a:lstStyle/>
          <a:p>
            <a:fld id="{D1B48FE3-68F3-4711-B439-24C22D84FF56}" type="slidenum">
              <a:rPr lang="en-GB" smtClean="0"/>
              <a:t>‹#›</a:t>
            </a:fld>
            <a:endParaRPr lang="en-GB"/>
          </a:p>
        </p:txBody>
      </p:sp>
    </p:spTree>
    <p:extLst>
      <p:ext uri="{BB962C8B-B14F-4D97-AF65-F5344CB8AC3E}">
        <p14:creationId xmlns:p14="http://schemas.microsoft.com/office/powerpoint/2010/main" val="2757831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Cím 1"/>
          <p:cNvSpPr>
            <a:spLocks noGrp="1"/>
          </p:cNvSpPr>
          <p:nvPr>
            <p:ph type="title"/>
          </p:nvPr>
        </p:nvSpPr>
        <p:spPr>
          <a:xfrm>
            <a:off x="457200" y="273050"/>
            <a:ext cx="3008313" cy="1162050"/>
          </a:xfrm>
        </p:spPr>
        <p:txBody>
          <a:bodyPr anchor="b"/>
          <a:lstStyle>
            <a:lvl1pPr algn="l">
              <a:defRPr sz="2000" b="1"/>
            </a:lvl1pPr>
          </a:lstStyle>
          <a:p>
            <a:r>
              <a:rPr lang="hu-HU" smtClean="0"/>
              <a:t>Mintacím szerkesztése</a:t>
            </a:r>
            <a:endParaRPr lang="en-GB"/>
          </a:p>
        </p:txBody>
      </p:sp>
      <p:sp>
        <p:nvSpPr>
          <p:cNvPr id="3" name="Tartalom helye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GB"/>
          </a:p>
        </p:txBody>
      </p:sp>
      <p:sp>
        <p:nvSpPr>
          <p:cNvPr id="4" name="Szöveg hely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smtClean="0"/>
              <a:t>Mintaszöveg szerkesztése</a:t>
            </a:r>
          </a:p>
        </p:txBody>
      </p:sp>
      <p:sp>
        <p:nvSpPr>
          <p:cNvPr id="5" name="Dátum helye 4"/>
          <p:cNvSpPr>
            <a:spLocks noGrp="1"/>
          </p:cNvSpPr>
          <p:nvPr>
            <p:ph type="dt" sz="half" idx="10"/>
          </p:nvPr>
        </p:nvSpPr>
        <p:spPr/>
        <p:txBody>
          <a:bodyPr/>
          <a:lstStyle/>
          <a:p>
            <a:fld id="{0642860B-0964-4C95-BF1A-62834899E920}" type="datetimeFigureOut">
              <a:rPr lang="en-GB" smtClean="0"/>
              <a:t>03/12/2025</a:t>
            </a:fld>
            <a:endParaRPr lang="en-GB"/>
          </a:p>
        </p:txBody>
      </p:sp>
      <p:sp>
        <p:nvSpPr>
          <p:cNvPr id="6" name="Élőláb helye 5"/>
          <p:cNvSpPr>
            <a:spLocks noGrp="1"/>
          </p:cNvSpPr>
          <p:nvPr>
            <p:ph type="ftr" sz="quarter" idx="11"/>
          </p:nvPr>
        </p:nvSpPr>
        <p:spPr/>
        <p:txBody>
          <a:bodyPr/>
          <a:lstStyle/>
          <a:p>
            <a:endParaRPr lang="en-GB"/>
          </a:p>
        </p:txBody>
      </p:sp>
      <p:sp>
        <p:nvSpPr>
          <p:cNvPr id="7" name="Dia számának helye 6"/>
          <p:cNvSpPr>
            <a:spLocks noGrp="1"/>
          </p:cNvSpPr>
          <p:nvPr>
            <p:ph type="sldNum" sz="quarter" idx="12"/>
          </p:nvPr>
        </p:nvSpPr>
        <p:spPr/>
        <p:txBody>
          <a:bodyPr/>
          <a:lstStyle/>
          <a:p>
            <a:fld id="{D1B48FE3-68F3-4711-B439-24C22D84FF56}" type="slidenum">
              <a:rPr lang="en-GB" smtClean="0"/>
              <a:t>‹#›</a:t>
            </a:fld>
            <a:endParaRPr lang="en-GB"/>
          </a:p>
        </p:txBody>
      </p:sp>
    </p:spTree>
    <p:extLst>
      <p:ext uri="{BB962C8B-B14F-4D97-AF65-F5344CB8AC3E}">
        <p14:creationId xmlns:p14="http://schemas.microsoft.com/office/powerpoint/2010/main" val="369528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Cím 1"/>
          <p:cNvSpPr>
            <a:spLocks noGrp="1"/>
          </p:cNvSpPr>
          <p:nvPr>
            <p:ph type="title"/>
          </p:nvPr>
        </p:nvSpPr>
        <p:spPr>
          <a:xfrm>
            <a:off x="1792288" y="4800600"/>
            <a:ext cx="5486400" cy="566738"/>
          </a:xfrm>
        </p:spPr>
        <p:txBody>
          <a:bodyPr anchor="b"/>
          <a:lstStyle>
            <a:lvl1pPr algn="l">
              <a:defRPr sz="2000" b="1"/>
            </a:lvl1pPr>
          </a:lstStyle>
          <a:p>
            <a:r>
              <a:rPr lang="hu-HU" smtClean="0"/>
              <a:t>Mintacím szerkesztése</a:t>
            </a:r>
            <a:endParaRPr lang="en-GB"/>
          </a:p>
        </p:txBody>
      </p:sp>
      <p:sp>
        <p:nvSpPr>
          <p:cNvPr id="3" name="Kép hely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Szöveg hely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smtClean="0"/>
              <a:t>Mintaszöveg szerkesztése</a:t>
            </a:r>
          </a:p>
        </p:txBody>
      </p:sp>
      <p:sp>
        <p:nvSpPr>
          <p:cNvPr id="5" name="Dátum helye 4"/>
          <p:cNvSpPr>
            <a:spLocks noGrp="1"/>
          </p:cNvSpPr>
          <p:nvPr>
            <p:ph type="dt" sz="half" idx="10"/>
          </p:nvPr>
        </p:nvSpPr>
        <p:spPr/>
        <p:txBody>
          <a:bodyPr/>
          <a:lstStyle/>
          <a:p>
            <a:fld id="{0642860B-0964-4C95-BF1A-62834899E920}" type="datetimeFigureOut">
              <a:rPr lang="en-GB" smtClean="0"/>
              <a:t>03/12/2025</a:t>
            </a:fld>
            <a:endParaRPr lang="en-GB"/>
          </a:p>
        </p:txBody>
      </p:sp>
      <p:sp>
        <p:nvSpPr>
          <p:cNvPr id="6" name="Élőláb helye 5"/>
          <p:cNvSpPr>
            <a:spLocks noGrp="1"/>
          </p:cNvSpPr>
          <p:nvPr>
            <p:ph type="ftr" sz="quarter" idx="11"/>
          </p:nvPr>
        </p:nvSpPr>
        <p:spPr/>
        <p:txBody>
          <a:bodyPr/>
          <a:lstStyle/>
          <a:p>
            <a:endParaRPr lang="en-GB"/>
          </a:p>
        </p:txBody>
      </p:sp>
      <p:sp>
        <p:nvSpPr>
          <p:cNvPr id="7" name="Dia számának helye 6"/>
          <p:cNvSpPr>
            <a:spLocks noGrp="1"/>
          </p:cNvSpPr>
          <p:nvPr>
            <p:ph type="sldNum" sz="quarter" idx="12"/>
          </p:nvPr>
        </p:nvSpPr>
        <p:spPr/>
        <p:txBody>
          <a:bodyPr/>
          <a:lstStyle/>
          <a:p>
            <a:fld id="{D1B48FE3-68F3-4711-B439-24C22D84FF56}" type="slidenum">
              <a:rPr lang="en-GB" smtClean="0"/>
              <a:t>‹#›</a:t>
            </a:fld>
            <a:endParaRPr lang="en-GB"/>
          </a:p>
        </p:txBody>
      </p:sp>
    </p:spTree>
    <p:extLst>
      <p:ext uri="{BB962C8B-B14F-4D97-AF65-F5344CB8AC3E}">
        <p14:creationId xmlns:p14="http://schemas.microsoft.com/office/powerpoint/2010/main" val="973365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smtClean="0"/>
              <a:t>Mintacím szerkesztése</a:t>
            </a:r>
            <a:endParaRPr lang="en-GB"/>
          </a:p>
        </p:txBody>
      </p:sp>
      <p:sp>
        <p:nvSpPr>
          <p:cNvPr id="3" name="Függőleges szöveg helye 2"/>
          <p:cNvSpPr>
            <a:spLocks noGrp="1"/>
          </p:cNvSpPr>
          <p:nvPr>
            <p:ph type="body" orient="vert" idx="1"/>
          </p:nvPr>
        </p:nvSpPr>
        <p:spPr/>
        <p:txBody>
          <a:bodyPr vert="eaVert"/>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GB"/>
          </a:p>
        </p:txBody>
      </p:sp>
      <p:sp>
        <p:nvSpPr>
          <p:cNvPr id="4" name="Dátum helye 3"/>
          <p:cNvSpPr>
            <a:spLocks noGrp="1"/>
          </p:cNvSpPr>
          <p:nvPr>
            <p:ph type="dt" sz="half" idx="10"/>
          </p:nvPr>
        </p:nvSpPr>
        <p:spPr/>
        <p:txBody>
          <a:bodyPr/>
          <a:lstStyle/>
          <a:p>
            <a:fld id="{0642860B-0964-4C95-BF1A-62834899E920}" type="datetimeFigureOut">
              <a:rPr lang="en-GB" smtClean="0"/>
              <a:t>03/12/2025</a:t>
            </a:fld>
            <a:endParaRPr lang="en-GB"/>
          </a:p>
        </p:txBody>
      </p:sp>
      <p:sp>
        <p:nvSpPr>
          <p:cNvPr id="5" name="Élőláb helye 4"/>
          <p:cNvSpPr>
            <a:spLocks noGrp="1"/>
          </p:cNvSpPr>
          <p:nvPr>
            <p:ph type="ftr" sz="quarter" idx="11"/>
          </p:nvPr>
        </p:nvSpPr>
        <p:spPr/>
        <p:txBody>
          <a:bodyPr/>
          <a:lstStyle/>
          <a:p>
            <a:endParaRPr lang="en-GB"/>
          </a:p>
        </p:txBody>
      </p:sp>
      <p:sp>
        <p:nvSpPr>
          <p:cNvPr id="6" name="Dia számának helye 5"/>
          <p:cNvSpPr>
            <a:spLocks noGrp="1"/>
          </p:cNvSpPr>
          <p:nvPr>
            <p:ph type="sldNum" sz="quarter" idx="12"/>
          </p:nvPr>
        </p:nvSpPr>
        <p:spPr/>
        <p:txBody>
          <a:bodyPr/>
          <a:lstStyle/>
          <a:p>
            <a:fld id="{D1B48FE3-68F3-4711-B439-24C22D84FF56}" type="slidenum">
              <a:rPr lang="en-GB" smtClean="0"/>
              <a:t>‹#›</a:t>
            </a:fld>
            <a:endParaRPr lang="en-GB"/>
          </a:p>
        </p:txBody>
      </p:sp>
    </p:spTree>
    <p:extLst>
      <p:ext uri="{BB962C8B-B14F-4D97-AF65-F5344CB8AC3E}">
        <p14:creationId xmlns:p14="http://schemas.microsoft.com/office/powerpoint/2010/main" val="3495444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Függőleges cím 1"/>
          <p:cNvSpPr>
            <a:spLocks noGrp="1"/>
          </p:cNvSpPr>
          <p:nvPr>
            <p:ph type="title" orient="vert"/>
          </p:nvPr>
        </p:nvSpPr>
        <p:spPr>
          <a:xfrm>
            <a:off x="6629400" y="274638"/>
            <a:ext cx="2057400" cy="5851525"/>
          </a:xfrm>
        </p:spPr>
        <p:txBody>
          <a:bodyPr vert="eaVert"/>
          <a:lstStyle/>
          <a:p>
            <a:r>
              <a:rPr lang="hu-HU" smtClean="0"/>
              <a:t>Mintacím szerkesztése</a:t>
            </a:r>
            <a:endParaRPr lang="en-GB"/>
          </a:p>
        </p:txBody>
      </p:sp>
      <p:sp>
        <p:nvSpPr>
          <p:cNvPr id="3" name="Függőleges szöveg helye 2"/>
          <p:cNvSpPr>
            <a:spLocks noGrp="1"/>
          </p:cNvSpPr>
          <p:nvPr>
            <p:ph type="body" orient="vert" idx="1"/>
          </p:nvPr>
        </p:nvSpPr>
        <p:spPr>
          <a:xfrm>
            <a:off x="457200" y="274638"/>
            <a:ext cx="6019800" cy="5851525"/>
          </a:xfrm>
        </p:spPr>
        <p:txBody>
          <a:bodyPr vert="eaVert"/>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GB"/>
          </a:p>
        </p:txBody>
      </p:sp>
      <p:sp>
        <p:nvSpPr>
          <p:cNvPr id="4" name="Dátum helye 3"/>
          <p:cNvSpPr>
            <a:spLocks noGrp="1"/>
          </p:cNvSpPr>
          <p:nvPr>
            <p:ph type="dt" sz="half" idx="10"/>
          </p:nvPr>
        </p:nvSpPr>
        <p:spPr/>
        <p:txBody>
          <a:bodyPr/>
          <a:lstStyle/>
          <a:p>
            <a:fld id="{0642860B-0964-4C95-BF1A-62834899E920}" type="datetimeFigureOut">
              <a:rPr lang="en-GB" smtClean="0"/>
              <a:t>03/12/2025</a:t>
            </a:fld>
            <a:endParaRPr lang="en-GB"/>
          </a:p>
        </p:txBody>
      </p:sp>
      <p:sp>
        <p:nvSpPr>
          <p:cNvPr id="5" name="Élőláb helye 4"/>
          <p:cNvSpPr>
            <a:spLocks noGrp="1"/>
          </p:cNvSpPr>
          <p:nvPr>
            <p:ph type="ftr" sz="quarter" idx="11"/>
          </p:nvPr>
        </p:nvSpPr>
        <p:spPr/>
        <p:txBody>
          <a:bodyPr/>
          <a:lstStyle/>
          <a:p>
            <a:endParaRPr lang="en-GB"/>
          </a:p>
        </p:txBody>
      </p:sp>
      <p:sp>
        <p:nvSpPr>
          <p:cNvPr id="6" name="Dia számának helye 5"/>
          <p:cNvSpPr>
            <a:spLocks noGrp="1"/>
          </p:cNvSpPr>
          <p:nvPr>
            <p:ph type="sldNum" sz="quarter" idx="12"/>
          </p:nvPr>
        </p:nvSpPr>
        <p:spPr/>
        <p:txBody>
          <a:bodyPr/>
          <a:lstStyle/>
          <a:p>
            <a:fld id="{D1B48FE3-68F3-4711-B439-24C22D84FF56}" type="slidenum">
              <a:rPr lang="en-GB" smtClean="0"/>
              <a:t>‹#›</a:t>
            </a:fld>
            <a:endParaRPr lang="en-GB"/>
          </a:p>
        </p:txBody>
      </p:sp>
    </p:spTree>
    <p:extLst>
      <p:ext uri="{BB962C8B-B14F-4D97-AF65-F5344CB8AC3E}">
        <p14:creationId xmlns:p14="http://schemas.microsoft.com/office/powerpoint/2010/main" val="870229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ím hely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hu-HU" smtClean="0"/>
              <a:t>Mintacím szerkesztése</a:t>
            </a:r>
            <a:endParaRPr lang="en-GB"/>
          </a:p>
        </p:txBody>
      </p:sp>
      <p:sp>
        <p:nvSpPr>
          <p:cNvPr id="3" name="Szöveg hely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GB"/>
          </a:p>
        </p:txBody>
      </p:sp>
      <p:sp>
        <p:nvSpPr>
          <p:cNvPr id="4" name="Dátum hely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42860B-0964-4C95-BF1A-62834899E920}" type="datetimeFigureOut">
              <a:rPr lang="en-GB" smtClean="0"/>
              <a:t>03/12/2025</a:t>
            </a:fld>
            <a:endParaRPr lang="en-GB"/>
          </a:p>
        </p:txBody>
      </p:sp>
      <p:sp>
        <p:nvSpPr>
          <p:cNvPr id="5" name="Élőláb hely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Dia számának hely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B48FE3-68F3-4711-B439-24C22D84FF56}" type="slidenum">
              <a:rPr lang="en-GB" smtClean="0"/>
              <a:t>‹#›</a:t>
            </a:fld>
            <a:endParaRPr lang="en-GB"/>
          </a:p>
        </p:txBody>
      </p:sp>
    </p:spTree>
    <p:extLst>
      <p:ext uri="{BB962C8B-B14F-4D97-AF65-F5344CB8AC3E}">
        <p14:creationId xmlns:p14="http://schemas.microsoft.com/office/powerpoint/2010/main" val="25070183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arxiv.org/abs/1409.3215"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arxiv.org/abs/1706.03762"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github.com/google/sentencepiece"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arxiv.org/abs/1910.10683" TargetMode="External"/><Relationship Id="rId7" Type="http://schemas.openxmlformats.org/officeDocument/2006/relationships/hyperlink" Target="https://arxiv.org/abs/2109.10282" TargetMode="External"/><Relationship Id="rId2" Type="http://schemas.openxmlformats.org/officeDocument/2006/relationships/hyperlink" Target="https://arxiv.org/abs/1910.13461" TargetMode="External"/><Relationship Id="rId1" Type="http://schemas.openxmlformats.org/officeDocument/2006/relationships/slideLayout" Target="../slideLayouts/slideLayout2.xml"/><Relationship Id="rId6" Type="http://schemas.openxmlformats.org/officeDocument/2006/relationships/hyperlink" Target="https://arxiv.org/abs/2205.14100" TargetMode="External"/><Relationship Id="rId5" Type="http://schemas.openxmlformats.org/officeDocument/2006/relationships/hyperlink" Target="https://arxiv.org/abs/2212.04356" TargetMode="External"/><Relationship Id="rId4" Type="http://schemas.openxmlformats.org/officeDocument/2006/relationships/hyperlink" Target="https://arxiv.org/abs/1804.00344"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arxiv.org/abs/1810.04805"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ctrTitle"/>
          </p:nvPr>
        </p:nvSpPr>
        <p:spPr/>
        <p:txBody>
          <a:bodyPr/>
          <a:lstStyle/>
          <a:p>
            <a:r>
              <a:rPr lang="hu-HU" dirty="0" err="1"/>
              <a:t>Generative</a:t>
            </a:r>
            <a:r>
              <a:rPr lang="hu-HU" dirty="0"/>
              <a:t> </a:t>
            </a:r>
            <a:r>
              <a:rPr lang="hu-HU" dirty="0" err="1"/>
              <a:t>Artificial</a:t>
            </a:r>
            <a:r>
              <a:rPr lang="hu-HU" dirty="0"/>
              <a:t> </a:t>
            </a:r>
            <a:r>
              <a:rPr lang="hu-HU" dirty="0" err="1"/>
              <a:t>Intelligence</a:t>
            </a:r>
            <a:r>
              <a:rPr lang="hu-HU" dirty="0"/>
              <a:t/>
            </a:r>
            <a:br>
              <a:rPr lang="hu-HU" dirty="0"/>
            </a:br>
            <a:r>
              <a:rPr lang="hu-HU" sz="4000" i="1" dirty="0" smtClean="0"/>
              <a:t>Text </a:t>
            </a:r>
            <a:r>
              <a:rPr lang="hu-HU" sz="4000" i="1" dirty="0" err="1" smtClean="0"/>
              <a:t>Generation</a:t>
            </a:r>
            <a:r>
              <a:rPr lang="hu-HU" sz="4000" i="1" dirty="0" smtClean="0"/>
              <a:t> </a:t>
            </a:r>
            <a:r>
              <a:rPr lang="hu-HU" sz="4000" i="1" dirty="0" err="1" smtClean="0"/>
              <a:t>with</a:t>
            </a:r>
            <a:r>
              <a:rPr lang="hu-HU" sz="4000" i="1" dirty="0" smtClean="0"/>
              <a:t> Deep </a:t>
            </a:r>
            <a:r>
              <a:rPr lang="hu-HU" sz="4000" i="1" dirty="0" err="1" smtClean="0"/>
              <a:t>Learning</a:t>
            </a:r>
            <a:r>
              <a:rPr lang="hu-HU" sz="4000" i="1" dirty="0" smtClean="0"/>
              <a:t> </a:t>
            </a:r>
            <a:r>
              <a:rPr lang="hu-HU" sz="4000" i="1" dirty="0" err="1" smtClean="0"/>
              <a:t>Models</a:t>
            </a:r>
            <a:endParaRPr lang="en-GB" sz="4000" i="1" dirty="0"/>
          </a:p>
        </p:txBody>
      </p:sp>
      <p:sp>
        <p:nvSpPr>
          <p:cNvPr id="3" name="Alcím 2"/>
          <p:cNvSpPr>
            <a:spLocks noGrp="1"/>
          </p:cNvSpPr>
          <p:nvPr>
            <p:ph type="subTitle" idx="1"/>
          </p:nvPr>
        </p:nvSpPr>
        <p:spPr>
          <a:xfrm>
            <a:off x="1403648" y="4365104"/>
            <a:ext cx="6400800" cy="1752600"/>
          </a:xfrm>
        </p:spPr>
        <p:txBody>
          <a:bodyPr>
            <a:normAutofit fontScale="92500" lnSpcReduction="20000"/>
          </a:bodyPr>
          <a:lstStyle/>
          <a:p>
            <a:r>
              <a:rPr lang="hu-HU" dirty="0" smtClean="0"/>
              <a:t>November 20, </a:t>
            </a:r>
            <a:r>
              <a:rPr lang="hu-HU" dirty="0"/>
              <a:t>2025</a:t>
            </a:r>
          </a:p>
          <a:p>
            <a:r>
              <a:rPr lang="hu-HU" dirty="0"/>
              <a:t>Pethő Gergely</a:t>
            </a:r>
          </a:p>
          <a:p>
            <a:r>
              <a:rPr lang="hu-HU" dirty="0" err="1"/>
              <a:t>UD</a:t>
            </a:r>
            <a:r>
              <a:rPr lang="hu-HU" dirty="0"/>
              <a:t> </a:t>
            </a:r>
            <a:r>
              <a:rPr lang="hu-HU" dirty="0" err="1"/>
              <a:t>Faculty</a:t>
            </a:r>
            <a:r>
              <a:rPr lang="hu-HU" dirty="0"/>
              <a:t> of Health Science, </a:t>
            </a:r>
            <a:r>
              <a:rPr lang="hu-HU" dirty="0" err="1"/>
              <a:t>Department</a:t>
            </a:r>
            <a:r>
              <a:rPr lang="hu-HU" dirty="0"/>
              <a:t> of </a:t>
            </a:r>
            <a:r>
              <a:rPr lang="hu-HU" dirty="0" err="1" smtClean="0"/>
              <a:t>Bioinformatics</a:t>
            </a:r>
            <a:endParaRPr lang="en-GB" dirty="0"/>
          </a:p>
        </p:txBody>
      </p:sp>
    </p:spTree>
    <p:extLst>
      <p:ext uri="{BB962C8B-B14F-4D97-AF65-F5344CB8AC3E}">
        <p14:creationId xmlns:p14="http://schemas.microsoft.com/office/powerpoint/2010/main" val="11907921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GB" dirty="0" smtClean="0"/>
              <a:t>Natural Language Processing</a:t>
            </a:r>
            <a:endParaRPr lang="en-GB" dirty="0"/>
          </a:p>
        </p:txBody>
      </p:sp>
      <p:sp>
        <p:nvSpPr>
          <p:cNvPr id="3" name="Tartalom helye 2"/>
          <p:cNvSpPr>
            <a:spLocks noGrp="1"/>
          </p:cNvSpPr>
          <p:nvPr>
            <p:ph idx="1"/>
          </p:nvPr>
        </p:nvSpPr>
        <p:spPr/>
        <p:txBody>
          <a:bodyPr>
            <a:normAutofit fontScale="70000" lnSpcReduction="20000"/>
          </a:bodyPr>
          <a:lstStyle/>
          <a:p>
            <a:r>
              <a:rPr lang="en-GB" dirty="0" smtClean="0"/>
              <a:t>In artificial intelligence, we distinguish </a:t>
            </a:r>
            <a:r>
              <a:rPr lang="en-GB" b="1" dirty="0" smtClean="0"/>
              <a:t>two main objectives </a:t>
            </a:r>
            <a:r>
              <a:rPr lang="en-GB" dirty="0" smtClean="0"/>
              <a:t>regarding the processing of natural (= human, non-formal) languages (natural language processing, NLP):</a:t>
            </a:r>
          </a:p>
          <a:p>
            <a:pPr lvl="1"/>
            <a:r>
              <a:rPr lang="en-GB" b="1" dirty="0" smtClean="0"/>
              <a:t>Natural language understanding</a:t>
            </a:r>
            <a:endParaRPr lang="en-GB" dirty="0" smtClean="0"/>
          </a:p>
          <a:p>
            <a:pPr lvl="2"/>
            <a:r>
              <a:rPr lang="en-GB" dirty="0" smtClean="0"/>
              <a:t>Non-generative AI</a:t>
            </a:r>
          </a:p>
          <a:p>
            <a:pPr lvl="1"/>
            <a:r>
              <a:rPr lang="en-GB" b="1" dirty="0" smtClean="0"/>
              <a:t>Natural language generation</a:t>
            </a:r>
            <a:endParaRPr lang="en-GB" dirty="0" smtClean="0"/>
          </a:p>
          <a:p>
            <a:pPr lvl="2"/>
            <a:r>
              <a:rPr lang="en-GB" dirty="0" smtClean="0"/>
              <a:t>Generative AI</a:t>
            </a:r>
            <a:endParaRPr lang="hu-HU" dirty="0" smtClean="0"/>
          </a:p>
          <a:p>
            <a:r>
              <a:rPr lang="en-GB" dirty="0" smtClean="0"/>
              <a:t>Non-natural languages: Formal languages with syntax and semantics precisely defined by mathematical and formal logic methods</a:t>
            </a:r>
            <a:endParaRPr lang="hu-HU" dirty="0" smtClean="0"/>
          </a:p>
          <a:p>
            <a:pPr lvl="1"/>
            <a:r>
              <a:rPr lang="en-GB" dirty="0" smtClean="0"/>
              <a:t>Formal logic languages, e.g., propositional logic, first-order predicate logic, modal, </a:t>
            </a:r>
            <a:r>
              <a:rPr lang="en-GB" dirty="0" err="1" smtClean="0"/>
              <a:t>intensional</a:t>
            </a:r>
            <a:r>
              <a:rPr lang="en-GB" dirty="0" smtClean="0"/>
              <a:t> logic, type theory logic </a:t>
            </a:r>
          </a:p>
          <a:p>
            <a:pPr lvl="1"/>
            <a:r>
              <a:rPr lang="en-GB" dirty="0" smtClean="0"/>
              <a:t>Programming languages, e.g., C, Java, Python; </a:t>
            </a:r>
            <a:r>
              <a:rPr lang="hu-HU" dirty="0" smtClean="0"/>
              <a:t>more </a:t>
            </a:r>
            <a:r>
              <a:rPr lang="en-GB" dirty="0" smtClean="0"/>
              <a:t>broadly computer languages, including so-called domain-specific languages, e.g., SQL, Verilog</a:t>
            </a:r>
          </a:p>
        </p:txBody>
      </p:sp>
    </p:spTree>
    <p:extLst>
      <p:ext uri="{BB962C8B-B14F-4D97-AF65-F5344CB8AC3E}">
        <p14:creationId xmlns:p14="http://schemas.microsoft.com/office/powerpoint/2010/main" val="4149629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Earlier</a:t>
            </a:r>
            <a:r>
              <a:rPr lang="hu-HU" dirty="0" smtClean="0"/>
              <a:t> </a:t>
            </a:r>
            <a:r>
              <a:rPr lang="hu-HU" dirty="0" err="1" smtClean="0"/>
              <a:t>Developments</a:t>
            </a:r>
            <a:endParaRPr lang="en-GB" dirty="0"/>
          </a:p>
        </p:txBody>
      </p:sp>
      <p:sp>
        <p:nvSpPr>
          <p:cNvPr id="3" name="Tartalom helye 2"/>
          <p:cNvSpPr>
            <a:spLocks noGrp="1"/>
          </p:cNvSpPr>
          <p:nvPr>
            <p:ph idx="1"/>
          </p:nvPr>
        </p:nvSpPr>
        <p:spPr>
          <a:xfrm>
            <a:off x="457200" y="1600200"/>
            <a:ext cx="8229600" cy="4997152"/>
          </a:xfrm>
        </p:spPr>
        <p:txBody>
          <a:bodyPr>
            <a:normAutofit fontScale="70000" lnSpcReduction="20000"/>
          </a:bodyPr>
          <a:lstStyle/>
          <a:p>
            <a:r>
              <a:rPr lang="en-GB" dirty="0" smtClean="0"/>
              <a:t>Naturally, we can easily produce natural language texts with a computer without AI. </a:t>
            </a:r>
          </a:p>
          <a:p>
            <a:pPr lvl="1"/>
            <a:r>
              <a:rPr lang="en-GB" dirty="0" smtClean="0"/>
              <a:t>Hello World </a:t>
            </a:r>
          </a:p>
          <a:p>
            <a:pPr lvl="1"/>
            <a:r>
              <a:rPr lang="en-GB" dirty="0" smtClean="0"/>
              <a:t>Error messages</a:t>
            </a:r>
            <a:endParaRPr lang="hu-HU" dirty="0" smtClean="0"/>
          </a:p>
          <a:p>
            <a:pPr lvl="1"/>
            <a:r>
              <a:rPr lang="hu-HU" dirty="0" smtClean="0"/>
              <a:t>Eliza</a:t>
            </a:r>
          </a:p>
          <a:p>
            <a:pPr lvl="1"/>
            <a:endParaRPr lang="hu-HU" dirty="0" smtClean="0"/>
          </a:p>
          <a:p>
            <a:pPr lvl="1"/>
            <a:r>
              <a:rPr lang="en-GB" dirty="0" smtClean="0"/>
              <a:t>Generative grammar</a:t>
            </a:r>
            <a:endParaRPr lang="hu-HU" dirty="0" smtClean="0"/>
          </a:p>
          <a:p>
            <a:pPr lvl="2"/>
            <a:r>
              <a:rPr lang="en-GB" dirty="0" smtClean="0"/>
              <a:t>A highly influential theoretical linguistic approach actively practiced since the mid-1950s, aimed at defining an essentially formal grammar for natural languages, primarily </a:t>
            </a:r>
            <a:r>
              <a:rPr lang="hu-HU" dirty="0" err="1" smtClean="0"/>
              <a:t>for</a:t>
            </a:r>
            <a:r>
              <a:rPr lang="hu-HU" dirty="0" smtClean="0"/>
              <a:t> </a:t>
            </a:r>
            <a:r>
              <a:rPr lang="en-GB" dirty="0" smtClean="0"/>
              <a:t>English, which designates the set of sentences that can be </a:t>
            </a:r>
            <a:r>
              <a:rPr lang="hu-HU" dirty="0" err="1" smtClean="0"/>
              <a:t>produced</a:t>
            </a:r>
            <a:r>
              <a:rPr lang="hu-HU" dirty="0" smtClean="0"/>
              <a:t> </a:t>
            </a:r>
            <a:r>
              <a:rPr lang="en-GB" dirty="0" smtClean="0"/>
              <a:t>in the given language</a:t>
            </a:r>
            <a:r>
              <a:rPr lang="hu-HU" dirty="0" smtClean="0"/>
              <a:t>.</a:t>
            </a:r>
          </a:p>
          <a:p>
            <a:pPr lvl="2"/>
            <a:r>
              <a:rPr lang="en-GB" dirty="0" smtClean="0"/>
              <a:t>It "generates" sentences </a:t>
            </a:r>
            <a:r>
              <a:rPr lang="hu-HU" dirty="0" err="1" smtClean="0"/>
              <a:t>that</a:t>
            </a:r>
            <a:r>
              <a:rPr lang="hu-HU" dirty="0" smtClean="0"/>
              <a:t> </a:t>
            </a:r>
            <a:r>
              <a:rPr lang="en-GB" dirty="0" smtClean="0"/>
              <a:t>belong to the given language (</a:t>
            </a:r>
            <a:r>
              <a:rPr lang="hu-HU" dirty="0" err="1" smtClean="0"/>
              <a:t>are</a:t>
            </a:r>
            <a:r>
              <a:rPr lang="hu-HU" dirty="0" smtClean="0"/>
              <a:t> </a:t>
            </a:r>
            <a:r>
              <a:rPr lang="en-GB" dirty="0" smtClean="0"/>
              <a:t>"correct" in the given language) and does not generate sentences not belonging to the language </a:t>
            </a:r>
          </a:p>
          <a:p>
            <a:pPr lvl="3"/>
            <a:r>
              <a:rPr lang="en-GB" i="1" dirty="0" smtClean="0"/>
              <a:t>The dog is in the room.</a:t>
            </a:r>
            <a:r>
              <a:rPr lang="en-GB" dirty="0" smtClean="0"/>
              <a:t> – generated</a:t>
            </a:r>
            <a:endParaRPr lang="hu-HU" dirty="0" smtClean="0"/>
          </a:p>
          <a:p>
            <a:pPr lvl="3"/>
            <a:r>
              <a:rPr lang="en-GB" i="1" dirty="0" smtClean="0"/>
              <a:t>Dog come not room</a:t>
            </a:r>
            <a:r>
              <a:rPr lang="hu-HU" i="1" dirty="0"/>
              <a:t>s</a:t>
            </a:r>
            <a:r>
              <a:rPr lang="en-GB" i="1" dirty="0" smtClean="0"/>
              <a:t> a would flower.</a:t>
            </a:r>
            <a:r>
              <a:rPr lang="en-GB" dirty="0" smtClean="0"/>
              <a:t> – not generated </a:t>
            </a:r>
            <a:endParaRPr lang="hu-HU" dirty="0" smtClean="0"/>
          </a:p>
          <a:p>
            <a:pPr lvl="2"/>
            <a:r>
              <a:rPr lang="hu-HU" dirty="0" smtClean="0"/>
              <a:t>R</a:t>
            </a:r>
            <a:r>
              <a:rPr lang="en-GB" dirty="0" err="1" smtClean="0"/>
              <a:t>aises</a:t>
            </a:r>
            <a:r>
              <a:rPr lang="en-GB" dirty="0" smtClean="0"/>
              <a:t> serious philosophical and practical questions, but if we write such a grammar and implement it, the computer generates sentences.</a:t>
            </a:r>
            <a:endParaRPr lang="hu-HU" dirty="0" smtClean="0"/>
          </a:p>
          <a:p>
            <a:pPr lvl="2"/>
            <a:r>
              <a:rPr lang="en-GB" dirty="0" smtClean="0"/>
              <a:t>Where is the boundary of text generation via generative AI? </a:t>
            </a:r>
          </a:p>
          <a:p>
            <a:pPr lvl="2"/>
            <a:endParaRPr lang="en-GB" dirty="0"/>
          </a:p>
        </p:txBody>
      </p:sp>
      <p:pic>
        <p:nvPicPr>
          <p:cNvPr id="1026" name="Picture 2" descr="Screenshot showing a terminal-based conversation with the ELIZA progra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39740" y="1916831"/>
            <a:ext cx="2736303" cy="1774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67606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Earlier</a:t>
            </a:r>
            <a:r>
              <a:rPr lang="hu-HU" dirty="0" smtClean="0"/>
              <a:t> </a:t>
            </a:r>
            <a:r>
              <a:rPr lang="hu-HU" dirty="0" err="1" smtClean="0"/>
              <a:t>Developments</a:t>
            </a:r>
            <a:endParaRPr lang="en-GB" dirty="0"/>
          </a:p>
        </p:txBody>
      </p:sp>
      <p:sp>
        <p:nvSpPr>
          <p:cNvPr id="3" name="Tartalom helye 2"/>
          <p:cNvSpPr>
            <a:spLocks noGrp="1"/>
          </p:cNvSpPr>
          <p:nvPr>
            <p:ph idx="1"/>
          </p:nvPr>
        </p:nvSpPr>
        <p:spPr/>
        <p:txBody>
          <a:bodyPr>
            <a:normAutofit fontScale="62500" lnSpcReduction="20000"/>
          </a:bodyPr>
          <a:lstStyle/>
          <a:p>
            <a:r>
              <a:rPr lang="hu-HU" dirty="0" smtClean="0"/>
              <a:t>An </a:t>
            </a:r>
            <a:r>
              <a:rPr lang="hu-HU" dirty="0" err="1" smtClean="0"/>
              <a:t>important</a:t>
            </a:r>
            <a:r>
              <a:rPr lang="hu-HU" dirty="0" smtClean="0"/>
              <a:t> </a:t>
            </a:r>
            <a:r>
              <a:rPr lang="hu-HU" dirty="0" err="1" smtClean="0"/>
              <a:t>earlier</a:t>
            </a:r>
            <a:r>
              <a:rPr lang="hu-HU" dirty="0" smtClean="0"/>
              <a:t> </a:t>
            </a:r>
            <a:r>
              <a:rPr lang="hu-HU" dirty="0" err="1" smtClean="0"/>
              <a:t>development</a:t>
            </a:r>
            <a:r>
              <a:rPr lang="hu-HU" dirty="0" smtClean="0"/>
              <a:t> is </a:t>
            </a:r>
            <a:r>
              <a:rPr lang="hu-HU" dirty="0" err="1" smtClean="0"/>
              <a:t>that</a:t>
            </a:r>
            <a:r>
              <a:rPr lang="hu-HU" dirty="0" smtClean="0"/>
              <a:t> of </a:t>
            </a:r>
            <a:r>
              <a:rPr lang="hu-HU" dirty="0" err="1" smtClean="0"/>
              <a:t>machine</a:t>
            </a:r>
            <a:r>
              <a:rPr lang="hu-HU" dirty="0" smtClean="0"/>
              <a:t> </a:t>
            </a:r>
            <a:r>
              <a:rPr lang="hu-HU" dirty="0" err="1" smtClean="0"/>
              <a:t>translation</a:t>
            </a:r>
            <a:endParaRPr lang="hu-HU" dirty="0" smtClean="0"/>
          </a:p>
          <a:p>
            <a:pPr lvl="1"/>
            <a:r>
              <a:rPr lang="hu-HU" dirty="0"/>
              <a:t>M</a:t>
            </a:r>
            <a:r>
              <a:rPr lang="en-GB" dirty="0" err="1" smtClean="0"/>
              <a:t>achine</a:t>
            </a:r>
            <a:r>
              <a:rPr lang="en-GB" dirty="0" smtClean="0"/>
              <a:t> translation has been a classic AI problem from the very beginning, since the 1950s. </a:t>
            </a:r>
          </a:p>
          <a:p>
            <a:pPr lvl="2"/>
            <a:r>
              <a:rPr lang="en-GB" b="1" dirty="0" smtClean="0"/>
              <a:t>Machine translation:</a:t>
            </a:r>
            <a:r>
              <a:rPr lang="en-GB" dirty="0" smtClean="0"/>
              <a:t> Automatically creating a counterpart of a sentence </a:t>
            </a:r>
            <a:r>
              <a:rPr lang="hu-HU" dirty="0" err="1" smtClean="0"/>
              <a:t>expressed</a:t>
            </a:r>
            <a:r>
              <a:rPr lang="hu-HU" dirty="0" smtClean="0"/>
              <a:t> </a:t>
            </a:r>
            <a:r>
              <a:rPr lang="en-GB" dirty="0" smtClean="0"/>
              <a:t>in one human language, e.g., Russian, in another human language, e.g., English, with identical content and meaning, using a computer without human intervention. </a:t>
            </a:r>
          </a:p>
          <a:p>
            <a:pPr lvl="3"/>
            <a:r>
              <a:rPr lang="en-GB" dirty="0" smtClean="0"/>
              <a:t>The computer translates a text using some software. </a:t>
            </a:r>
          </a:p>
          <a:p>
            <a:pPr lvl="1"/>
            <a:r>
              <a:rPr lang="en-GB" dirty="0" smtClean="0"/>
              <a:t>Good machine translation indeed simulates human activity, so it can be called AI.</a:t>
            </a:r>
          </a:p>
          <a:p>
            <a:pPr lvl="2"/>
            <a:r>
              <a:rPr lang="en-GB" dirty="0" smtClean="0"/>
              <a:t>It assumes the understanding of the text to be translated </a:t>
            </a:r>
          </a:p>
          <a:p>
            <a:pPr lvl="2"/>
            <a:r>
              <a:rPr lang="hu-HU" dirty="0" err="1" smtClean="0"/>
              <a:t>Does</a:t>
            </a:r>
            <a:r>
              <a:rPr lang="hu-HU" dirty="0" smtClean="0"/>
              <a:t> </a:t>
            </a:r>
            <a:r>
              <a:rPr lang="en-GB" dirty="0" smtClean="0"/>
              <a:t>not simply </a:t>
            </a:r>
            <a:r>
              <a:rPr lang="hu-HU" dirty="0" err="1" smtClean="0"/>
              <a:t>involve</a:t>
            </a:r>
            <a:r>
              <a:rPr lang="hu-HU" dirty="0" smtClean="0"/>
              <a:t> </a:t>
            </a:r>
            <a:r>
              <a:rPr lang="en-GB" dirty="0" smtClean="0"/>
              <a:t>looking up words in a bilingual dictionary </a:t>
            </a:r>
          </a:p>
          <a:p>
            <a:pPr lvl="2"/>
            <a:r>
              <a:rPr lang="en-GB" dirty="0" smtClean="0"/>
              <a:t>Complex intellectual </a:t>
            </a:r>
            <a:r>
              <a:rPr lang="hu-HU" dirty="0" err="1" smtClean="0"/>
              <a:t>effort</a:t>
            </a:r>
            <a:r>
              <a:rPr lang="en-GB" dirty="0" smtClean="0"/>
              <a:t>:</a:t>
            </a:r>
            <a:r>
              <a:rPr lang="hu-HU" dirty="0" smtClean="0"/>
              <a:t> </a:t>
            </a:r>
            <a:r>
              <a:rPr lang="hu-HU" dirty="0" err="1" smtClean="0"/>
              <a:t>the</a:t>
            </a:r>
            <a:r>
              <a:rPr lang="hu-HU" dirty="0" smtClean="0"/>
              <a:t> </a:t>
            </a:r>
            <a:r>
              <a:rPr lang="hu-HU" dirty="0" err="1" smtClean="0"/>
              <a:t>translator</a:t>
            </a:r>
            <a:r>
              <a:rPr lang="hu-HU" dirty="0" smtClean="0"/>
              <a:t> </a:t>
            </a:r>
            <a:r>
              <a:rPr lang="hu-HU" dirty="0" err="1" smtClean="0"/>
              <a:t>processes</a:t>
            </a:r>
            <a:r>
              <a:rPr lang="hu-HU" dirty="0" smtClean="0"/>
              <a:t>,</a:t>
            </a:r>
            <a:r>
              <a:rPr lang="en-GB" dirty="0" smtClean="0"/>
              <a:t> "</a:t>
            </a:r>
            <a:r>
              <a:rPr lang="en-GB" dirty="0" err="1" smtClean="0"/>
              <a:t>analy</a:t>
            </a:r>
            <a:r>
              <a:rPr lang="hu-HU" dirty="0" smtClean="0"/>
              <a:t>s</a:t>
            </a:r>
            <a:r>
              <a:rPr lang="en-GB" dirty="0" smtClean="0"/>
              <a:t>e</a:t>
            </a:r>
            <a:r>
              <a:rPr lang="hu-HU" dirty="0" smtClean="0"/>
              <a:t>s</a:t>
            </a:r>
            <a:r>
              <a:rPr lang="en-GB" dirty="0" smtClean="0"/>
              <a:t>" the sentence structure, select</a:t>
            </a:r>
            <a:r>
              <a:rPr lang="hu-HU" dirty="0" smtClean="0"/>
              <a:t>s</a:t>
            </a:r>
            <a:r>
              <a:rPr lang="en-GB" dirty="0" smtClean="0"/>
              <a:t> the relevant meaning of ambiguous words in the given context, automatically correct noise appearing in the channel (typos, articulation errors, linguistic errors)</a:t>
            </a:r>
            <a:endParaRPr lang="hu-HU" dirty="0" smtClean="0"/>
          </a:p>
          <a:p>
            <a:pPr lvl="2"/>
            <a:r>
              <a:rPr lang="en-GB" dirty="0" smtClean="0"/>
              <a:t>Moreover: considerable theory of mind is needed to construct the target language text </a:t>
            </a:r>
          </a:p>
          <a:p>
            <a:pPr lvl="3"/>
            <a:r>
              <a:rPr lang="en-GB" dirty="0" smtClean="0"/>
              <a:t>How should I construct the sentence so the reader understands it the way I intend?</a:t>
            </a:r>
            <a:endParaRPr lang="hu-HU" dirty="0" smtClean="0"/>
          </a:p>
          <a:p>
            <a:pPr lvl="1"/>
            <a:r>
              <a:rPr lang="en-GB" dirty="0" smtClean="0"/>
              <a:t>Despite this, machine translation is generally not considered generative AI because the machine does not create something independently, but based on a source language sentence.</a:t>
            </a:r>
          </a:p>
        </p:txBody>
      </p:sp>
    </p:spTree>
    <p:extLst>
      <p:ext uri="{BB962C8B-B14F-4D97-AF65-F5344CB8AC3E}">
        <p14:creationId xmlns:p14="http://schemas.microsoft.com/office/powerpoint/2010/main" val="19308092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GB" dirty="0" smtClean="0"/>
              <a:t>Text Generation with AI</a:t>
            </a:r>
            <a:endParaRPr lang="en-GB" dirty="0"/>
          </a:p>
        </p:txBody>
      </p:sp>
      <p:sp>
        <p:nvSpPr>
          <p:cNvPr id="3" name="Tartalom helye 2"/>
          <p:cNvSpPr>
            <a:spLocks noGrp="1"/>
          </p:cNvSpPr>
          <p:nvPr>
            <p:ph idx="1"/>
          </p:nvPr>
        </p:nvSpPr>
        <p:spPr/>
        <p:txBody>
          <a:bodyPr>
            <a:normAutofit fontScale="70000" lnSpcReduction="20000"/>
          </a:bodyPr>
          <a:lstStyle/>
          <a:p>
            <a:r>
              <a:rPr lang="en-GB" b="1" dirty="0" smtClean="0"/>
              <a:t>Definition attempt:</a:t>
            </a:r>
            <a:r>
              <a:rPr lang="en-GB" dirty="0" smtClean="0"/>
              <a:t> We can </a:t>
            </a:r>
            <a:r>
              <a:rPr lang="hu-HU" dirty="0" err="1" smtClean="0"/>
              <a:t>refer</a:t>
            </a:r>
            <a:r>
              <a:rPr lang="hu-HU" dirty="0" smtClean="0"/>
              <a:t> </a:t>
            </a:r>
            <a:r>
              <a:rPr lang="hu-HU" dirty="0" err="1" smtClean="0"/>
              <a:t>to</a:t>
            </a:r>
            <a:r>
              <a:rPr lang="hu-HU" dirty="0" smtClean="0"/>
              <a:t> </a:t>
            </a:r>
            <a:r>
              <a:rPr lang="hu-HU" dirty="0" err="1" smtClean="0"/>
              <a:t>something</a:t>
            </a:r>
            <a:r>
              <a:rPr lang="hu-HU" dirty="0" smtClean="0"/>
              <a:t> </a:t>
            </a:r>
            <a:r>
              <a:rPr lang="hu-HU" dirty="0" err="1" smtClean="0"/>
              <a:t>as</a:t>
            </a:r>
            <a:r>
              <a:rPr lang="hu-HU" dirty="0" smtClean="0"/>
              <a:t> </a:t>
            </a:r>
            <a:r>
              <a:rPr lang="en-GB" dirty="0" smtClean="0"/>
              <a:t>text generation with AI when a computer</a:t>
            </a:r>
            <a:endParaRPr lang="hu-HU" dirty="0" smtClean="0"/>
          </a:p>
          <a:p>
            <a:pPr lvl="1"/>
            <a:r>
              <a:rPr lang="en-GB" dirty="0" smtClean="0"/>
              <a:t>creates text </a:t>
            </a:r>
          </a:p>
          <a:p>
            <a:pPr lvl="2"/>
            <a:r>
              <a:rPr lang="hu-HU" dirty="0" err="1" smtClean="0"/>
              <a:t>just</a:t>
            </a:r>
            <a:r>
              <a:rPr lang="hu-HU" dirty="0" smtClean="0"/>
              <a:t> </a:t>
            </a:r>
            <a:r>
              <a:rPr lang="hu-HU" dirty="0" err="1" smtClean="0"/>
              <a:t>picking</a:t>
            </a:r>
            <a:r>
              <a:rPr lang="hu-HU" dirty="0" smtClean="0"/>
              <a:t> out </a:t>
            </a:r>
            <a:r>
              <a:rPr lang="en-GB" dirty="0" smtClean="0"/>
              <a:t>key sentences from a text for the purpose of summarizing the text</a:t>
            </a:r>
            <a:r>
              <a:rPr lang="hu-HU" dirty="0" smtClean="0"/>
              <a:t> </a:t>
            </a:r>
            <a:r>
              <a:rPr lang="en-GB" dirty="0" smtClean="0"/>
              <a:t>may be AI, but not text generation</a:t>
            </a:r>
            <a:endParaRPr lang="hu-HU" dirty="0" smtClean="0"/>
          </a:p>
          <a:p>
            <a:pPr lvl="1"/>
            <a:r>
              <a:rPr lang="en-GB" dirty="0" smtClean="0"/>
              <a:t>does not write a pre-specified text to the screen </a:t>
            </a:r>
          </a:p>
          <a:p>
            <a:pPr lvl="1"/>
            <a:r>
              <a:rPr lang="en-GB" dirty="0" smtClean="0"/>
              <a:t>in a creative way</a:t>
            </a:r>
          </a:p>
          <a:p>
            <a:pPr lvl="2"/>
            <a:r>
              <a:rPr lang="en-GB" dirty="0" smtClean="0"/>
              <a:t>not mechanically, by assembling pre-determined elements randomly or systematically</a:t>
            </a:r>
            <a:endParaRPr lang="hu-HU" dirty="0" smtClean="0"/>
          </a:p>
          <a:p>
            <a:pPr lvl="2"/>
            <a:r>
              <a:rPr lang="en-GB" dirty="0" smtClean="0"/>
              <a:t>an application that mechanically conjugates a given dictionary word in all its forms simulates non-intelligent activity, it is not AI</a:t>
            </a:r>
          </a:p>
          <a:p>
            <a:pPr lvl="1"/>
            <a:r>
              <a:rPr lang="en-GB" dirty="0" smtClean="0"/>
              <a:t>creates different linguistic structures </a:t>
            </a:r>
            <a:r>
              <a:rPr lang="hu-HU" dirty="0" err="1" smtClean="0"/>
              <a:t>depending</a:t>
            </a:r>
            <a:r>
              <a:rPr lang="hu-HU" dirty="0" smtClean="0"/>
              <a:t> </a:t>
            </a:r>
            <a:r>
              <a:rPr lang="hu-HU" dirty="0" err="1" smtClean="0"/>
              <a:t>on</a:t>
            </a:r>
            <a:r>
              <a:rPr lang="hu-HU" dirty="0" smtClean="0"/>
              <a:t> </a:t>
            </a:r>
            <a:r>
              <a:rPr lang="hu-HU" dirty="0" err="1" smtClean="0"/>
              <a:t>the</a:t>
            </a:r>
            <a:r>
              <a:rPr lang="hu-HU" dirty="0" smtClean="0"/>
              <a:t> </a:t>
            </a:r>
            <a:r>
              <a:rPr lang="hu-HU" dirty="0" err="1" smtClean="0"/>
              <a:t>actual</a:t>
            </a:r>
            <a:r>
              <a:rPr lang="hu-HU" dirty="0" smtClean="0"/>
              <a:t> </a:t>
            </a:r>
            <a:r>
              <a:rPr lang="hu-HU" dirty="0" err="1" smtClean="0"/>
              <a:t>context</a:t>
            </a:r>
            <a:r>
              <a:rPr lang="hu-HU" dirty="0" smtClean="0"/>
              <a:t>, </a:t>
            </a:r>
            <a:r>
              <a:rPr lang="hu-HU" dirty="0" err="1" smtClean="0"/>
              <a:t>in</a:t>
            </a:r>
            <a:r>
              <a:rPr lang="hu-HU" dirty="0" smtClean="0"/>
              <a:t> an </a:t>
            </a:r>
            <a:r>
              <a:rPr lang="hu-HU" dirty="0" err="1" smtClean="0"/>
              <a:t>adaptive</a:t>
            </a:r>
            <a:r>
              <a:rPr lang="hu-HU" dirty="0" smtClean="0"/>
              <a:t> </a:t>
            </a:r>
            <a:r>
              <a:rPr lang="hu-HU" dirty="0" err="1" smtClean="0"/>
              <a:t>way</a:t>
            </a:r>
            <a:r>
              <a:rPr lang="en-GB" dirty="0" smtClean="0"/>
              <a:t>, according to the vocabulary and grammar of the given language </a:t>
            </a:r>
          </a:p>
          <a:p>
            <a:pPr lvl="1"/>
            <a:r>
              <a:rPr lang="en-GB" dirty="0" smtClean="0"/>
              <a:t>the created content is meaningful and appropriate in the given communication situation</a:t>
            </a:r>
          </a:p>
        </p:txBody>
      </p:sp>
    </p:spTree>
    <p:extLst>
      <p:ext uri="{BB962C8B-B14F-4D97-AF65-F5344CB8AC3E}">
        <p14:creationId xmlns:p14="http://schemas.microsoft.com/office/powerpoint/2010/main" val="32716752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Autofit/>
          </a:bodyPr>
          <a:lstStyle/>
          <a:p>
            <a:r>
              <a:rPr lang="en-GB" sz="3600" dirty="0" smtClean="0"/>
              <a:t>Machine Translation and Summarization</a:t>
            </a:r>
            <a:endParaRPr lang="en-GB" sz="3600" dirty="0"/>
          </a:p>
        </p:txBody>
      </p:sp>
      <p:sp>
        <p:nvSpPr>
          <p:cNvPr id="3" name="Tartalom helye 2"/>
          <p:cNvSpPr>
            <a:spLocks noGrp="1"/>
          </p:cNvSpPr>
          <p:nvPr>
            <p:ph idx="1"/>
          </p:nvPr>
        </p:nvSpPr>
        <p:spPr/>
        <p:txBody>
          <a:bodyPr>
            <a:normAutofit fontScale="62500" lnSpcReduction="20000"/>
          </a:bodyPr>
          <a:lstStyle/>
          <a:p>
            <a:r>
              <a:rPr lang="en-GB" dirty="0" smtClean="0"/>
              <a:t>Machine translation and text summarization are classic automatic natural language processing tasks; their output is generated text.</a:t>
            </a:r>
            <a:endParaRPr lang="hu-HU" dirty="0" smtClean="0"/>
          </a:p>
          <a:p>
            <a:r>
              <a:rPr lang="hu-HU" dirty="0" smtClean="0"/>
              <a:t>C</a:t>
            </a:r>
            <a:r>
              <a:rPr lang="en-GB" dirty="0" err="1" smtClean="0"/>
              <a:t>omparable</a:t>
            </a:r>
            <a:r>
              <a:rPr lang="en-GB" dirty="0" smtClean="0"/>
              <a:t> to conditional image generation</a:t>
            </a:r>
            <a:endParaRPr lang="hu-HU" dirty="0" smtClean="0"/>
          </a:p>
          <a:p>
            <a:pPr lvl="1"/>
            <a:r>
              <a:rPr lang="hu-HU" dirty="0" smtClean="0"/>
              <a:t>T</a:t>
            </a:r>
            <a:r>
              <a:rPr lang="en-GB" dirty="0" smtClean="0"/>
              <a:t>he neural network does not simply generate something similar to the data it was trained on, we </a:t>
            </a:r>
            <a:r>
              <a:rPr lang="hu-HU" dirty="0" err="1" smtClean="0"/>
              <a:t>specify</a:t>
            </a:r>
            <a:r>
              <a:rPr lang="hu-HU" dirty="0" smtClean="0"/>
              <a:t> </a:t>
            </a:r>
            <a:r>
              <a:rPr lang="en-GB" dirty="0" smtClean="0"/>
              <a:t>what it </a:t>
            </a:r>
            <a:r>
              <a:rPr lang="hu-HU" dirty="0" err="1" smtClean="0"/>
              <a:t>should</a:t>
            </a:r>
            <a:r>
              <a:rPr lang="hu-HU" dirty="0" smtClean="0"/>
              <a:t> </a:t>
            </a:r>
            <a:r>
              <a:rPr lang="en-GB" dirty="0" smtClean="0"/>
              <a:t>generate </a:t>
            </a:r>
            <a:r>
              <a:rPr lang="hu-HU" dirty="0" err="1" smtClean="0"/>
              <a:t>using</a:t>
            </a:r>
            <a:r>
              <a:rPr lang="hu-HU" dirty="0" smtClean="0"/>
              <a:t> text input (a </a:t>
            </a:r>
            <a:r>
              <a:rPr lang="hu-HU" dirty="0" err="1" smtClean="0"/>
              <a:t>so-called</a:t>
            </a:r>
            <a:r>
              <a:rPr lang="hu-HU" dirty="0" smtClean="0"/>
              <a:t> prompt)</a:t>
            </a:r>
            <a:r>
              <a:rPr lang="en-GB" dirty="0" smtClean="0"/>
              <a:t>.</a:t>
            </a:r>
            <a:endParaRPr lang="hu-HU" dirty="0" smtClean="0"/>
          </a:p>
          <a:p>
            <a:r>
              <a:rPr lang="en-GB" dirty="0" smtClean="0"/>
              <a:t>This generation </a:t>
            </a:r>
            <a:r>
              <a:rPr lang="hu-HU" dirty="0" smtClean="0"/>
              <a:t>is </a:t>
            </a:r>
            <a:r>
              <a:rPr lang="hu-HU" dirty="0" err="1" smtClean="0"/>
              <a:t>implemented</a:t>
            </a:r>
            <a:r>
              <a:rPr lang="hu-HU" dirty="0" smtClean="0"/>
              <a:t> </a:t>
            </a:r>
            <a:r>
              <a:rPr lang="hu-HU" dirty="0" err="1" smtClean="0"/>
              <a:t>using</a:t>
            </a:r>
            <a:r>
              <a:rPr lang="hu-HU" dirty="0" smtClean="0"/>
              <a:t> </a:t>
            </a:r>
            <a:r>
              <a:rPr lang="en-GB" dirty="0" smtClean="0"/>
              <a:t>so-called </a:t>
            </a:r>
            <a:r>
              <a:rPr lang="en-GB" b="1" dirty="0" smtClean="0"/>
              <a:t>seq2seq</a:t>
            </a:r>
            <a:r>
              <a:rPr lang="en-GB" dirty="0" smtClean="0"/>
              <a:t> (sequence to sequence) architectures; both the input and output of the deep neural network are </a:t>
            </a:r>
            <a:r>
              <a:rPr lang="hu-HU" dirty="0" err="1" smtClean="0"/>
              <a:t>sequences</a:t>
            </a:r>
            <a:r>
              <a:rPr lang="hu-HU" dirty="0" smtClean="0"/>
              <a:t> (</a:t>
            </a:r>
            <a:r>
              <a:rPr lang="en-GB" dirty="0" smtClean="0"/>
              <a:t>text</a:t>
            </a:r>
            <a:r>
              <a:rPr lang="hu-HU" dirty="0" smtClean="0"/>
              <a:t>)</a:t>
            </a:r>
            <a:r>
              <a:rPr lang="en-GB" dirty="0" smtClean="0"/>
              <a:t>. </a:t>
            </a:r>
          </a:p>
          <a:p>
            <a:pPr lvl="1"/>
            <a:r>
              <a:rPr lang="en-GB" dirty="0" smtClean="0"/>
              <a:t>The output is not simply a continuation of the input </a:t>
            </a:r>
            <a:r>
              <a:rPr lang="hu-HU" dirty="0" smtClean="0"/>
              <a:t>(</a:t>
            </a:r>
            <a:r>
              <a:rPr lang="hu-HU" dirty="0" err="1" smtClean="0"/>
              <a:t>like</a:t>
            </a:r>
            <a:r>
              <a:rPr lang="hu-HU" dirty="0" smtClean="0"/>
              <a:t> </a:t>
            </a:r>
            <a:r>
              <a:rPr lang="hu-HU" dirty="0" err="1" smtClean="0"/>
              <a:t>in</a:t>
            </a:r>
            <a:r>
              <a:rPr lang="hu-HU" dirty="0" smtClean="0"/>
              <a:t> a </a:t>
            </a:r>
            <a:r>
              <a:rPr lang="hu-HU" dirty="0" err="1" smtClean="0"/>
              <a:t>generative</a:t>
            </a:r>
            <a:r>
              <a:rPr lang="hu-HU" dirty="0" smtClean="0"/>
              <a:t> </a:t>
            </a:r>
            <a:r>
              <a:rPr lang="hu-HU" dirty="0" err="1" smtClean="0"/>
              <a:t>language</a:t>
            </a:r>
            <a:r>
              <a:rPr lang="hu-HU" dirty="0" smtClean="0"/>
              <a:t> </a:t>
            </a:r>
            <a:r>
              <a:rPr lang="hu-HU" dirty="0" err="1" smtClean="0"/>
              <a:t>model</a:t>
            </a:r>
            <a:r>
              <a:rPr lang="hu-HU" dirty="0" smtClean="0"/>
              <a:t>) </a:t>
            </a:r>
            <a:r>
              <a:rPr lang="en-GB" dirty="0" smtClean="0"/>
              <a:t>but relies on it and transforms the input in some way</a:t>
            </a:r>
            <a:r>
              <a:rPr lang="hu-HU" dirty="0" smtClean="0"/>
              <a:t>.</a:t>
            </a:r>
            <a:endParaRPr lang="en-GB" dirty="0" smtClean="0"/>
          </a:p>
          <a:p>
            <a:pPr lvl="1"/>
            <a:r>
              <a:rPr lang="en-GB" dirty="0" smtClean="0"/>
              <a:t>Seq2seq models do not necessarily create text</a:t>
            </a:r>
            <a:r>
              <a:rPr lang="hu-HU" dirty="0" smtClean="0"/>
              <a:t>:</a:t>
            </a:r>
          </a:p>
          <a:p>
            <a:pPr lvl="2"/>
            <a:r>
              <a:rPr lang="en-GB" dirty="0" smtClean="0"/>
              <a:t>speech synthesis (TTS – text to speech)</a:t>
            </a:r>
            <a:endParaRPr lang="hu-HU" dirty="0" smtClean="0"/>
          </a:p>
          <a:p>
            <a:pPr lvl="2"/>
            <a:r>
              <a:rPr lang="en-GB" dirty="0" smtClean="0"/>
              <a:t>the reverse of this: speech recognition (ASR – automatic speech recognition, </a:t>
            </a:r>
            <a:r>
              <a:rPr lang="en-GB" dirty="0" err="1" smtClean="0"/>
              <a:t>STT</a:t>
            </a:r>
            <a:r>
              <a:rPr lang="en-GB" dirty="0" smtClean="0"/>
              <a:t>) </a:t>
            </a:r>
          </a:p>
          <a:p>
            <a:pPr lvl="2"/>
            <a:r>
              <a:rPr lang="en-GB" dirty="0" err="1" smtClean="0"/>
              <a:t>labe</a:t>
            </a:r>
            <a:r>
              <a:rPr lang="hu-HU" dirty="0" smtClean="0"/>
              <a:t>l</a:t>
            </a:r>
            <a:r>
              <a:rPr lang="en-GB" dirty="0" smtClean="0"/>
              <a:t>ling words in a text, e.g., part-of-speech, grammatical, syntactic label</a:t>
            </a:r>
            <a:r>
              <a:rPr lang="hu-HU" dirty="0" smtClean="0"/>
              <a:t>l</a:t>
            </a:r>
            <a:r>
              <a:rPr lang="en-GB" dirty="0" err="1" smtClean="0"/>
              <a:t>ing</a:t>
            </a:r>
            <a:r>
              <a:rPr lang="en-GB" dirty="0" smtClean="0"/>
              <a:t> (standard NLP tasks)</a:t>
            </a:r>
            <a:endParaRPr lang="en-GB" dirty="0"/>
          </a:p>
        </p:txBody>
      </p:sp>
    </p:spTree>
    <p:extLst>
      <p:ext uri="{BB962C8B-B14F-4D97-AF65-F5344CB8AC3E}">
        <p14:creationId xmlns:p14="http://schemas.microsoft.com/office/powerpoint/2010/main" val="37457064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GB" dirty="0" smtClean="0"/>
              <a:t>Processing </a:t>
            </a:r>
            <a:r>
              <a:rPr lang="hu-HU" dirty="0" smtClean="0"/>
              <a:t>S</a:t>
            </a:r>
            <a:r>
              <a:rPr lang="en-GB" dirty="0" err="1" smtClean="0"/>
              <a:t>equences</a:t>
            </a:r>
            <a:r>
              <a:rPr lang="en-GB" dirty="0" smtClean="0"/>
              <a:t> with </a:t>
            </a:r>
            <a:r>
              <a:rPr lang="hu-HU" dirty="0" smtClean="0"/>
              <a:t>D</a:t>
            </a:r>
            <a:r>
              <a:rPr lang="en-GB" dirty="0" err="1" smtClean="0"/>
              <a:t>eep</a:t>
            </a:r>
            <a:r>
              <a:rPr lang="en-GB" dirty="0" smtClean="0"/>
              <a:t> </a:t>
            </a:r>
            <a:r>
              <a:rPr lang="hu-HU" dirty="0" smtClean="0"/>
              <a:t>N</a:t>
            </a:r>
            <a:r>
              <a:rPr lang="en-GB" dirty="0" err="1" smtClean="0"/>
              <a:t>eural</a:t>
            </a:r>
            <a:r>
              <a:rPr lang="en-GB" dirty="0" smtClean="0"/>
              <a:t> </a:t>
            </a:r>
            <a:r>
              <a:rPr lang="hu-HU" dirty="0" smtClean="0"/>
              <a:t>N</a:t>
            </a:r>
            <a:r>
              <a:rPr lang="en-GB" dirty="0" err="1" smtClean="0"/>
              <a:t>etworks</a:t>
            </a:r>
            <a:endParaRPr lang="en-GB" dirty="0"/>
          </a:p>
        </p:txBody>
      </p:sp>
      <p:sp>
        <p:nvSpPr>
          <p:cNvPr id="3" name="Tartalom helye 2"/>
          <p:cNvSpPr>
            <a:spLocks noGrp="1"/>
          </p:cNvSpPr>
          <p:nvPr>
            <p:ph idx="1"/>
          </p:nvPr>
        </p:nvSpPr>
        <p:spPr/>
        <p:txBody>
          <a:bodyPr>
            <a:normAutofit fontScale="62500" lnSpcReduction="20000"/>
          </a:bodyPr>
          <a:lstStyle/>
          <a:p>
            <a:r>
              <a:rPr lang="en-GB" b="1" dirty="0" smtClean="0"/>
              <a:t>Densely connected neural networks</a:t>
            </a:r>
            <a:r>
              <a:rPr lang="en-GB" dirty="0" smtClean="0"/>
              <a:t> are </a:t>
            </a:r>
            <a:r>
              <a:rPr lang="en-GB" b="1" dirty="0" smtClean="0"/>
              <a:t>not optimal </a:t>
            </a:r>
            <a:r>
              <a:rPr lang="en-GB" dirty="0" smtClean="0"/>
              <a:t>for representing sequences</a:t>
            </a:r>
            <a:endParaRPr lang="hu-HU" dirty="0" smtClean="0"/>
          </a:p>
          <a:p>
            <a:pPr lvl="1"/>
            <a:r>
              <a:rPr lang="en-GB" dirty="0" smtClean="0"/>
              <a:t>no relative order is defined between the elements of the input; they have absolute positions in the input</a:t>
            </a:r>
            <a:endParaRPr lang="hu-HU" dirty="0" smtClean="0"/>
          </a:p>
          <a:p>
            <a:pPr lvl="1"/>
            <a:r>
              <a:rPr lang="en-GB" dirty="0" smtClean="0"/>
              <a:t>work </a:t>
            </a:r>
            <a:r>
              <a:rPr lang="hu-HU" dirty="0" err="1" smtClean="0"/>
              <a:t>best</a:t>
            </a:r>
            <a:r>
              <a:rPr lang="hu-HU" dirty="0" smtClean="0"/>
              <a:t> </a:t>
            </a:r>
            <a:r>
              <a:rPr lang="en-GB" dirty="0" smtClean="0"/>
              <a:t>when the elements of the input layer are independent of each other, with no local or temporal relationship between them</a:t>
            </a:r>
            <a:endParaRPr lang="hu-HU" dirty="0" smtClean="0"/>
          </a:p>
          <a:p>
            <a:r>
              <a:rPr lang="en-GB" b="1" dirty="0" smtClean="0"/>
              <a:t>Convolutional neural networks</a:t>
            </a:r>
            <a:r>
              <a:rPr lang="en-GB" dirty="0" smtClean="0"/>
              <a:t> are better, but not quite right</a:t>
            </a:r>
            <a:endParaRPr lang="hu-HU" dirty="0" smtClean="0"/>
          </a:p>
          <a:p>
            <a:pPr lvl="1"/>
            <a:r>
              <a:rPr lang="en-GB" dirty="0" smtClean="0"/>
              <a:t>capture local relationships between </a:t>
            </a:r>
            <a:r>
              <a:rPr lang="hu-HU" dirty="0" smtClean="0"/>
              <a:t>input </a:t>
            </a:r>
            <a:r>
              <a:rPr lang="en-GB" dirty="0" smtClean="0"/>
              <a:t>elements</a:t>
            </a:r>
          </a:p>
          <a:p>
            <a:pPr lvl="1"/>
            <a:r>
              <a:rPr lang="hu-HU" dirty="0" err="1" smtClean="0"/>
              <a:t>typically</a:t>
            </a:r>
            <a:r>
              <a:rPr lang="en-GB" dirty="0" smtClean="0"/>
              <a:t> 2-dimensional relationships, but </a:t>
            </a:r>
            <a:r>
              <a:rPr lang="hu-HU" dirty="0" err="1" smtClean="0"/>
              <a:t>training</a:t>
            </a:r>
            <a:r>
              <a:rPr lang="hu-HU" dirty="0" smtClean="0"/>
              <a:t> </a:t>
            </a:r>
            <a:r>
              <a:rPr lang="hu-HU" dirty="0" err="1" smtClean="0"/>
              <a:t>CNNs</a:t>
            </a:r>
            <a:r>
              <a:rPr lang="hu-HU" dirty="0" smtClean="0"/>
              <a:t> </a:t>
            </a:r>
            <a:r>
              <a:rPr lang="hu-HU" dirty="0" err="1" smtClean="0"/>
              <a:t>with</a:t>
            </a:r>
            <a:r>
              <a:rPr lang="hu-HU" dirty="0" smtClean="0"/>
              <a:t> </a:t>
            </a:r>
            <a:r>
              <a:rPr lang="en-GB" dirty="0" smtClean="0"/>
              <a:t>1-dimensional filters</a:t>
            </a:r>
            <a:r>
              <a:rPr lang="hu-HU" dirty="0" smtClean="0"/>
              <a:t> is </a:t>
            </a:r>
            <a:r>
              <a:rPr lang="hu-HU" dirty="0" err="1" smtClean="0"/>
              <a:t>perfectly</a:t>
            </a:r>
            <a:r>
              <a:rPr lang="hu-HU" dirty="0" smtClean="0"/>
              <a:t> </a:t>
            </a:r>
            <a:r>
              <a:rPr lang="hu-HU" dirty="0" err="1" smtClean="0"/>
              <a:t>possible</a:t>
            </a:r>
            <a:endParaRPr lang="hu-HU" dirty="0" smtClean="0"/>
          </a:p>
          <a:p>
            <a:pPr lvl="1"/>
            <a:r>
              <a:rPr lang="en-GB" dirty="0" smtClean="0"/>
              <a:t>the filters are usually quite small, </a:t>
            </a:r>
            <a:r>
              <a:rPr lang="hu-HU" dirty="0" err="1" smtClean="0"/>
              <a:t>they</a:t>
            </a:r>
            <a:r>
              <a:rPr lang="hu-HU" dirty="0" smtClean="0"/>
              <a:t> </a:t>
            </a:r>
            <a:r>
              <a:rPr lang="hu-HU" dirty="0" err="1" smtClean="0"/>
              <a:t>only</a:t>
            </a:r>
            <a:r>
              <a:rPr lang="hu-HU" dirty="0" smtClean="0"/>
              <a:t> </a:t>
            </a:r>
            <a:r>
              <a:rPr lang="en-GB" dirty="0" smtClean="0"/>
              <a:t>"see" </a:t>
            </a:r>
            <a:r>
              <a:rPr lang="hu-HU" dirty="0" smtClean="0"/>
              <a:t>over </a:t>
            </a:r>
            <a:r>
              <a:rPr lang="en-GB" dirty="0" smtClean="0"/>
              <a:t>a distance of a few words</a:t>
            </a:r>
            <a:endParaRPr lang="hu-HU" dirty="0" smtClean="0"/>
          </a:p>
          <a:p>
            <a:r>
              <a:rPr lang="hu-HU" b="1" dirty="0" smtClean="0"/>
              <a:t>R</a:t>
            </a:r>
            <a:r>
              <a:rPr lang="en-GB" b="1" dirty="0" err="1" smtClean="0"/>
              <a:t>ecurrent</a:t>
            </a:r>
            <a:r>
              <a:rPr lang="en-GB" b="1" dirty="0" smtClean="0"/>
              <a:t> neural network</a:t>
            </a:r>
            <a:r>
              <a:rPr lang="hu-HU" b="1" dirty="0" smtClean="0"/>
              <a:t>s</a:t>
            </a:r>
            <a:r>
              <a:rPr lang="hu-HU" dirty="0" smtClean="0"/>
              <a:t> </a:t>
            </a:r>
            <a:r>
              <a:rPr lang="hu-HU" dirty="0" err="1" smtClean="0"/>
              <a:t>are</a:t>
            </a:r>
            <a:r>
              <a:rPr lang="hu-HU" dirty="0" smtClean="0"/>
              <a:t> a</a:t>
            </a:r>
            <a:r>
              <a:rPr lang="en-GB" dirty="0" smtClean="0"/>
              <a:t> neural architecture specifically</a:t>
            </a:r>
            <a:r>
              <a:rPr lang="hu-HU" dirty="0" smtClean="0"/>
              <a:t> </a:t>
            </a:r>
            <a:r>
              <a:rPr lang="hu-HU" dirty="0" err="1" smtClean="0"/>
              <a:t>designed</a:t>
            </a:r>
            <a:r>
              <a:rPr lang="en-GB" dirty="0" smtClean="0"/>
              <a:t> for sequence processing</a:t>
            </a:r>
            <a:endParaRPr lang="hu-HU" dirty="0" smtClean="0"/>
          </a:p>
          <a:p>
            <a:pPr lvl="1"/>
            <a:r>
              <a:rPr lang="en-GB" dirty="0" smtClean="0"/>
              <a:t>initially, </a:t>
            </a:r>
            <a:r>
              <a:rPr lang="hu-HU" dirty="0" err="1" smtClean="0"/>
              <a:t>in</a:t>
            </a:r>
            <a:r>
              <a:rPr lang="hu-HU" dirty="0" smtClean="0"/>
              <a:t> </a:t>
            </a:r>
            <a:r>
              <a:rPr lang="hu-HU" dirty="0" err="1" smtClean="0"/>
              <a:t>the</a:t>
            </a:r>
            <a:r>
              <a:rPr lang="hu-HU" dirty="0" smtClean="0"/>
              <a:t> mid-2010s </a:t>
            </a:r>
            <a:r>
              <a:rPr lang="hu-HU" dirty="0" err="1" smtClean="0"/>
              <a:t>this</a:t>
            </a:r>
            <a:r>
              <a:rPr lang="hu-HU" dirty="0" smtClean="0"/>
              <a:t> </a:t>
            </a:r>
            <a:r>
              <a:rPr lang="en-GB" dirty="0" smtClean="0"/>
              <a:t>was the most popular </a:t>
            </a:r>
            <a:r>
              <a:rPr lang="hu-HU" dirty="0" smtClean="0"/>
              <a:t>and </a:t>
            </a:r>
            <a:r>
              <a:rPr lang="hu-HU" dirty="0" err="1" smtClean="0"/>
              <a:t>powerful</a:t>
            </a:r>
            <a:r>
              <a:rPr lang="hu-HU" dirty="0" smtClean="0"/>
              <a:t> </a:t>
            </a:r>
            <a:r>
              <a:rPr lang="en-GB" dirty="0" smtClean="0"/>
              <a:t>solution for processing natural language data (including machine translation)</a:t>
            </a:r>
          </a:p>
        </p:txBody>
      </p:sp>
    </p:spTree>
    <p:extLst>
      <p:ext uri="{BB962C8B-B14F-4D97-AF65-F5344CB8AC3E}">
        <p14:creationId xmlns:p14="http://schemas.microsoft.com/office/powerpoint/2010/main" val="37297563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GB" dirty="0" smtClean="0"/>
              <a:t>Recurrent Neural Networks</a:t>
            </a:r>
            <a:endParaRPr lang="en-GB" dirty="0"/>
          </a:p>
        </p:txBody>
      </p:sp>
      <p:sp>
        <p:nvSpPr>
          <p:cNvPr id="3" name="Tartalom helye 2"/>
          <p:cNvSpPr>
            <a:spLocks noGrp="1"/>
          </p:cNvSpPr>
          <p:nvPr>
            <p:ph idx="1"/>
          </p:nvPr>
        </p:nvSpPr>
        <p:spPr>
          <a:xfrm>
            <a:off x="457200" y="1600200"/>
            <a:ext cx="8229600" cy="3556991"/>
          </a:xfrm>
        </p:spPr>
        <p:txBody>
          <a:bodyPr>
            <a:normAutofit fontScale="55000" lnSpcReduction="20000"/>
          </a:bodyPr>
          <a:lstStyle/>
          <a:p>
            <a:r>
              <a:rPr lang="hu-HU" sz="3100" dirty="0"/>
              <a:t>I</a:t>
            </a:r>
            <a:r>
              <a:rPr lang="en-GB" sz="3100" dirty="0" err="1" smtClean="0"/>
              <a:t>nput</a:t>
            </a:r>
            <a:r>
              <a:rPr lang="en-GB" sz="3100" dirty="0" smtClean="0"/>
              <a:t> (x) </a:t>
            </a:r>
            <a:r>
              <a:rPr lang="hu-HU" sz="3100" dirty="0" smtClean="0"/>
              <a:t>is </a:t>
            </a:r>
            <a:r>
              <a:rPr lang="hu-HU" sz="3100" dirty="0" err="1" smtClean="0"/>
              <a:t>processed</a:t>
            </a:r>
            <a:r>
              <a:rPr lang="hu-HU" sz="3100" dirty="0" smtClean="0"/>
              <a:t> </a:t>
            </a:r>
            <a:r>
              <a:rPr lang="en-GB" sz="3100" b="1" dirty="0" smtClean="0"/>
              <a:t>step by step</a:t>
            </a:r>
            <a:r>
              <a:rPr lang="en-GB" sz="3100" dirty="0" smtClean="0"/>
              <a:t>, e.g., word by word or letter by letter. The value of the neurons in the hidden layer is calculated as the </a:t>
            </a:r>
            <a:r>
              <a:rPr lang="en-GB" sz="3100" b="1" dirty="0" smtClean="0"/>
              <a:t>weighted sum of two values</a:t>
            </a:r>
            <a:r>
              <a:rPr lang="en-GB" sz="3100" dirty="0" smtClean="0"/>
              <a:t>: </a:t>
            </a:r>
          </a:p>
          <a:p>
            <a:pPr lvl="1"/>
            <a:r>
              <a:rPr lang="en-GB" dirty="0" smtClean="0"/>
              <a:t>the neurons of the input (or the layer one step closer to the input) layer </a:t>
            </a:r>
          </a:p>
          <a:p>
            <a:pPr lvl="1"/>
            <a:r>
              <a:rPr lang="en-GB" dirty="0" smtClean="0"/>
              <a:t>and the neurons of the hidden layer at the previous time point </a:t>
            </a:r>
          </a:p>
          <a:p>
            <a:pPr lvl="1"/>
            <a:r>
              <a:rPr lang="en-GB" dirty="0" smtClean="0"/>
              <a:t>Thus </a:t>
            </a:r>
            <a:r>
              <a:rPr lang="hu-HU" i="1" dirty="0" err="1" smtClean="0"/>
              <a:t>a</a:t>
            </a:r>
            <a:r>
              <a:rPr lang="hu-HU" i="1" baseline="-25000" dirty="0" err="1" smtClean="0"/>
              <a:t>t</a:t>
            </a:r>
            <a:r>
              <a:rPr lang="hu-HU" i="1" baseline="-25000" dirty="0" smtClean="0"/>
              <a:t>,1</a:t>
            </a:r>
            <a:r>
              <a:rPr lang="hu-HU" i="1" dirty="0" smtClean="0"/>
              <a:t> </a:t>
            </a:r>
            <a:r>
              <a:rPr lang="hu-HU" dirty="0" smtClean="0"/>
              <a:t>= </a:t>
            </a:r>
            <a:r>
              <a:rPr lang="hu-HU" i="1" dirty="0" err="1" smtClean="0"/>
              <a:t>w</a:t>
            </a:r>
            <a:r>
              <a:rPr lang="hu-HU" i="1" baseline="-25000" dirty="0" err="1" smtClean="0"/>
              <a:t>x</a:t>
            </a:r>
            <a:r>
              <a:rPr lang="hu-HU" i="1" baseline="-25000" dirty="0" smtClean="0"/>
              <a:t>,0</a:t>
            </a:r>
            <a:r>
              <a:rPr lang="hu-HU" i="1" dirty="0" smtClean="0"/>
              <a:t>x</a:t>
            </a:r>
            <a:r>
              <a:rPr lang="hu-HU" i="1" baseline="-25000" dirty="0" smtClean="0"/>
              <a:t>t,0</a:t>
            </a:r>
            <a:r>
              <a:rPr lang="hu-HU" i="1" dirty="0" smtClean="0"/>
              <a:t> </a:t>
            </a:r>
            <a:r>
              <a:rPr lang="hu-HU" dirty="0" smtClean="0"/>
              <a:t>+ </a:t>
            </a:r>
            <a:r>
              <a:rPr lang="hu-HU" i="1" dirty="0" err="1" smtClean="0"/>
              <a:t>w</a:t>
            </a:r>
            <a:r>
              <a:rPr lang="hu-HU" i="1" baseline="-25000" dirty="0" err="1" smtClean="0"/>
              <a:t>x</a:t>
            </a:r>
            <a:r>
              <a:rPr lang="hu-HU" i="1" baseline="-25000" dirty="0" smtClean="0"/>
              <a:t>,1</a:t>
            </a:r>
            <a:r>
              <a:rPr lang="hu-HU" i="1" dirty="0" smtClean="0"/>
              <a:t>x</a:t>
            </a:r>
            <a:r>
              <a:rPr lang="hu-HU" i="1" baseline="-25000" dirty="0" smtClean="0"/>
              <a:t>t,1</a:t>
            </a:r>
            <a:r>
              <a:rPr lang="hu-HU" i="1" dirty="0" smtClean="0"/>
              <a:t> </a:t>
            </a:r>
            <a:r>
              <a:rPr lang="hu-HU" dirty="0" smtClean="0"/>
              <a:t>+ ... + </a:t>
            </a:r>
            <a:r>
              <a:rPr lang="hu-HU" i="1" dirty="0" err="1" smtClean="0"/>
              <a:t>w</a:t>
            </a:r>
            <a:r>
              <a:rPr lang="hu-HU" i="1" baseline="-25000" dirty="0" err="1" smtClean="0"/>
              <a:t>x</a:t>
            </a:r>
            <a:r>
              <a:rPr lang="hu-HU" i="1" baseline="-25000" dirty="0" smtClean="0"/>
              <a:t>,</a:t>
            </a:r>
            <a:r>
              <a:rPr lang="hu-HU" i="1" baseline="-25000" dirty="0" err="1" smtClean="0"/>
              <a:t>k</a:t>
            </a:r>
            <a:r>
              <a:rPr lang="hu-HU" i="1" dirty="0" err="1" smtClean="0"/>
              <a:t>x</a:t>
            </a:r>
            <a:r>
              <a:rPr lang="hu-HU" i="1" baseline="-25000" dirty="0" err="1" smtClean="0"/>
              <a:t>t</a:t>
            </a:r>
            <a:r>
              <a:rPr lang="hu-HU" i="1" baseline="-25000" dirty="0" smtClean="0"/>
              <a:t>,k</a:t>
            </a:r>
            <a:r>
              <a:rPr lang="hu-HU" i="1" dirty="0" smtClean="0"/>
              <a:t> </a:t>
            </a:r>
            <a:r>
              <a:rPr lang="hu-HU" dirty="0" smtClean="0"/>
              <a:t>+ </a:t>
            </a:r>
            <a:r>
              <a:rPr lang="hu-HU" i="1" dirty="0" err="1" smtClean="0"/>
              <a:t>w</a:t>
            </a:r>
            <a:r>
              <a:rPr lang="hu-HU" i="1" baseline="-25000" dirty="0" err="1" smtClean="0"/>
              <a:t>a</a:t>
            </a:r>
            <a:r>
              <a:rPr lang="hu-HU" i="1" baseline="-25000" dirty="0" smtClean="0"/>
              <a:t>,1</a:t>
            </a:r>
            <a:r>
              <a:rPr lang="hu-HU" i="1" dirty="0" smtClean="0"/>
              <a:t>a</a:t>
            </a:r>
            <a:r>
              <a:rPr lang="hu-HU" i="1" baseline="-25000" dirty="0" smtClean="0"/>
              <a:t>t-1,1 </a:t>
            </a:r>
            <a:r>
              <a:rPr lang="en-GB" dirty="0" smtClean="0"/>
              <a:t>​ (where </a:t>
            </a:r>
            <a:r>
              <a:rPr lang="en-GB" i="1" dirty="0" smtClean="0"/>
              <a:t>t </a:t>
            </a:r>
            <a:r>
              <a:rPr lang="en-GB" dirty="0" smtClean="0"/>
              <a:t>is the current time point, </a:t>
            </a:r>
            <a:r>
              <a:rPr lang="en-GB" i="1" dirty="0" smtClean="0"/>
              <a:t>t−1 </a:t>
            </a:r>
            <a:r>
              <a:rPr lang="en-GB" dirty="0" smtClean="0"/>
              <a:t>is the immediately preceding time point), and so on for every neuron value at </a:t>
            </a:r>
            <a:r>
              <a:rPr lang="hu-HU" dirty="0" err="1" smtClean="0"/>
              <a:t>any</a:t>
            </a:r>
            <a:r>
              <a:rPr lang="hu-HU" dirty="0" smtClean="0"/>
              <a:t> </a:t>
            </a:r>
            <a:r>
              <a:rPr lang="en-GB" dirty="0" smtClean="0"/>
              <a:t>time </a:t>
            </a:r>
            <a:r>
              <a:rPr lang="en-GB" i="1" dirty="0" smtClean="0"/>
              <a:t>t</a:t>
            </a:r>
            <a:r>
              <a:rPr lang="en-GB" dirty="0" smtClean="0"/>
              <a:t>.</a:t>
            </a:r>
          </a:p>
          <a:p>
            <a:pPr lvl="1"/>
            <a:r>
              <a:rPr lang="en-GB" i="1" dirty="0" smtClean="0">
                <a:effectLst/>
              </a:rPr>
              <a:t>a</a:t>
            </a:r>
            <a:r>
              <a:rPr lang="en-GB" i="1" dirty="0" smtClean="0"/>
              <a:t> </a:t>
            </a:r>
            <a:r>
              <a:rPr lang="en-GB" dirty="0" smtClean="0"/>
              <a:t>can be </a:t>
            </a:r>
            <a:r>
              <a:rPr lang="hu-HU" dirty="0" err="1" smtClean="0"/>
              <a:t>understood</a:t>
            </a:r>
            <a:r>
              <a:rPr lang="hu-HU" dirty="0" smtClean="0"/>
              <a:t> </a:t>
            </a:r>
            <a:r>
              <a:rPr lang="en-GB" dirty="0" smtClean="0"/>
              <a:t>as the state vector of the neural network at a given </a:t>
            </a:r>
            <a:r>
              <a:rPr lang="hu-HU" dirty="0" err="1" smtClean="0"/>
              <a:t>point</a:t>
            </a:r>
            <a:r>
              <a:rPr lang="hu-HU" dirty="0" smtClean="0"/>
              <a:t> </a:t>
            </a:r>
            <a:r>
              <a:rPr lang="hu-HU" dirty="0" err="1" smtClean="0"/>
              <a:t>in</a:t>
            </a:r>
            <a:r>
              <a:rPr lang="hu-HU" dirty="0" smtClean="0"/>
              <a:t> </a:t>
            </a:r>
            <a:r>
              <a:rPr lang="hu-HU" dirty="0" err="1" smtClean="0"/>
              <a:t>time</a:t>
            </a:r>
            <a:r>
              <a:rPr lang="en-GB" dirty="0" smtClean="0"/>
              <a:t>. This layer represents, on the one hand, what the recurrent network currently "sees", and on the other hand, what it remembers from what was seen previously</a:t>
            </a:r>
            <a:r>
              <a:rPr lang="hu-HU" dirty="0" smtClean="0"/>
              <a:t>.</a:t>
            </a:r>
          </a:p>
          <a:p>
            <a:pPr lvl="1"/>
            <a:r>
              <a:rPr lang="en-GB" dirty="0" smtClean="0"/>
              <a:t>The </a:t>
            </a:r>
            <a:r>
              <a:rPr lang="hu-HU" i="1" dirty="0" err="1" smtClean="0"/>
              <a:t>w</a:t>
            </a:r>
            <a:r>
              <a:rPr lang="hu-HU" i="1" baseline="-25000" dirty="0" err="1" smtClean="0"/>
              <a:t>a</a:t>
            </a:r>
            <a:r>
              <a:rPr lang="hu-HU" i="1" baseline="-25000" dirty="0" smtClean="0"/>
              <a:t>,k </a:t>
            </a:r>
            <a:r>
              <a:rPr lang="en-GB" dirty="0" smtClean="0"/>
              <a:t>​weights determine to what extent the </a:t>
            </a:r>
            <a:r>
              <a:rPr lang="hu-HU" i="1" dirty="0" err="1" smtClean="0"/>
              <a:t>a</a:t>
            </a:r>
            <a:r>
              <a:rPr lang="hu-HU" i="1" baseline="-25000" dirty="0" err="1" smtClean="0"/>
              <a:t>t</a:t>
            </a:r>
            <a:r>
              <a:rPr lang="hu-HU" i="1" baseline="-25000" dirty="0" smtClean="0"/>
              <a:t>,k </a:t>
            </a:r>
            <a:r>
              <a:rPr lang="en-GB" dirty="0" smtClean="0"/>
              <a:t> neurons inherit their value from the previous time point (how much it remembers what was seen previously), and to what extent the currently "read" </a:t>
            </a:r>
            <a:r>
              <a:rPr lang="hu-HU" i="1" dirty="0" err="1" smtClean="0"/>
              <a:t>x</a:t>
            </a:r>
            <a:r>
              <a:rPr lang="hu-HU" i="1" baseline="-25000" dirty="0" err="1" smtClean="0"/>
              <a:t>t</a:t>
            </a:r>
            <a:r>
              <a:rPr lang="hu-HU" i="1" baseline="-25000" dirty="0" smtClean="0"/>
              <a:t> </a:t>
            </a:r>
            <a:r>
              <a:rPr lang="en-GB" dirty="0" smtClean="0"/>
              <a:t>​ input overwrites their value (how much it pays attention to the current event)</a:t>
            </a:r>
          </a:p>
          <a:p>
            <a:pPr lvl="1"/>
            <a:r>
              <a:rPr lang="en-GB" dirty="0" smtClean="0"/>
              <a:t>The </a:t>
            </a:r>
            <a:r>
              <a:rPr lang="hu-HU" i="1" dirty="0" err="1" smtClean="0"/>
              <a:t>w</a:t>
            </a:r>
            <a:r>
              <a:rPr lang="hu-HU" i="1" baseline="-25000" dirty="0" err="1" smtClean="0"/>
              <a:t>k</a:t>
            </a:r>
            <a:r>
              <a:rPr lang="hu-HU" i="1" baseline="-25000" dirty="0" smtClean="0"/>
              <a:t> </a:t>
            </a:r>
            <a:r>
              <a:rPr lang="en-GB" dirty="0" smtClean="0"/>
              <a:t> weights are identical at every time point, as are the </a:t>
            </a:r>
            <a:r>
              <a:rPr lang="hu-HU" i="1" dirty="0" err="1" smtClean="0"/>
              <a:t>w</a:t>
            </a:r>
            <a:r>
              <a:rPr lang="hu-HU" i="1" baseline="-25000" dirty="0" err="1" smtClean="0"/>
              <a:t>a</a:t>
            </a:r>
            <a:r>
              <a:rPr lang="hu-HU" i="1" baseline="-25000" dirty="0" smtClean="0"/>
              <a:t>,k </a:t>
            </a:r>
            <a:r>
              <a:rPr lang="en-GB" dirty="0" smtClean="0"/>
              <a:t> weights.</a:t>
            </a:r>
          </a:p>
          <a:p>
            <a:pPr lvl="1"/>
            <a:r>
              <a:rPr lang="en-GB" dirty="0" smtClean="0"/>
              <a:t>The neural network below outputs an output at every time step, seq2seq</a:t>
            </a:r>
          </a:p>
          <a:p>
            <a:pPr lvl="1"/>
            <a:endParaRPr lang="en-GB" dirty="0" smtClean="0"/>
          </a:p>
        </p:txBody>
      </p:sp>
      <p:pic>
        <p:nvPicPr>
          <p:cNvPr id="4" name="Picture 2" descr="https://stanford.edu/~shervine/teaching/cs-230/illustrations/architecture-rnn-ltr.png?9ea4417fc145b9346a3e288801dbdfd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4869160"/>
            <a:ext cx="6552728" cy="1747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91935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GB" dirty="0" smtClean="0"/>
              <a:t>Recurrent Neural Architectures</a:t>
            </a:r>
            <a:endParaRPr lang="en-GB" dirty="0"/>
          </a:p>
        </p:txBody>
      </p:sp>
      <p:sp>
        <p:nvSpPr>
          <p:cNvPr id="3" name="Tartalom helye 2"/>
          <p:cNvSpPr>
            <a:spLocks noGrp="1"/>
          </p:cNvSpPr>
          <p:nvPr>
            <p:ph idx="1"/>
          </p:nvPr>
        </p:nvSpPr>
        <p:spPr>
          <a:xfrm>
            <a:off x="457200" y="1600200"/>
            <a:ext cx="8229600" cy="4853136"/>
          </a:xfrm>
        </p:spPr>
        <p:txBody>
          <a:bodyPr>
            <a:normAutofit fontScale="55000" lnSpcReduction="20000"/>
          </a:bodyPr>
          <a:lstStyle/>
          <a:p>
            <a:r>
              <a:rPr lang="en-GB" sz="3100" dirty="0" smtClean="0"/>
              <a:t>Generating output step by step, in parallel with reading the input</a:t>
            </a:r>
            <a:endParaRPr lang="hu-HU" sz="3100" dirty="0" smtClean="0"/>
          </a:p>
          <a:p>
            <a:pPr lvl="1"/>
            <a:r>
              <a:rPr lang="en-GB" sz="2600" dirty="0" smtClean="0"/>
              <a:t>Suitable for solving problems where we do not need to know the entire input sequence to be able to start generating the output</a:t>
            </a:r>
            <a:endParaRPr lang="hu-HU" sz="2600" dirty="0" smtClean="0"/>
          </a:p>
          <a:p>
            <a:pPr lvl="2"/>
            <a:r>
              <a:rPr lang="hu-HU" dirty="0" err="1" smtClean="0"/>
              <a:t>e.g</a:t>
            </a:r>
            <a:r>
              <a:rPr lang="hu-HU" dirty="0" smtClean="0"/>
              <a:t>. </a:t>
            </a:r>
            <a:r>
              <a:rPr lang="en-GB" dirty="0" smtClean="0"/>
              <a:t>speech generation, speech recognition, part-of-speech tagging </a:t>
            </a:r>
          </a:p>
          <a:p>
            <a:pPr lvl="1"/>
            <a:r>
              <a:rPr lang="hu-HU" sz="2600" dirty="0" smtClean="0"/>
              <a:t>A v</a:t>
            </a:r>
            <a:r>
              <a:rPr lang="en-GB" sz="2600" dirty="0" err="1" smtClean="0"/>
              <a:t>ariant</a:t>
            </a:r>
            <a:r>
              <a:rPr lang="hu-HU" sz="2600" dirty="0" smtClean="0"/>
              <a:t> of </a:t>
            </a:r>
            <a:r>
              <a:rPr lang="hu-HU" sz="2600" dirty="0" err="1" smtClean="0"/>
              <a:t>this</a:t>
            </a:r>
            <a:r>
              <a:rPr lang="en-GB" sz="2600" dirty="0" smtClean="0"/>
              <a:t>: one recurrent network </a:t>
            </a:r>
            <a:r>
              <a:rPr lang="en-GB" sz="2600" b="1" dirty="0" smtClean="0"/>
              <a:t>proceeds from left </a:t>
            </a:r>
            <a:r>
              <a:rPr lang="hu-HU" sz="2600" b="1" dirty="0" smtClean="0"/>
              <a:t> </a:t>
            </a:r>
            <a:r>
              <a:rPr lang="en-GB" sz="2600" b="1" dirty="0" smtClean="0"/>
              <a:t>to right </a:t>
            </a:r>
            <a:r>
              <a:rPr lang="en-GB" sz="2600" dirty="0" smtClean="0"/>
              <a:t>in the sequence, another </a:t>
            </a:r>
            <a:r>
              <a:rPr lang="en-GB" sz="2600" b="1" dirty="0" smtClean="0"/>
              <a:t>from right to left</a:t>
            </a:r>
            <a:r>
              <a:rPr lang="en-GB" sz="2600" dirty="0" smtClean="0"/>
              <a:t>; the output is calculated step-by-step based on the two state vectors</a:t>
            </a:r>
            <a:r>
              <a:rPr lang="hu-HU" sz="2600" dirty="0" smtClean="0"/>
              <a:t>.</a:t>
            </a:r>
          </a:p>
          <a:p>
            <a:pPr lvl="2"/>
            <a:r>
              <a:rPr lang="en-GB" dirty="0" smtClean="0"/>
              <a:t>so-called </a:t>
            </a:r>
            <a:r>
              <a:rPr lang="en-GB" b="1" dirty="0" smtClean="0"/>
              <a:t>bidirectional </a:t>
            </a:r>
            <a:r>
              <a:rPr lang="en-GB" dirty="0" smtClean="0"/>
              <a:t>recurrent neural network </a:t>
            </a:r>
            <a:endParaRPr lang="hu-HU" dirty="0" smtClean="0"/>
          </a:p>
          <a:p>
            <a:pPr lvl="2"/>
            <a:r>
              <a:rPr lang="en-GB" dirty="0" smtClean="0"/>
              <a:t>(significantly) more accurate predictions are possible than by only proceeding from left to rig</a:t>
            </a:r>
            <a:r>
              <a:rPr lang="hu-HU" dirty="0" err="1" smtClean="0"/>
              <a:t>ht</a:t>
            </a:r>
            <a:endParaRPr lang="hu-HU" dirty="0" smtClean="0"/>
          </a:p>
          <a:p>
            <a:endParaRPr lang="hu-HU" sz="3100" dirty="0" smtClean="0"/>
          </a:p>
          <a:p>
            <a:endParaRPr lang="hu-HU" sz="3100" dirty="0" smtClean="0"/>
          </a:p>
          <a:p>
            <a:endParaRPr lang="hu-HU" sz="3100" dirty="0"/>
          </a:p>
          <a:p>
            <a:endParaRPr lang="hu-HU" sz="3100" dirty="0" smtClean="0"/>
          </a:p>
          <a:p>
            <a:endParaRPr lang="hu-HU" sz="3100" dirty="0"/>
          </a:p>
          <a:p>
            <a:endParaRPr lang="hu-HU" sz="3100" dirty="0" smtClean="0"/>
          </a:p>
          <a:p>
            <a:endParaRPr lang="hu-HU" sz="3100" dirty="0"/>
          </a:p>
          <a:p>
            <a:endParaRPr lang="hu-HU" sz="3100" dirty="0"/>
          </a:p>
          <a:p>
            <a:endParaRPr lang="hu-HU" sz="3100" dirty="0" smtClean="0"/>
          </a:p>
          <a:p>
            <a:r>
              <a:rPr lang="en-GB" sz="3100" dirty="0" smtClean="0"/>
              <a:t>Reading input, generating a single output at the end of reading</a:t>
            </a:r>
            <a:endParaRPr lang="hu-HU" sz="3100" dirty="0"/>
          </a:p>
          <a:p>
            <a:pPr lvl="1"/>
            <a:r>
              <a:rPr lang="en-GB" sz="2600" dirty="0" smtClean="0"/>
              <a:t>sequence classification (e.g., what topic the processed text is about)</a:t>
            </a:r>
            <a:endParaRPr lang="hu-HU" sz="2600" dirty="0" smtClean="0"/>
          </a:p>
          <a:p>
            <a:pPr lvl="1"/>
            <a:r>
              <a:rPr lang="en-GB" sz="2600" dirty="0" smtClean="0"/>
              <a:t>prediction of the next element of a sequence (e.g., language </a:t>
            </a:r>
            <a:r>
              <a:rPr lang="en-GB" sz="2600" dirty="0" err="1" smtClean="0"/>
              <a:t>modeling</a:t>
            </a:r>
            <a:r>
              <a:rPr lang="en-GB" sz="2600" dirty="0" smtClean="0"/>
              <a:t>)</a:t>
            </a:r>
            <a:endParaRPr lang="en-GB" sz="2600" dirty="0"/>
          </a:p>
        </p:txBody>
      </p:sp>
      <p:pic>
        <p:nvPicPr>
          <p:cNvPr id="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99792" y="3356992"/>
            <a:ext cx="3528392" cy="20469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716550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GB" dirty="0" smtClean="0"/>
              <a:t>Recurrent Neural Architectures</a:t>
            </a:r>
            <a:endParaRPr lang="en-GB" dirty="0"/>
          </a:p>
        </p:txBody>
      </p:sp>
      <p:sp>
        <p:nvSpPr>
          <p:cNvPr id="3" name="Tartalom helye 2"/>
          <p:cNvSpPr>
            <a:spLocks noGrp="1"/>
          </p:cNvSpPr>
          <p:nvPr>
            <p:ph idx="1"/>
          </p:nvPr>
        </p:nvSpPr>
        <p:spPr/>
        <p:txBody>
          <a:bodyPr>
            <a:normAutofit fontScale="55000" lnSpcReduction="20000"/>
          </a:bodyPr>
          <a:lstStyle/>
          <a:p>
            <a:r>
              <a:rPr lang="en-GB" dirty="0" smtClean="0"/>
              <a:t>Encoder-Decoder Architecture</a:t>
            </a:r>
            <a:endParaRPr lang="hu-HU" dirty="0" smtClean="0"/>
          </a:p>
          <a:p>
            <a:pPr lvl="1"/>
            <a:r>
              <a:rPr lang="en-GB" dirty="0" smtClean="0"/>
              <a:t>This also generates a sequence, but not in parallel with reading the input</a:t>
            </a:r>
            <a:endParaRPr lang="hu-HU" dirty="0" smtClean="0"/>
          </a:p>
          <a:p>
            <a:pPr lvl="1"/>
            <a:r>
              <a:rPr lang="hu-HU" dirty="0" smtClean="0"/>
              <a:t>S</a:t>
            </a:r>
            <a:r>
              <a:rPr lang="en-GB" dirty="0" smtClean="0"/>
              <a:t>tarts generating the output </a:t>
            </a:r>
            <a:r>
              <a:rPr lang="hu-HU" b="1" dirty="0" err="1" smtClean="0"/>
              <a:t>after</a:t>
            </a:r>
            <a:r>
              <a:rPr lang="hu-HU" b="1" dirty="0" smtClean="0"/>
              <a:t> </a:t>
            </a:r>
            <a:r>
              <a:rPr lang="en-GB" dirty="0" smtClean="0"/>
              <a:t>it has processed the input</a:t>
            </a:r>
            <a:endParaRPr lang="hu-HU" dirty="0" smtClean="0"/>
          </a:p>
          <a:p>
            <a:pPr lvl="1"/>
            <a:r>
              <a:rPr lang="hu-HU" dirty="0" err="1" smtClean="0"/>
              <a:t>Used</a:t>
            </a:r>
            <a:r>
              <a:rPr lang="hu-HU" dirty="0" smtClean="0"/>
              <a:t> </a:t>
            </a:r>
            <a:r>
              <a:rPr lang="en-GB" dirty="0" smtClean="0"/>
              <a:t>when knowledge of the entire input is necessary to begin generating the output</a:t>
            </a:r>
            <a:endParaRPr lang="hu-HU" dirty="0" smtClean="0"/>
          </a:p>
          <a:p>
            <a:pPr lvl="2"/>
            <a:r>
              <a:rPr lang="en-GB" dirty="0" smtClean="0"/>
              <a:t>E.g., machine translation, text summarization</a:t>
            </a:r>
            <a:endParaRPr lang="hu-HU" dirty="0" smtClean="0"/>
          </a:p>
          <a:p>
            <a:pPr lvl="1"/>
            <a:r>
              <a:rPr lang="en-GB" b="1" dirty="0" smtClean="0"/>
              <a:t>Encoder </a:t>
            </a:r>
            <a:r>
              <a:rPr lang="en-GB" dirty="0" smtClean="0"/>
              <a:t>neural network: Reads the input elements (e.g., words) step by step</a:t>
            </a:r>
            <a:endParaRPr lang="hu-HU" dirty="0" smtClean="0"/>
          </a:p>
          <a:p>
            <a:pPr lvl="2"/>
            <a:r>
              <a:rPr lang="en-GB" dirty="0" smtClean="0"/>
              <a:t>the </a:t>
            </a:r>
            <a:r>
              <a:rPr lang="hu-HU" dirty="0" err="1" smtClean="0"/>
              <a:t>final</a:t>
            </a:r>
            <a:r>
              <a:rPr lang="hu-HU" dirty="0" smtClean="0"/>
              <a:t> </a:t>
            </a:r>
            <a:r>
              <a:rPr lang="en-GB" dirty="0" smtClean="0"/>
              <a:t>state vector stores the </a:t>
            </a:r>
            <a:r>
              <a:rPr lang="en-GB" b="1" dirty="0" smtClean="0"/>
              <a:t>representation of the entire input sequence</a:t>
            </a:r>
            <a:endParaRPr lang="hu-HU" b="1" dirty="0" smtClean="0"/>
          </a:p>
          <a:p>
            <a:pPr lvl="2"/>
            <a:r>
              <a:rPr lang="en-GB" dirty="0" smtClean="0"/>
              <a:t>can be bidirectional (works better, two state vectors) </a:t>
            </a:r>
          </a:p>
          <a:p>
            <a:pPr lvl="1"/>
            <a:r>
              <a:rPr lang="en-GB" b="1" dirty="0" smtClean="0"/>
              <a:t>Decoder </a:t>
            </a:r>
            <a:r>
              <a:rPr lang="en-GB" dirty="0" smtClean="0"/>
              <a:t>neural network: Its starting state vector is the final state vector of the encoder; it decodes this </a:t>
            </a:r>
            <a:r>
              <a:rPr lang="hu-HU" dirty="0" err="1" smtClean="0"/>
              <a:t>vector</a:t>
            </a:r>
            <a:r>
              <a:rPr lang="hu-HU" dirty="0" smtClean="0"/>
              <a:t> </a:t>
            </a:r>
            <a:r>
              <a:rPr lang="en-GB" dirty="0" smtClean="0"/>
              <a:t>into a sequence</a:t>
            </a:r>
            <a:endParaRPr lang="hu-HU" dirty="0" smtClean="0"/>
          </a:p>
          <a:p>
            <a:pPr lvl="2"/>
            <a:r>
              <a:rPr lang="en-GB" dirty="0" smtClean="0"/>
              <a:t>generates one output element, e.g., a word, per step </a:t>
            </a:r>
            <a:endParaRPr lang="hu-HU" dirty="0" smtClean="0"/>
          </a:p>
          <a:p>
            <a:pPr lvl="2"/>
            <a:r>
              <a:rPr lang="en-GB" dirty="0" smtClean="0"/>
              <a:t>in every step, the state vector </a:t>
            </a:r>
            <a:r>
              <a:rPr lang="hu-HU" dirty="0" smtClean="0"/>
              <a:t>is </a:t>
            </a:r>
            <a:r>
              <a:rPr lang="en-GB" dirty="0" smtClean="0"/>
              <a:t>update</a:t>
            </a:r>
            <a:r>
              <a:rPr lang="hu-HU" dirty="0" smtClean="0"/>
              <a:t>d</a:t>
            </a:r>
            <a:r>
              <a:rPr lang="en-GB" dirty="0" smtClean="0"/>
              <a:t> </a:t>
            </a:r>
            <a:r>
              <a:rPr lang="hu-HU" dirty="0" err="1" smtClean="0"/>
              <a:t>by</a:t>
            </a:r>
            <a:r>
              <a:rPr lang="hu-HU" dirty="0" smtClean="0"/>
              <a:t> </a:t>
            </a:r>
            <a:r>
              <a:rPr lang="hu-HU" dirty="0" err="1" smtClean="0"/>
              <a:t>summing</a:t>
            </a:r>
            <a:r>
              <a:rPr lang="hu-HU" dirty="0" smtClean="0"/>
              <a:t> </a:t>
            </a:r>
            <a:r>
              <a:rPr lang="en-GB" dirty="0" smtClean="0"/>
              <a:t>two values</a:t>
            </a:r>
            <a:r>
              <a:rPr lang="hu-HU" dirty="0" smtClean="0"/>
              <a:t>:</a:t>
            </a:r>
          </a:p>
          <a:p>
            <a:pPr lvl="3"/>
            <a:r>
              <a:rPr lang="en-GB" dirty="0" smtClean="0"/>
              <a:t>the previous state of the decoder</a:t>
            </a:r>
            <a:endParaRPr lang="hu-HU" dirty="0" smtClean="0"/>
          </a:p>
          <a:p>
            <a:pPr lvl="3"/>
            <a:r>
              <a:rPr lang="en-GB" dirty="0" smtClean="0"/>
              <a:t>the element generated by the decoder in the previous step</a:t>
            </a:r>
            <a:endParaRPr lang="hu-HU" dirty="0" smtClean="0"/>
          </a:p>
          <a:p>
            <a:pPr lvl="1"/>
            <a:r>
              <a:rPr lang="en-GB" dirty="0" smtClean="0"/>
              <a:t>Intuitive interpretation: </a:t>
            </a:r>
            <a:r>
              <a:rPr lang="en-GB" b="1" dirty="0" smtClean="0"/>
              <a:t>the encoder interprets </a:t>
            </a:r>
            <a:r>
              <a:rPr lang="hu-HU" b="1" dirty="0" smtClean="0"/>
              <a:t>(</a:t>
            </a:r>
            <a:r>
              <a:rPr lang="hu-HU" b="1" dirty="0" err="1" smtClean="0"/>
              <a:t>understands</a:t>
            </a:r>
            <a:r>
              <a:rPr lang="hu-HU" b="1" dirty="0" smtClean="0"/>
              <a:t>) </a:t>
            </a:r>
            <a:r>
              <a:rPr lang="en-GB" b="1" dirty="0" smtClean="0"/>
              <a:t>the input</a:t>
            </a:r>
            <a:r>
              <a:rPr lang="en-GB" dirty="0" smtClean="0"/>
              <a:t>, the decoder transforms it into another form based on the </a:t>
            </a:r>
            <a:r>
              <a:rPr lang="en-GB" dirty="0" err="1" smtClean="0"/>
              <a:t>interpretatio</a:t>
            </a:r>
            <a:r>
              <a:rPr lang="hu-HU" dirty="0" smtClean="0"/>
              <a:t>n</a:t>
            </a:r>
          </a:p>
          <a:p>
            <a:pPr lvl="1"/>
            <a:r>
              <a:rPr lang="hu-HU" dirty="0" err="1" smtClean="0"/>
              <a:t>Source</a:t>
            </a:r>
            <a:r>
              <a:rPr lang="hu-HU" dirty="0" smtClean="0"/>
              <a:t>: </a:t>
            </a:r>
            <a:r>
              <a:rPr lang="hu-HU" dirty="0" err="1" smtClean="0"/>
              <a:t>Sutskever</a:t>
            </a:r>
            <a:r>
              <a:rPr lang="hu-HU" dirty="0" smtClean="0"/>
              <a:t> et </a:t>
            </a:r>
            <a:r>
              <a:rPr lang="hu-HU" dirty="0" err="1" smtClean="0"/>
              <a:t>al</a:t>
            </a:r>
            <a:r>
              <a:rPr lang="hu-HU" dirty="0" smtClean="0"/>
              <a:t>., </a:t>
            </a:r>
            <a:r>
              <a:rPr lang="en-GB" i="1" dirty="0" smtClean="0">
                <a:hlinkClick r:id="rId2"/>
              </a:rPr>
              <a:t>Sequence to Sequence Learning with Neural Networks</a:t>
            </a:r>
            <a:r>
              <a:rPr lang="hu-HU" i="1" dirty="0" smtClean="0"/>
              <a:t>, </a:t>
            </a:r>
            <a:r>
              <a:rPr lang="hu-HU" dirty="0" smtClean="0"/>
              <a:t>2014.</a:t>
            </a:r>
          </a:p>
          <a:p>
            <a:pPr marL="457200" lvl="1" indent="0">
              <a:buNone/>
            </a:pPr>
            <a:endParaRPr lang="hu-HU" dirty="0" smtClean="0"/>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5348058"/>
            <a:ext cx="6134100" cy="1247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5496429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a:bodyPr>
          <a:lstStyle/>
          <a:p>
            <a:r>
              <a:rPr lang="en-GB" sz="4000" dirty="0" smtClean="0"/>
              <a:t>Types of Recurrent Neural Networks </a:t>
            </a:r>
            <a:endParaRPr lang="en-GB" sz="4000" dirty="0"/>
          </a:p>
        </p:txBody>
      </p:sp>
      <p:sp>
        <p:nvSpPr>
          <p:cNvPr id="3" name="Tartalom helye 2"/>
          <p:cNvSpPr>
            <a:spLocks noGrp="1"/>
          </p:cNvSpPr>
          <p:nvPr>
            <p:ph idx="1"/>
          </p:nvPr>
        </p:nvSpPr>
        <p:spPr/>
        <p:txBody>
          <a:bodyPr>
            <a:normAutofit fontScale="77500" lnSpcReduction="20000"/>
          </a:bodyPr>
          <a:lstStyle/>
          <a:p>
            <a:r>
              <a:rPr lang="en-GB" dirty="0" smtClean="0"/>
              <a:t>Different technical solutions</a:t>
            </a:r>
            <a:r>
              <a:rPr lang="hu-HU" dirty="0" smtClean="0"/>
              <a:t>:</a:t>
            </a:r>
          </a:p>
          <a:p>
            <a:pPr lvl="1"/>
            <a:r>
              <a:rPr lang="en-GB" dirty="0" smtClean="0"/>
              <a:t>Basic recurrent network: learns two types of weights:</a:t>
            </a:r>
            <a:endParaRPr lang="hu-HU" dirty="0" smtClean="0"/>
          </a:p>
          <a:p>
            <a:pPr lvl="2"/>
            <a:r>
              <a:rPr lang="en-GB" dirty="0" smtClean="0"/>
              <a:t>from input to hidden (state) layer</a:t>
            </a:r>
            <a:endParaRPr lang="hu-HU" dirty="0" smtClean="0"/>
          </a:p>
          <a:p>
            <a:pPr lvl="2"/>
            <a:r>
              <a:rPr lang="en-GB" dirty="0" smtClean="0"/>
              <a:t>from hidden layer to hidden layer (memory/forgetting)</a:t>
            </a:r>
            <a:endParaRPr lang="hu-HU" dirty="0" smtClean="0"/>
          </a:p>
          <a:p>
            <a:pPr lvl="2"/>
            <a:r>
              <a:rPr lang="en-GB" dirty="0" smtClean="0"/>
              <a:t>Disadvantage: has only short-term memory; inputs read most recently overwrite the memory of those read earlier after a few dozen step</a:t>
            </a:r>
            <a:r>
              <a:rPr lang="hu-HU" dirty="0" smtClean="0"/>
              <a:t>s</a:t>
            </a:r>
          </a:p>
          <a:p>
            <a:pPr lvl="1"/>
            <a:r>
              <a:rPr lang="en-GB" dirty="0" smtClean="0"/>
              <a:t>Two important improvements: </a:t>
            </a:r>
            <a:r>
              <a:rPr lang="en-GB" b="1" dirty="0" smtClean="0"/>
              <a:t>LSTM</a:t>
            </a:r>
            <a:r>
              <a:rPr lang="en-GB" dirty="0" smtClean="0"/>
              <a:t> (long short-term memory) and </a:t>
            </a:r>
            <a:r>
              <a:rPr lang="en-GB" b="1" dirty="0" err="1" smtClean="0"/>
              <a:t>GRU</a:t>
            </a:r>
            <a:r>
              <a:rPr lang="en-GB" dirty="0" smtClean="0"/>
              <a:t> (gated recurrent unit)</a:t>
            </a:r>
            <a:endParaRPr lang="hu-HU" dirty="0" smtClean="0"/>
          </a:p>
          <a:p>
            <a:pPr lvl="2"/>
            <a:r>
              <a:rPr lang="en-GB" dirty="0" smtClean="0"/>
              <a:t>the</a:t>
            </a:r>
            <a:r>
              <a:rPr lang="hu-HU" dirty="0" smtClean="0"/>
              <a:t>se</a:t>
            </a:r>
            <a:r>
              <a:rPr lang="en-GB" dirty="0" smtClean="0"/>
              <a:t> use more complex combination</a:t>
            </a:r>
            <a:r>
              <a:rPr lang="hu-HU" dirty="0" smtClean="0"/>
              <a:t>s</a:t>
            </a:r>
            <a:r>
              <a:rPr lang="en-GB" dirty="0" smtClean="0"/>
              <a:t> of weights to update the state vector </a:t>
            </a:r>
          </a:p>
          <a:p>
            <a:pPr lvl="2"/>
            <a:r>
              <a:rPr lang="en-GB" dirty="0" smtClean="0"/>
              <a:t>certain weights ensure that the network weights certain inputs higher than others when updating the state, essentially</a:t>
            </a:r>
            <a:r>
              <a:rPr lang="hu-HU" dirty="0" smtClean="0"/>
              <a:t> </a:t>
            </a:r>
            <a:r>
              <a:rPr lang="hu-HU" dirty="0" err="1" smtClean="0"/>
              <a:t>it</a:t>
            </a:r>
            <a:r>
              <a:rPr lang="hu-HU" dirty="0" smtClean="0"/>
              <a:t> </a:t>
            </a:r>
            <a:r>
              <a:rPr lang="hu-HU" dirty="0" err="1" smtClean="0"/>
              <a:t>learns</a:t>
            </a:r>
            <a:r>
              <a:rPr lang="hu-HU" dirty="0" smtClean="0"/>
              <a:t> </a:t>
            </a:r>
            <a:r>
              <a:rPr lang="hu-HU" dirty="0" err="1" smtClean="0"/>
              <a:t>e.g</a:t>
            </a:r>
            <a:r>
              <a:rPr lang="hu-HU" dirty="0" smtClean="0"/>
              <a:t>. </a:t>
            </a:r>
            <a:r>
              <a:rPr lang="en-GB" dirty="0" smtClean="0"/>
              <a:t>to </a:t>
            </a:r>
            <a:r>
              <a:rPr lang="en-GB" b="1" dirty="0" smtClean="0"/>
              <a:t>ignore or forget </a:t>
            </a:r>
            <a:r>
              <a:rPr lang="en-GB" dirty="0" smtClean="0"/>
              <a:t>unimportant words</a:t>
            </a:r>
            <a:endParaRPr lang="hu-HU" dirty="0" smtClean="0"/>
          </a:p>
          <a:p>
            <a:pPr lvl="2"/>
            <a:r>
              <a:rPr lang="en-GB" dirty="0" smtClean="0"/>
              <a:t>other</a:t>
            </a:r>
            <a:r>
              <a:rPr lang="hu-HU" dirty="0" smtClean="0"/>
              <a:t> </a:t>
            </a:r>
            <a:r>
              <a:rPr lang="hu-HU" dirty="0" err="1" smtClean="0"/>
              <a:t>weights</a:t>
            </a:r>
            <a:r>
              <a:rPr lang="en-GB" dirty="0" smtClean="0"/>
              <a:t> ensure that the state of certain neurons is </a:t>
            </a:r>
            <a:r>
              <a:rPr lang="en-GB" b="1" dirty="0" smtClean="0"/>
              <a:t>preserved </a:t>
            </a:r>
            <a:r>
              <a:rPr lang="en-GB" dirty="0" smtClean="0"/>
              <a:t>over many time steps, the representation of important words is preserved over significantly more steps (relatively long-term memory)</a:t>
            </a:r>
            <a:endParaRPr lang="en-GB" dirty="0"/>
          </a:p>
        </p:txBody>
      </p:sp>
    </p:spTree>
    <p:extLst>
      <p:ext uri="{BB962C8B-B14F-4D97-AF65-F5344CB8AC3E}">
        <p14:creationId xmlns:p14="http://schemas.microsoft.com/office/powerpoint/2010/main" val="4140991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Autofit/>
          </a:bodyPr>
          <a:lstStyle/>
          <a:p>
            <a:r>
              <a:rPr lang="en-GB" sz="3200" dirty="0" smtClean="0"/>
              <a:t>Technical Difficulties of Recurrent Networks</a:t>
            </a:r>
            <a:endParaRPr lang="en-GB" sz="3200" dirty="0"/>
          </a:p>
        </p:txBody>
      </p:sp>
      <p:sp>
        <p:nvSpPr>
          <p:cNvPr id="3" name="Tartalom helye 2"/>
          <p:cNvSpPr>
            <a:spLocks noGrp="1"/>
          </p:cNvSpPr>
          <p:nvPr>
            <p:ph idx="1"/>
          </p:nvPr>
        </p:nvSpPr>
        <p:spPr/>
        <p:txBody>
          <a:bodyPr>
            <a:normAutofit fontScale="55000" lnSpcReduction="20000"/>
          </a:bodyPr>
          <a:lstStyle/>
          <a:p>
            <a:r>
              <a:rPr lang="en-GB" dirty="0" smtClean="0"/>
              <a:t>It is relatively obvious how numerical time series (measurements detected by sensors, stock market and other trade data) can be processed with a recurrent network, as this input can be obviously described as a </a:t>
            </a:r>
            <a:r>
              <a:rPr lang="en-GB" b="1" dirty="0" err="1" smtClean="0"/>
              <a:t>numer</a:t>
            </a:r>
            <a:r>
              <a:rPr lang="hu-HU" b="1" dirty="0" err="1" smtClean="0"/>
              <a:t>ic</a:t>
            </a:r>
            <a:r>
              <a:rPr lang="en-GB" b="1" dirty="0" smtClean="0"/>
              <a:t> vector at every time point</a:t>
            </a:r>
            <a:r>
              <a:rPr lang="hu-HU" dirty="0" smtClean="0"/>
              <a:t>.</a:t>
            </a:r>
          </a:p>
          <a:p>
            <a:r>
              <a:rPr lang="hu-HU" dirty="0" err="1" smtClean="0"/>
              <a:t>But</a:t>
            </a:r>
            <a:r>
              <a:rPr lang="hu-HU" dirty="0" smtClean="0"/>
              <a:t> </a:t>
            </a:r>
            <a:r>
              <a:rPr lang="hu-HU" dirty="0"/>
              <a:t>h</a:t>
            </a:r>
            <a:r>
              <a:rPr lang="en-GB" dirty="0" smtClean="0"/>
              <a:t>ow can </a:t>
            </a:r>
            <a:r>
              <a:rPr lang="en-GB" b="1" dirty="0" smtClean="0"/>
              <a:t>natural language data</a:t>
            </a:r>
            <a:r>
              <a:rPr lang="en-GB" dirty="0" smtClean="0"/>
              <a:t>, for example, a series of words, be processed</a:t>
            </a:r>
            <a:r>
              <a:rPr lang="hu-HU" dirty="0" smtClean="0"/>
              <a:t>?</a:t>
            </a:r>
          </a:p>
          <a:p>
            <a:pPr lvl="1"/>
            <a:r>
              <a:rPr lang="en-GB" dirty="0" smtClean="0"/>
              <a:t>A neural network </a:t>
            </a:r>
            <a:r>
              <a:rPr lang="hu-HU" dirty="0" err="1" smtClean="0"/>
              <a:t>can</a:t>
            </a:r>
            <a:r>
              <a:rPr lang="hu-HU" dirty="0" smtClean="0"/>
              <a:t> </a:t>
            </a:r>
            <a:r>
              <a:rPr lang="hu-HU" dirty="0" err="1" smtClean="0"/>
              <a:t>do</a:t>
            </a:r>
            <a:r>
              <a:rPr lang="hu-HU" dirty="0" smtClean="0"/>
              <a:t> </a:t>
            </a:r>
            <a:r>
              <a:rPr lang="hu-HU" dirty="0" err="1" smtClean="0"/>
              <a:t>nothing</a:t>
            </a:r>
            <a:r>
              <a:rPr lang="hu-HU" dirty="0" smtClean="0"/>
              <a:t> </a:t>
            </a:r>
            <a:r>
              <a:rPr lang="hu-HU" dirty="0" err="1" smtClean="0"/>
              <a:t>but</a:t>
            </a:r>
            <a:r>
              <a:rPr lang="hu-HU" dirty="0" smtClean="0"/>
              <a:t> </a:t>
            </a:r>
            <a:r>
              <a:rPr lang="en-GB" dirty="0" err="1" smtClean="0"/>
              <a:t>multipl</a:t>
            </a:r>
            <a:r>
              <a:rPr lang="hu-HU" dirty="0" smtClean="0"/>
              <a:t>y</a:t>
            </a:r>
            <a:r>
              <a:rPr lang="en-GB" dirty="0" smtClean="0"/>
              <a:t> and add numbers, </a:t>
            </a:r>
            <a:r>
              <a:rPr lang="hu-HU" dirty="0" err="1" smtClean="0"/>
              <a:t>thus</a:t>
            </a:r>
            <a:r>
              <a:rPr lang="hu-HU" dirty="0" smtClean="0"/>
              <a:t> </a:t>
            </a:r>
            <a:r>
              <a:rPr lang="en-GB" dirty="0" smtClean="0"/>
              <a:t>the input </a:t>
            </a:r>
            <a:r>
              <a:rPr lang="hu-HU" dirty="0" err="1" smtClean="0"/>
              <a:t>needs</a:t>
            </a:r>
            <a:r>
              <a:rPr lang="hu-HU" dirty="0" smtClean="0"/>
              <a:t> </a:t>
            </a:r>
            <a:r>
              <a:rPr lang="hu-HU" dirty="0" err="1" smtClean="0"/>
              <a:t>to</a:t>
            </a:r>
            <a:r>
              <a:rPr lang="hu-HU" dirty="0" smtClean="0"/>
              <a:t> </a:t>
            </a:r>
            <a:r>
              <a:rPr lang="en-GB" dirty="0" smtClean="0"/>
              <a:t>be a number</a:t>
            </a:r>
            <a:r>
              <a:rPr lang="hu-HU" dirty="0" smtClean="0"/>
              <a:t>, and </a:t>
            </a:r>
            <a:r>
              <a:rPr lang="hu-HU" dirty="0" err="1" smtClean="0"/>
              <a:t>the</a:t>
            </a:r>
            <a:r>
              <a:rPr lang="hu-HU" dirty="0" smtClean="0"/>
              <a:t> output </a:t>
            </a:r>
            <a:r>
              <a:rPr lang="hu-HU" dirty="0" err="1" smtClean="0"/>
              <a:t>as</a:t>
            </a:r>
            <a:r>
              <a:rPr lang="hu-HU" dirty="0" smtClean="0"/>
              <a:t> </a:t>
            </a:r>
            <a:r>
              <a:rPr lang="hu-HU" dirty="0" err="1" smtClean="0"/>
              <a:t>well</a:t>
            </a:r>
            <a:r>
              <a:rPr lang="hu-HU" dirty="0" smtClean="0"/>
              <a:t>. </a:t>
            </a:r>
            <a:r>
              <a:rPr lang="en-GB" dirty="0" smtClean="0"/>
              <a:t>How do we assign a numerical value to natural language input?</a:t>
            </a:r>
          </a:p>
          <a:p>
            <a:pPr lvl="2"/>
            <a:r>
              <a:rPr lang="en-GB" dirty="0" smtClean="0"/>
              <a:t>How do we convert letters or words into numbers, and what kind of numbers?</a:t>
            </a:r>
            <a:endParaRPr lang="hu-HU" dirty="0" smtClean="0"/>
          </a:p>
          <a:p>
            <a:pPr lvl="1"/>
            <a:r>
              <a:rPr lang="en-GB" dirty="0" smtClean="0"/>
              <a:t>How do we encode the output as a number?</a:t>
            </a:r>
            <a:endParaRPr lang="hu-HU" dirty="0" smtClean="0"/>
          </a:p>
          <a:p>
            <a:r>
              <a:rPr lang="en-GB" dirty="0" smtClean="0"/>
              <a:t>The output of the encoder serves as the input for the decoder, which is a vector of </a:t>
            </a:r>
            <a:r>
              <a:rPr lang="hu-HU" dirty="0" err="1" smtClean="0"/>
              <a:t>some</a:t>
            </a:r>
            <a:r>
              <a:rPr lang="hu-HU" dirty="0" smtClean="0"/>
              <a:t> </a:t>
            </a:r>
            <a:r>
              <a:rPr lang="hu-HU" dirty="0" err="1" smtClean="0"/>
              <a:t>specific</a:t>
            </a:r>
            <a:r>
              <a:rPr lang="hu-HU" dirty="0" smtClean="0"/>
              <a:t>, </a:t>
            </a:r>
            <a:r>
              <a:rPr lang="hu-HU" dirty="0" err="1" smtClean="0"/>
              <a:t>pre-defined</a:t>
            </a:r>
            <a:r>
              <a:rPr lang="hu-HU" dirty="0" smtClean="0"/>
              <a:t> </a:t>
            </a:r>
            <a:r>
              <a:rPr lang="en-GB" dirty="0" smtClean="0"/>
              <a:t>dimensionality, e.g., 2000.</a:t>
            </a:r>
            <a:endParaRPr lang="hu-HU" dirty="0" smtClean="0"/>
          </a:p>
          <a:p>
            <a:pPr lvl="1"/>
            <a:r>
              <a:rPr lang="en-GB" dirty="0" smtClean="0"/>
              <a:t>This vector represents a </a:t>
            </a:r>
            <a:r>
              <a:rPr lang="en-GB" b="1" dirty="0" smtClean="0"/>
              <a:t>bottleneck</a:t>
            </a:r>
            <a:r>
              <a:rPr lang="en-GB" dirty="0" smtClean="0"/>
              <a:t> for processing. An arbitrarily complex input </a:t>
            </a:r>
            <a:r>
              <a:rPr lang="hu-HU" dirty="0" err="1" smtClean="0"/>
              <a:t>obviously</a:t>
            </a:r>
            <a:r>
              <a:rPr lang="hu-HU" dirty="0" smtClean="0"/>
              <a:t> </a:t>
            </a:r>
            <a:r>
              <a:rPr lang="en-GB" dirty="0" smtClean="0"/>
              <a:t>cannot be represented by 2000 floating-point numbers (on a few thousand bytes).</a:t>
            </a:r>
            <a:endParaRPr lang="hu-HU" dirty="0" smtClean="0"/>
          </a:p>
          <a:p>
            <a:pPr lvl="1"/>
            <a:r>
              <a:rPr lang="en-GB" dirty="0" smtClean="0"/>
              <a:t>The final state vector necessarily can only approximate the content of the input</a:t>
            </a:r>
            <a:r>
              <a:rPr lang="hu-HU" dirty="0" smtClean="0"/>
              <a:t>.</a:t>
            </a:r>
          </a:p>
        </p:txBody>
      </p:sp>
    </p:spTree>
    <p:extLst>
      <p:ext uri="{BB962C8B-B14F-4D97-AF65-F5344CB8AC3E}">
        <p14:creationId xmlns:p14="http://schemas.microsoft.com/office/powerpoint/2010/main" val="25888394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a:bodyPr>
          <a:lstStyle/>
          <a:p>
            <a:r>
              <a:rPr lang="en-GB" sz="4000" dirty="0" smtClean="0"/>
              <a:t>Representing Words in Vector Space</a:t>
            </a:r>
            <a:endParaRPr lang="en-GB" sz="4000" dirty="0"/>
          </a:p>
        </p:txBody>
      </p:sp>
      <p:sp>
        <p:nvSpPr>
          <p:cNvPr id="3" name="Tartalom helye 2"/>
          <p:cNvSpPr>
            <a:spLocks noGrp="1"/>
          </p:cNvSpPr>
          <p:nvPr>
            <p:ph idx="1"/>
          </p:nvPr>
        </p:nvSpPr>
        <p:spPr/>
        <p:txBody>
          <a:bodyPr>
            <a:normAutofit fontScale="47500" lnSpcReduction="20000"/>
          </a:bodyPr>
          <a:lstStyle/>
          <a:p>
            <a:pPr indent="-288000"/>
            <a:r>
              <a:rPr lang="en-GB" dirty="0" smtClean="0"/>
              <a:t>We collect all possible inputs (e.g., letters or words) into a dictionary; this will be, e.g., a list of 100 (different characters) or 100,000 (different words)</a:t>
            </a:r>
            <a:r>
              <a:rPr lang="hu-HU" dirty="0" smtClean="0"/>
              <a:t> </a:t>
            </a:r>
            <a:r>
              <a:rPr lang="hu-HU" dirty="0" err="1" smtClean="0"/>
              <a:t>elements</a:t>
            </a:r>
            <a:r>
              <a:rPr lang="hu-HU" dirty="0" smtClean="0"/>
              <a:t>.</a:t>
            </a:r>
            <a:endParaRPr lang="en-GB" dirty="0" smtClean="0"/>
          </a:p>
          <a:p>
            <a:pPr indent="-288000"/>
            <a:r>
              <a:rPr lang="en-GB" dirty="0" smtClean="0"/>
              <a:t>We want to assign a vector to each </a:t>
            </a:r>
            <a:r>
              <a:rPr lang="hu-HU" dirty="0" err="1" smtClean="0"/>
              <a:t>such</a:t>
            </a:r>
            <a:r>
              <a:rPr lang="hu-HU" dirty="0" smtClean="0"/>
              <a:t> </a:t>
            </a:r>
            <a:r>
              <a:rPr lang="hu-HU" dirty="0" err="1" smtClean="0"/>
              <a:t>element</a:t>
            </a:r>
            <a:r>
              <a:rPr lang="en-GB" dirty="0" smtClean="0"/>
              <a:t>.</a:t>
            </a:r>
          </a:p>
          <a:p>
            <a:pPr indent="-288000"/>
            <a:r>
              <a:rPr lang="hu-HU" dirty="0" smtClean="0"/>
              <a:t>T</a:t>
            </a:r>
            <a:r>
              <a:rPr lang="en-GB" dirty="0" smtClean="0"/>
              <a:t>wo general solutions for converting input and output into </a:t>
            </a:r>
            <a:r>
              <a:rPr lang="en-GB" dirty="0" err="1" smtClean="0"/>
              <a:t>numer</a:t>
            </a:r>
            <a:r>
              <a:rPr lang="hu-HU" dirty="0" err="1" smtClean="0"/>
              <a:t>ic</a:t>
            </a:r>
            <a:r>
              <a:rPr lang="en-GB" dirty="0" smtClean="0"/>
              <a:t> vectors: </a:t>
            </a:r>
          </a:p>
          <a:p>
            <a:pPr marL="900000" lvl="1" indent="-324000">
              <a:buFont typeface="+mj-lt"/>
              <a:buAutoNum type="arabicPeriod"/>
            </a:pPr>
            <a:r>
              <a:rPr lang="en-GB" dirty="0" smtClean="0"/>
              <a:t>We consider words/letters (so-called tokens) as completely independent, separate elements (nominal, categorical variables) and represent them as an </a:t>
            </a:r>
            <a:r>
              <a:rPr lang="en-GB" i="1" dirty="0" smtClean="0"/>
              <a:t>n</a:t>
            </a:r>
            <a:r>
              <a:rPr lang="en-GB" dirty="0" smtClean="0"/>
              <a:t>-dimensional so-called </a:t>
            </a:r>
            <a:r>
              <a:rPr lang="en-GB" b="1" dirty="0" smtClean="0"/>
              <a:t>one-hot vector</a:t>
            </a:r>
            <a:r>
              <a:rPr lang="en-GB" dirty="0" smtClean="0"/>
              <a:t> (</a:t>
            </a:r>
            <a:r>
              <a:rPr lang="en-GB" i="1" dirty="0" smtClean="0"/>
              <a:t>n</a:t>
            </a:r>
            <a:r>
              <a:rPr lang="en-GB" dirty="0" smtClean="0"/>
              <a:t> </a:t>
            </a:r>
            <a:r>
              <a:rPr lang="hu-HU" dirty="0" smtClean="0"/>
              <a:t>being</a:t>
            </a:r>
            <a:r>
              <a:rPr lang="en-GB" dirty="0" smtClean="0"/>
              <a:t> the number of elements in the dictionary)</a:t>
            </a:r>
            <a:endParaRPr lang="hu-HU" dirty="0" smtClean="0"/>
          </a:p>
          <a:p>
            <a:pPr marL="1080000" lvl="2" indent="-252000"/>
            <a:r>
              <a:rPr lang="en-GB" dirty="0" smtClean="0"/>
              <a:t>exactly one element is 1, the rest take the value 0</a:t>
            </a:r>
            <a:endParaRPr lang="hu-HU" dirty="0" smtClean="0"/>
          </a:p>
          <a:p>
            <a:pPr marL="1080000" lvl="2" indent="-252000"/>
            <a:r>
              <a:rPr lang="en-GB" dirty="0" smtClean="0"/>
              <a:t>very </a:t>
            </a:r>
            <a:r>
              <a:rPr lang="hu-HU" dirty="0" err="1" smtClean="0"/>
              <a:t>large</a:t>
            </a:r>
            <a:r>
              <a:rPr lang="hu-HU" dirty="0" smtClean="0"/>
              <a:t> </a:t>
            </a:r>
            <a:r>
              <a:rPr lang="hu-HU" dirty="0" err="1" smtClean="0"/>
              <a:t>number</a:t>
            </a:r>
            <a:r>
              <a:rPr lang="hu-HU" dirty="0" smtClean="0"/>
              <a:t> of </a:t>
            </a:r>
            <a:r>
              <a:rPr lang="en-GB" dirty="0" smtClean="0"/>
              <a:t>dimensions, this poses a problem for calculation; </a:t>
            </a:r>
            <a:r>
              <a:rPr lang="en-GB" i="1" dirty="0" smtClean="0"/>
              <a:t>n</a:t>
            </a:r>
            <a:r>
              <a:rPr lang="en-GB" dirty="0" smtClean="0"/>
              <a:t> weights belong to </a:t>
            </a:r>
            <a:r>
              <a:rPr lang="hu-HU" dirty="0" err="1" smtClean="0"/>
              <a:t>each</a:t>
            </a:r>
            <a:r>
              <a:rPr lang="hu-HU" dirty="0" smtClean="0"/>
              <a:t> </a:t>
            </a:r>
            <a:r>
              <a:rPr lang="en-GB" dirty="0" smtClean="0"/>
              <a:t>neuron of the 1st hidden layer</a:t>
            </a:r>
            <a:endParaRPr lang="hu-HU" dirty="0" smtClean="0"/>
          </a:p>
          <a:p>
            <a:pPr marL="1080000" lvl="2" indent="-252000"/>
            <a:r>
              <a:rPr lang="en-GB" dirty="0" smtClean="0"/>
              <a:t>every such one-hot vector is orthogonal to all others, </a:t>
            </a:r>
            <a:r>
              <a:rPr lang="hu-HU" dirty="0" smtClean="0"/>
              <a:t>no </a:t>
            </a:r>
            <a:r>
              <a:rPr lang="hu-HU" dirty="0" err="1" smtClean="0"/>
              <a:t>word</a:t>
            </a:r>
            <a:r>
              <a:rPr lang="hu-HU" dirty="0" smtClean="0"/>
              <a:t> </a:t>
            </a:r>
            <a:r>
              <a:rPr lang="hu-HU" dirty="0" err="1" smtClean="0"/>
              <a:t>vector</a:t>
            </a:r>
            <a:r>
              <a:rPr lang="hu-HU" dirty="0" smtClean="0"/>
              <a:t> is more </a:t>
            </a:r>
            <a:r>
              <a:rPr lang="hu-HU" dirty="0" err="1" smtClean="0"/>
              <a:t>or</a:t>
            </a:r>
            <a:r>
              <a:rPr lang="hu-HU" dirty="0" smtClean="0"/>
              <a:t> less </a:t>
            </a:r>
            <a:r>
              <a:rPr lang="hu-HU" dirty="0" err="1" smtClean="0"/>
              <a:t>similar</a:t>
            </a:r>
            <a:r>
              <a:rPr lang="hu-HU" dirty="0" smtClean="0"/>
              <a:t> </a:t>
            </a:r>
            <a:r>
              <a:rPr lang="hu-HU" dirty="0" err="1" smtClean="0"/>
              <a:t>to</a:t>
            </a:r>
            <a:r>
              <a:rPr lang="hu-HU" dirty="0" smtClean="0"/>
              <a:t> </a:t>
            </a:r>
            <a:r>
              <a:rPr lang="hu-HU" dirty="0" err="1" smtClean="0"/>
              <a:t>any</a:t>
            </a:r>
            <a:r>
              <a:rPr lang="hu-HU" dirty="0" smtClean="0"/>
              <a:t> </a:t>
            </a:r>
            <a:r>
              <a:rPr lang="hu-HU" dirty="0" err="1" smtClean="0"/>
              <a:t>other</a:t>
            </a:r>
            <a:r>
              <a:rPr lang="hu-HU" dirty="0" smtClean="0"/>
              <a:t> </a:t>
            </a:r>
            <a:r>
              <a:rPr lang="hu-HU" dirty="0" err="1" smtClean="0"/>
              <a:t>word</a:t>
            </a:r>
            <a:r>
              <a:rPr lang="hu-HU" dirty="0" smtClean="0"/>
              <a:t> </a:t>
            </a:r>
            <a:r>
              <a:rPr lang="hu-HU" dirty="0" err="1" smtClean="0"/>
              <a:t>vector</a:t>
            </a:r>
            <a:r>
              <a:rPr lang="hu-HU" dirty="0" smtClean="0"/>
              <a:t>, </a:t>
            </a:r>
            <a:r>
              <a:rPr lang="hu-HU" dirty="0" err="1" smtClean="0"/>
              <a:t>e.g</a:t>
            </a:r>
            <a:r>
              <a:rPr lang="hu-HU" dirty="0" smtClean="0"/>
              <a:t>. </a:t>
            </a:r>
            <a:r>
              <a:rPr lang="hu-HU" i="1" dirty="0" err="1" smtClean="0"/>
              <a:t>kitty</a:t>
            </a:r>
            <a:r>
              <a:rPr lang="hu-HU" i="1" dirty="0" smtClean="0"/>
              <a:t> </a:t>
            </a:r>
            <a:r>
              <a:rPr lang="hu-HU" dirty="0" smtClean="0"/>
              <a:t>is no more </a:t>
            </a:r>
            <a:r>
              <a:rPr lang="hu-HU" dirty="0" err="1" smtClean="0"/>
              <a:t>similar</a:t>
            </a:r>
            <a:r>
              <a:rPr lang="hu-HU" dirty="0" smtClean="0"/>
              <a:t> </a:t>
            </a:r>
            <a:r>
              <a:rPr lang="hu-HU" dirty="0" err="1" smtClean="0"/>
              <a:t>to</a:t>
            </a:r>
            <a:r>
              <a:rPr lang="hu-HU" dirty="0" smtClean="0"/>
              <a:t> </a:t>
            </a:r>
            <a:r>
              <a:rPr lang="hu-HU" i="1" dirty="0" err="1" smtClean="0"/>
              <a:t>cat</a:t>
            </a:r>
            <a:r>
              <a:rPr lang="hu-HU" i="1" dirty="0" smtClean="0"/>
              <a:t> </a:t>
            </a:r>
            <a:r>
              <a:rPr lang="hu-HU" dirty="0" err="1" smtClean="0"/>
              <a:t>than</a:t>
            </a:r>
            <a:r>
              <a:rPr lang="hu-HU" dirty="0" smtClean="0"/>
              <a:t> </a:t>
            </a:r>
            <a:r>
              <a:rPr lang="hu-HU" dirty="0" err="1" smtClean="0"/>
              <a:t>it</a:t>
            </a:r>
            <a:r>
              <a:rPr lang="hu-HU" dirty="0" smtClean="0"/>
              <a:t> is </a:t>
            </a:r>
            <a:r>
              <a:rPr lang="hu-HU" dirty="0" err="1" smtClean="0"/>
              <a:t>to</a:t>
            </a:r>
            <a:r>
              <a:rPr lang="hu-HU" dirty="0" smtClean="0"/>
              <a:t> </a:t>
            </a:r>
            <a:r>
              <a:rPr lang="hu-HU" i="1" dirty="0" err="1" smtClean="0"/>
              <a:t>theoretical</a:t>
            </a:r>
            <a:r>
              <a:rPr lang="en-GB" dirty="0" smtClean="0"/>
              <a:t> – not ideal</a:t>
            </a:r>
            <a:endParaRPr lang="hu-HU" dirty="0" smtClean="0"/>
          </a:p>
          <a:p>
            <a:pPr marL="900000" lvl="1" indent="-324000">
              <a:buFont typeface="+mj-lt"/>
              <a:buAutoNum type="arabicPeriod"/>
            </a:pPr>
            <a:r>
              <a:rPr lang="en-GB" dirty="0" smtClean="0"/>
              <a:t>We place the words in a vector space of a </a:t>
            </a:r>
            <a:r>
              <a:rPr lang="en-GB" b="1" dirty="0" smtClean="0"/>
              <a:t>few hundred dimensions </a:t>
            </a:r>
            <a:r>
              <a:rPr lang="en-GB" dirty="0" smtClean="0"/>
              <a:t>(e.g., 300</a:t>
            </a:r>
            <a:r>
              <a:rPr lang="hu-HU" dirty="0" smtClean="0"/>
              <a:t>)</a:t>
            </a:r>
          </a:p>
          <a:p>
            <a:pPr marL="1080000" lvl="2" indent="-252000"/>
            <a:r>
              <a:rPr lang="en-GB" dirty="0" smtClean="0"/>
              <a:t>so-called </a:t>
            </a:r>
            <a:r>
              <a:rPr lang="en-GB" b="1" dirty="0" smtClean="0"/>
              <a:t>word </a:t>
            </a:r>
            <a:r>
              <a:rPr lang="en-GB" b="1" dirty="0" err="1" smtClean="0"/>
              <a:t>embeddings</a:t>
            </a:r>
            <a:endParaRPr lang="hu-HU" b="1" dirty="0" smtClean="0"/>
          </a:p>
          <a:p>
            <a:pPr marL="1080000" lvl="2" indent="-252000"/>
            <a:r>
              <a:rPr lang="en-GB" b="1" dirty="0" smtClean="0"/>
              <a:t>dense vectors</a:t>
            </a:r>
            <a:r>
              <a:rPr lang="en-GB" dirty="0" smtClean="0"/>
              <a:t>, elements are not 0 values</a:t>
            </a:r>
            <a:endParaRPr lang="hu-HU" dirty="0" smtClean="0"/>
          </a:p>
          <a:p>
            <a:pPr marL="1080000" lvl="2" indent="-252000"/>
            <a:r>
              <a:rPr lang="en-GB" dirty="0" smtClean="0"/>
              <a:t>we represent words with similar meanings with vectors close to each other</a:t>
            </a:r>
            <a:endParaRPr lang="hu-HU" dirty="0" smtClean="0"/>
          </a:p>
          <a:p>
            <a:pPr marL="1080000" lvl="2" indent="-252000"/>
            <a:r>
              <a:rPr lang="en-GB" dirty="0" smtClean="0"/>
              <a:t>similar meaning: occurrence in similar contexts in a training corpus</a:t>
            </a:r>
            <a:endParaRPr lang="hu-HU" dirty="0" smtClean="0"/>
          </a:p>
          <a:p>
            <a:pPr marL="571500" indent="-288000"/>
            <a:r>
              <a:rPr lang="hu-HU" dirty="0" err="1" smtClean="0"/>
              <a:t>Usually</a:t>
            </a:r>
            <a:r>
              <a:rPr lang="en-GB" dirty="0" smtClean="0"/>
              <a:t>, </a:t>
            </a:r>
            <a:r>
              <a:rPr lang="hu-HU" dirty="0" smtClean="0"/>
              <a:t>a </a:t>
            </a:r>
            <a:r>
              <a:rPr lang="en-GB" dirty="0" smtClean="0"/>
              <a:t>low-dimensional dense vector is used </a:t>
            </a:r>
            <a:r>
              <a:rPr lang="en-GB" b="1" dirty="0" smtClean="0"/>
              <a:t>at the</a:t>
            </a:r>
            <a:r>
              <a:rPr lang="hu-HU" b="1" dirty="0" smtClean="0"/>
              <a:t> input</a:t>
            </a:r>
            <a:endParaRPr lang="en-GB" dirty="0" smtClean="0"/>
          </a:p>
          <a:p>
            <a:pPr marL="571500" indent="-288000"/>
            <a:r>
              <a:rPr lang="hu-HU" dirty="0" err="1" smtClean="0"/>
              <a:t>Usually</a:t>
            </a:r>
            <a:r>
              <a:rPr lang="en-GB" dirty="0" smtClean="0"/>
              <a:t>, the target value is a one-hot vector </a:t>
            </a:r>
            <a:r>
              <a:rPr lang="en-GB" b="1" dirty="0" smtClean="0"/>
              <a:t>at the output</a:t>
            </a:r>
            <a:endParaRPr lang="hu-HU" b="1" dirty="0" smtClean="0"/>
          </a:p>
          <a:p>
            <a:pPr marL="900000" lvl="1" indent="-324000"/>
            <a:r>
              <a:rPr lang="en-GB" i="1" dirty="0" smtClean="0"/>
              <a:t>n</a:t>
            </a:r>
            <a:r>
              <a:rPr lang="en-GB" dirty="0" smtClean="0"/>
              <a:t>-</a:t>
            </a:r>
            <a:r>
              <a:rPr lang="hu-HU" dirty="0" err="1" smtClean="0"/>
              <a:t>dimensional</a:t>
            </a:r>
            <a:r>
              <a:rPr lang="en-GB" dirty="0" smtClean="0"/>
              <a:t> output vector with </a:t>
            </a:r>
            <a:r>
              <a:rPr lang="en-GB" dirty="0" err="1" smtClean="0"/>
              <a:t>softmax</a:t>
            </a:r>
            <a:r>
              <a:rPr lang="en-GB" dirty="0" smtClean="0"/>
              <a:t> activation, </a:t>
            </a:r>
            <a:r>
              <a:rPr lang="hu-HU" dirty="0" err="1" smtClean="0"/>
              <a:t>defines</a:t>
            </a:r>
            <a:r>
              <a:rPr lang="hu-HU" dirty="0" smtClean="0"/>
              <a:t> a </a:t>
            </a:r>
            <a:r>
              <a:rPr lang="en-GB" dirty="0" smtClean="0"/>
              <a:t>probability distribution of outputs</a:t>
            </a:r>
            <a:endParaRPr lang="hu-HU" dirty="0" smtClean="0"/>
          </a:p>
          <a:p>
            <a:pPr marL="900000" lvl="1" indent="-324000"/>
            <a:r>
              <a:rPr lang="en-GB" dirty="0" smtClean="0"/>
              <a:t>the decoder either generates the element predicted to have the highest probability from the distribution (actual maximum) or samples from the distribution (by generating a random number</a:t>
            </a:r>
            <a:r>
              <a:rPr lang="hu-HU" dirty="0" smtClean="0"/>
              <a:t>)</a:t>
            </a:r>
            <a:endParaRPr lang="en-GB" dirty="0"/>
          </a:p>
        </p:txBody>
      </p:sp>
    </p:spTree>
    <p:extLst>
      <p:ext uri="{BB962C8B-B14F-4D97-AF65-F5344CB8AC3E}">
        <p14:creationId xmlns:p14="http://schemas.microsoft.com/office/powerpoint/2010/main" val="29176534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GB" dirty="0" smtClean="0"/>
              <a:t>Attention</a:t>
            </a:r>
            <a:endParaRPr lang="en-GB" dirty="0"/>
          </a:p>
        </p:txBody>
      </p:sp>
      <p:sp>
        <p:nvSpPr>
          <p:cNvPr id="3" name="Tartalom helye 2"/>
          <p:cNvSpPr>
            <a:spLocks noGrp="1"/>
          </p:cNvSpPr>
          <p:nvPr>
            <p:ph idx="1"/>
          </p:nvPr>
        </p:nvSpPr>
        <p:spPr/>
        <p:txBody>
          <a:bodyPr>
            <a:normAutofit fontScale="62500" lnSpcReduction="20000"/>
          </a:bodyPr>
          <a:lstStyle/>
          <a:p>
            <a:r>
              <a:rPr lang="en-GB" dirty="0" smtClean="0"/>
              <a:t>The decoder should access </a:t>
            </a:r>
            <a:r>
              <a:rPr lang="en-GB" b="1" dirty="0" smtClean="0"/>
              <a:t>not only the last state vector of the encoder </a:t>
            </a:r>
            <a:r>
              <a:rPr lang="en-GB" dirty="0" smtClean="0"/>
              <a:t>but </a:t>
            </a:r>
            <a:r>
              <a:rPr lang="en-GB" b="1" dirty="0" smtClean="0"/>
              <a:t>all of them</a:t>
            </a:r>
            <a:r>
              <a:rPr lang="en-GB" dirty="0" smtClean="0"/>
              <a:t> (every single one from the first to the last).</a:t>
            </a:r>
            <a:endParaRPr lang="hu-HU" dirty="0" smtClean="0"/>
          </a:p>
          <a:p>
            <a:pPr lvl="1"/>
            <a:r>
              <a:rPr lang="hu-HU" dirty="0"/>
              <a:t>W</a:t>
            </a:r>
            <a:r>
              <a:rPr lang="en-GB" dirty="0" smtClean="0"/>
              <a:t>hen calculating the next state vector of the decoder, we can thus multiply not only by the previous state vector of the decoder (by the encoder's state vector in the first step) but by all state vectors of the encoder</a:t>
            </a:r>
            <a:r>
              <a:rPr lang="hu-HU" dirty="0" smtClean="0"/>
              <a:t>.</a:t>
            </a:r>
          </a:p>
          <a:p>
            <a:pPr lvl="2"/>
            <a:r>
              <a:rPr lang="hu-HU" dirty="0" err="1" smtClean="0"/>
              <a:t>similar</a:t>
            </a:r>
            <a:r>
              <a:rPr lang="hu-HU" dirty="0" smtClean="0"/>
              <a:t> idea</a:t>
            </a:r>
            <a:r>
              <a:rPr lang="en-GB" dirty="0" smtClean="0"/>
              <a:t>: U-Net</a:t>
            </a:r>
            <a:r>
              <a:rPr lang="hu-HU" dirty="0" smtClean="0"/>
              <a:t>;</a:t>
            </a:r>
            <a:r>
              <a:rPr lang="en-GB" dirty="0" smtClean="0"/>
              <a:t> the upscaling (decoding) half of the network added the output of the corresponding sized downscaling block to the output of the given block, weighted</a:t>
            </a:r>
            <a:r>
              <a:rPr lang="hu-HU" dirty="0" smtClean="0"/>
              <a:t> </a:t>
            </a:r>
            <a:r>
              <a:rPr lang="hu-HU" dirty="0" err="1" smtClean="0"/>
              <a:t>by</a:t>
            </a:r>
            <a:r>
              <a:rPr lang="hu-HU" dirty="0" smtClean="0"/>
              <a:t> </a:t>
            </a:r>
            <a:r>
              <a:rPr lang="hu-HU" dirty="0" err="1" smtClean="0"/>
              <a:t>some</a:t>
            </a:r>
            <a:r>
              <a:rPr lang="hu-HU" dirty="0" smtClean="0"/>
              <a:t> </a:t>
            </a:r>
            <a:r>
              <a:rPr lang="hu-HU" dirty="0" err="1" smtClean="0"/>
              <a:t>value</a:t>
            </a:r>
            <a:endParaRPr lang="hu-HU" dirty="0" smtClean="0"/>
          </a:p>
          <a:p>
            <a:pPr lvl="1"/>
            <a:r>
              <a:rPr lang="en-GB" b="1" dirty="0" smtClean="0"/>
              <a:t>How can this be implemented? Concatenating </a:t>
            </a:r>
            <a:r>
              <a:rPr lang="en-GB" dirty="0" smtClean="0"/>
              <a:t>the encoder's state vectors </a:t>
            </a:r>
            <a:r>
              <a:rPr lang="en-GB" b="1" dirty="0" smtClean="0"/>
              <a:t>is not sufficient. </a:t>
            </a:r>
            <a:r>
              <a:rPr lang="en-GB" dirty="0" smtClean="0"/>
              <a:t>(Why?)</a:t>
            </a:r>
            <a:endParaRPr lang="hu-HU" dirty="0" smtClean="0"/>
          </a:p>
          <a:p>
            <a:pPr lvl="1"/>
            <a:r>
              <a:rPr lang="en-GB" dirty="0" smtClean="0"/>
              <a:t>Instead, one could take the </a:t>
            </a:r>
            <a:r>
              <a:rPr lang="en-GB" b="1" dirty="0" smtClean="0"/>
              <a:t>weighted sum</a:t>
            </a:r>
            <a:r>
              <a:rPr lang="en-GB" dirty="0" smtClean="0"/>
              <a:t> </a:t>
            </a:r>
            <a:r>
              <a:rPr lang="en-GB" b="1" dirty="0" smtClean="0"/>
              <a:t>of </a:t>
            </a:r>
            <a:r>
              <a:rPr lang="hu-HU" b="1" dirty="0" err="1" smtClean="0"/>
              <a:t>all</a:t>
            </a:r>
            <a:r>
              <a:rPr lang="hu-HU" b="1" dirty="0" smtClean="0"/>
              <a:t> </a:t>
            </a:r>
            <a:r>
              <a:rPr lang="en-GB" b="1" dirty="0" smtClean="0"/>
              <a:t>encoder states</a:t>
            </a:r>
            <a:r>
              <a:rPr lang="en-GB" dirty="0" smtClean="0"/>
              <a:t>, weighting them such that those encoder states feature with greater weight in the sum that are essential at the given point of decoding</a:t>
            </a:r>
            <a:r>
              <a:rPr lang="hu-HU" dirty="0" smtClean="0"/>
              <a:t>.</a:t>
            </a:r>
          </a:p>
          <a:p>
            <a:pPr lvl="2"/>
            <a:r>
              <a:rPr lang="hu-HU" dirty="0" smtClean="0"/>
              <a:t>The </a:t>
            </a:r>
            <a:r>
              <a:rPr lang="hu-HU" dirty="0" err="1" smtClean="0"/>
              <a:t>network</a:t>
            </a:r>
            <a:r>
              <a:rPr lang="hu-HU" dirty="0" smtClean="0"/>
              <a:t> </a:t>
            </a:r>
            <a:r>
              <a:rPr lang="en-GB" dirty="0" smtClean="0"/>
              <a:t>add</a:t>
            </a:r>
            <a:r>
              <a:rPr lang="hu-HU" dirty="0" smtClean="0"/>
              <a:t>s</a:t>
            </a:r>
            <a:r>
              <a:rPr lang="en-GB" dirty="0" smtClean="0"/>
              <a:t> this weighted sum with some weight to the product of the decoder's previous state and the input; summing this way, we get the state vector from which we calculate the output for the given step</a:t>
            </a:r>
            <a:r>
              <a:rPr lang="hu-HU" dirty="0" smtClean="0"/>
              <a:t>.</a:t>
            </a:r>
          </a:p>
          <a:p>
            <a:pPr lvl="1"/>
            <a:r>
              <a:rPr lang="en-GB" dirty="0" smtClean="0"/>
              <a:t>This </a:t>
            </a:r>
            <a:r>
              <a:rPr lang="en-GB" b="1" dirty="0" smtClean="0"/>
              <a:t>weighting</a:t>
            </a:r>
            <a:r>
              <a:rPr lang="en-GB" dirty="0" smtClean="0"/>
              <a:t> is called </a:t>
            </a:r>
            <a:r>
              <a:rPr lang="en-GB" b="1" dirty="0" smtClean="0"/>
              <a:t>attention</a:t>
            </a:r>
            <a:r>
              <a:rPr lang="en-GB" dirty="0" smtClean="0"/>
              <a:t> in deep learning. The decoder</a:t>
            </a:r>
            <a:r>
              <a:rPr lang="en-GB" b="1" dirty="0" smtClean="0"/>
              <a:t> specifically pays attention to some of the encoder states</a:t>
            </a:r>
            <a:r>
              <a:rPr lang="en-GB" dirty="0" smtClean="0"/>
              <a:t>, namely those it needs to generate the next element, and </a:t>
            </a:r>
            <a:r>
              <a:rPr lang="hu-HU" dirty="0" err="1" smtClean="0"/>
              <a:t>disregards</a:t>
            </a:r>
            <a:r>
              <a:rPr lang="hu-HU" dirty="0" smtClean="0"/>
              <a:t> </a:t>
            </a:r>
            <a:r>
              <a:rPr lang="en-GB" dirty="0" smtClean="0"/>
              <a:t>others</a:t>
            </a:r>
            <a:r>
              <a:rPr lang="hu-HU" dirty="0" smtClean="0"/>
              <a:t>.</a:t>
            </a:r>
            <a:endParaRPr lang="en-GB" dirty="0"/>
          </a:p>
        </p:txBody>
      </p:sp>
    </p:spTree>
    <p:extLst>
      <p:ext uri="{BB962C8B-B14F-4D97-AF65-F5344CB8AC3E}">
        <p14:creationId xmlns:p14="http://schemas.microsoft.com/office/powerpoint/2010/main" val="35882272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Attention</a:t>
            </a:r>
            <a:endParaRPr lang="en-GB" dirty="0"/>
          </a:p>
        </p:txBody>
      </p:sp>
      <p:sp>
        <p:nvSpPr>
          <p:cNvPr id="3" name="Tartalom helye 2"/>
          <p:cNvSpPr>
            <a:spLocks noGrp="1"/>
          </p:cNvSpPr>
          <p:nvPr>
            <p:ph idx="1"/>
          </p:nvPr>
        </p:nvSpPr>
        <p:spPr/>
        <p:txBody>
          <a:bodyPr>
            <a:normAutofit fontScale="62500" lnSpcReduction="20000"/>
          </a:bodyPr>
          <a:lstStyle/>
          <a:p>
            <a:r>
              <a:rPr lang="en-GB" dirty="0" smtClean="0"/>
              <a:t>Based on what should the neural network weight</a:t>
            </a:r>
            <a:r>
              <a:rPr lang="hu-HU" dirty="0" smtClean="0"/>
              <a:t> </a:t>
            </a:r>
            <a:r>
              <a:rPr lang="hu-HU" dirty="0" err="1" smtClean="0"/>
              <a:t>the</a:t>
            </a:r>
            <a:r>
              <a:rPr lang="hu-HU" dirty="0" smtClean="0"/>
              <a:t> </a:t>
            </a:r>
            <a:r>
              <a:rPr lang="hu-HU" dirty="0" err="1" smtClean="0"/>
              <a:t>states</a:t>
            </a:r>
            <a:r>
              <a:rPr lang="hu-HU" dirty="0" smtClean="0"/>
              <a:t>?</a:t>
            </a:r>
          </a:p>
          <a:p>
            <a:pPr lvl="1"/>
            <a:r>
              <a:rPr lang="hu-HU" dirty="0" err="1" smtClean="0"/>
              <a:t>Weighting</a:t>
            </a:r>
            <a:r>
              <a:rPr lang="hu-HU" dirty="0" smtClean="0"/>
              <a:t> </a:t>
            </a:r>
            <a:r>
              <a:rPr lang="en-GB" dirty="0" smtClean="0"/>
              <a:t>could be based on position (the beginning of the output should pay attention to the beginning of the input), but position is not really interpretable in a recurrent network. </a:t>
            </a:r>
          </a:p>
          <a:p>
            <a:pPr lvl="2"/>
            <a:r>
              <a:rPr lang="en-GB" dirty="0" smtClean="0"/>
              <a:t>both input and output can be arbitrarily long</a:t>
            </a:r>
            <a:endParaRPr lang="hu-HU" dirty="0" smtClean="0"/>
          </a:p>
          <a:p>
            <a:pPr lvl="1"/>
            <a:r>
              <a:rPr lang="en-GB" dirty="0" smtClean="0"/>
              <a:t>Solution: </a:t>
            </a:r>
            <a:r>
              <a:rPr lang="hu-HU" dirty="0" err="1" smtClean="0"/>
              <a:t>weighting</a:t>
            </a:r>
            <a:r>
              <a:rPr lang="hu-HU" dirty="0" smtClean="0"/>
              <a:t> </a:t>
            </a:r>
            <a:r>
              <a:rPr lang="en-GB" dirty="0" smtClean="0"/>
              <a:t>based on the similarity between the given state of the decoder and the states of the encoder</a:t>
            </a:r>
            <a:endParaRPr lang="hu-HU" dirty="0" smtClean="0"/>
          </a:p>
          <a:p>
            <a:pPr lvl="2"/>
            <a:r>
              <a:rPr lang="en-GB" dirty="0" smtClean="0"/>
              <a:t>encoder states form an </a:t>
            </a:r>
            <a:r>
              <a:rPr lang="en-GB" i="1" dirty="0" smtClean="0"/>
              <a:t>n</a:t>
            </a:r>
            <a:r>
              <a:rPr lang="hu-HU" i="1" dirty="0" smtClean="0"/>
              <a:t> </a:t>
            </a:r>
            <a:r>
              <a:rPr lang="en-GB" dirty="0" smtClean="0"/>
              <a:t>×</a:t>
            </a:r>
            <a:r>
              <a:rPr lang="hu-HU" dirty="0" smtClean="0"/>
              <a:t> </a:t>
            </a:r>
            <a:r>
              <a:rPr lang="en-GB" i="1" dirty="0" smtClean="0">
                <a:effectLst/>
              </a:rPr>
              <a:t>k</a:t>
            </a:r>
            <a:r>
              <a:rPr lang="en-GB" dirty="0" smtClean="0"/>
              <a:t> dimensional matrix</a:t>
            </a:r>
            <a:endParaRPr lang="hu-HU" dirty="0" smtClean="0"/>
          </a:p>
          <a:p>
            <a:pPr lvl="3"/>
            <a:r>
              <a:rPr lang="en-GB" i="1" dirty="0" smtClean="0"/>
              <a:t>n </a:t>
            </a:r>
            <a:r>
              <a:rPr lang="en-GB" dirty="0" smtClean="0"/>
              <a:t>is the length of the actual input, </a:t>
            </a:r>
            <a:r>
              <a:rPr lang="en-GB" i="1" dirty="0" smtClean="0">
                <a:effectLst/>
              </a:rPr>
              <a:t>k</a:t>
            </a:r>
            <a:r>
              <a:rPr lang="en-GB" i="1" dirty="0" smtClean="0"/>
              <a:t> </a:t>
            </a:r>
            <a:r>
              <a:rPr lang="en-GB" dirty="0" smtClean="0"/>
              <a:t>is the dimension of the state vector</a:t>
            </a:r>
          </a:p>
          <a:p>
            <a:pPr lvl="3"/>
            <a:r>
              <a:rPr lang="en-GB" dirty="0" smtClean="0"/>
              <a:t>each row is one state vector of the encoder</a:t>
            </a:r>
            <a:endParaRPr lang="hu-HU" dirty="0" smtClean="0"/>
          </a:p>
          <a:p>
            <a:pPr lvl="2"/>
            <a:r>
              <a:rPr lang="en-GB" dirty="0" smtClean="0"/>
              <a:t>the most recent state of the decoder is a </a:t>
            </a:r>
            <a:r>
              <a:rPr lang="en-GB" i="1" dirty="0" smtClean="0">
                <a:effectLst/>
              </a:rPr>
              <a:t>k</a:t>
            </a:r>
            <a:r>
              <a:rPr lang="en-GB" i="1" dirty="0" smtClean="0"/>
              <a:t> </a:t>
            </a:r>
            <a:r>
              <a:rPr lang="en-GB" dirty="0" smtClean="0"/>
              <a:t>dimensional vector</a:t>
            </a:r>
            <a:endParaRPr lang="hu-HU" dirty="0" smtClean="0"/>
          </a:p>
          <a:p>
            <a:pPr lvl="2"/>
            <a:r>
              <a:rPr lang="en-GB" dirty="0" smtClean="0"/>
              <a:t>we multiply the two together; the result is an </a:t>
            </a:r>
            <a:r>
              <a:rPr lang="en-GB" i="1" dirty="0" smtClean="0"/>
              <a:t>n</a:t>
            </a:r>
            <a:r>
              <a:rPr lang="hu-HU" i="1" dirty="0" smtClean="0"/>
              <a:t> </a:t>
            </a:r>
            <a:r>
              <a:rPr lang="en-GB" dirty="0" smtClean="0"/>
              <a:t>×</a:t>
            </a:r>
            <a:r>
              <a:rPr lang="hu-HU" dirty="0" smtClean="0"/>
              <a:t> </a:t>
            </a:r>
            <a:r>
              <a:rPr lang="en-GB" dirty="0" smtClean="0"/>
              <a:t>1 dimensional vector whose elements are the dot product of each encoder state and the most recent decoder state</a:t>
            </a:r>
            <a:endParaRPr lang="hu-HU" dirty="0" smtClean="0"/>
          </a:p>
          <a:p>
            <a:pPr lvl="2"/>
            <a:r>
              <a:rPr lang="en-GB" dirty="0" smtClean="0"/>
              <a:t>if the length of two vectors is identical, their dot product is proportional to their cosine similarity</a:t>
            </a:r>
            <a:endParaRPr lang="hu-HU" dirty="0" smtClean="0"/>
          </a:p>
          <a:p>
            <a:pPr lvl="2"/>
            <a:r>
              <a:rPr lang="en-GB" dirty="0" smtClean="0"/>
              <a:t>we normalize the product vector to a sum of 1 with </a:t>
            </a:r>
            <a:r>
              <a:rPr lang="en-GB" dirty="0" err="1" smtClean="0"/>
              <a:t>softmax</a:t>
            </a:r>
            <a:endParaRPr lang="hu-HU" dirty="0" smtClean="0"/>
          </a:p>
          <a:p>
            <a:pPr lvl="2"/>
            <a:r>
              <a:rPr lang="en-GB" dirty="0" smtClean="0"/>
              <a:t>we multiply the </a:t>
            </a:r>
            <a:r>
              <a:rPr lang="en-GB" i="1" dirty="0" smtClean="0">
                <a:effectLst/>
              </a:rPr>
              <a:t>k</a:t>
            </a:r>
            <a:r>
              <a:rPr lang="hu-HU" i="1" dirty="0" smtClean="0">
                <a:effectLst/>
              </a:rPr>
              <a:t> </a:t>
            </a:r>
            <a:r>
              <a:rPr lang="en-GB" dirty="0" smtClean="0"/>
              <a:t>×</a:t>
            </a:r>
            <a:r>
              <a:rPr lang="hu-HU" dirty="0" smtClean="0"/>
              <a:t> </a:t>
            </a:r>
            <a:r>
              <a:rPr lang="en-GB" i="1" dirty="0" smtClean="0"/>
              <a:t>n </a:t>
            </a:r>
            <a:r>
              <a:rPr lang="en-GB" dirty="0" smtClean="0"/>
              <a:t>transpose of the state </a:t>
            </a:r>
            <a:r>
              <a:rPr lang="hu-HU" dirty="0" err="1" smtClean="0"/>
              <a:t>vectors</a:t>
            </a:r>
            <a:r>
              <a:rPr lang="hu-HU" dirty="0" smtClean="0"/>
              <a:t>’ </a:t>
            </a:r>
            <a:r>
              <a:rPr lang="hu-HU" dirty="0" err="1" smtClean="0"/>
              <a:t>matrix</a:t>
            </a:r>
            <a:r>
              <a:rPr lang="hu-HU" dirty="0" smtClean="0"/>
              <a:t> </a:t>
            </a:r>
            <a:r>
              <a:rPr lang="en-GB" dirty="0" smtClean="0"/>
              <a:t>by the </a:t>
            </a:r>
            <a:r>
              <a:rPr lang="en-GB" i="1" dirty="0" smtClean="0"/>
              <a:t>n</a:t>
            </a:r>
            <a:r>
              <a:rPr lang="hu-HU" i="1" dirty="0" smtClean="0"/>
              <a:t> </a:t>
            </a:r>
            <a:r>
              <a:rPr lang="en-GB" dirty="0" smtClean="0"/>
              <a:t>×</a:t>
            </a:r>
            <a:r>
              <a:rPr lang="hu-HU" dirty="0" smtClean="0"/>
              <a:t> </a:t>
            </a:r>
            <a:r>
              <a:rPr lang="en-GB" dirty="0" smtClean="0"/>
              <a:t>1 </a:t>
            </a:r>
            <a:r>
              <a:rPr lang="en-GB" dirty="0" err="1" smtClean="0"/>
              <a:t>softmax</a:t>
            </a:r>
            <a:r>
              <a:rPr lang="en-GB" dirty="0" smtClean="0"/>
              <a:t> vector</a:t>
            </a:r>
            <a:endParaRPr lang="hu-HU" dirty="0" smtClean="0"/>
          </a:p>
          <a:p>
            <a:pPr lvl="2"/>
            <a:r>
              <a:rPr lang="en-GB" dirty="0" smtClean="0"/>
              <a:t>the resulting </a:t>
            </a:r>
            <a:r>
              <a:rPr lang="en-GB" i="1" dirty="0" smtClean="0">
                <a:effectLst/>
              </a:rPr>
              <a:t>k</a:t>
            </a:r>
            <a:r>
              <a:rPr lang="hu-HU" i="1" dirty="0" smtClean="0">
                <a:effectLst/>
              </a:rPr>
              <a:t> </a:t>
            </a:r>
            <a:r>
              <a:rPr lang="en-GB" dirty="0" smtClean="0"/>
              <a:t>×</a:t>
            </a:r>
            <a:r>
              <a:rPr lang="hu-HU" dirty="0" smtClean="0"/>
              <a:t> </a:t>
            </a:r>
            <a:r>
              <a:rPr lang="en-GB" dirty="0" smtClean="0"/>
              <a:t>1 vector is the sum of the encoder's state vectors weighted by attention (so-called linear combination)</a:t>
            </a:r>
            <a:endParaRPr lang="en-GB" dirty="0"/>
          </a:p>
        </p:txBody>
      </p:sp>
    </p:spTree>
    <p:extLst>
      <p:ext uri="{BB962C8B-B14F-4D97-AF65-F5344CB8AC3E}">
        <p14:creationId xmlns:p14="http://schemas.microsoft.com/office/powerpoint/2010/main" val="37627602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Attention</a:t>
            </a:r>
            <a:endParaRPr lang="en-GB" dirty="0"/>
          </a:p>
        </p:txBody>
      </p:sp>
      <p:sp>
        <p:nvSpPr>
          <p:cNvPr id="3" name="Tartalom helye 2"/>
          <p:cNvSpPr>
            <a:spLocks noGrp="1"/>
          </p:cNvSpPr>
          <p:nvPr>
            <p:ph idx="1"/>
          </p:nvPr>
        </p:nvSpPr>
        <p:spPr/>
        <p:txBody>
          <a:bodyPr>
            <a:normAutofit fontScale="47500" lnSpcReduction="20000"/>
          </a:bodyPr>
          <a:lstStyle/>
          <a:p>
            <a:r>
              <a:rPr lang="en-GB" dirty="0" smtClean="0"/>
              <a:t>The implementation of attention seen previously resembles a search in a vector database: </a:t>
            </a:r>
          </a:p>
          <a:p>
            <a:pPr lvl="1"/>
            <a:r>
              <a:rPr lang="en-GB" dirty="0" smtClean="0"/>
              <a:t>values stored in the database are assigned to a </a:t>
            </a:r>
            <a:r>
              <a:rPr lang="en-GB" b="1" dirty="0" smtClean="0"/>
              <a:t>key</a:t>
            </a:r>
            <a:r>
              <a:rPr lang="hu-HU" dirty="0" smtClean="0"/>
              <a:t>, </a:t>
            </a:r>
            <a:r>
              <a:rPr lang="hu-HU" dirty="0" err="1" smtClean="0"/>
              <a:t>which</a:t>
            </a:r>
            <a:r>
              <a:rPr lang="hu-HU" dirty="0" smtClean="0"/>
              <a:t> is a </a:t>
            </a:r>
            <a:r>
              <a:rPr lang="hu-HU" dirty="0" err="1" smtClean="0"/>
              <a:t>vector</a:t>
            </a:r>
            <a:endParaRPr lang="hu-HU" dirty="0" smtClean="0"/>
          </a:p>
          <a:p>
            <a:pPr lvl="1"/>
            <a:r>
              <a:rPr lang="en-GB" b="1" dirty="0" smtClean="0"/>
              <a:t>values</a:t>
            </a:r>
            <a:r>
              <a:rPr lang="en-GB" dirty="0" smtClean="0"/>
              <a:t> </a:t>
            </a:r>
            <a:r>
              <a:rPr lang="hu-HU" dirty="0" err="1" smtClean="0"/>
              <a:t>are</a:t>
            </a:r>
            <a:r>
              <a:rPr lang="hu-HU" dirty="0" smtClean="0"/>
              <a:t> </a:t>
            </a:r>
            <a:r>
              <a:rPr lang="hu-HU" dirty="0" err="1" smtClean="0"/>
              <a:t>looked</a:t>
            </a:r>
            <a:r>
              <a:rPr lang="hu-HU" dirty="0" smtClean="0"/>
              <a:t> </a:t>
            </a:r>
            <a:r>
              <a:rPr lang="hu-HU" dirty="0" err="1" smtClean="0"/>
              <a:t>up</a:t>
            </a:r>
            <a:r>
              <a:rPr lang="hu-HU" dirty="0" smtClean="0"/>
              <a:t> </a:t>
            </a:r>
            <a:r>
              <a:rPr lang="en-GB" dirty="0" smtClean="0"/>
              <a:t>based on the</a:t>
            </a:r>
            <a:r>
              <a:rPr lang="hu-HU" dirty="0" err="1" smtClean="0"/>
              <a:t>ir</a:t>
            </a:r>
            <a:r>
              <a:rPr lang="en-GB" dirty="0" smtClean="0"/>
              <a:t> key</a:t>
            </a:r>
            <a:endParaRPr lang="hu-HU" dirty="0" smtClean="0"/>
          </a:p>
          <a:p>
            <a:pPr lvl="1"/>
            <a:r>
              <a:rPr lang="en-GB" dirty="0" smtClean="0"/>
              <a:t>the </a:t>
            </a:r>
            <a:r>
              <a:rPr lang="en-GB" b="1" dirty="0" smtClean="0"/>
              <a:t>query</a:t>
            </a:r>
            <a:r>
              <a:rPr lang="en-GB" dirty="0" smtClean="0"/>
              <a:t> (search term) itself is also a vector (of the same dimension as the keys)</a:t>
            </a:r>
            <a:endParaRPr lang="hu-HU" dirty="0" smtClean="0"/>
          </a:p>
          <a:p>
            <a:r>
              <a:rPr lang="en-GB" dirty="0" smtClean="0"/>
              <a:t>Vector databases are used particularly for storing </a:t>
            </a:r>
            <a:r>
              <a:rPr lang="hu-HU" dirty="0" smtClean="0"/>
              <a:t>and </a:t>
            </a:r>
            <a:r>
              <a:rPr lang="hu-HU" dirty="0" err="1" smtClean="0"/>
              <a:t>retrieving</a:t>
            </a:r>
            <a:r>
              <a:rPr lang="hu-HU" dirty="0" smtClean="0"/>
              <a:t> </a:t>
            </a:r>
            <a:r>
              <a:rPr lang="en-GB" dirty="0" smtClean="0"/>
              <a:t>texts; the goal is to find the text </a:t>
            </a:r>
            <a:r>
              <a:rPr lang="hu-HU" dirty="0" smtClean="0"/>
              <a:t>(</a:t>
            </a:r>
            <a:r>
              <a:rPr lang="hu-HU" dirty="0" err="1" smtClean="0"/>
              <a:t>value</a:t>
            </a:r>
            <a:r>
              <a:rPr lang="hu-HU" dirty="0" smtClean="0"/>
              <a:t>) </a:t>
            </a:r>
            <a:r>
              <a:rPr lang="hu-HU" dirty="0" err="1" smtClean="0"/>
              <a:t>that</a:t>
            </a:r>
            <a:r>
              <a:rPr lang="hu-HU" dirty="0" smtClean="0"/>
              <a:t> is most </a:t>
            </a:r>
            <a:r>
              <a:rPr lang="hu-HU" dirty="0" err="1" smtClean="0"/>
              <a:t>similar</a:t>
            </a:r>
            <a:r>
              <a:rPr lang="hu-HU" dirty="0" smtClean="0"/>
              <a:t> </a:t>
            </a:r>
            <a:r>
              <a:rPr lang="hu-HU" dirty="0" err="1" smtClean="0"/>
              <a:t>to</a:t>
            </a:r>
            <a:r>
              <a:rPr lang="hu-HU" dirty="0" smtClean="0"/>
              <a:t> </a:t>
            </a:r>
            <a:r>
              <a:rPr lang="hu-HU" dirty="0" err="1" smtClean="0"/>
              <a:t>the</a:t>
            </a:r>
            <a:r>
              <a:rPr lang="hu-HU" dirty="0" smtClean="0"/>
              <a:t> </a:t>
            </a:r>
            <a:r>
              <a:rPr lang="hu-HU" dirty="0" err="1" smtClean="0"/>
              <a:t>query</a:t>
            </a:r>
            <a:r>
              <a:rPr lang="hu-HU" dirty="0" smtClean="0"/>
              <a:t>.</a:t>
            </a:r>
          </a:p>
          <a:p>
            <a:pPr lvl="1"/>
            <a:r>
              <a:rPr lang="en-GB" dirty="0" smtClean="0"/>
              <a:t>we do not search based on keyword or search term in full text, but based on the content of the text</a:t>
            </a:r>
            <a:endParaRPr lang="hu-HU" dirty="0" smtClean="0"/>
          </a:p>
          <a:p>
            <a:pPr lvl="1"/>
            <a:r>
              <a:rPr lang="en-GB" dirty="0" smtClean="0"/>
              <a:t>the classic method for </a:t>
            </a:r>
            <a:r>
              <a:rPr lang="hu-HU" dirty="0" err="1" smtClean="0"/>
              <a:t>creating</a:t>
            </a:r>
            <a:r>
              <a:rPr lang="hu-HU" dirty="0" smtClean="0"/>
              <a:t> </a:t>
            </a:r>
            <a:r>
              <a:rPr lang="hu-HU" dirty="0" err="1" smtClean="0"/>
              <a:t>the</a:t>
            </a:r>
            <a:r>
              <a:rPr lang="hu-HU" dirty="0" smtClean="0"/>
              <a:t> </a:t>
            </a:r>
            <a:r>
              <a:rPr lang="hu-HU" dirty="0" err="1" smtClean="0"/>
              <a:t>key</a:t>
            </a:r>
            <a:r>
              <a:rPr lang="hu-HU" dirty="0" smtClean="0"/>
              <a:t> </a:t>
            </a:r>
            <a:r>
              <a:rPr lang="hu-HU" dirty="0" err="1" smtClean="0"/>
              <a:t>vectors</a:t>
            </a:r>
            <a:r>
              <a:rPr lang="hu-HU" dirty="0" smtClean="0"/>
              <a:t> </a:t>
            </a:r>
            <a:r>
              <a:rPr lang="en-GB" dirty="0" smtClean="0"/>
              <a:t>is called </a:t>
            </a:r>
            <a:r>
              <a:rPr lang="en-GB" b="1" dirty="0" smtClean="0"/>
              <a:t>latent semantic indexing</a:t>
            </a:r>
            <a:r>
              <a:rPr lang="en-GB" dirty="0" smtClean="0"/>
              <a:t> (LSI / </a:t>
            </a:r>
            <a:r>
              <a:rPr lang="en-GB" dirty="0" err="1" smtClean="0"/>
              <a:t>LSA</a:t>
            </a:r>
            <a:r>
              <a:rPr lang="en-GB" dirty="0" smtClean="0"/>
              <a:t>), which maps arbitrary text to a dense real-number vector of a few hundred dimensions</a:t>
            </a:r>
            <a:endParaRPr lang="hu-HU" dirty="0" smtClean="0"/>
          </a:p>
          <a:p>
            <a:pPr lvl="1"/>
            <a:r>
              <a:rPr lang="en-GB" dirty="0" smtClean="0"/>
              <a:t>more recently, in the last 5 years</a:t>
            </a:r>
            <a:r>
              <a:rPr lang="hu-HU" dirty="0" smtClean="0"/>
              <a:t> </a:t>
            </a:r>
            <a:r>
              <a:rPr lang="hu-HU" dirty="0" err="1" smtClean="0"/>
              <a:t>or</a:t>
            </a:r>
            <a:r>
              <a:rPr lang="hu-HU" dirty="0" smtClean="0"/>
              <a:t> </a:t>
            </a:r>
            <a:r>
              <a:rPr lang="hu-HU" dirty="0" err="1" smtClean="0"/>
              <a:t>so</a:t>
            </a:r>
            <a:r>
              <a:rPr lang="en-GB" dirty="0" smtClean="0"/>
              <a:t>, neural networks </a:t>
            </a:r>
            <a:r>
              <a:rPr lang="hu-HU" dirty="0" err="1" smtClean="0"/>
              <a:t>have</a:t>
            </a:r>
            <a:r>
              <a:rPr lang="hu-HU" dirty="0" smtClean="0"/>
              <a:t> </a:t>
            </a:r>
            <a:r>
              <a:rPr lang="hu-HU" dirty="0" err="1" smtClean="0"/>
              <a:t>been</a:t>
            </a:r>
            <a:r>
              <a:rPr lang="hu-HU" dirty="0" smtClean="0"/>
              <a:t> </a:t>
            </a:r>
            <a:r>
              <a:rPr lang="en-GB" dirty="0" smtClean="0"/>
              <a:t>used for this</a:t>
            </a:r>
            <a:r>
              <a:rPr lang="hu-HU" dirty="0" smtClean="0"/>
              <a:t> </a:t>
            </a:r>
            <a:r>
              <a:rPr lang="hu-HU" dirty="0" err="1" smtClean="0"/>
              <a:t>instead</a:t>
            </a:r>
            <a:r>
              <a:rPr lang="en-GB" dirty="0" smtClean="0"/>
              <a:t>; these are called </a:t>
            </a:r>
            <a:r>
              <a:rPr lang="en-GB" b="1" dirty="0" smtClean="0"/>
              <a:t>sentence transformers</a:t>
            </a:r>
            <a:r>
              <a:rPr lang="en-GB" dirty="0" smtClean="0"/>
              <a:t> or </a:t>
            </a:r>
            <a:r>
              <a:rPr lang="en-GB" b="1" dirty="0" smtClean="0"/>
              <a:t>embedding models</a:t>
            </a:r>
            <a:endParaRPr lang="hu-HU" b="1" dirty="0" smtClean="0"/>
          </a:p>
          <a:p>
            <a:r>
              <a:rPr lang="hu-HU" dirty="0" smtClean="0"/>
              <a:t>The </a:t>
            </a:r>
            <a:r>
              <a:rPr lang="hu-HU" dirty="0" err="1" smtClean="0"/>
              <a:t>vector</a:t>
            </a:r>
            <a:r>
              <a:rPr lang="hu-HU" dirty="0" smtClean="0"/>
              <a:t> </a:t>
            </a:r>
            <a:r>
              <a:rPr lang="hu-HU" dirty="0" err="1" smtClean="0"/>
              <a:t>database</a:t>
            </a:r>
            <a:r>
              <a:rPr lang="hu-HU" dirty="0" smtClean="0"/>
              <a:t> </a:t>
            </a:r>
            <a:r>
              <a:rPr lang="hu-HU" dirty="0" err="1" smtClean="0"/>
              <a:t>applied</a:t>
            </a:r>
            <a:r>
              <a:rPr lang="hu-HU" dirty="0" smtClean="0"/>
              <a:t> </a:t>
            </a:r>
            <a:r>
              <a:rPr lang="hu-HU" dirty="0" err="1" smtClean="0"/>
              <a:t>as</a:t>
            </a:r>
            <a:r>
              <a:rPr lang="hu-HU" dirty="0" smtClean="0"/>
              <a:t> an </a:t>
            </a:r>
            <a:r>
              <a:rPr lang="hu-HU" dirty="0" err="1" smtClean="0"/>
              <a:t>analogy</a:t>
            </a:r>
            <a:r>
              <a:rPr lang="hu-HU" dirty="0" smtClean="0"/>
              <a:t> </a:t>
            </a:r>
            <a:r>
              <a:rPr lang="hu-HU" dirty="0" err="1" smtClean="0"/>
              <a:t>to</a:t>
            </a:r>
            <a:r>
              <a:rPr lang="hu-HU" dirty="0" smtClean="0"/>
              <a:t> </a:t>
            </a:r>
            <a:r>
              <a:rPr lang="en-GB" dirty="0" smtClean="0"/>
              <a:t>the implementation of attention</a:t>
            </a:r>
            <a:r>
              <a:rPr lang="hu-HU" dirty="0" smtClean="0"/>
              <a:t>:</a:t>
            </a:r>
          </a:p>
          <a:p>
            <a:pPr lvl="1"/>
            <a:r>
              <a:rPr lang="en-GB" dirty="0" smtClean="0"/>
              <a:t>the search term (</a:t>
            </a:r>
            <a:r>
              <a:rPr lang="en-GB" b="1" dirty="0" smtClean="0"/>
              <a:t>Query, Q</a:t>
            </a:r>
            <a:r>
              <a:rPr lang="en-GB" dirty="0" smtClean="0"/>
              <a:t>) is the most recent state of the decoder</a:t>
            </a:r>
            <a:endParaRPr lang="hu-HU" dirty="0" smtClean="0"/>
          </a:p>
          <a:p>
            <a:pPr lvl="1"/>
            <a:r>
              <a:rPr lang="en-GB" dirty="0" smtClean="0"/>
              <a:t>the </a:t>
            </a:r>
            <a:r>
              <a:rPr lang="en-GB" b="1" dirty="0" smtClean="0"/>
              <a:t>Key (K)</a:t>
            </a:r>
            <a:r>
              <a:rPr lang="en-GB" dirty="0" smtClean="0"/>
              <a:t>, to which we compare the search term, is a state of the encoder</a:t>
            </a:r>
            <a:endParaRPr lang="hu-HU" dirty="0" smtClean="0"/>
          </a:p>
          <a:p>
            <a:r>
              <a:rPr lang="en-GB" dirty="0" smtClean="0"/>
              <a:t>If we simply multiply the query and the keys together, we assume that </a:t>
            </a:r>
            <a:r>
              <a:rPr lang="hu-HU" dirty="0" err="1" smtClean="0"/>
              <a:t>every</a:t>
            </a:r>
            <a:r>
              <a:rPr lang="hu-HU" dirty="0" smtClean="0"/>
              <a:t> </a:t>
            </a:r>
            <a:r>
              <a:rPr lang="en-GB" dirty="0" smtClean="0"/>
              <a:t>dimension of both </a:t>
            </a:r>
            <a:r>
              <a:rPr lang="hu-HU" dirty="0" smtClean="0"/>
              <a:t>is </a:t>
            </a:r>
            <a:r>
              <a:rPr lang="en-GB" dirty="0" smtClean="0"/>
              <a:t>equally important</a:t>
            </a:r>
            <a:endParaRPr lang="hu-HU" dirty="0" smtClean="0"/>
          </a:p>
          <a:p>
            <a:r>
              <a:rPr lang="hu-HU" dirty="0" err="1" smtClean="0"/>
              <a:t>But</a:t>
            </a:r>
            <a:r>
              <a:rPr lang="hu-HU" dirty="0" smtClean="0"/>
              <a:t> </a:t>
            </a:r>
            <a:r>
              <a:rPr lang="hu-HU" dirty="0" err="1" smtClean="0"/>
              <a:t>before</a:t>
            </a:r>
            <a:r>
              <a:rPr lang="hu-HU" dirty="0" smtClean="0"/>
              <a:t> </a:t>
            </a:r>
            <a:r>
              <a:rPr lang="en-GB" dirty="0" smtClean="0"/>
              <a:t>multiplication, we could weight the dimensions of the query and the keys</a:t>
            </a:r>
            <a:endParaRPr lang="hu-HU" dirty="0" smtClean="0"/>
          </a:p>
          <a:p>
            <a:pPr lvl="1"/>
            <a:r>
              <a:rPr lang="en-GB" dirty="0" smtClean="0"/>
              <a:t>This </a:t>
            </a:r>
            <a:r>
              <a:rPr lang="hu-HU" dirty="0" err="1" smtClean="0"/>
              <a:t>could</a:t>
            </a:r>
            <a:r>
              <a:rPr lang="hu-HU" dirty="0" smtClean="0"/>
              <a:t> be </a:t>
            </a:r>
            <a:r>
              <a:rPr lang="en-GB" dirty="0" smtClean="0"/>
              <a:t>useful if the dimensions are not equally important </a:t>
            </a:r>
            <a:r>
              <a:rPr lang="hu-HU" dirty="0" err="1" smtClean="0"/>
              <a:t>in</a:t>
            </a:r>
            <a:r>
              <a:rPr lang="hu-HU" dirty="0" smtClean="0"/>
              <a:t> </a:t>
            </a:r>
            <a:r>
              <a:rPr lang="en-GB" dirty="0" smtClean="0"/>
              <a:t>different searches</a:t>
            </a:r>
          </a:p>
        </p:txBody>
      </p:sp>
    </p:spTree>
    <p:extLst>
      <p:ext uri="{BB962C8B-B14F-4D97-AF65-F5344CB8AC3E}">
        <p14:creationId xmlns:p14="http://schemas.microsoft.com/office/powerpoint/2010/main" val="220130299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Multi-Head </a:t>
            </a:r>
            <a:r>
              <a:rPr lang="hu-HU" dirty="0" err="1" smtClean="0"/>
              <a:t>Attention</a:t>
            </a:r>
            <a:endParaRPr lang="en-GB" dirty="0"/>
          </a:p>
        </p:txBody>
      </p:sp>
      <p:sp>
        <p:nvSpPr>
          <p:cNvPr id="3" name="Tartalom helye 2"/>
          <p:cNvSpPr>
            <a:spLocks noGrp="1"/>
          </p:cNvSpPr>
          <p:nvPr>
            <p:ph idx="1"/>
          </p:nvPr>
        </p:nvSpPr>
        <p:spPr/>
        <p:txBody>
          <a:bodyPr>
            <a:normAutofit fontScale="70000" lnSpcReduction="20000"/>
          </a:bodyPr>
          <a:lstStyle/>
          <a:p>
            <a:r>
              <a:rPr lang="en-GB" dirty="0" smtClean="0"/>
              <a:t>Before we multiply the query vector and the key vectors together, we weight both, specifically with a </a:t>
            </a:r>
            <a:r>
              <a:rPr lang="en-GB" b="1" dirty="0" smtClean="0"/>
              <a:t>learned vector</a:t>
            </a:r>
            <a:endParaRPr lang="hu-HU" b="1" dirty="0" smtClean="0"/>
          </a:p>
          <a:p>
            <a:pPr lvl="1"/>
            <a:r>
              <a:rPr lang="en-GB" dirty="0" smtClean="0"/>
              <a:t>this vector is somewhat similar to a convolutional filter</a:t>
            </a:r>
            <a:endParaRPr lang="hu-HU" dirty="0" smtClean="0"/>
          </a:p>
          <a:p>
            <a:pPr lvl="1"/>
            <a:r>
              <a:rPr lang="en-GB" dirty="0" smtClean="0"/>
              <a:t>in the case of convolution, we not only weighted but also added the values afterwards, and received a single (pixel) value as a result</a:t>
            </a:r>
            <a:endParaRPr lang="hu-HU" dirty="0" smtClean="0"/>
          </a:p>
          <a:p>
            <a:pPr lvl="1"/>
            <a:r>
              <a:rPr lang="en-GB" dirty="0" smtClean="0"/>
              <a:t>here we only weight</a:t>
            </a:r>
            <a:endParaRPr lang="hu-HU" dirty="0" smtClean="0"/>
          </a:p>
          <a:p>
            <a:pPr lvl="1"/>
            <a:r>
              <a:rPr lang="en-GB" dirty="0" smtClean="0"/>
              <a:t>but the weight vectors contain learned weights just as in the case of convolutional filters</a:t>
            </a:r>
            <a:endParaRPr lang="hu-HU" dirty="0" smtClean="0"/>
          </a:p>
          <a:p>
            <a:r>
              <a:rPr lang="en-GB" dirty="0" smtClean="0"/>
              <a:t>Just as in the case of convolutional networks, we do not multiply the query and the key by only one such vector, but the network learns multiple Q-K weight vector pairs</a:t>
            </a:r>
            <a:endParaRPr lang="hu-HU" dirty="0" smtClean="0"/>
          </a:p>
          <a:p>
            <a:r>
              <a:rPr lang="en-GB" dirty="0" smtClean="0"/>
              <a:t>Thus, with weighting by one learned Q-K vector</a:t>
            </a:r>
            <a:r>
              <a:rPr lang="hu-HU" dirty="0" smtClean="0"/>
              <a:t> </a:t>
            </a:r>
            <a:r>
              <a:rPr lang="hu-HU" dirty="0" err="1" smtClean="0"/>
              <a:t>pair</a:t>
            </a:r>
            <a:r>
              <a:rPr lang="en-GB" dirty="0" smtClean="0"/>
              <a:t>, the query will pay attention to a different key than in the case of weighting with another learned Q-K vector</a:t>
            </a:r>
            <a:r>
              <a:rPr lang="hu-HU" dirty="0" smtClean="0"/>
              <a:t> </a:t>
            </a:r>
            <a:r>
              <a:rPr lang="hu-HU" dirty="0" err="1" smtClean="0"/>
              <a:t>pair</a:t>
            </a:r>
            <a:endParaRPr lang="hu-HU" dirty="0" smtClean="0"/>
          </a:p>
          <a:p>
            <a:r>
              <a:rPr lang="en-GB" dirty="0" smtClean="0"/>
              <a:t>This is called </a:t>
            </a:r>
            <a:r>
              <a:rPr lang="en-GB" b="1" dirty="0" smtClean="0"/>
              <a:t>multi-head attention</a:t>
            </a:r>
            <a:r>
              <a:rPr lang="en-GB" dirty="0" smtClean="0"/>
              <a:t> in deep learning</a:t>
            </a:r>
            <a:endParaRPr lang="en-GB" dirty="0"/>
          </a:p>
        </p:txBody>
      </p:sp>
    </p:spTree>
    <p:extLst>
      <p:ext uri="{BB962C8B-B14F-4D97-AF65-F5344CB8AC3E}">
        <p14:creationId xmlns:p14="http://schemas.microsoft.com/office/powerpoint/2010/main" val="14513273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467544" y="116632"/>
            <a:ext cx="8229600" cy="1143000"/>
          </a:xfrm>
        </p:spPr>
        <p:txBody>
          <a:bodyPr/>
          <a:lstStyle/>
          <a:p>
            <a:r>
              <a:rPr lang="en-GB" dirty="0" smtClean="0"/>
              <a:t>Transformer</a:t>
            </a:r>
            <a:endParaRPr lang="en-GB" dirty="0"/>
          </a:p>
        </p:txBody>
      </p:sp>
      <p:sp>
        <p:nvSpPr>
          <p:cNvPr id="3" name="Tartalom helye 2"/>
          <p:cNvSpPr>
            <a:spLocks noGrp="1"/>
          </p:cNvSpPr>
          <p:nvPr>
            <p:ph idx="1"/>
          </p:nvPr>
        </p:nvSpPr>
        <p:spPr>
          <a:xfrm>
            <a:off x="467544" y="1268760"/>
            <a:ext cx="8229600" cy="5400600"/>
          </a:xfrm>
        </p:spPr>
        <p:txBody>
          <a:bodyPr>
            <a:normAutofit/>
          </a:bodyPr>
          <a:lstStyle/>
          <a:p>
            <a:r>
              <a:rPr lang="en-GB" sz="1400" dirty="0" smtClean="0"/>
              <a:t>The transformer is a deep learning architecture based on the mechanism of </a:t>
            </a:r>
            <a:r>
              <a:rPr lang="en-GB" sz="1400" b="1" dirty="0" smtClean="0"/>
              <a:t>multi-head self-attention</a:t>
            </a:r>
            <a:r>
              <a:rPr lang="hu-HU" sz="1400" b="1" dirty="0" smtClean="0"/>
              <a:t>.</a:t>
            </a:r>
          </a:p>
          <a:p>
            <a:r>
              <a:rPr lang="en-GB" sz="1400" dirty="0" smtClean="0"/>
              <a:t>Unlike the recurrent network, there is no state; the transformer processes every element of the input at once, </a:t>
            </a:r>
            <a:r>
              <a:rPr lang="en-GB" sz="1400" b="1" dirty="0" smtClean="0"/>
              <a:t>in parallel</a:t>
            </a:r>
            <a:r>
              <a:rPr lang="hu-HU" sz="1400" b="1" dirty="0" smtClean="0"/>
              <a:t>.</a:t>
            </a:r>
          </a:p>
          <a:p>
            <a:r>
              <a:rPr lang="en-GB" sz="1400" dirty="0" smtClean="0"/>
              <a:t>Every element of the </a:t>
            </a:r>
            <a:r>
              <a:rPr lang="en-GB" sz="1400" b="1" dirty="0" smtClean="0"/>
              <a:t>input</a:t>
            </a:r>
            <a:r>
              <a:rPr lang="en-GB" sz="1400" dirty="0" smtClean="0"/>
              <a:t> is a vector, e.g., a word vector</a:t>
            </a:r>
            <a:r>
              <a:rPr lang="hu-HU" sz="1400" dirty="0" smtClean="0"/>
              <a:t>.</a:t>
            </a:r>
          </a:p>
          <a:p>
            <a:pPr lvl="1"/>
            <a:r>
              <a:rPr lang="en-GB" sz="1200" dirty="0" smtClean="0"/>
              <a:t>In total, </a:t>
            </a:r>
            <a:r>
              <a:rPr lang="hu-HU" sz="1200" dirty="0" err="1" smtClean="0"/>
              <a:t>the</a:t>
            </a:r>
            <a:r>
              <a:rPr lang="hu-HU" sz="1200" dirty="0" smtClean="0"/>
              <a:t> input is </a:t>
            </a:r>
            <a:r>
              <a:rPr lang="en-GB" sz="1200" dirty="0" smtClean="0"/>
              <a:t>an </a:t>
            </a:r>
            <a:r>
              <a:rPr lang="en-GB" sz="1200" i="1" dirty="0" smtClean="0"/>
              <a:t>n</a:t>
            </a:r>
            <a:r>
              <a:rPr lang="hu-HU" sz="1200" i="1" dirty="0" smtClean="0"/>
              <a:t> </a:t>
            </a:r>
            <a:r>
              <a:rPr lang="en-GB" sz="1200" dirty="0" smtClean="0"/>
              <a:t>×</a:t>
            </a:r>
            <a:r>
              <a:rPr lang="hu-HU" sz="1200" dirty="0" smtClean="0"/>
              <a:t> </a:t>
            </a:r>
            <a:r>
              <a:rPr lang="en-GB" sz="1200" i="1" dirty="0" smtClean="0">
                <a:effectLst/>
              </a:rPr>
              <a:t>k</a:t>
            </a:r>
            <a:r>
              <a:rPr lang="en-GB" sz="1200" i="1" dirty="0" smtClean="0"/>
              <a:t> </a:t>
            </a:r>
            <a:r>
              <a:rPr lang="en-GB" sz="1200" dirty="0" smtClean="0"/>
              <a:t>dimensional matrix, </a:t>
            </a:r>
            <a:r>
              <a:rPr lang="en-GB" sz="1200" i="1" dirty="0" smtClean="0"/>
              <a:t>n </a:t>
            </a:r>
            <a:r>
              <a:rPr lang="en-GB" sz="1200" dirty="0" smtClean="0"/>
              <a:t>is the length of the input, </a:t>
            </a:r>
            <a:r>
              <a:rPr lang="en-GB" sz="1200" i="1" dirty="0" smtClean="0">
                <a:effectLst/>
              </a:rPr>
              <a:t>k</a:t>
            </a:r>
            <a:r>
              <a:rPr lang="en-GB" sz="1200" i="1" dirty="0" smtClean="0"/>
              <a:t> </a:t>
            </a:r>
            <a:r>
              <a:rPr lang="en-GB" sz="1200" dirty="0" smtClean="0"/>
              <a:t>is the number of dimensions of the word vector</a:t>
            </a:r>
            <a:r>
              <a:rPr lang="hu-HU" sz="1200" dirty="0"/>
              <a:t>.</a:t>
            </a:r>
            <a:endParaRPr lang="hu-HU" sz="1200" dirty="0" smtClean="0"/>
          </a:p>
          <a:p>
            <a:r>
              <a:rPr lang="en-GB" sz="1400" dirty="0" smtClean="0"/>
              <a:t>The </a:t>
            </a:r>
            <a:r>
              <a:rPr lang="en-GB" sz="1400" b="1" dirty="0" smtClean="0"/>
              <a:t>output </a:t>
            </a:r>
            <a:r>
              <a:rPr lang="en-GB" sz="1400" dirty="0" smtClean="0"/>
              <a:t>of the transformer is also one vector per input</a:t>
            </a:r>
            <a:r>
              <a:rPr lang="hu-HU" sz="1400" dirty="0" smtClean="0"/>
              <a:t>.</a:t>
            </a:r>
          </a:p>
          <a:p>
            <a:r>
              <a:rPr lang="hu-HU" sz="1400" dirty="0" err="1" smtClean="0"/>
              <a:t>Each</a:t>
            </a:r>
            <a:r>
              <a:rPr lang="hu-HU" sz="1400" dirty="0" smtClean="0"/>
              <a:t> </a:t>
            </a:r>
            <a:r>
              <a:rPr lang="en-GB" sz="1400" dirty="0" smtClean="0"/>
              <a:t>output vector is </a:t>
            </a:r>
            <a:r>
              <a:rPr lang="hu-HU" sz="1400" dirty="0" err="1" smtClean="0"/>
              <a:t>k-dimensional</a:t>
            </a:r>
            <a:r>
              <a:rPr lang="hu-HU" sz="1400" dirty="0" smtClean="0"/>
              <a:t> and is </a:t>
            </a:r>
            <a:r>
              <a:rPr lang="en-GB" sz="1400" dirty="0" smtClean="0"/>
              <a:t>the sum of all input vectors </a:t>
            </a:r>
            <a:r>
              <a:rPr lang="en-GB" sz="1400" b="1" dirty="0" smtClean="0"/>
              <a:t>weighted by attention</a:t>
            </a:r>
            <a:r>
              <a:rPr lang="hu-HU" sz="1400" dirty="0" smtClean="0"/>
              <a:t>.</a:t>
            </a:r>
          </a:p>
          <a:p>
            <a:pPr lvl="1"/>
            <a:r>
              <a:rPr lang="en-GB" sz="1200" dirty="0" smtClean="0"/>
              <a:t>The output is therefore also an </a:t>
            </a:r>
            <a:r>
              <a:rPr lang="en-GB" sz="1200" i="1" dirty="0" smtClean="0"/>
              <a:t>n</a:t>
            </a:r>
            <a:r>
              <a:rPr lang="hu-HU" sz="1200" i="1" dirty="0" smtClean="0"/>
              <a:t> </a:t>
            </a:r>
            <a:r>
              <a:rPr lang="en-GB" sz="1200" dirty="0" smtClean="0"/>
              <a:t>×</a:t>
            </a:r>
            <a:r>
              <a:rPr lang="hu-HU" sz="1200" dirty="0" smtClean="0"/>
              <a:t> </a:t>
            </a:r>
            <a:r>
              <a:rPr lang="en-GB" sz="1200" i="1" dirty="0" smtClean="0">
                <a:effectLst/>
              </a:rPr>
              <a:t>k</a:t>
            </a:r>
            <a:r>
              <a:rPr lang="en-GB" sz="1200" dirty="0" smtClean="0"/>
              <a:t> dimensional matrix</a:t>
            </a:r>
            <a:r>
              <a:rPr lang="hu-HU" sz="1200" dirty="0" smtClean="0"/>
              <a:t>.</a:t>
            </a:r>
          </a:p>
          <a:p>
            <a:pPr lvl="1"/>
            <a:r>
              <a:rPr lang="en-GB" sz="1200" dirty="0" smtClean="0"/>
              <a:t>During the processing of every element of the input, the transformer pays attention to every element of the input, but to different degrees</a:t>
            </a:r>
            <a:r>
              <a:rPr lang="hu-HU" sz="1200" dirty="0" smtClean="0"/>
              <a:t>.</a:t>
            </a:r>
          </a:p>
          <a:p>
            <a:pPr lvl="1"/>
            <a:r>
              <a:rPr lang="en-GB" sz="1200" dirty="0" smtClean="0"/>
              <a:t>To itself</a:t>
            </a:r>
            <a:r>
              <a:rPr lang="hu-HU" sz="1200" dirty="0" smtClean="0"/>
              <a:t> </a:t>
            </a:r>
            <a:r>
              <a:rPr lang="en-GB" sz="1200" dirty="0" smtClean="0"/>
              <a:t>—</a:t>
            </a:r>
            <a:r>
              <a:rPr lang="hu-HU" sz="1200" dirty="0" smtClean="0"/>
              <a:t> </a:t>
            </a:r>
            <a:r>
              <a:rPr lang="en-GB" sz="1200" dirty="0" smtClean="0"/>
              <a:t>to that element for which we are calculating the attention-weighted output</a:t>
            </a:r>
            <a:r>
              <a:rPr lang="hu-HU" sz="1200" dirty="0" smtClean="0"/>
              <a:t> </a:t>
            </a:r>
            <a:r>
              <a:rPr lang="en-GB" sz="1200" dirty="0" smtClean="0"/>
              <a:t>—</a:t>
            </a:r>
            <a:r>
              <a:rPr lang="hu-HU" sz="1200" dirty="0" smtClean="0"/>
              <a:t> </a:t>
            </a:r>
            <a:r>
              <a:rPr lang="en-GB" sz="1200" dirty="0" smtClean="0"/>
              <a:t>as well</a:t>
            </a:r>
            <a:r>
              <a:rPr lang="hu-HU" sz="1200" dirty="0" smtClean="0"/>
              <a:t>.</a:t>
            </a:r>
          </a:p>
          <a:p>
            <a:pPr lvl="1"/>
            <a:r>
              <a:rPr lang="en-GB" sz="1200" dirty="0" smtClean="0"/>
              <a:t>This, that it pays attention to the sequence itself when processing the sequence, is known in the literature as </a:t>
            </a:r>
            <a:r>
              <a:rPr lang="en-GB" sz="1200" b="1" dirty="0" smtClean="0"/>
              <a:t>self-attention</a:t>
            </a:r>
            <a:r>
              <a:rPr lang="hu-HU" sz="1200" b="1" dirty="0" smtClean="0"/>
              <a:t>.</a:t>
            </a:r>
          </a:p>
          <a:p>
            <a:r>
              <a:rPr lang="hu-HU" sz="1400" b="1" dirty="0" smtClean="0"/>
              <a:t>Q</a:t>
            </a:r>
            <a:r>
              <a:rPr lang="hu-HU" sz="1400" dirty="0" smtClean="0"/>
              <a:t>, </a:t>
            </a:r>
            <a:r>
              <a:rPr lang="hu-HU" sz="1400" b="1" dirty="0" smtClean="0"/>
              <a:t>K </a:t>
            </a:r>
            <a:r>
              <a:rPr lang="hu-HU" sz="1400" dirty="0" smtClean="0"/>
              <a:t>and </a:t>
            </a:r>
            <a:r>
              <a:rPr lang="hu-HU" sz="1400" b="1" dirty="0" smtClean="0"/>
              <a:t>V </a:t>
            </a:r>
            <a:r>
              <a:rPr lang="hu-HU" sz="1400" dirty="0" err="1" smtClean="0"/>
              <a:t>are</a:t>
            </a:r>
            <a:r>
              <a:rPr lang="hu-HU" sz="1400" dirty="0" smtClean="0"/>
              <a:t> </a:t>
            </a:r>
            <a:r>
              <a:rPr lang="hu-HU" sz="1400" b="1" dirty="0" err="1" smtClean="0"/>
              <a:t>all</a:t>
            </a:r>
            <a:r>
              <a:rPr lang="hu-HU" sz="1400" b="1" dirty="0" smtClean="0"/>
              <a:t> </a:t>
            </a:r>
            <a:r>
              <a:rPr lang="hu-HU" sz="1400" b="1" dirty="0" err="1" smtClean="0"/>
              <a:t>the</a:t>
            </a:r>
            <a:r>
              <a:rPr lang="hu-HU" sz="1400" b="1" dirty="0" smtClean="0"/>
              <a:t> </a:t>
            </a:r>
            <a:r>
              <a:rPr lang="hu-HU" sz="1400" b="1" dirty="0" err="1" smtClean="0"/>
              <a:t>same</a:t>
            </a:r>
            <a:r>
              <a:rPr lang="hu-HU" sz="1400" b="1" dirty="0" smtClean="0"/>
              <a:t> input </a:t>
            </a:r>
            <a:r>
              <a:rPr lang="hu-HU" sz="1400" b="1" dirty="0" err="1" smtClean="0"/>
              <a:t>vector</a:t>
            </a:r>
            <a:r>
              <a:rPr lang="hu-HU" sz="1400" dirty="0" smtClean="0"/>
              <a:t>, </a:t>
            </a:r>
            <a:r>
              <a:rPr lang="hu-HU" sz="1400" dirty="0" err="1" smtClean="0"/>
              <a:t>its</a:t>
            </a:r>
            <a:r>
              <a:rPr lang="hu-HU" sz="1400" dirty="0" smtClean="0"/>
              <a:t> </a:t>
            </a:r>
            <a:r>
              <a:rPr lang="hu-HU" sz="1400" dirty="0" err="1" smtClean="0"/>
              <a:t>dimensions</a:t>
            </a:r>
            <a:r>
              <a:rPr lang="hu-HU" sz="1400" dirty="0" smtClean="0"/>
              <a:t> </a:t>
            </a:r>
            <a:r>
              <a:rPr lang="hu-HU" sz="1400" dirty="0" err="1" smtClean="0"/>
              <a:t>weighted</a:t>
            </a:r>
            <a:r>
              <a:rPr lang="hu-HU" sz="1400" dirty="0"/>
              <a:t/>
            </a:r>
            <a:br>
              <a:rPr lang="hu-HU" sz="1400" dirty="0"/>
            </a:br>
            <a:r>
              <a:rPr lang="hu-HU" sz="1400" dirty="0" err="1" smtClean="0"/>
              <a:t>by</a:t>
            </a:r>
            <a:r>
              <a:rPr lang="hu-HU" sz="1400" dirty="0" smtClean="0"/>
              <a:t> </a:t>
            </a:r>
            <a:r>
              <a:rPr lang="hu-HU" sz="1400" b="1" dirty="0" err="1" smtClean="0"/>
              <a:t>different</a:t>
            </a:r>
            <a:r>
              <a:rPr lang="hu-HU" sz="1400" b="1" dirty="0"/>
              <a:t> </a:t>
            </a:r>
            <a:r>
              <a:rPr lang="hu-HU" sz="1400" dirty="0" err="1" smtClean="0"/>
              <a:t>weight</a:t>
            </a:r>
            <a:r>
              <a:rPr lang="hu-HU" sz="1400" dirty="0" smtClean="0"/>
              <a:t> </a:t>
            </a:r>
            <a:r>
              <a:rPr lang="hu-HU" sz="1400" dirty="0" err="1" smtClean="0"/>
              <a:t>vectors</a:t>
            </a:r>
            <a:r>
              <a:rPr lang="hu-HU" sz="1400" dirty="0" smtClean="0"/>
              <a:t> (</a:t>
            </a:r>
            <a:r>
              <a:rPr lang="hu-HU" sz="1400" b="1" dirty="0" err="1" smtClean="0"/>
              <a:t>query</a:t>
            </a:r>
            <a:r>
              <a:rPr lang="hu-HU" sz="1400" dirty="0" smtClean="0"/>
              <a:t>, </a:t>
            </a:r>
            <a:r>
              <a:rPr lang="hu-HU" sz="1400" b="1" dirty="0" err="1" smtClean="0"/>
              <a:t>key</a:t>
            </a:r>
            <a:r>
              <a:rPr lang="hu-HU" sz="1400" b="1" dirty="0" smtClean="0"/>
              <a:t> </a:t>
            </a:r>
            <a:r>
              <a:rPr lang="hu-HU" sz="1400" dirty="0" smtClean="0"/>
              <a:t>and </a:t>
            </a:r>
            <a:r>
              <a:rPr lang="hu-HU" sz="1400" b="1" dirty="0" err="1" smtClean="0"/>
              <a:t>value</a:t>
            </a:r>
            <a:r>
              <a:rPr lang="hu-HU" sz="1400" b="1" dirty="0" smtClean="0"/>
              <a:t> </a:t>
            </a:r>
            <a:r>
              <a:rPr lang="hu-HU" sz="1400" dirty="0" err="1" smtClean="0"/>
              <a:t>weights</a:t>
            </a:r>
            <a:r>
              <a:rPr lang="hu-HU" sz="1400" dirty="0" smtClean="0"/>
              <a:t>).</a:t>
            </a:r>
          </a:p>
          <a:p>
            <a:r>
              <a:rPr lang="hu-HU" sz="1400" dirty="0" err="1" smtClean="0"/>
              <a:t>For</a:t>
            </a:r>
            <a:r>
              <a:rPr lang="hu-HU" sz="1400" dirty="0" smtClean="0"/>
              <a:t> </a:t>
            </a:r>
            <a:r>
              <a:rPr lang="hu-HU" sz="1400" dirty="0" err="1" smtClean="0"/>
              <a:t>each</a:t>
            </a:r>
            <a:r>
              <a:rPr lang="hu-HU" sz="1400" dirty="0" smtClean="0"/>
              <a:t> </a:t>
            </a:r>
            <a:r>
              <a:rPr lang="hu-HU" sz="1400" dirty="0" err="1" smtClean="0"/>
              <a:t>token</a:t>
            </a:r>
            <a:r>
              <a:rPr lang="hu-HU" sz="1400" dirty="0" smtClean="0"/>
              <a:t>, </a:t>
            </a:r>
            <a:r>
              <a:rPr lang="hu-HU" sz="1400" dirty="0" err="1" smtClean="0"/>
              <a:t>we</a:t>
            </a:r>
            <a:r>
              <a:rPr lang="hu-HU" sz="1400" dirty="0" smtClean="0"/>
              <a:t> </a:t>
            </a:r>
            <a:r>
              <a:rPr lang="hu-HU" sz="1400" dirty="0" err="1" smtClean="0"/>
              <a:t>weight</a:t>
            </a:r>
            <a:r>
              <a:rPr lang="hu-HU" sz="1400" dirty="0" smtClean="0"/>
              <a:t> </a:t>
            </a:r>
            <a:r>
              <a:rPr lang="hu-HU" sz="1400" dirty="0" err="1" smtClean="0"/>
              <a:t>its</a:t>
            </a:r>
            <a:r>
              <a:rPr lang="hu-HU" sz="1400" dirty="0" smtClean="0"/>
              <a:t> </a:t>
            </a:r>
            <a:r>
              <a:rPr lang="hu-HU" sz="1400" dirty="0" err="1" smtClean="0"/>
              <a:t>vector</a:t>
            </a:r>
            <a:r>
              <a:rPr lang="hu-HU" sz="1400" dirty="0" smtClean="0"/>
              <a:t> </a:t>
            </a:r>
            <a:r>
              <a:rPr lang="hu-HU" sz="1400" i="1" dirty="0" smtClean="0"/>
              <a:t>t</a:t>
            </a:r>
            <a:r>
              <a:rPr lang="hu-HU" sz="1400" dirty="0" smtClean="0"/>
              <a:t> </a:t>
            </a:r>
            <a:r>
              <a:rPr lang="hu-HU" sz="1400" dirty="0" err="1" smtClean="0"/>
              <a:t>using</a:t>
            </a:r>
            <a:r>
              <a:rPr lang="hu-HU" sz="1400" dirty="0" smtClean="0"/>
              <a:t> </a:t>
            </a:r>
            <a:r>
              <a:rPr lang="hu-HU" sz="1400" dirty="0" err="1" smtClean="0"/>
              <a:t>the</a:t>
            </a:r>
            <a:r>
              <a:rPr lang="hu-HU" sz="1400" dirty="0" smtClean="0"/>
              <a:t> </a:t>
            </a:r>
            <a:r>
              <a:rPr lang="hu-HU" sz="1400" i="1" dirty="0" smtClean="0"/>
              <a:t>Q </a:t>
            </a:r>
            <a:r>
              <a:rPr lang="hu-HU" sz="1400" dirty="0" err="1" smtClean="0"/>
              <a:t>weights</a:t>
            </a:r>
            <a:r>
              <a:rPr lang="hu-HU" sz="1400" dirty="0" smtClean="0"/>
              <a:t>, and </a:t>
            </a:r>
            <a:r>
              <a:rPr lang="hu-HU" sz="1400" dirty="0" err="1" smtClean="0"/>
              <a:t>take</a:t>
            </a:r>
            <a:r>
              <a:rPr lang="hu-HU" sz="1400" dirty="0" smtClean="0"/>
              <a:t> </a:t>
            </a:r>
            <a:r>
              <a:rPr lang="hu-HU" sz="1400" dirty="0" err="1" smtClean="0"/>
              <a:t>the</a:t>
            </a:r>
            <a:r>
              <a:rPr lang="hu-HU" sz="1400" dirty="0" smtClean="0"/>
              <a:t/>
            </a:r>
            <a:br>
              <a:rPr lang="hu-HU" sz="1400" dirty="0" smtClean="0"/>
            </a:br>
            <a:r>
              <a:rPr lang="hu-HU" sz="1400" dirty="0" err="1" smtClean="0"/>
              <a:t>dot</a:t>
            </a:r>
            <a:r>
              <a:rPr lang="hu-HU" sz="1400" dirty="0" smtClean="0"/>
              <a:t> </a:t>
            </a:r>
            <a:r>
              <a:rPr lang="hu-HU" sz="1400" dirty="0" err="1" smtClean="0"/>
              <a:t>product</a:t>
            </a:r>
            <a:r>
              <a:rPr lang="hu-HU" sz="1400" dirty="0" smtClean="0"/>
              <a:t> of </a:t>
            </a:r>
            <a:r>
              <a:rPr lang="hu-HU" sz="1400" dirty="0" err="1" smtClean="0"/>
              <a:t>the</a:t>
            </a:r>
            <a:r>
              <a:rPr lang="hu-HU" sz="1400" dirty="0" smtClean="0"/>
              <a:t> </a:t>
            </a:r>
            <a:r>
              <a:rPr lang="hu-HU" sz="1400" dirty="0" err="1" smtClean="0"/>
              <a:t>result</a:t>
            </a:r>
            <a:r>
              <a:rPr lang="hu-HU" sz="1400" dirty="0" smtClean="0"/>
              <a:t> (</a:t>
            </a:r>
            <a:r>
              <a:rPr lang="hu-HU" sz="1400" i="1" dirty="0" err="1" smtClean="0"/>
              <a:t>Qt</a:t>
            </a:r>
            <a:r>
              <a:rPr lang="hu-HU" sz="1400" dirty="0" smtClean="0"/>
              <a:t>) and </a:t>
            </a:r>
            <a:r>
              <a:rPr lang="hu-HU" sz="1400" dirty="0" err="1" smtClean="0"/>
              <a:t>each</a:t>
            </a:r>
            <a:r>
              <a:rPr lang="hu-HU" sz="1400" dirty="0" smtClean="0"/>
              <a:t> </a:t>
            </a:r>
            <a:r>
              <a:rPr lang="hu-HU" sz="1400" dirty="0" err="1" smtClean="0"/>
              <a:t>other</a:t>
            </a:r>
            <a:r>
              <a:rPr lang="hu-HU" sz="1400" dirty="0" smtClean="0"/>
              <a:t> </a:t>
            </a:r>
            <a:r>
              <a:rPr lang="hu-HU" sz="1400" dirty="0" err="1" smtClean="0"/>
              <a:t>token</a:t>
            </a:r>
            <a:r>
              <a:rPr lang="hu-HU" sz="1400" dirty="0" smtClean="0"/>
              <a:t> </a:t>
            </a:r>
            <a:r>
              <a:rPr lang="hu-HU" sz="1400" dirty="0" err="1" smtClean="0"/>
              <a:t>vector</a:t>
            </a:r>
            <a:r>
              <a:rPr lang="hu-HU" sz="1400" dirty="0" smtClean="0"/>
              <a:t> t’ </a:t>
            </a:r>
            <a:r>
              <a:rPr lang="hu-HU" sz="1400" dirty="0" err="1" smtClean="0"/>
              <a:t>weighted</a:t>
            </a:r>
            <a:r>
              <a:rPr lang="hu-HU" sz="1400" dirty="0" smtClean="0"/>
              <a:t> </a:t>
            </a:r>
            <a:r>
              <a:rPr lang="hu-HU" sz="1400" dirty="0" err="1" smtClean="0"/>
              <a:t>by</a:t>
            </a:r>
            <a:r>
              <a:rPr lang="hu-HU" sz="1400" dirty="0" smtClean="0"/>
              <a:t> </a:t>
            </a:r>
            <a:r>
              <a:rPr lang="hu-HU" sz="1400" i="1" dirty="0" smtClean="0"/>
              <a:t>K</a:t>
            </a:r>
            <a:r>
              <a:rPr lang="hu-HU" sz="1400" dirty="0" smtClean="0"/>
              <a:t> (</a:t>
            </a:r>
            <a:r>
              <a:rPr lang="hu-HU" sz="1400" i="1" dirty="0" err="1" smtClean="0"/>
              <a:t>Kt</a:t>
            </a:r>
            <a:r>
              <a:rPr lang="hu-HU" sz="1400" i="1" dirty="0" smtClean="0"/>
              <a:t>’</a:t>
            </a:r>
            <a:r>
              <a:rPr lang="hu-HU" sz="1400" dirty="0" smtClean="0"/>
              <a:t>).</a:t>
            </a:r>
          </a:p>
          <a:p>
            <a:r>
              <a:rPr lang="hu-HU" sz="1400" dirty="0" err="1" smtClean="0"/>
              <a:t>These</a:t>
            </a:r>
            <a:r>
              <a:rPr lang="hu-HU" sz="1400" dirty="0" smtClean="0"/>
              <a:t> </a:t>
            </a:r>
            <a:r>
              <a:rPr lang="hu-HU" sz="1400" dirty="0" err="1" smtClean="0"/>
              <a:t>dot</a:t>
            </a:r>
            <a:r>
              <a:rPr lang="hu-HU" sz="1400" dirty="0" smtClean="0"/>
              <a:t> </a:t>
            </a:r>
            <a:r>
              <a:rPr lang="hu-HU" sz="1400" dirty="0" err="1" smtClean="0"/>
              <a:t>products</a:t>
            </a:r>
            <a:r>
              <a:rPr lang="hu-HU" sz="1400" dirty="0" smtClean="0"/>
              <a:t> </a:t>
            </a:r>
            <a:r>
              <a:rPr lang="hu-HU" sz="1400" dirty="0" err="1" smtClean="0"/>
              <a:t>tell</a:t>
            </a:r>
            <a:r>
              <a:rPr lang="hu-HU" sz="1400" dirty="0" smtClean="0"/>
              <a:t> </a:t>
            </a:r>
            <a:r>
              <a:rPr lang="hu-HU" sz="1400" dirty="0" err="1" smtClean="0"/>
              <a:t>us</a:t>
            </a:r>
            <a:r>
              <a:rPr lang="hu-HU" sz="1400" dirty="0" smtClean="0"/>
              <a:t> </a:t>
            </a:r>
            <a:r>
              <a:rPr lang="hu-HU" sz="1400" dirty="0" err="1" smtClean="0"/>
              <a:t>how</a:t>
            </a:r>
            <a:r>
              <a:rPr lang="hu-HU" sz="1400" dirty="0" smtClean="0"/>
              <a:t> </a:t>
            </a:r>
            <a:r>
              <a:rPr lang="hu-HU" sz="1400" dirty="0" err="1" smtClean="0"/>
              <a:t>much</a:t>
            </a:r>
            <a:r>
              <a:rPr lang="hu-HU" sz="1400" dirty="0" smtClean="0"/>
              <a:t> </a:t>
            </a:r>
            <a:r>
              <a:rPr lang="hu-HU" sz="1400" dirty="0" err="1" smtClean="0"/>
              <a:t>attention</a:t>
            </a:r>
            <a:r>
              <a:rPr lang="hu-HU" sz="1400" dirty="0" smtClean="0"/>
              <a:t> </a:t>
            </a:r>
            <a:r>
              <a:rPr lang="hu-HU" sz="1400" dirty="0" err="1" smtClean="0"/>
              <a:t>the</a:t>
            </a:r>
            <a:r>
              <a:rPr lang="hu-HU" sz="1400" dirty="0" smtClean="0"/>
              <a:t> </a:t>
            </a:r>
            <a:r>
              <a:rPr lang="hu-HU" sz="1400" i="1" dirty="0" smtClean="0"/>
              <a:t>t </a:t>
            </a:r>
            <a:r>
              <a:rPr lang="hu-HU" sz="1400" dirty="0" err="1" smtClean="0"/>
              <a:t>token</a:t>
            </a:r>
            <a:r>
              <a:rPr lang="hu-HU" sz="1400" dirty="0" smtClean="0"/>
              <a:t> </a:t>
            </a:r>
            <a:r>
              <a:rPr lang="hu-HU" sz="1400" dirty="0" err="1" smtClean="0"/>
              <a:t>pays</a:t>
            </a:r>
            <a:r>
              <a:rPr lang="hu-HU" sz="1400" dirty="0" smtClean="0"/>
              <a:t> </a:t>
            </a:r>
            <a:r>
              <a:rPr lang="hu-HU" sz="1400" dirty="0" err="1" smtClean="0"/>
              <a:t>to</a:t>
            </a:r>
            <a:r>
              <a:rPr lang="hu-HU" sz="1400" dirty="0" smtClean="0"/>
              <a:t> </a:t>
            </a:r>
            <a:r>
              <a:rPr lang="hu-HU" sz="1400" dirty="0" err="1" smtClean="0"/>
              <a:t>each</a:t>
            </a:r>
            <a:r>
              <a:rPr lang="hu-HU" sz="1400" dirty="0"/>
              <a:t/>
            </a:r>
            <a:br>
              <a:rPr lang="hu-HU" sz="1400" dirty="0"/>
            </a:br>
            <a:r>
              <a:rPr lang="hu-HU" sz="1400" i="1" dirty="0" err="1" smtClean="0"/>
              <a:t>t</a:t>
            </a:r>
            <a:r>
              <a:rPr lang="hu-HU" sz="1400" i="1" dirty="0" smtClean="0"/>
              <a:t>’ </a:t>
            </a:r>
            <a:r>
              <a:rPr lang="hu-HU" sz="1400" dirty="0" err="1" smtClean="0"/>
              <a:t>token</a:t>
            </a:r>
            <a:r>
              <a:rPr lang="hu-HU" sz="1400" dirty="0" smtClean="0"/>
              <a:t> (i.e. </a:t>
            </a:r>
            <a:r>
              <a:rPr lang="hu-HU" sz="1400" dirty="0" err="1" smtClean="0"/>
              <a:t>how</a:t>
            </a:r>
            <a:r>
              <a:rPr lang="hu-HU" sz="1400" dirty="0" smtClean="0"/>
              <a:t> </a:t>
            </a:r>
            <a:r>
              <a:rPr lang="hu-HU" sz="1400" dirty="0" err="1" smtClean="0"/>
              <a:t>similar</a:t>
            </a:r>
            <a:r>
              <a:rPr lang="hu-HU" sz="1400" dirty="0" smtClean="0"/>
              <a:t> </a:t>
            </a:r>
            <a:r>
              <a:rPr lang="hu-HU" sz="1400" dirty="0" err="1" smtClean="0"/>
              <a:t>each</a:t>
            </a:r>
            <a:r>
              <a:rPr lang="hu-HU" sz="1400" dirty="0" smtClean="0"/>
              <a:t> </a:t>
            </a:r>
            <a:r>
              <a:rPr lang="hu-HU" sz="1400" i="1" dirty="0" err="1" smtClean="0"/>
              <a:t>Kt</a:t>
            </a:r>
            <a:r>
              <a:rPr lang="hu-HU" sz="1400" i="1" dirty="0" smtClean="0"/>
              <a:t>’ </a:t>
            </a:r>
            <a:r>
              <a:rPr lang="hu-HU" sz="1400" dirty="0" smtClean="0"/>
              <a:t>is </a:t>
            </a:r>
            <a:r>
              <a:rPr lang="hu-HU" sz="1400" dirty="0" err="1" smtClean="0"/>
              <a:t>to</a:t>
            </a:r>
            <a:r>
              <a:rPr lang="hu-HU" sz="1400" dirty="0" smtClean="0"/>
              <a:t> </a:t>
            </a:r>
            <a:r>
              <a:rPr lang="hu-HU" sz="1400" i="1" dirty="0" err="1" smtClean="0"/>
              <a:t>Qt</a:t>
            </a:r>
            <a:r>
              <a:rPr lang="hu-HU" sz="1400" i="1" dirty="0" smtClean="0"/>
              <a:t> </a:t>
            </a:r>
            <a:r>
              <a:rPr lang="hu-HU" sz="1400" dirty="0" err="1" smtClean="0"/>
              <a:t>in</a:t>
            </a:r>
            <a:r>
              <a:rPr lang="hu-HU" sz="1400" dirty="0" smtClean="0"/>
              <a:t> </a:t>
            </a:r>
            <a:r>
              <a:rPr lang="hu-HU" sz="1400" dirty="0" err="1" smtClean="0"/>
              <a:t>terms</a:t>
            </a:r>
            <a:r>
              <a:rPr lang="hu-HU" sz="1400" dirty="0" smtClean="0"/>
              <a:t> of </a:t>
            </a:r>
            <a:r>
              <a:rPr lang="hu-HU" sz="1400" dirty="0" err="1" smtClean="0"/>
              <a:t>cosine</a:t>
            </a:r>
            <a:r>
              <a:rPr lang="hu-HU" sz="1400" dirty="0" smtClean="0"/>
              <a:t> </a:t>
            </a:r>
            <a:r>
              <a:rPr lang="hu-HU" sz="1400" dirty="0" err="1" smtClean="0"/>
              <a:t>similarity</a:t>
            </a:r>
            <a:r>
              <a:rPr lang="hu-HU" sz="1400" dirty="0" smtClean="0"/>
              <a:t>).</a:t>
            </a:r>
          </a:p>
          <a:p>
            <a:r>
              <a:rPr lang="hu-HU" sz="1400" dirty="0" err="1" smtClean="0"/>
              <a:t>Applying</a:t>
            </a:r>
            <a:r>
              <a:rPr lang="hu-HU" sz="1400" dirty="0" smtClean="0"/>
              <a:t> </a:t>
            </a:r>
            <a:r>
              <a:rPr lang="hu-HU" sz="1400" dirty="0" err="1" smtClean="0"/>
              <a:t>softmax</a:t>
            </a:r>
            <a:r>
              <a:rPr lang="hu-HU" sz="1400" dirty="0" smtClean="0"/>
              <a:t> </a:t>
            </a:r>
            <a:r>
              <a:rPr lang="hu-HU" sz="1400" dirty="0" err="1" smtClean="0"/>
              <a:t>to</a:t>
            </a:r>
            <a:r>
              <a:rPr lang="hu-HU" sz="1400" dirty="0" smtClean="0"/>
              <a:t> </a:t>
            </a:r>
            <a:r>
              <a:rPr lang="hu-HU" sz="1400" dirty="0" err="1" smtClean="0"/>
              <a:t>the</a:t>
            </a:r>
            <a:r>
              <a:rPr lang="hu-HU" sz="1400" dirty="0" smtClean="0"/>
              <a:t> </a:t>
            </a:r>
            <a:r>
              <a:rPr lang="hu-HU" sz="1400" dirty="0" err="1" smtClean="0"/>
              <a:t>dot</a:t>
            </a:r>
            <a:r>
              <a:rPr lang="hu-HU" sz="1400" dirty="0" smtClean="0"/>
              <a:t> </a:t>
            </a:r>
            <a:r>
              <a:rPr lang="hu-HU" sz="1400" dirty="0" err="1" smtClean="0"/>
              <a:t>products</a:t>
            </a:r>
            <a:r>
              <a:rPr lang="hu-HU" sz="1400" dirty="0" smtClean="0"/>
              <a:t> </a:t>
            </a:r>
            <a:r>
              <a:rPr lang="hu-HU" sz="1400" dirty="0" err="1" smtClean="0"/>
              <a:t>scales</a:t>
            </a:r>
            <a:r>
              <a:rPr lang="hu-HU" sz="1400" dirty="0" smtClean="0"/>
              <a:t> </a:t>
            </a:r>
            <a:r>
              <a:rPr lang="hu-HU" sz="1400" dirty="0" err="1" smtClean="0"/>
              <a:t>them</a:t>
            </a:r>
            <a:r>
              <a:rPr lang="hu-HU" sz="1400" dirty="0" smtClean="0"/>
              <a:t> </a:t>
            </a:r>
            <a:r>
              <a:rPr lang="hu-HU" sz="1400" dirty="0" err="1" smtClean="0"/>
              <a:t>to</a:t>
            </a:r>
            <a:r>
              <a:rPr lang="hu-HU" sz="1400" dirty="0" smtClean="0"/>
              <a:t> sum </a:t>
            </a:r>
            <a:r>
              <a:rPr lang="hu-HU" sz="1400" dirty="0" err="1" smtClean="0"/>
              <a:t>to</a:t>
            </a:r>
            <a:r>
              <a:rPr lang="hu-HU" sz="1400" dirty="0" smtClean="0"/>
              <a:t> 1.</a:t>
            </a:r>
          </a:p>
          <a:p>
            <a:r>
              <a:rPr lang="hu-HU" sz="1400" dirty="0" smtClean="0"/>
              <a:t>The </a:t>
            </a:r>
            <a:r>
              <a:rPr lang="hu-HU" sz="1400" dirty="0" err="1" smtClean="0"/>
              <a:t>dimensions</a:t>
            </a:r>
            <a:r>
              <a:rPr lang="hu-HU" sz="1400" dirty="0" smtClean="0"/>
              <a:t> of </a:t>
            </a:r>
            <a:r>
              <a:rPr lang="hu-HU" sz="1400" dirty="0" err="1" smtClean="0"/>
              <a:t>the</a:t>
            </a:r>
            <a:r>
              <a:rPr lang="hu-HU" sz="1400" dirty="0" smtClean="0"/>
              <a:t> </a:t>
            </a:r>
            <a:r>
              <a:rPr lang="hu-HU" sz="1400" i="1" dirty="0" smtClean="0"/>
              <a:t>t’ </a:t>
            </a:r>
            <a:r>
              <a:rPr lang="hu-HU" sz="1400" dirty="0" err="1" smtClean="0"/>
              <a:t>vectors</a:t>
            </a:r>
            <a:r>
              <a:rPr lang="hu-HU" sz="1400" dirty="0" smtClean="0"/>
              <a:t> </a:t>
            </a:r>
            <a:r>
              <a:rPr lang="hu-HU" sz="1400" dirty="0" err="1" smtClean="0"/>
              <a:t>are</a:t>
            </a:r>
            <a:r>
              <a:rPr lang="hu-HU" sz="1400" dirty="0" smtClean="0"/>
              <a:t> </a:t>
            </a:r>
            <a:r>
              <a:rPr lang="hu-HU" sz="1400" dirty="0" err="1" smtClean="0"/>
              <a:t>weighted</a:t>
            </a:r>
            <a:r>
              <a:rPr lang="hu-HU" sz="1400" dirty="0" smtClean="0"/>
              <a:t> </a:t>
            </a:r>
            <a:r>
              <a:rPr lang="hu-HU" sz="1400" dirty="0" err="1" smtClean="0"/>
              <a:t>by</a:t>
            </a:r>
            <a:r>
              <a:rPr lang="hu-HU" sz="1400" dirty="0" smtClean="0"/>
              <a:t> a </a:t>
            </a:r>
            <a:r>
              <a:rPr lang="hu-HU" sz="1400" i="1" dirty="0" smtClean="0"/>
              <a:t>V </a:t>
            </a:r>
            <a:r>
              <a:rPr lang="hu-HU" sz="1400" dirty="0" err="1" smtClean="0"/>
              <a:t>weight</a:t>
            </a:r>
            <a:r>
              <a:rPr lang="hu-HU" sz="1400" dirty="0" smtClean="0"/>
              <a:t> </a:t>
            </a:r>
            <a:r>
              <a:rPr lang="hu-HU" sz="1400" dirty="0" err="1" smtClean="0"/>
              <a:t>vector</a:t>
            </a:r>
            <a:r>
              <a:rPr lang="hu-HU" sz="1400" dirty="0" smtClean="0"/>
              <a:t>.</a:t>
            </a:r>
          </a:p>
          <a:p>
            <a:r>
              <a:rPr lang="hu-HU" sz="1400" dirty="0" err="1"/>
              <a:t>Finally</a:t>
            </a:r>
            <a:r>
              <a:rPr lang="hu-HU" sz="1400" dirty="0"/>
              <a:t>, </a:t>
            </a:r>
            <a:r>
              <a:rPr lang="hu-HU" sz="1400" dirty="0" err="1" smtClean="0"/>
              <a:t>these</a:t>
            </a:r>
            <a:r>
              <a:rPr lang="hu-HU" sz="1400" dirty="0" smtClean="0"/>
              <a:t> </a:t>
            </a:r>
            <a:r>
              <a:rPr lang="hu-HU" sz="1400" i="1" dirty="0" err="1" smtClean="0"/>
              <a:t>Vt</a:t>
            </a:r>
            <a:r>
              <a:rPr lang="hu-HU" sz="1400" i="1" dirty="0" smtClean="0"/>
              <a:t>’ </a:t>
            </a:r>
            <a:r>
              <a:rPr lang="hu-HU" sz="1400" dirty="0" err="1" smtClean="0"/>
              <a:t>vectors</a:t>
            </a:r>
            <a:r>
              <a:rPr lang="hu-HU" sz="1400" dirty="0" smtClean="0"/>
              <a:t> </a:t>
            </a:r>
            <a:r>
              <a:rPr lang="hu-HU" sz="1400" dirty="0" err="1" smtClean="0"/>
              <a:t>are</a:t>
            </a:r>
            <a:r>
              <a:rPr lang="hu-HU" sz="1400" dirty="0" smtClean="0"/>
              <a:t> </a:t>
            </a:r>
            <a:r>
              <a:rPr lang="hu-HU" sz="1400" dirty="0" err="1" smtClean="0"/>
              <a:t>added</a:t>
            </a:r>
            <a:r>
              <a:rPr lang="hu-HU" sz="1400" dirty="0" smtClean="0"/>
              <a:t> </a:t>
            </a:r>
            <a:r>
              <a:rPr lang="hu-HU" sz="1400" dirty="0" err="1" smtClean="0"/>
              <a:t>up</a:t>
            </a:r>
            <a:r>
              <a:rPr lang="hu-HU" sz="1400" dirty="0" smtClean="0"/>
              <a:t>, </a:t>
            </a:r>
            <a:r>
              <a:rPr lang="hu-HU" sz="1400" dirty="0" err="1" smtClean="0"/>
              <a:t>weighted</a:t>
            </a:r>
            <a:r>
              <a:rPr lang="hu-HU" sz="1400" dirty="0" smtClean="0"/>
              <a:t> </a:t>
            </a:r>
            <a:r>
              <a:rPr lang="hu-HU" sz="1400" dirty="0" err="1" smtClean="0"/>
              <a:t>by</a:t>
            </a:r>
            <a:r>
              <a:rPr lang="hu-HU" sz="1400" dirty="0" smtClean="0"/>
              <a:t> </a:t>
            </a:r>
            <a:r>
              <a:rPr lang="hu-HU" sz="1400" dirty="0" err="1" smtClean="0"/>
              <a:t>the</a:t>
            </a:r>
            <a:r>
              <a:rPr lang="hu-HU" sz="1400" dirty="0" smtClean="0"/>
              <a:t> </a:t>
            </a:r>
            <a:r>
              <a:rPr lang="hu-HU" sz="1400" dirty="0" err="1" smtClean="0"/>
              <a:t>softmax</a:t>
            </a:r>
            <a:r>
              <a:rPr lang="hu-HU" sz="1400" dirty="0" smtClean="0"/>
              <a:t> </a:t>
            </a:r>
            <a:r>
              <a:rPr lang="hu-HU" sz="1400" dirty="0" err="1" smtClean="0"/>
              <a:t>weights</a:t>
            </a:r>
            <a:r>
              <a:rPr lang="hu-HU" sz="1400" dirty="0" smtClean="0"/>
              <a:t>.</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6256" y="4382912"/>
            <a:ext cx="1800200" cy="22083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43153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467544" y="116632"/>
            <a:ext cx="8229600" cy="1143000"/>
          </a:xfrm>
        </p:spPr>
        <p:txBody>
          <a:bodyPr>
            <a:normAutofit/>
          </a:bodyPr>
          <a:lstStyle/>
          <a:p>
            <a:r>
              <a:rPr lang="hu-HU" sz="4000" dirty="0" err="1" smtClean="0"/>
              <a:t>Multi-head</a:t>
            </a:r>
            <a:r>
              <a:rPr lang="hu-HU" sz="4000" dirty="0" smtClean="0"/>
              <a:t> </a:t>
            </a:r>
            <a:r>
              <a:rPr lang="hu-HU" sz="4000" dirty="0" err="1" smtClean="0"/>
              <a:t>Attention</a:t>
            </a:r>
            <a:r>
              <a:rPr lang="hu-HU" sz="4000" dirty="0" smtClean="0"/>
              <a:t> </a:t>
            </a:r>
            <a:r>
              <a:rPr lang="hu-HU" sz="4000" dirty="0" err="1" smtClean="0"/>
              <a:t>in</a:t>
            </a:r>
            <a:r>
              <a:rPr lang="hu-HU" sz="4000" dirty="0" smtClean="0"/>
              <a:t> </a:t>
            </a:r>
            <a:r>
              <a:rPr lang="en-GB" sz="4000" dirty="0" smtClean="0"/>
              <a:t>Transformer</a:t>
            </a:r>
            <a:r>
              <a:rPr lang="hu-HU" sz="4000" dirty="0" smtClean="0"/>
              <a:t>s</a:t>
            </a:r>
            <a:endParaRPr lang="en-GB" sz="4000" dirty="0"/>
          </a:p>
        </p:txBody>
      </p:sp>
      <p:sp>
        <p:nvSpPr>
          <p:cNvPr id="3" name="Tartalom helye 2"/>
          <p:cNvSpPr>
            <a:spLocks noGrp="1"/>
          </p:cNvSpPr>
          <p:nvPr>
            <p:ph idx="1"/>
          </p:nvPr>
        </p:nvSpPr>
        <p:spPr>
          <a:xfrm>
            <a:off x="467544" y="1340768"/>
            <a:ext cx="6336704" cy="5400600"/>
          </a:xfrm>
        </p:spPr>
        <p:txBody>
          <a:bodyPr>
            <a:normAutofit fontScale="55000" lnSpcReduction="20000"/>
          </a:bodyPr>
          <a:lstStyle/>
          <a:p>
            <a:r>
              <a:rPr lang="hu-HU" dirty="0" smtClean="0"/>
              <a:t>The </a:t>
            </a:r>
            <a:r>
              <a:rPr lang="hu-HU" dirty="0" err="1" smtClean="0"/>
              <a:t>previously</a:t>
            </a:r>
            <a:r>
              <a:rPr lang="hu-HU" dirty="0" smtClean="0"/>
              <a:t> </a:t>
            </a:r>
            <a:r>
              <a:rPr lang="hu-HU" dirty="0" err="1" smtClean="0"/>
              <a:t>described</a:t>
            </a:r>
            <a:r>
              <a:rPr lang="hu-HU" dirty="0" smtClean="0"/>
              <a:t> </a:t>
            </a:r>
            <a:r>
              <a:rPr lang="hu-HU" dirty="0" err="1" smtClean="0"/>
              <a:t>procedure</a:t>
            </a:r>
            <a:r>
              <a:rPr lang="hu-HU" dirty="0" smtClean="0"/>
              <a:t> is </a:t>
            </a:r>
            <a:r>
              <a:rPr lang="hu-HU" dirty="0" err="1" smtClean="0"/>
              <a:t>carried</a:t>
            </a:r>
            <a:r>
              <a:rPr lang="hu-HU" dirty="0" smtClean="0"/>
              <a:t> out (</a:t>
            </a:r>
            <a:r>
              <a:rPr lang="hu-HU" dirty="0" err="1" smtClean="0"/>
              <a:t>in</a:t>
            </a:r>
            <a:r>
              <a:rPr lang="hu-HU" dirty="0" smtClean="0"/>
              <a:t> parallel) </a:t>
            </a:r>
            <a:r>
              <a:rPr lang="hu-HU" dirty="0" err="1" smtClean="0"/>
              <a:t>for</a:t>
            </a:r>
            <a:r>
              <a:rPr lang="hu-HU" dirty="0" smtClean="0"/>
              <a:t> </a:t>
            </a:r>
            <a:r>
              <a:rPr lang="hu-HU" dirty="0" err="1" smtClean="0"/>
              <a:t>every</a:t>
            </a:r>
            <a:r>
              <a:rPr lang="hu-HU" dirty="0" smtClean="0"/>
              <a:t> </a:t>
            </a:r>
            <a:r>
              <a:rPr lang="hu-HU" dirty="0" err="1" smtClean="0"/>
              <a:t>single</a:t>
            </a:r>
            <a:r>
              <a:rPr lang="hu-HU" dirty="0" smtClean="0"/>
              <a:t> </a:t>
            </a:r>
            <a:r>
              <a:rPr lang="hu-HU" dirty="0" err="1" smtClean="0"/>
              <a:t>token</a:t>
            </a:r>
            <a:r>
              <a:rPr lang="hu-HU" dirty="0" smtClean="0"/>
              <a:t> </a:t>
            </a:r>
            <a:r>
              <a:rPr lang="hu-HU" dirty="0" err="1" smtClean="0"/>
              <a:t>in</a:t>
            </a:r>
            <a:r>
              <a:rPr lang="hu-HU" dirty="0" smtClean="0"/>
              <a:t> </a:t>
            </a:r>
            <a:r>
              <a:rPr lang="hu-HU" dirty="0" err="1" smtClean="0"/>
              <a:t>the</a:t>
            </a:r>
            <a:r>
              <a:rPr lang="hu-HU" dirty="0" smtClean="0"/>
              <a:t> input.	</a:t>
            </a:r>
          </a:p>
          <a:p>
            <a:r>
              <a:rPr lang="hu-HU" dirty="0" smtClean="0"/>
              <a:t>The output </a:t>
            </a:r>
            <a:r>
              <a:rPr lang="hu-HU" dirty="0" err="1" smtClean="0"/>
              <a:t>for</a:t>
            </a:r>
            <a:r>
              <a:rPr lang="hu-HU" dirty="0" smtClean="0"/>
              <a:t> </a:t>
            </a:r>
            <a:r>
              <a:rPr lang="hu-HU" dirty="0" err="1" smtClean="0"/>
              <a:t>each</a:t>
            </a:r>
            <a:r>
              <a:rPr lang="hu-HU" dirty="0" smtClean="0"/>
              <a:t> </a:t>
            </a:r>
            <a:r>
              <a:rPr lang="hu-HU" dirty="0" err="1" smtClean="0"/>
              <a:t>token</a:t>
            </a:r>
            <a:r>
              <a:rPr lang="hu-HU" dirty="0" smtClean="0"/>
              <a:t> is </a:t>
            </a:r>
            <a:r>
              <a:rPr lang="hu-HU" dirty="0" err="1" smtClean="0"/>
              <a:t>thus</a:t>
            </a:r>
            <a:r>
              <a:rPr lang="hu-HU" dirty="0" smtClean="0"/>
              <a:t> a </a:t>
            </a:r>
            <a:r>
              <a:rPr lang="hu-HU" dirty="0" err="1" smtClean="0"/>
              <a:t>weighted</a:t>
            </a:r>
            <a:r>
              <a:rPr lang="hu-HU" dirty="0" smtClean="0"/>
              <a:t> sum </a:t>
            </a:r>
            <a:r>
              <a:rPr lang="hu-HU" dirty="0" smtClean="0"/>
              <a:t>of </a:t>
            </a:r>
            <a:r>
              <a:rPr lang="hu-HU" dirty="0" err="1" smtClean="0"/>
              <a:t>the</a:t>
            </a:r>
            <a:r>
              <a:rPr lang="hu-HU" dirty="0" smtClean="0"/>
              <a:t> </a:t>
            </a:r>
            <a:r>
              <a:rPr lang="hu-HU" dirty="0" err="1" smtClean="0"/>
              <a:t>vectors</a:t>
            </a:r>
            <a:r>
              <a:rPr lang="hu-HU" dirty="0" smtClean="0"/>
              <a:t> </a:t>
            </a:r>
            <a:r>
              <a:rPr lang="hu-HU" dirty="0" err="1" smtClean="0"/>
              <a:t>of</a:t>
            </a:r>
            <a:r>
              <a:rPr lang="hu-HU" dirty="0" smtClean="0"/>
              <a:t> </a:t>
            </a:r>
            <a:r>
              <a:rPr lang="hu-HU" dirty="0" err="1" smtClean="0"/>
              <a:t>all</a:t>
            </a:r>
            <a:r>
              <a:rPr lang="hu-HU" dirty="0" smtClean="0"/>
              <a:t> input </a:t>
            </a:r>
            <a:r>
              <a:rPr lang="hu-HU" dirty="0" err="1" smtClean="0"/>
              <a:t>tokens</a:t>
            </a:r>
            <a:r>
              <a:rPr lang="hu-HU" dirty="0" smtClean="0"/>
              <a:t>, </a:t>
            </a:r>
            <a:r>
              <a:rPr lang="hu-HU" dirty="0" err="1" smtClean="0"/>
              <a:t>including</a:t>
            </a:r>
            <a:r>
              <a:rPr lang="hu-HU" dirty="0" smtClean="0"/>
              <a:t> </a:t>
            </a:r>
            <a:r>
              <a:rPr lang="hu-HU" dirty="0" err="1" smtClean="0"/>
              <a:t>itself</a:t>
            </a:r>
            <a:r>
              <a:rPr lang="hu-HU" dirty="0" smtClean="0"/>
              <a:t>, </a:t>
            </a:r>
            <a:r>
              <a:rPr lang="hu-HU" dirty="0" err="1" smtClean="0"/>
              <a:t>previously</a:t>
            </a:r>
            <a:r>
              <a:rPr lang="hu-HU" dirty="0" smtClean="0"/>
              <a:t> </a:t>
            </a:r>
            <a:r>
              <a:rPr lang="hu-HU" dirty="0" err="1" smtClean="0"/>
              <a:t>weighted</a:t>
            </a:r>
            <a:r>
              <a:rPr lang="hu-HU" dirty="0" smtClean="0"/>
              <a:t> </a:t>
            </a:r>
            <a:r>
              <a:rPr lang="hu-HU" dirty="0" err="1" smtClean="0"/>
              <a:t>by</a:t>
            </a:r>
            <a:r>
              <a:rPr lang="hu-HU" dirty="0" smtClean="0"/>
              <a:t> </a:t>
            </a:r>
            <a:r>
              <a:rPr lang="hu-HU" dirty="0" err="1" smtClean="0"/>
              <a:t>the</a:t>
            </a:r>
            <a:r>
              <a:rPr lang="hu-HU" dirty="0" smtClean="0"/>
              <a:t> V </a:t>
            </a:r>
            <a:r>
              <a:rPr lang="hu-HU" dirty="0" err="1" smtClean="0"/>
              <a:t>weight</a:t>
            </a:r>
            <a:r>
              <a:rPr lang="hu-HU" dirty="0" smtClean="0"/>
              <a:t> </a:t>
            </a:r>
            <a:r>
              <a:rPr lang="hu-HU" dirty="0" err="1" smtClean="0"/>
              <a:t>vector</a:t>
            </a:r>
            <a:r>
              <a:rPr lang="hu-HU" dirty="0" smtClean="0"/>
              <a:t>.</a:t>
            </a:r>
          </a:p>
          <a:p>
            <a:r>
              <a:rPr lang="hu-HU" dirty="0" smtClean="0"/>
              <a:t>The </a:t>
            </a:r>
            <a:r>
              <a:rPr lang="hu-HU" dirty="0" err="1" smtClean="0"/>
              <a:t>transformer</a:t>
            </a:r>
            <a:r>
              <a:rPr lang="hu-HU" dirty="0" smtClean="0"/>
              <a:t> </a:t>
            </a:r>
            <a:r>
              <a:rPr lang="en-GB" dirty="0" smtClean="0"/>
              <a:t>produces </a:t>
            </a:r>
            <a:r>
              <a:rPr lang="en-GB" dirty="0"/>
              <a:t>not one such weighted sum </a:t>
            </a:r>
            <a:r>
              <a:rPr lang="en-GB" dirty="0" smtClean="0"/>
              <a:t>per </a:t>
            </a:r>
            <a:r>
              <a:rPr lang="en-GB" dirty="0"/>
              <a:t>input, but </a:t>
            </a:r>
            <a:r>
              <a:rPr lang="en-GB" i="1" dirty="0"/>
              <a:t>h </a:t>
            </a:r>
            <a:r>
              <a:rPr lang="hu-HU" dirty="0" err="1"/>
              <a:t>sums</a:t>
            </a:r>
            <a:r>
              <a:rPr lang="en-GB" dirty="0"/>
              <a:t>, where </a:t>
            </a:r>
            <a:r>
              <a:rPr lang="en-GB" i="1" dirty="0"/>
              <a:t>h </a:t>
            </a:r>
            <a:r>
              <a:rPr lang="en-GB" dirty="0"/>
              <a:t>is the number of so-called </a:t>
            </a:r>
            <a:r>
              <a:rPr lang="en-GB" b="1" dirty="0"/>
              <a:t>attention heads</a:t>
            </a:r>
            <a:r>
              <a:rPr lang="en-GB" dirty="0"/>
              <a:t>; thus, when processing the given input, the transformer pays attention to several </a:t>
            </a:r>
            <a:r>
              <a:rPr lang="en-GB" i="1" dirty="0"/>
              <a:t>(h) </a:t>
            </a:r>
            <a:r>
              <a:rPr lang="en-GB" dirty="0"/>
              <a:t>different things. </a:t>
            </a:r>
          </a:p>
          <a:p>
            <a:r>
              <a:rPr lang="en-GB" dirty="0" smtClean="0"/>
              <a:t>The </a:t>
            </a:r>
            <a:r>
              <a:rPr lang="en-GB" dirty="0"/>
              <a:t>transformer's parameters are in </a:t>
            </a:r>
            <a:r>
              <a:rPr lang="en-GB" b="1" dirty="0"/>
              <a:t>three weight matrices</a:t>
            </a:r>
            <a:r>
              <a:rPr lang="hu-HU" b="1" dirty="0" smtClean="0"/>
              <a:t>:</a:t>
            </a:r>
            <a:endParaRPr lang="hu-HU" b="1" dirty="0"/>
          </a:p>
          <a:p>
            <a:pPr lvl="1"/>
            <a:r>
              <a:rPr lang="hu-HU" dirty="0" err="1" smtClean="0"/>
              <a:t>in</a:t>
            </a:r>
            <a:r>
              <a:rPr lang="hu-HU" dirty="0" smtClean="0"/>
              <a:t> </a:t>
            </a:r>
            <a:r>
              <a:rPr lang="hu-HU" dirty="0" err="1" smtClean="0"/>
              <a:t>fact</a:t>
            </a:r>
            <a:r>
              <a:rPr lang="hu-HU" dirty="0" smtClean="0"/>
              <a:t>, </a:t>
            </a:r>
            <a:r>
              <a:rPr lang="hu-HU" dirty="0" err="1" smtClean="0"/>
              <a:t>the</a:t>
            </a:r>
            <a:r>
              <a:rPr lang="hu-HU" dirty="0" smtClean="0"/>
              <a:t> </a:t>
            </a:r>
            <a:r>
              <a:rPr lang="hu-HU" dirty="0" err="1" smtClean="0"/>
              <a:t>weights</a:t>
            </a:r>
            <a:r>
              <a:rPr lang="hu-HU" dirty="0" smtClean="0"/>
              <a:t> </a:t>
            </a:r>
            <a:r>
              <a:rPr lang="hu-HU" dirty="0" err="1" smtClean="0"/>
              <a:t>are</a:t>
            </a:r>
            <a:r>
              <a:rPr lang="hu-HU" dirty="0" smtClean="0"/>
              <a:t> </a:t>
            </a:r>
            <a:r>
              <a:rPr lang="hu-HU" dirty="0" err="1" smtClean="0"/>
              <a:t>not</a:t>
            </a:r>
            <a:r>
              <a:rPr lang="hu-HU" dirty="0" smtClean="0"/>
              <a:t> </a:t>
            </a:r>
            <a:r>
              <a:rPr lang="hu-HU" dirty="0" err="1" smtClean="0"/>
              <a:t>implemented</a:t>
            </a:r>
            <a:r>
              <a:rPr lang="hu-HU" dirty="0" smtClean="0"/>
              <a:t> </a:t>
            </a:r>
            <a:r>
              <a:rPr lang="hu-HU" dirty="0" err="1" smtClean="0"/>
              <a:t>as</a:t>
            </a:r>
            <a:r>
              <a:rPr lang="hu-HU" dirty="0" smtClean="0"/>
              <a:t> </a:t>
            </a:r>
            <a:r>
              <a:rPr lang="hu-HU" dirty="0" err="1" smtClean="0"/>
              <a:t>vectors</a:t>
            </a:r>
            <a:r>
              <a:rPr lang="hu-HU" dirty="0" smtClean="0"/>
              <a:t>, </a:t>
            </a:r>
            <a:r>
              <a:rPr lang="hu-HU" dirty="0" err="1" smtClean="0"/>
              <a:t>as</a:t>
            </a:r>
            <a:r>
              <a:rPr lang="hu-HU" dirty="0" smtClean="0"/>
              <a:t> </a:t>
            </a:r>
            <a:r>
              <a:rPr lang="hu-HU" dirty="0" err="1" smtClean="0"/>
              <a:t>previously</a:t>
            </a:r>
            <a:r>
              <a:rPr lang="hu-HU" dirty="0" smtClean="0"/>
              <a:t> </a:t>
            </a:r>
            <a:r>
              <a:rPr lang="hu-HU" dirty="0" err="1" smtClean="0"/>
              <a:t>implied</a:t>
            </a:r>
            <a:r>
              <a:rPr lang="hu-HU" dirty="0" smtClean="0"/>
              <a:t> </a:t>
            </a:r>
            <a:r>
              <a:rPr lang="hu-HU" dirty="0" err="1" smtClean="0"/>
              <a:t>for</a:t>
            </a:r>
            <a:r>
              <a:rPr lang="hu-HU" dirty="0" smtClean="0"/>
              <a:t> </a:t>
            </a:r>
            <a:r>
              <a:rPr lang="hu-HU" dirty="0" err="1" smtClean="0"/>
              <a:t>the</a:t>
            </a:r>
            <a:r>
              <a:rPr lang="hu-HU" dirty="0" smtClean="0"/>
              <a:t> </a:t>
            </a:r>
            <a:r>
              <a:rPr lang="hu-HU" dirty="0" err="1" smtClean="0"/>
              <a:t>sake</a:t>
            </a:r>
            <a:r>
              <a:rPr lang="hu-HU" dirty="0" smtClean="0"/>
              <a:t> of </a:t>
            </a:r>
            <a:r>
              <a:rPr lang="hu-HU" dirty="0" err="1" smtClean="0"/>
              <a:t>illustration</a:t>
            </a:r>
            <a:r>
              <a:rPr lang="hu-HU" dirty="0" smtClean="0"/>
              <a:t>, </a:t>
            </a:r>
            <a:r>
              <a:rPr lang="hu-HU" dirty="0" err="1" smtClean="0"/>
              <a:t>but</a:t>
            </a:r>
            <a:r>
              <a:rPr lang="hu-HU" dirty="0" smtClean="0"/>
              <a:t> </a:t>
            </a:r>
            <a:r>
              <a:rPr lang="hu-HU" dirty="0" err="1" smtClean="0"/>
              <a:t>as</a:t>
            </a:r>
            <a:r>
              <a:rPr lang="hu-HU" dirty="0" smtClean="0"/>
              <a:t> k x (k / h)</a:t>
            </a:r>
            <a:r>
              <a:rPr lang="hu-HU" dirty="0" err="1" smtClean="0"/>
              <a:t>-dimensional</a:t>
            </a:r>
            <a:r>
              <a:rPr lang="hu-HU" dirty="0" smtClean="0"/>
              <a:t> </a:t>
            </a:r>
            <a:r>
              <a:rPr lang="hu-HU" dirty="0" err="1" smtClean="0"/>
              <a:t>matrices</a:t>
            </a:r>
            <a:r>
              <a:rPr lang="hu-HU" dirty="0" smtClean="0"/>
              <a:t>, </a:t>
            </a:r>
            <a:r>
              <a:rPr lang="hu-HU" dirty="0" err="1" smtClean="0"/>
              <a:t>e.g</a:t>
            </a:r>
            <a:r>
              <a:rPr lang="hu-HU" dirty="0" smtClean="0"/>
              <a:t>. </a:t>
            </a:r>
            <a:r>
              <a:rPr lang="hu-HU" i="1" dirty="0" smtClean="0"/>
              <a:t>k</a:t>
            </a:r>
            <a:r>
              <a:rPr lang="hu-HU" dirty="0" smtClean="0"/>
              <a:t>=512; </a:t>
            </a:r>
            <a:r>
              <a:rPr lang="hu-HU" i="1" dirty="0" smtClean="0"/>
              <a:t>h</a:t>
            </a:r>
            <a:r>
              <a:rPr lang="hu-HU" dirty="0" smtClean="0"/>
              <a:t>=8; </a:t>
            </a:r>
            <a:r>
              <a:rPr lang="hu-HU" i="1" dirty="0" smtClean="0"/>
              <a:t>k</a:t>
            </a:r>
            <a:r>
              <a:rPr lang="hu-HU" dirty="0" smtClean="0"/>
              <a:t> / </a:t>
            </a:r>
            <a:r>
              <a:rPr lang="hu-HU" i="1" dirty="0" smtClean="0"/>
              <a:t>h</a:t>
            </a:r>
            <a:r>
              <a:rPr lang="hu-HU" dirty="0" smtClean="0"/>
              <a:t>=64</a:t>
            </a:r>
          </a:p>
          <a:p>
            <a:pPr lvl="1"/>
            <a:r>
              <a:rPr lang="en-GB" dirty="0" smtClean="0"/>
              <a:t>the </a:t>
            </a:r>
            <a:r>
              <a:rPr lang="en-GB" b="1" dirty="0"/>
              <a:t>Q matrix</a:t>
            </a:r>
            <a:r>
              <a:rPr lang="en-GB" dirty="0"/>
              <a:t> weights the elements of the given input vector </a:t>
            </a:r>
            <a:r>
              <a:rPr lang="en-GB" b="1" dirty="0"/>
              <a:t>before calculating the dot product</a:t>
            </a:r>
            <a:r>
              <a:rPr lang="en-GB" dirty="0"/>
              <a:t>; we have </a:t>
            </a:r>
            <a:r>
              <a:rPr lang="en-GB" i="1" dirty="0"/>
              <a:t>h </a:t>
            </a:r>
            <a:r>
              <a:rPr lang="en-GB" dirty="0"/>
              <a:t>such Q matrices</a:t>
            </a:r>
            <a:endParaRPr lang="hu-HU" dirty="0"/>
          </a:p>
          <a:p>
            <a:pPr lvl="1"/>
            <a:r>
              <a:rPr lang="en-GB" dirty="0"/>
              <a:t>the </a:t>
            </a:r>
            <a:r>
              <a:rPr lang="en-GB" b="1" dirty="0"/>
              <a:t>K matrix</a:t>
            </a:r>
            <a:r>
              <a:rPr lang="en-GB" dirty="0"/>
              <a:t> weights the elements of all input vectors</a:t>
            </a:r>
            <a:r>
              <a:rPr lang="hu-HU" dirty="0"/>
              <a:t> </a:t>
            </a:r>
            <a:r>
              <a:rPr lang="hu-HU" dirty="0" err="1"/>
              <a:t>also</a:t>
            </a:r>
            <a:r>
              <a:rPr lang="en-GB" dirty="0"/>
              <a:t> </a:t>
            </a:r>
            <a:r>
              <a:rPr lang="en-GB" b="1" dirty="0"/>
              <a:t>before calculating the dot product</a:t>
            </a:r>
            <a:r>
              <a:rPr lang="en-GB" dirty="0"/>
              <a:t>; there are also </a:t>
            </a:r>
            <a:r>
              <a:rPr lang="en-GB" i="1" dirty="0"/>
              <a:t>h</a:t>
            </a:r>
            <a:r>
              <a:rPr lang="en-GB" dirty="0"/>
              <a:t> pieces of K matrices</a:t>
            </a:r>
            <a:endParaRPr lang="hu-HU" dirty="0"/>
          </a:p>
          <a:p>
            <a:pPr lvl="1"/>
            <a:r>
              <a:rPr lang="en-GB" b="1" dirty="0"/>
              <a:t>after we have performed the </a:t>
            </a:r>
            <a:r>
              <a:rPr lang="hu-HU" b="1" dirty="0" err="1"/>
              <a:t>vector</a:t>
            </a:r>
            <a:r>
              <a:rPr lang="hu-HU" b="1" dirty="0"/>
              <a:t> </a:t>
            </a:r>
            <a:r>
              <a:rPr lang="hu-HU" b="1" dirty="0" err="1" smtClean="0"/>
              <a:t>multiplication</a:t>
            </a:r>
            <a:r>
              <a:rPr lang="hu-HU" b="1" dirty="0" smtClean="0"/>
              <a:t>, </a:t>
            </a:r>
            <a:r>
              <a:rPr lang="hu-HU" dirty="0" err="1" smtClean="0"/>
              <a:t>the</a:t>
            </a:r>
            <a:r>
              <a:rPr lang="hu-HU" dirty="0" smtClean="0"/>
              <a:t> </a:t>
            </a:r>
            <a:r>
              <a:rPr lang="hu-HU" dirty="0" err="1" smtClean="0"/>
              <a:t>results</a:t>
            </a:r>
            <a:r>
              <a:rPr lang="hu-HU" dirty="0" smtClean="0"/>
              <a:t> </a:t>
            </a:r>
            <a:r>
              <a:rPr lang="hu-HU" dirty="0" err="1" smtClean="0"/>
              <a:t>are</a:t>
            </a:r>
            <a:r>
              <a:rPr lang="hu-HU" dirty="0" smtClean="0"/>
              <a:t> </a:t>
            </a:r>
            <a:r>
              <a:rPr lang="hu-HU" dirty="0" err="1" smtClean="0"/>
              <a:t>scaled</a:t>
            </a:r>
            <a:r>
              <a:rPr lang="hu-HU" dirty="0" smtClean="0"/>
              <a:t> </a:t>
            </a:r>
            <a:r>
              <a:rPr lang="hu-HU" dirty="0" err="1" smtClean="0"/>
              <a:t>using</a:t>
            </a:r>
            <a:r>
              <a:rPr lang="hu-HU" dirty="0" smtClean="0"/>
              <a:t> </a:t>
            </a:r>
            <a:r>
              <a:rPr lang="hu-HU" dirty="0" err="1" smtClean="0"/>
              <a:t>softmax</a:t>
            </a:r>
            <a:endParaRPr lang="hu-HU" dirty="0" smtClean="0"/>
          </a:p>
          <a:p>
            <a:pPr lvl="1"/>
            <a:r>
              <a:rPr lang="hu-HU" dirty="0" err="1" smtClean="0"/>
              <a:t>all</a:t>
            </a:r>
            <a:r>
              <a:rPr lang="hu-HU" dirty="0" smtClean="0"/>
              <a:t> input </a:t>
            </a:r>
            <a:r>
              <a:rPr lang="hu-HU" dirty="0" err="1" smtClean="0"/>
              <a:t>token</a:t>
            </a:r>
            <a:r>
              <a:rPr lang="hu-HU" dirty="0" smtClean="0"/>
              <a:t> </a:t>
            </a:r>
            <a:r>
              <a:rPr lang="hu-HU" dirty="0" err="1" smtClean="0"/>
              <a:t>vectors</a:t>
            </a:r>
            <a:r>
              <a:rPr lang="hu-HU" dirty="0" smtClean="0"/>
              <a:t> </a:t>
            </a:r>
            <a:r>
              <a:rPr lang="hu-HU" dirty="0" err="1" smtClean="0"/>
              <a:t>are</a:t>
            </a:r>
            <a:r>
              <a:rPr lang="hu-HU" dirty="0" smtClean="0"/>
              <a:t> </a:t>
            </a:r>
            <a:r>
              <a:rPr lang="hu-HU" dirty="0" err="1" smtClean="0"/>
              <a:t>weighted</a:t>
            </a:r>
            <a:r>
              <a:rPr lang="hu-HU" dirty="0" smtClean="0"/>
              <a:t> </a:t>
            </a:r>
            <a:r>
              <a:rPr lang="hu-HU" dirty="0" err="1" smtClean="0"/>
              <a:t>using</a:t>
            </a:r>
            <a:r>
              <a:rPr lang="hu-HU" dirty="0" smtClean="0"/>
              <a:t> </a:t>
            </a:r>
            <a:r>
              <a:rPr lang="hu-HU" i="1" dirty="0" smtClean="0"/>
              <a:t>h </a:t>
            </a:r>
            <a:r>
              <a:rPr lang="hu-HU" dirty="0" err="1" smtClean="0"/>
              <a:t>pieces</a:t>
            </a:r>
            <a:r>
              <a:rPr lang="hu-HU" dirty="0" smtClean="0"/>
              <a:t> of </a:t>
            </a:r>
            <a:r>
              <a:rPr lang="hu-HU" b="1" dirty="0" smtClean="0"/>
              <a:t>V </a:t>
            </a:r>
            <a:r>
              <a:rPr lang="hu-HU" b="1" dirty="0" err="1" smtClean="0"/>
              <a:t>matrices</a:t>
            </a:r>
            <a:r>
              <a:rPr lang="hu-HU" dirty="0" smtClean="0"/>
              <a:t>, </a:t>
            </a:r>
            <a:r>
              <a:rPr lang="hu-HU" dirty="0" err="1" smtClean="0"/>
              <a:t>yielding</a:t>
            </a:r>
            <a:r>
              <a:rPr lang="hu-HU" dirty="0" smtClean="0"/>
              <a:t> a </a:t>
            </a:r>
            <a:r>
              <a:rPr lang="hu-HU" dirty="0" err="1" smtClean="0"/>
              <a:t>value</a:t>
            </a:r>
            <a:r>
              <a:rPr lang="hu-HU" dirty="0" smtClean="0"/>
              <a:t> </a:t>
            </a:r>
            <a:r>
              <a:rPr lang="hu-HU" dirty="0" err="1" smtClean="0"/>
              <a:t>vector</a:t>
            </a:r>
            <a:r>
              <a:rPr lang="hu-HU" dirty="0" smtClean="0"/>
              <a:t> </a:t>
            </a:r>
            <a:r>
              <a:rPr lang="hu-HU" dirty="0" err="1" smtClean="0"/>
              <a:t>each</a:t>
            </a:r>
            <a:r>
              <a:rPr lang="hu-HU" dirty="0" smtClean="0"/>
              <a:t>, </a:t>
            </a:r>
            <a:r>
              <a:rPr lang="hu-HU" dirty="0" err="1" smtClean="0"/>
              <a:t>which</a:t>
            </a:r>
            <a:r>
              <a:rPr lang="hu-HU" dirty="0" smtClean="0"/>
              <a:t> </a:t>
            </a:r>
            <a:r>
              <a:rPr lang="hu-HU" dirty="0" err="1" smtClean="0"/>
              <a:t>are</a:t>
            </a:r>
            <a:r>
              <a:rPr lang="hu-HU" dirty="0" smtClean="0"/>
              <a:t> </a:t>
            </a:r>
            <a:r>
              <a:rPr lang="hu-HU" dirty="0" err="1" smtClean="0"/>
              <a:t>in</a:t>
            </a:r>
            <a:r>
              <a:rPr lang="hu-HU" dirty="0" smtClean="0"/>
              <a:t> </a:t>
            </a:r>
            <a:r>
              <a:rPr lang="hu-HU" dirty="0" err="1" smtClean="0"/>
              <a:t>turn</a:t>
            </a:r>
            <a:r>
              <a:rPr lang="hu-HU" dirty="0" smtClean="0"/>
              <a:t> </a:t>
            </a:r>
            <a:r>
              <a:rPr lang="hu-HU" dirty="0" err="1" smtClean="0"/>
              <a:t>summed</a:t>
            </a:r>
            <a:r>
              <a:rPr lang="hu-HU" dirty="0" smtClean="0"/>
              <a:t>, </a:t>
            </a:r>
            <a:r>
              <a:rPr lang="hu-HU" dirty="0" err="1" smtClean="0"/>
              <a:t>weighted</a:t>
            </a:r>
            <a:r>
              <a:rPr lang="hu-HU" dirty="0" smtClean="0"/>
              <a:t> </a:t>
            </a:r>
            <a:r>
              <a:rPr lang="hu-HU" dirty="0" err="1" smtClean="0"/>
              <a:t>by</a:t>
            </a:r>
            <a:r>
              <a:rPr lang="hu-HU" dirty="0" smtClean="0"/>
              <a:t> </a:t>
            </a:r>
            <a:r>
              <a:rPr lang="hu-HU" dirty="0" err="1" smtClean="0"/>
              <a:t>the</a:t>
            </a:r>
            <a:r>
              <a:rPr lang="hu-HU" dirty="0" smtClean="0"/>
              <a:t> </a:t>
            </a:r>
            <a:r>
              <a:rPr lang="hu-HU" dirty="0" err="1" smtClean="0"/>
              <a:t>softmax</a:t>
            </a:r>
            <a:r>
              <a:rPr lang="hu-HU" dirty="0" smtClean="0"/>
              <a:t> </a:t>
            </a:r>
            <a:r>
              <a:rPr lang="hu-HU" dirty="0" err="1" smtClean="0"/>
              <a:t>weights</a:t>
            </a:r>
            <a:r>
              <a:rPr lang="hu-HU" dirty="0" smtClean="0"/>
              <a:t>, </a:t>
            </a:r>
            <a:r>
              <a:rPr lang="hu-HU" dirty="0" err="1" smtClean="0"/>
              <a:t>yielding</a:t>
            </a:r>
            <a:r>
              <a:rPr lang="hu-HU" dirty="0" smtClean="0"/>
              <a:t> </a:t>
            </a:r>
            <a:r>
              <a:rPr lang="hu-HU" i="1" dirty="0" smtClean="0"/>
              <a:t>h </a:t>
            </a:r>
            <a:r>
              <a:rPr lang="hu-HU" dirty="0" err="1" smtClean="0"/>
              <a:t>such</a:t>
            </a:r>
            <a:r>
              <a:rPr lang="hu-HU" dirty="0" smtClean="0"/>
              <a:t> </a:t>
            </a:r>
            <a:r>
              <a:rPr lang="hu-HU" dirty="0" err="1" smtClean="0"/>
              <a:t>sums</a:t>
            </a:r>
            <a:r>
              <a:rPr lang="hu-HU" dirty="0" smtClean="0"/>
              <a:t>, </a:t>
            </a:r>
            <a:r>
              <a:rPr lang="hu-HU" dirty="0" err="1" smtClean="0"/>
              <a:t>which</a:t>
            </a:r>
            <a:r>
              <a:rPr lang="hu-HU" dirty="0" smtClean="0"/>
              <a:t> </a:t>
            </a:r>
            <a:r>
              <a:rPr lang="hu-HU" dirty="0" err="1" smtClean="0"/>
              <a:t>are</a:t>
            </a:r>
            <a:r>
              <a:rPr lang="hu-HU" dirty="0" smtClean="0"/>
              <a:t> </a:t>
            </a:r>
            <a:r>
              <a:rPr lang="hu-HU" dirty="0" err="1" smtClean="0"/>
              <a:t>concatenated</a:t>
            </a:r>
            <a:endParaRPr lang="hu-HU" dirty="0" smtClean="0"/>
          </a:p>
          <a:p>
            <a:pPr lvl="1"/>
            <a:r>
              <a:rPr lang="en-GB" dirty="0" smtClean="0"/>
              <a:t>Thus </a:t>
            </a:r>
            <a:r>
              <a:rPr lang="en-GB" dirty="0"/>
              <a:t>we </a:t>
            </a:r>
            <a:r>
              <a:rPr lang="hu-HU" dirty="0"/>
              <a:t>end </a:t>
            </a:r>
            <a:r>
              <a:rPr lang="hu-HU" dirty="0" err="1"/>
              <a:t>up</a:t>
            </a:r>
            <a:r>
              <a:rPr lang="hu-HU" dirty="0"/>
              <a:t> </a:t>
            </a:r>
            <a:r>
              <a:rPr lang="hu-HU" dirty="0" err="1"/>
              <a:t>with</a:t>
            </a:r>
            <a:r>
              <a:rPr lang="hu-HU" dirty="0"/>
              <a:t> </a:t>
            </a:r>
            <a:r>
              <a:rPr lang="en-GB" i="1" dirty="0"/>
              <a:t>n </a:t>
            </a:r>
            <a:r>
              <a:rPr lang="en-GB" dirty="0"/>
              <a:t>pieces of </a:t>
            </a:r>
            <a:r>
              <a:rPr lang="en-GB" i="1" dirty="0"/>
              <a:t>k </a:t>
            </a:r>
            <a:r>
              <a:rPr lang="en-GB" dirty="0"/>
              <a:t>dimensional vectors, exactly one per input; this </a:t>
            </a:r>
            <a:r>
              <a:rPr lang="hu-HU" dirty="0" smtClean="0"/>
              <a:t>is </a:t>
            </a:r>
            <a:r>
              <a:rPr lang="en-GB" dirty="0" smtClean="0"/>
              <a:t>the </a:t>
            </a:r>
            <a:r>
              <a:rPr lang="en-GB" dirty="0"/>
              <a:t>output of the transformer</a:t>
            </a:r>
            <a:r>
              <a:rPr lang="hu-HU" dirty="0" smtClean="0"/>
              <a:t>.</a:t>
            </a:r>
            <a:endParaRPr lang="en-GB" b="1"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2240" y="2420888"/>
            <a:ext cx="2232058" cy="28773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14594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Autofit/>
          </a:bodyPr>
          <a:lstStyle/>
          <a:p>
            <a:r>
              <a:rPr lang="hu-HU" sz="3600" dirty="0" err="1" smtClean="0"/>
              <a:t>Further</a:t>
            </a:r>
            <a:r>
              <a:rPr lang="hu-HU" sz="3600" dirty="0" smtClean="0"/>
              <a:t> </a:t>
            </a:r>
            <a:r>
              <a:rPr lang="hu-HU" sz="3600" dirty="0" err="1" smtClean="0"/>
              <a:t>Components</a:t>
            </a:r>
            <a:r>
              <a:rPr lang="hu-HU" sz="3600" dirty="0" smtClean="0"/>
              <a:t> of </a:t>
            </a:r>
            <a:r>
              <a:rPr lang="hu-HU" sz="3600" dirty="0" err="1" smtClean="0"/>
              <a:t>the</a:t>
            </a:r>
            <a:r>
              <a:rPr lang="hu-HU" sz="3600" dirty="0" smtClean="0"/>
              <a:t> </a:t>
            </a:r>
            <a:r>
              <a:rPr lang="en-GB" sz="3600" dirty="0" smtClean="0"/>
              <a:t>Transformer </a:t>
            </a:r>
            <a:endParaRPr lang="en-GB" sz="3600" dirty="0"/>
          </a:p>
        </p:txBody>
      </p:sp>
      <p:sp>
        <p:nvSpPr>
          <p:cNvPr id="3" name="Tartalom helye 2"/>
          <p:cNvSpPr>
            <a:spLocks noGrp="1"/>
          </p:cNvSpPr>
          <p:nvPr>
            <p:ph idx="1"/>
          </p:nvPr>
        </p:nvSpPr>
        <p:spPr>
          <a:xfrm>
            <a:off x="457200" y="1600200"/>
            <a:ext cx="5338936" cy="5069160"/>
          </a:xfrm>
        </p:spPr>
        <p:txBody>
          <a:bodyPr>
            <a:normAutofit fontScale="47500" lnSpcReduction="20000"/>
          </a:bodyPr>
          <a:lstStyle/>
          <a:p>
            <a:r>
              <a:rPr lang="en-GB" sz="3400" dirty="0" smtClean="0"/>
              <a:t>The transformer architecture was introduced by </a:t>
            </a:r>
            <a:r>
              <a:rPr lang="en-GB" sz="3400" dirty="0" err="1" smtClean="0"/>
              <a:t>Vaswani</a:t>
            </a:r>
            <a:r>
              <a:rPr lang="en-GB" sz="3400" dirty="0" smtClean="0"/>
              <a:t> et al. in their 2017 </a:t>
            </a:r>
            <a:r>
              <a:rPr lang="hu-HU" sz="3400" dirty="0" err="1" smtClean="0"/>
              <a:t>paper</a:t>
            </a:r>
            <a:r>
              <a:rPr lang="hu-HU" sz="3400" dirty="0" smtClean="0"/>
              <a:t> </a:t>
            </a:r>
            <a:r>
              <a:rPr lang="en-GB" sz="3400" dirty="0" smtClean="0"/>
              <a:t>titled </a:t>
            </a:r>
            <a:r>
              <a:rPr lang="hu-HU" sz="3400" i="1" dirty="0" err="1" smtClean="0">
                <a:hlinkClick r:id="rId2"/>
              </a:rPr>
              <a:t>Attention</a:t>
            </a:r>
            <a:r>
              <a:rPr lang="hu-HU" sz="3400" i="1" dirty="0" smtClean="0">
                <a:hlinkClick r:id="rId2"/>
              </a:rPr>
              <a:t> is </a:t>
            </a:r>
            <a:r>
              <a:rPr lang="hu-HU" sz="3400" i="1" dirty="0" err="1" smtClean="0">
                <a:hlinkClick r:id="rId2"/>
              </a:rPr>
              <a:t>All</a:t>
            </a:r>
            <a:r>
              <a:rPr lang="hu-HU" sz="3400" i="1" dirty="0" smtClean="0">
                <a:hlinkClick r:id="rId2"/>
              </a:rPr>
              <a:t> </a:t>
            </a:r>
            <a:r>
              <a:rPr lang="hu-HU" sz="3400" i="1" dirty="0" err="1" smtClean="0">
                <a:hlinkClick r:id="rId2"/>
              </a:rPr>
              <a:t>You</a:t>
            </a:r>
            <a:r>
              <a:rPr lang="hu-HU" sz="3400" i="1" dirty="0" smtClean="0">
                <a:hlinkClick r:id="rId2"/>
              </a:rPr>
              <a:t> </a:t>
            </a:r>
            <a:r>
              <a:rPr lang="hu-HU" sz="3400" i="1" dirty="0" err="1" smtClean="0">
                <a:hlinkClick r:id="rId2"/>
              </a:rPr>
              <a:t>Need</a:t>
            </a:r>
            <a:r>
              <a:rPr lang="en-GB" sz="3400" dirty="0" smtClean="0"/>
              <a:t>.</a:t>
            </a:r>
            <a:endParaRPr lang="hu-HU" sz="3400" dirty="0" smtClean="0"/>
          </a:p>
          <a:p>
            <a:r>
              <a:rPr lang="en-GB" sz="3400" dirty="0" smtClean="0"/>
              <a:t>Numerous (</a:t>
            </a:r>
            <a:r>
              <a:rPr lang="hu-HU" sz="3400" dirty="0" smtClean="0"/>
              <a:t>N, </a:t>
            </a:r>
            <a:r>
              <a:rPr lang="hu-HU" sz="3400" dirty="0" err="1" smtClean="0"/>
              <a:t>originally</a:t>
            </a:r>
            <a:r>
              <a:rPr lang="hu-HU" sz="3400" dirty="0" smtClean="0"/>
              <a:t> 6, </a:t>
            </a:r>
            <a:r>
              <a:rPr lang="hu-HU" sz="3400" dirty="0" err="1" smtClean="0"/>
              <a:t>in</a:t>
            </a:r>
            <a:r>
              <a:rPr lang="hu-HU" sz="3400" dirty="0" smtClean="0"/>
              <a:t> </a:t>
            </a:r>
            <a:r>
              <a:rPr lang="hu-HU" sz="3400" dirty="0" err="1" smtClean="0"/>
              <a:t>LLMs</a:t>
            </a:r>
            <a:r>
              <a:rPr lang="hu-HU" sz="3400" dirty="0" smtClean="0"/>
              <a:t> </a:t>
            </a:r>
            <a:r>
              <a:rPr lang="hu-HU" sz="3400" dirty="0" err="1" smtClean="0"/>
              <a:t>tens</a:t>
            </a:r>
            <a:r>
              <a:rPr lang="hu-HU" sz="3400" dirty="0" smtClean="0"/>
              <a:t> of</a:t>
            </a:r>
            <a:r>
              <a:rPr lang="en-GB" sz="3400" dirty="0" smtClean="0"/>
              <a:t>) so-called </a:t>
            </a:r>
            <a:r>
              <a:rPr lang="en-GB" sz="3400" b="1" dirty="0" smtClean="0"/>
              <a:t>transformer blocks</a:t>
            </a:r>
            <a:r>
              <a:rPr lang="en-GB" sz="3400" dirty="0" smtClean="0"/>
              <a:t> consisting of such Q, K, V matrices</a:t>
            </a:r>
            <a:r>
              <a:rPr lang="hu-HU" sz="3400" dirty="0" smtClean="0"/>
              <a:t>, </a:t>
            </a:r>
            <a:r>
              <a:rPr lang="hu-HU" sz="3400" dirty="0" err="1" smtClean="0"/>
              <a:t>densely</a:t>
            </a:r>
            <a:r>
              <a:rPr lang="hu-HU" sz="3400" dirty="0" smtClean="0"/>
              <a:t> </a:t>
            </a:r>
            <a:r>
              <a:rPr lang="hu-HU" sz="3400" dirty="0" err="1" smtClean="0"/>
              <a:t>connected</a:t>
            </a:r>
            <a:r>
              <a:rPr lang="hu-HU" sz="3400" dirty="0" smtClean="0"/>
              <a:t> (</a:t>
            </a:r>
            <a:r>
              <a:rPr lang="hu-HU" sz="3400" dirty="0" err="1" smtClean="0"/>
              <a:t>feed-forward</a:t>
            </a:r>
            <a:r>
              <a:rPr lang="hu-HU" sz="3400" dirty="0" smtClean="0"/>
              <a:t>) </a:t>
            </a:r>
            <a:r>
              <a:rPr lang="hu-HU" sz="3400" dirty="0" err="1" smtClean="0"/>
              <a:t>neural</a:t>
            </a:r>
            <a:r>
              <a:rPr lang="hu-HU" sz="3400" dirty="0" smtClean="0"/>
              <a:t> </a:t>
            </a:r>
            <a:r>
              <a:rPr lang="hu-HU" sz="3400" dirty="0" err="1" smtClean="0"/>
              <a:t>network</a:t>
            </a:r>
            <a:r>
              <a:rPr lang="hu-HU" sz="3400" dirty="0" smtClean="0"/>
              <a:t> </a:t>
            </a:r>
            <a:r>
              <a:rPr lang="hu-HU" sz="3400" dirty="0" err="1" smtClean="0"/>
              <a:t>layers</a:t>
            </a:r>
            <a:r>
              <a:rPr lang="hu-HU" sz="3400" dirty="0" smtClean="0"/>
              <a:t> and </a:t>
            </a:r>
            <a:r>
              <a:rPr lang="hu-HU" sz="3400" dirty="0" err="1" smtClean="0"/>
              <a:t>residual</a:t>
            </a:r>
            <a:r>
              <a:rPr lang="hu-HU" sz="3400" dirty="0" smtClean="0"/>
              <a:t> (</a:t>
            </a:r>
            <a:r>
              <a:rPr lang="hu-HU" sz="3400" dirty="0" err="1" smtClean="0"/>
              <a:t>skip</a:t>
            </a:r>
            <a:r>
              <a:rPr lang="hu-HU" sz="3400" dirty="0" smtClean="0"/>
              <a:t>) </a:t>
            </a:r>
            <a:r>
              <a:rPr lang="hu-HU" sz="3400" dirty="0" err="1" smtClean="0"/>
              <a:t>connections</a:t>
            </a:r>
            <a:r>
              <a:rPr lang="hu-HU" sz="3400" dirty="0" smtClean="0"/>
              <a:t> </a:t>
            </a:r>
            <a:r>
              <a:rPr lang="en-GB" sz="3400" dirty="0" smtClean="0"/>
              <a:t>are connected one after another; the next block processes the output of the preceding block</a:t>
            </a:r>
            <a:r>
              <a:rPr lang="hu-HU" sz="3400" dirty="0" smtClean="0"/>
              <a:t>.</a:t>
            </a:r>
          </a:p>
          <a:p>
            <a:r>
              <a:rPr lang="en-GB" sz="3400" dirty="0" smtClean="0"/>
              <a:t>The sequence length remains constant throughout</a:t>
            </a:r>
            <a:r>
              <a:rPr lang="hu-HU" sz="3400" dirty="0" smtClean="0"/>
              <a:t>.</a:t>
            </a:r>
          </a:p>
          <a:p>
            <a:r>
              <a:rPr lang="hu-HU" sz="3400" dirty="0" smtClean="0"/>
              <a:t>The </a:t>
            </a:r>
            <a:r>
              <a:rPr lang="hu-HU" sz="3400" dirty="0" err="1" smtClean="0"/>
              <a:t>original</a:t>
            </a:r>
            <a:r>
              <a:rPr lang="hu-HU" sz="3400" dirty="0" smtClean="0"/>
              <a:t>, 2017 </a:t>
            </a:r>
            <a:r>
              <a:rPr lang="hu-HU" sz="3400" dirty="0" err="1" smtClean="0"/>
              <a:t>transformer</a:t>
            </a:r>
            <a:r>
              <a:rPr lang="hu-HU" sz="3400" dirty="0" smtClean="0"/>
              <a:t> </a:t>
            </a:r>
            <a:r>
              <a:rPr lang="hu-HU" sz="3400" dirty="0" err="1" smtClean="0"/>
              <a:t>contained</a:t>
            </a:r>
            <a:r>
              <a:rPr lang="hu-HU" sz="3400" dirty="0" smtClean="0"/>
              <a:t> </a:t>
            </a:r>
            <a:r>
              <a:rPr lang="hu-HU" sz="3400" dirty="0" err="1" smtClean="0"/>
              <a:t>both</a:t>
            </a:r>
            <a:r>
              <a:rPr lang="hu-HU" sz="3400" dirty="0" smtClean="0"/>
              <a:t> an </a:t>
            </a:r>
            <a:r>
              <a:rPr lang="hu-HU" sz="3400" dirty="0" err="1" smtClean="0"/>
              <a:t>encoder</a:t>
            </a:r>
            <a:r>
              <a:rPr lang="hu-HU" sz="3400" dirty="0" smtClean="0"/>
              <a:t> </a:t>
            </a:r>
            <a:r>
              <a:rPr lang="hu-HU" sz="3400" dirty="0" err="1" smtClean="0"/>
              <a:t>subnetwork</a:t>
            </a:r>
            <a:r>
              <a:rPr lang="hu-HU" sz="3400" dirty="0" smtClean="0"/>
              <a:t> (</a:t>
            </a:r>
            <a:r>
              <a:rPr lang="hu-HU" sz="3400" dirty="0" err="1" smtClean="0"/>
              <a:t>left</a:t>
            </a:r>
            <a:r>
              <a:rPr lang="hu-HU" sz="3400" dirty="0" smtClean="0"/>
              <a:t>) and a </a:t>
            </a:r>
            <a:r>
              <a:rPr lang="hu-HU" sz="3400" dirty="0" err="1" smtClean="0"/>
              <a:t>decoder</a:t>
            </a:r>
            <a:r>
              <a:rPr lang="hu-HU" sz="3400" dirty="0" smtClean="0"/>
              <a:t> (right)</a:t>
            </a:r>
          </a:p>
          <a:p>
            <a:pPr lvl="1"/>
            <a:r>
              <a:rPr lang="hu-HU" sz="2900" dirty="0" err="1" smtClean="0"/>
              <a:t>it</a:t>
            </a:r>
            <a:r>
              <a:rPr lang="hu-HU" sz="2900" dirty="0" smtClean="0"/>
              <a:t> </a:t>
            </a:r>
            <a:r>
              <a:rPr lang="hu-HU" sz="2900" dirty="0" err="1" smtClean="0"/>
              <a:t>was</a:t>
            </a:r>
            <a:r>
              <a:rPr lang="hu-HU" sz="2900" dirty="0" smtClean="0"/>
              <a:t> </a:t>
            </a:r>
            <a:r>
              <a:rPr lang="hu-HU" sz="2900" dirty="0" err="1" smtClean="0"/>
              <a:t>designed</a:t>
            </a:r>
            <a:r>
              <a:rPr lang="hu-HU" sz="2900" dirty="0" smtClean="0"/>
              <a:t> </a:t>
            </a:r>
            <a:r>
              <a:rPr lang="hu-HU" sz="2900" dirty="0" err="1" smtClean="0"/>
              <a:t>for</a:t>
            </a:r>
            <a:r>
              <a:rPr lang="hu-HU" sz="2900" dirty="0" smtClean="0"/>
              <a:t> </a:t>
            </a:r>
            <a:r>
              <a:rPr lang="hu-HU" sz="2900" dirty="0" err="1" smtClean="0"/>
              <a:t>machine</a:t>
            </a:r>
            <a:r>
              <a:rPr lang="hu-HU" sz="2900" dirty="0" smtClean="0"/>
              <a:t> </a:t>
            </a:r>
            <a:r>
              <a:rPr lang="hu-HU" sz="2900" dirty="0" err="1" smtClean="0"/>
              <a:t>translation</a:t>
            </a:r>
            <a:endParaRPr lang="hu-HU" sz="2900" dirty="0" smtClean="0"/>
          </a:p>
          <a:p>
            <a:r>
              <a:rPr lang="hu-HU" sz="3400" dirty="0" err="1" smtClean="0"/>
              <a:t>This</a:t>
            </a:r>
            <a:r>
              <a:rPr lang="hu-HU" sz="3400" dirty="0" smtClean="0"/>
              <a:t> </a:t>
            </a:r>
            <a:r>
              <a:rPr lang="hu-HU" sz="3400" dirty="0" err="1" smtClean="0"/>
              <a:t>implementation</a:t>
            </a:r>
            <a:r>
              <a:rPr lang="hu-HU" sz="3400" dirty="0" smtClean="0"/>
              <a:t> </a:t>
            </a:r>
            <a:r>
              <a:rPr lang="hu-HU" sz="3400" dirty="0" err="1" smtClean="0"/>
              <a:t>uses</a:t>
            </a:r>
            <a:r>
              <a:rPr lang="hu-HU" sz="3400" dirty="0" smtClean="0"/>
              <a:t> </a:t>
            </a:r>
            <a:r>
              <a:rPr lang="hu-HU" sz="3400" dirty="0" err="1" smtClean="0"/>
              <a:t>self-attention</a:t>
            </a:r>
            <a:r>
              <a:rPr lang="hu-HU" sz="3400" dirty="0" smtClean="0"/>
              <a:t> </a:t>
            </a:r>
            <a:r>
              <a:rPr lang="hu-HU" sz="3400" dirty="0" err="1" smtClean="0"/>
              <a:t>in</a:t>
            </a:r>
            <a:r>
              <a:rPr lang="hu-HU" sz="3400" dirty="0" smtClean="0"/>
              <a:t> </a:t>
            </a:r>
            <a:r>
              <a:rPr lang="hu-HU" sz="3400" dirty="0" err="1" smtClean="0"/>
              <a:t>both</a:t>
            </a:r>
            <a:r>
              <a:rPr lang="hu-HU" sz="3400" dirty="0" smtClean="0"/>
              <a:t> </a:t>
            </a:r>
            <a:r>
              <a:rPr lang="hu-HU" sz="3400" dirty="0" err="1" smtClean="0"/>
              <a:t>the</a:t>
            </a:r>
            <a:r>
              <a:rPr lang="hu-HU" sz="3400" dirty="0" smtClean="0"/>
              <a:t> </a:t>
            </a:r>
            <a:r>
              <a:rPr lang="hu-HU" sz="3400" dirty="0" err="1" smtClean="0"/>
              <a:t>encoder</a:t>
            </a:r>
            <a:r>
              <a:rPr lang="hu-HU" sz="3400" dirty="0" smtClean="0"/>
              <a:t> and </a:t>
            </a:r>
            <a:r>
              <a:rPr lang="hu-HU" sz="3400" dirty="0" err="1" smtClean="0"/>
              <a:t>the</a:t>
            </a:r>
            <a:r>
              <a:rPr lang="hu-HU" sz="3400" dirty="0" smtClean="0"/>
              <a:t> </a:t>
            </a:r>
            <a:r>
              <a:rPr lang="hu-HU" sz="3400" dirty="0" err="1" smtClean="0"/>
              <a:t>decoder</a:t>
            </a:r>
            <a:r>
              <a:rPr lang="hu-HU" sz="3400" dirty="0" smtClean="0"/>
              <a:t> (</a:t>
            </a:r>
            <a:r>
              <a:rPr lang="hu-HU" sz="3400" dirty="0" err="1" smtClean="0"/>
              <a:t>lower</a:t>
            </a:r>
            <a:r>
              <a:rPr lang="hu-HU" sz="3400" dirty="0" smtClean="0"/>
              <a:t> </a:t>
            </a:r>
            <a:r>
              <a:rPr lang="hu-HU" sz="3400" dirty="0" err="1" smtClean="0"/>
              <a:t>multi-head</a:t>
            </a:r>
            <a:r>
              <a:rPr lang="hu-HU" sz="3400" dirty="0" smtClean="0"/>
              <a:t> </a:t>
            </a:r>
            <a:r>
              <a:rPr lang="hu-HU" sz="3400" dirty="0" err="1" smtClean="0"/>
              <a:t>attentions</a:t>
            </a:r>
            <a:r>
              <a:rPr lang="hu-HU" sz="3400" dirty="0" smtClean="0"/>
              <a:t>), </a:t>
            </a:r>
            <a:r>
              <a:rPr lang="hu-HU" sz="3400" dirty="0" err="1" smtClean="0"/>
              <a:t>but</a:t>
            </a:r>
            <a:r>
              <a:rPr lang="hu-HU" sz="3400" dirty="0" smtClean="0"/>
              <a:t> </a:t>
            </a:r>
            <a:r>
              <a:rPr lang="hu-HU" sz="3400" dirty="0" err="1" smtClean="0"/>
              <a:t>in</a:t>
            </a:r>
            <a:r>
              <a:rPr lang="hu-HU" sz="3400" dirty="0" smtClean="0"/>
              <a:t> </a:t>
            </a:r>
            <a:r>
              <a:rPr lang="hu-HU" sz="3400" dirty="0" err="1" smtClean="0"/>
              <a:t>addition</a:t>
            </a:r>
            <a:r>
              <a:rPr lang="hu-HU" sz="3400" dirty="0" smtClean="0"/>
              <a:t>, </a:t>
            </a:r>
            <a:r>
              <a:rPr lang="hu-HU" sz="3400" dirty="0" err="1" smtClean="0"/>
              <a:t>the</a:t>
            </a:r>
            <a:r>
              <a:rPr lang="hu-HU" sz="3400" dirty="0" smtClean="0"/>
              <a:t> </a:t>
            </a:r>
            <a:r>
              <a:rPr lang="hu-HU" sz="3400" dirty="0" err="1" smtClean="0"/>
              <a:t>decoder</a:t>
            </a:r>
            <a:r>
              <a:rPr lang="hu-HU" sz="3400" dirty="0" smtClean="0"/>
              <a:t> </a:t>
            </a:r>
            <a:r>
              <a:rPr lang="hu-HU" sz="3400" dirty="0" err="1" smtClean="0"/>
              <a:t>uses</a:t>
            </a:r>
            <a:r>
              <a:rPr lang="hu-HU" sz="3400" dirty="0" smtClean="0"/>
              <a:t> </a:t>
            </a:r>
            <a:r>
              <a:rPr lang="hu-HU" sz="3400" dirty="0" err="1" smtClean="0"/>
              <a:t>another</a:t>
            </a:r>
            <a:r>
              <a:rPr lang="hu-HU" sz="3400" dirty="0" smtClean="0"/>
              <a:t> </a:t>
            </a:r>
            <a:r>
              <a:rPr lang="hu-HU" sz="3400" dirty="0" err="1" smtClean="0"/>
              <a:t>type</a:t>
            </a:r>
            <a:r>
              <a:rPr lang="hu-HU" sz="3400" dirty="0" smtClean="0"/>
              <a:t> of </a:t>
            </a:r>
            <a:r>
              <a:rPr lang="hu-HU" sz="3400" dirty="0" err="1" smtClean="0"/>
              <a:t>encoder-decoder</a:t>
            </a:r>
            <a:r>
              <a:rPr lang="hu-HU" sz="3400" dirty="0" smtClean="0"/>
              <a:t> </a:t>
            </a:r>
            <a:r>
              <a:rPr lang="hu-HU" sz="3400" dirty="0" err="1" smtClean="0"/>
              <a:t>attention</a:t>
            </a:r>
            <a:r>
              <a:rPr lang="hu-HU" sz="3400" dirty="0" smtClean="0"/>
              <a:t> </a:t>
            </a:r>
            <a:r>
              <a:rPr lang="hu-HU" sz="3400" dirty="0" err="1" smtClean="0"/>
              <a:t>layer</a:t>
            </a:r>
            <a:r>
              <a:rPr lang="hu-HU" sz="3400" dirty="0" smtClean="0"/>
              <a:t>:</a:t>
            </a:r>
          </a:p>
          <a:p>
            <a:pPr lvl="1"/>
            <a:r>
              <a:rPr lang="hu-HU" sz="2900" dirty="0" err="1" smtClean="0"/>
              <a:t>queries</a:t>
            </a:r>
            <a:r>
              <a:rPr lang="hu-HU" sz="2900" dirty="0" smtClean="0"/>
              <a:t> </a:t>
            </a:r>
            <a:r>
              <a:rPr lang="hu-HU" sz="2900" dirty="0" err="1" smtClean="0"/>
              <a:t>come</a:t>
            </a:r>
            <a:r>
              <a:rPr lang="hu-HU" sz="2900" dirty="0" smtClean="0"/>
              <a:t> </a:t>
            </a:r>
            <a:r>
              <a:rPr lang="hu-HU" sz="2900" dirty="0" err="1" smtClean="0"/>
              <a:t>from</a:t>
            </a:r>
            <a:r>
              <a:rPr lang="hu-HU" sz="2900" dirty="0" smtClean="0"/>
              <a:t> </a:t>
            </a:r>
            <a:r>
              <a:rPr lang="hu-HU" sz="2900" dirty="0" err="1" smtClean="0"/>
              <a:t>the</a:t>
            </a:r>
            <a:r>
              <a:rPr lang="hu-HU" sz="2900" dirty="0" smtClean="0"/>
              <a:t> </a:t>
            </a:r>
            <a:r>
              <a:rPr lang="hu-HU" sz="2900" dirty="0" err="1" smtClean="0"/>
              <a:t>previous</a:t>
            </a:r>
            <a:r>
              <a:rPr lang="hu-HU" sz="2900" dirty="0" smtClean="0"/>
              <a:t> </a:t>
            </a:r>
            <a:r>
              <a:rPr lang="hu-HU" sz="2900" dirty="0" err="1" smtClean="0"/>
              <a:t>decoder</a:t>
            </a:r>
            <a:r>
              <a:rPr lang="hu-HU" sz="2900" dirty="0" smtClean="0"/>
              <a:t> </a:t>
            </a:r>
            <a:r>
              <a:rPr lang="hu-HU" sz="2900" dirty="0" err="1" smtClean="0"/>
              <a:t>self-attention</a:t>
            </a:r>
            <a:r>
              <a:rPr lang="hu-HU" sz="2900" dirty="0" smtClean="0"/>
              <a:t> </a:t>
            </a:r>
            <a:r>
              <a:rPr lang="hu-HU" sz="2900" dirty="0" err="1" smtClean="0"/>
              <a:t>layer</a:t>
            </a:r>
            <a:endParaRPr lang="hu-HU" sz="2900" dirty="0" smtClean="0"/>
          </a:p>
          <a:p>
            <a:pPr lvl="1"/>
            <a:r>
              <a:rPr lang="hu-HU" sz="2900" dirty="0" err="1" smtClean="0"/>
              <a:t>keys</a:t>
            </a:r>
            <a:r>
              <a:rPr lang="hu-HU" sz="2900" dirty="0" smtClean="0"/>
              <a:t> and </a:t>
            </a:r>
            <a:r>
              <a:rPr lang="hu-HU" sz="2900" dirty="0" err="1" smtClean="0"/>
              <a:t>values</a:t>
            </a:r>
            <a:r>
              <a:rPr lang="hu-HU" sz="2900" dirty="0" smtClean="0"/>
              <a:t> </a:t>
            </a:r>
            <a:r>
              <a:rPr lang="hu-HU" sz="2900" dirty="0" err="1" smtClean="0"/>
              <a:t>come</a:t>
            </a:r>
            <a:r>
              <a:rPr lang="hu-HU" sz="2900" dirty="0" smtClean="0"/>
              <a:t> </a:t>
            </a:r>
            <a:r>
              <a:rPr lang="hu-HU" sz="2900" dirty="0" err="1" smtClean="0"/>
              <a:t>from</a:t>
            </a:r>
            <a:r>
              <a:rPr lang="hu-HU" sz="2900" dirty="0" smtClean="0"/>
              <a:t> </a:t>
            </a:r>
            <a:r>
              <a:rPr lang="hu-HU" sz="2900" dirty="0" err="1" smtClean="0"/>
              <a:t>the</a:t>
            </a:r>
            <a:r>
              <a:rPr lang="hu-HU" sz="2900" dirty="0" smtClean="0"/>
              <a:t> </a:t>
            </a:r>
            <a:r>
              <a:rPr lang="hu-HU" sz="2900" dirty="0" err="1" smtClean="0"/>
              <a:t>encoder</a:t>
            </a:r>
            <a:r>
              <a:rPr lang="hu-HU" sz="2900" dirty="0" smtClean="0"/>
              <a:t>’s output</a:t>
            </a:r>
          </a:p>
          <a:p>
            <a:pPr lvl="1"/>
            <a:r>
              <a:rPr lang="hu-HU" sz="2900" dirty="0" err="1" smtClean="0"/>
              <a:t>this</a:t>
            </a:r>
            <a:r>
              <a:rPr lang="hu-HU" sz="2900" dirty="0" smtClean="0"/>
              <a:t> </a:t>
            </a:r>
            <a:r>
              <a:rPr lang="hu-HU" sz="2900" dirty="0" err="1" smtClean="0"/>
              <a:t>allows</a:t>
            </a:r>
            <a:r>
              <a:rPr lang="hu-HU" sz="2900" dirty="0" smtClean="0"/>
              <a:t> </a:t>
            </a:r>
            <a:r>
              <a:rPr lang="hu-HU" sz="2900" dirty="0" err="1" smtClean="0"/>
              <a:t>each</a:t>
            </a:r>
            <a:r>
              <a:rPr lang="hu-HU" sz="2900" dirty="0" smtClean="0"/>
              <a:t> </a:t>
            </a:r>
            <a:r>
              <a:rPr lang="hu-HU" sz="2900" dirty="0" err="1" smtClean="0"/>
              <a:t>token</a:t>
            </a:r>
            <a:r>
              <a:rPr lang="hu-HU" sz="2900" dirty="0" smtClean="0"/>
              <a:t> </a:t>
            </a:r>
            <a:r>
              <a:rPr lang="hu-HU" sz="2900" dirty="0" err="1" smtClean="0"/>
              <a:t>in</a:t>
            </a:r>
            <a:r>
              <a:rPr lang="hu-HU" sz="2900" dirty="0" smtClean="0"/>
              <a:t> </a:t>
            </a:r>
            <a:r>
              <a:rPr lang="hu-HU" sz="2900" dirty="0" err="1" smtClean="0"/>
              <a:t>the</a:t>
            </a:r>
            <a:r>
              <a:rPr lang="hu-HU" sz="2900" dirty="0" smtClean="0"/>
              <a:t> </a:t>
            </a:r>
            <a:r>
              <a:rPr lang="hu-HU" sz="2900" dirty="0" err="1" smtClean="0"/>
              <a:t>decoder</a:t>
            </a:r>
            <a:r>
              <a:rPr lang="hu-HU" sz="2900" dirty="0" smtClean="0"/>
              <a:t> </a:t>
            </a:r>
            <a:r>
              <a:rPr lang="hu-HU" sz="2900" dirty="0" err="1" smtClean="0"/>
              <a:t>to</a:t>
            </a:r>
            <a:r>
              <a:rPr lang="hu-HU" sz="2900" dirty="0" smtClean="0"/>
              <a:t> </a:t>
            </a:r>
            <a:r>
              <a:rPr lang="hu-HU" sz="2900" dirty="0" err="1" smtClean="0"/>
              <a:t>attend</a:t>
            </a:r>
            <a:r>
              <a:rPr lang="hu-HU" sz="2900" dirty="0" smtClean="0"/>
              <a:t> </a:t>
            </a:r>
            <a:r>
              <a:rPr lang="hu-HU" sz="2900" dirty="0" err="1" smtClean="0"/>
              <a:t>to</a:t>
            </a:r>
            <a:r>
              <a:rPr lang="hu-HU" sz="2900" dirty="0" smtClean="0"/>
              <a:t> </a:t>
            </a:r>
            <a:r>
              <a:rPr lang="hu-HU" sz="2900" dirty="0" err="1" smtClean="0"/>
              <a:t>all</a:t>
            </a:r>
            <a:r>
              <a:rPr lang="hu-HU" sz="2900" dirty="0" smtClean="0"/>
              <a:t> </a:t>
            </a:r>
            <a:r>
              <a:rPr lang="hu-HU" sz="2900" dirty="0" err="1" smtClean="0"/>
              <a:t>tokens</a:t>
            </a:r>
            <a:r>
              <a:rPr lang="hu-HU" sz="2900" dirty="0" smtClean="0"/>
              <a:t> </a:t>
            </a:r>
            <a:r>
              <a:rPr lang="hu-HU" sz="2900" dirty="0" err="1" smtClean="0"/>
              <a:t>in</a:t>
            </a:r>
            <a:r>
              <a:rPr lang="hu-HU" sz="2900" dirty="0" smtClean="0"/>
              <a:t> </a:t>
            </a:r>
            <a:r>
              <a:rPr lang="hu-HU" sz="2900" dirty="0" err="1" smtClean="0"/>
              <a:t>the</a:t>
            </a:r>
            <a:r>
              <a:rPr lang="hu-HU" sz="2900" dirty="0" smtClean="0"/>
              <a:t> </a:t>
            </a:r>
            <a:r>
              <a:rPr lang="hu-HU" sz="2900" dirty="0" err="1" smtClean="0"/>
              <a:t>encoder</a:t>
            </a:r>
            <a:endParaRPr lang="hu-HU" sz="2900" dirty="0" smtClean="0"/>
          </a:p>
          <a:p>
            <a:r>
              <a:rPr lang="hu-HU" sz="3300" dirty="0" smtClean="0"/>
              <a:t>The output </a:t>
            </a:r>
            <a:r>
              <a:rPr lang="hu-HU" sz="3300" dirty="0" err="1" smtClean="0"/>
              <a:t>starts</a:t>
            </a:r>
            <a:r>
              <a:rPr lang="hu-HU" sz="3300" dirty="0" smtClean="0"/>
              <a:t> out </a:t>
            </a:r>
            <a:r>
              <a:rPr lang="hu-HU" sz="3300" dirty="0" err="1" smtClean="0"/>
              <a:t>empty</a:t>
            </a:r>
            <a:r>
              <a:rPr lang="hu-HU" sz="3300" dirty="0" smtClean="0"/>
              <a:t> and is </a:t>
            </a:r>
            <a:r>
              <a:rPr lang="hu-HU" sz="3300" dirty="0" err="1" smtClean="0"/>
              <a:t>generated</a:t>
            </a:r>
            <a:r>
              <a:rPr lang="hu-HU" sz="3300" dirty="0" smtClean="0"/>
              <a:t> </a:t>
            </a:r>
            <a:r>
              <a:rPr lang="hu-HU" sz="3300" dirty="0" err="1" smtClean="0"/>
              <a:t>one</a:t>
            </a:r>
            <a:r>
              <a:rPr lang="hu-HU" sz="3300" dirty="0" smtClean="0"/>
              <a:t> </a:t>
            </a:r>
            <a:r>
              <a:rPr lang="hu-HU" sz="3300" dirty="0" err="1" smtClean="0"/>
              <a:t>token</a:t>
            </a:r>
            <a:r>
              <a:rPr lang="hu-HU" sz="3300" dirty="0" smtClean="0"/>
              <a:t> </a:t>
            </a:r>
            <a:r>
              <a:rPr lang="hu-HU" sz="3300" dirty="0" err="1" smtClean="0"/>
              <a:t>at</a:t>
            </a:r>
            <a:r>
              <a:rPr lang="hu-HU" sz="3300" dirty="0" smtClean="0"/>
              <a:t> a </a:t>
            </a:r>
            <a:r>
              <a:rPr lang="hu-HU" sz="3300" dirty="0" err="1" smtClean="0"/>
              <a:t>time</a:t>
            </a:r>
            <a:r>
              <a:rPr lang="hu-HU" sz="3300" dirty="0" smtClean="0"/>
              <a:t>.</a:t>
            </a:r>
          </a:p>
          <a:p>
            <a:r>
              <a:rPr lang="hu-HU" sz="3300" dirty="0" err="1" smtClean="0"/>
              <a:t>Encoder-decoder</a:t>
            </a:r>
            <a:r>
              <a:rPr lang="hu-HU" sz="3300" dirty="0" smtClean="0"/>
              <a:t>, seq2seq </a:t>
            </a:r>
            <a:r>
              <a:rPr lang="hu-HU" sz="3300" dirty="0" err="1" smtClean="0"/>
              <a:t>transformer</a:t>
            </a:r>
            <a:r>
              <a:rPr lang="hu-HU" sz="3300" dirty="0" smtClean="0"/>
              <a:t> </a:t>
            </a:r>
            <a:r>
              <a:rPr lang="hu-HU" sz="3300" dirty="0" err="1" smtClean="0"/>
              <a:t>architecture</a:t>
            </a:r>
            <a:r>
              <a:rPr lang="hu-HU" sz="3300" dirty="0" smtClean="0"/>
              <a:t>.</a:t>
            </a:r>
            <a:endParaRPr lang="en-GB" sz="3300" dirty="0"/>
          </a:p>
        </p:txBody>
      </p:sp>
      <p:pic>
        <p:nvPicPr>
          <p:cNvPr id="307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0153" y="1657262"/>
            <a:ext cx="2880320" cy="44860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47014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Autofit/>
          </a:bodyPr>
          <a:lstStyle/>
          <a:p>
            <a:r>
              <a:rPr lang="hu-HU" sz="3600" dirty="0" smtClean="0"/>
              <a:t>Input, Output and </a:t>
            </a:r>
            <a:r>
              <a:rPr lang="hu-HU" sz="3600" dirty="0" err="1" smtClean="0"/>
              <a:t>Positional</a:t>
            </a:r>
            <a:r>
              <a:rPr lang="hu-HU" sz="3600" dirty="0" smtClean="0"/>
              <a:t> </a:t>
            </a:r>
            <a:r>
              <a:rPr lang="hu-HU" sz="3600" dirty="0" err="1" smtClean="0"/>
              <a:t>Embeddings</a:t>
            </a:r>
            <a:endParaRPr lang="en-GB" sz="3600" dirty="0"/>
          </a:p>
        </p:txBody>
      </p:sp>
      <p:sp>
        <p:nvSpPr>
          <p:cNvPr id="3" name="Tartalom helye 2"/>
          <p:cNvSpPr>
            <a:spLocks noGrp="1"/>
          </p:cNvSpPr>
          <p:nvPr>
            <p:ph idx="1"/>
          </p:nvPr>
        </p:nvSpPr>
        <p:spPr>
          <a:xfrm>
            <a:off x="457200" y="1600200"/>
            <a:ext cx="8229600" cy="4637112"/>
          </a:xfrm>
        </p:spPr>
        <p:txBody>
          <a:bodyPr>
            <a:normAutofit fontScale="55000" lnSpcReduction="20000"/>
          </a:bodyPr>
          <a:lstStyle/>
          <a:p>
            <a:r>
              <a:rPr lang="hu-HU" dirty="0" err="1" smtClean="0"/>
              <a:t>Before</a:t>
            </a:r>
            <a:r>
              <a:rPr lang="hu-HU" dirty="0" smtClean="0"/>
              <a:t> </a:t>
            </a:r>
            <a:r>
              <a:rPr lang="hu-HU" dirty="0" err="1" smtClean="0"/>
              <a:t>the</a:t>
            </a:r>
            <a:r>
              <a:rPr lang="hu-HU" dirty="0" smtClean="0"/>
              <a:t> </a:t>
            </a:r>
            <a:r>
              <a:rPr lang="hu-HU" dirty="0" err="1" smtClean="0"/>
              <a:t>first</a:t>
            </a:r>
            <a:r>
              <a:rPr lang="hu-HU" dirty="0" smtClean="0"/>
              <a:t> </a:t>
            </a:r>
            <a:r>
              <a:rPr lang="hu-HU" dirty="0" err="1" smtClean="0"/>
              <a:t>transformer</a:t>
            </a:r>
            <a:r>
              <a:rPr lang="hu-HU" dirty="0" smtClean="0"/>
              <a:t> </a:t>
            </a:r>
            <a:r>
              <a:rPr lang="hu-HU" dirty="0" err="1" smtClean="0"/>
              <a:t>block</a:t>
            </a:r>
            <a:r>
              <a:rPr lang="hu-HU" dirty="0" smtClean="0"/>
              <a:t>, </a:t>
            </a:r>
            <a:r>
              <a:rPr lang="hu-HU" dirty="0" err="1" smtClean="0"/>
              <a:t>both</a:t>
            </a:r>
            <a:r>
              <a:rPr lang="hu-HU" dirty="0" smtClean="0"/>
              <a:t> </a:t>
            </a:r>
            <a:r>
              <a:rPr lang="hu-HU" dirty="0" err="1" smtClean="0"/>
              <a:t>the</a:t>
            </a:r>
            <a:r>
              <a:rPr lang="hu-HU" dirty="0" smtClean="0"/>
              <a:t> </a:t>
            </a:r>
            <a:r>
              <a:rPr lang="hu-HU" dirty="0" err="1" smtClean="0"/>
              <a:t>encoder</a:t>
            </a:r>
            <a:r>
              <a:rPr lang="hu-HU" dirty="0" smtClean="0"/>
              <a:t> and </a:t>
            </a:r>
            <a:r>
              <a:rPr lang="hu-HU" dirty="0" err="1" smtClean="0"/>
              <a:t>the</a:t>
            </a:r>
            <a:r>
              <a:rPr lang="hu-HU" dirty="0" smtClean="0"/>
              <a:t> </a:t>
            </a:r>
            <a:r>
              <a:rPr lang="hu-HU" dirty="0" err="1" smtClean="0"/>
              <a:t>decoder</a:t>
            </a:r>
            <a:r>
              <a:rPr lang="hu-HU" dirty="0" smtClean="0"/>
              <a:t> </a:t>
            </a:r>
            <a:r>
              <a:rPr lang="hu-HU" dirty="0" err="1" smtClean="0"/>
              <a:t>half</a:t>
            </a:r>
            <a:r>
              <a:rPr lang="hu-HU" dirty="0" smtClean="0"/>
              <a:t> of </a:t>
            </a:r>
            <a:r>
              <a:rPr lang="hu-HU" dirty="0" err="1" smtClean="0"/>
              <a:t>the</a:t>
            </a:r>
            <a:r>
              <a:rPr lang="hu-HU" dirty="0" smtClean="0"/>
              <a:t> </a:t>
            </a:r>
            <a:r>
              <a:rPr lang="hu-HU" dirty="0" err="1" smtClean="0"/>
              <a:t>transformer</a:t>
            </a:r>
            <a:r>
              <a:rPr lang="hu-HU" dirty="0" smtClean="0"/>
              <a:t> </a:t>
            </a:r>
            <a:r>
              <a:rPr lang="hu-HU" dirty="0" err="1" smtClean="0"/>
              <a:t>architecture</a:t>
            </a:r>
            <a:r>
              <a:rPr lang="hu-HU" dirty="0" smtClean="0"/>
              <a:t> </a:t>
            </a:r>
            <a:r>
              <a:rPr lang="hu-HU" dirty="0" err="1" smtClean="0"/>
              <a:t>contain</a:t>
            </a:r>
            <a:r>
              <a:rPr lang="hu-HU" dirty="0" smtClean="0"/>
              <a:t> a </a:t>
            </a:r>
            <a:r>
              <a:rPr lang="hu-HU" dirty="0" err="1" smtClean="0"/>
              <a:t>so-called</a:t>
            </a:r>
            <a:r>
              <a:rPr lang="hu-HU" dirty="0" smtClean="0"/>
              <a:t> </a:t>
            </a:r>
            <a:r>
              <a:rPr lang="hu-HU" b="1" dirty="0" err="1" smtClean="0"/>
              <a:t>embedding</a:t>
            </a:r>
            <a:r>
              <a:rPr lang="hu-HU" b="1" dirty="0" smtClean="0"/>
              <a:t> </a:t>
            </a:r>
            <a:r>
              <a:rPr lang="hu-HU" b="1" dirty="0" err="1" smtClean="0"/>
              <a:t>layer</a:t>
            </a:r>
            <a:r>
              <a:rPr lang="hu-HU" dirty="0" smtClean="0"/>
              <a:t>.</a:t>
            </a:r>
          </a:p>
          <a:p>
            <a:pPr lvl="1"/>
            <a:r>
              <a:rPr lang="hu-HU" dirty="0" smtClean="0"/>
              <a:t>The input </a:t>
            </a:r>
            <a:r>
              <a:rPr lang="hu-HU" dirty="0" err="1" smtClean="0"/>
              <a:t>embedding</a:t>
            </a:r>
            <a:r>
              <a:rPr lang="hu-HU" dirty="0" smtClean="0"/>
              <a:t> </a:t>
            </a:r>
            <a:r>
              <a:rPr lang="hu-HU" dirty="0" err="1" smtClean="0"/>
              <a:t>layer</a:t>
            </a:r>
            <a:r>
              <a:rPr lang="hu-HU" dirty="0" smtClean="0"/>
              <a:t> </a:t>
            </a:r>
            <a:r>
              <a:rPr lang="hu-HU" dirty="0" err="1" smtClean="0"/>
              <a:t>maps</a:t>
            </a:r>
            <a:r>
              <a:rPr lang="hu-HU" dirty="0" smtClean="0"/>
              <a:t> </a:t>
            </a:r>
            <a:r>
              <a:rPr lang="hu-HU" dirty="0" err="1" smtClean="0"/>
              <a:t>each</a:t>
            </a:r>
            <a:r>
              <a:rPr lang="hu-HU" dirty="0" smtClean="0"/>
              <a:t> </a:t>
            </a:r>
            <a:r>
              <a:rPr lang="hu-HU" dirty="0" err="1" smtClean="0"/>
              <a:t>token</a:t>
            </a:r>
            <a:r>
              <a:rPr lang="hu-HU" dirty="0" smtClean="0"/>
              <a:t> </a:t>
            </a:r>
            <a:r>
              <a:rPr lang="hu-HU" dirty="0" err="1" smtClean="0"/>
              <a:t>in</a:t>
            </a:r>
            <a:r>
              <a:rPr lang="hu-HU" dirty="0" smtClean="0"/>
              <a:t> </a:t>
            </a:r>
            <a:r>
              <a:rPr lang="hu-HU" dirty="0" err="1" smtClean="0"/>
              <a:t>the</a:t>
            </a:r>
            <a:r>
              <a:rPr lang="hu-HU" dirty="0" smtClean="0"/>
              <a:t> </a:t>
            </a:r>
            <a:r>
              <a:rPr lang="hu-HU" dirty="0" err="1" smtClean="0"/>
              <a:t>input</a:t>
            </a:r>
            <a:r>
              <a:rPr lang="hu-HU" dirty="0" smtClean="0"/>
              <a:t> </a:t>
            </a:r>
            <a:r>
              <a:rPr lang="hu-HU" dirty="0" err="1" smtClean="0"/>
              <a:t>to</a:t>
            </a:r>
            <a:r>
              <a:rPr lang="hu-HU" dirty="0" smtClean="0"/>
              <a:t> a </a:t>
            </a:r>
            <a:r>
              <a:rPr lang="hu-HU" b="1" dirty="0" err="1" smtClean="0"/>
              <a:t>k-dimensional</a:t>
            </a:r>
            <a:r>
              <a:rPr lang="hu-HU" b="1" dirty="0" smtClean="0"/>
              <a:t> </a:t>
            </a:r>
            <a:r>
              <a:rPr lang="hu-HU" b="1" dirty="0" err="1" smtClean="0"/>
              <a:t>vector</a:t>
            </a:r>
            <a:r>
              <a:rPr lang="hu-HU" b="1" dirty="0" smtClean="0"/>
              <a:t> </a:t>
            </a:r>
            <a:r>
              <a:rPr lang="hu-HU" b="1" dirty="0" err="1" smtClean="0"/>
              <a:t>representation</a:t>
            </a:r>
            <a:r>
              <a:rPr lang="hu-HU" b="1" dirty="0" smtClean="0"/>
              <a:t> of </a:t>
            </a:r>
            <a:r>
              <a:rPr lang="hu-HU" b="1" dirty="0" err="1" smtClean="0"/>
              <a:t>that</a:t>
            </a:r>
            <a:r>
              <a:rPr lang="hu-HU" b="1" dirty="0" smtClean="0"/>
              <a:t> </a:t>
            </a:r>
            <a:r>
              <a:rPr lang="hu-HU" b="1" dirty="0" err="1" smtClean="0"/>
              <a:t>token</a:t>
            </a:r>
            <a:r>
              <a:rPr lang="hu-HU" dirty="0" smtClean="0"/>
              <a:t>.</a:t>
            </a:r>
            <a:endParaRPr lang="hu-HU" dirty="0"/>
          </a:p>
          <a:p>
            <a:pPr lvl="1"/>
            <a:r>
              <a:rPr lang="hu-HU" dirty="0" err="1" smtClean="0"/>
              <a:t>Same</a:t>
            </a:r>
            <a:r>
              <a:rPr lang="hu-HU" dirty="0" smtClean="0"/>
              <a:t> </a:t>
            </a:r>
            <a:r>
              <a:rPr lang="hu-HU" dirty="0" err="1" smtClean="0"/>
              <a:t>for</a:t>
            </a:r>
            <a:r>
              <a:rPr lang="hu-HU" dirty="0" smtClean="0"/>
              <a:t> </a:t>
            </a:r>
            <a:r>
              <a:rPr lang="hu-HU" dirty="0" err="1" smtClean="0"/>
              <a:t>the</a:t>
            </a:r>
            <a:r>
              <a:rPr lang="hu-HU" dirty="0" smtClean="0"/>
              <a:t> output </a:t>
            </a:r>
            <a:r>
              <a:rPr lang="hu-HU" dirty="0" err="1" smtClean="0"/>
              <a:t>embedding</a:t>
            </a:r>
            <a:r>
              <a:rPr lang="hu-HU" dirty="0" smtClean="0"/>
              <a:t> </a:t>
            </a:r>
            <a:r>
              <a:rPr lang="hu-HU" dirty="0" err="1" smtClean="0"/>
              <a:t>layer</a:t>
            </a:r>
            <a:r>
              <a:rPr lang="hu-HU" dirty="0" smtClean="0"/>
              <a:t>.</a:t>
            </a:r>
          </a:p>
          <a:p>
            <a:pPr lvl="2"/>
            <a:r>
              <a:rPr lang="hu-HU" dirty="0" err="1" smtClean="0"/>
              <a:t>This</a:t>
            </a:r>
            <a:r>
              <a:rPr lang="hu-HU" dirty="0" smtClean="0"/>
              <a:t> is a </a:t>
            </a:r>
            <a:r>
              <a:rPr lang="hu-HU" dirty="0" err="1" smtClean="0"/>
              <a:t>different</a:t>
            </a:r>
            <a:r>
              <a:rPr lang="hu-HU" dirty="0" smtClean="0"/>
              <a:t>, </a:t>
            </a:r>
            <a:r>
              <a:rPr lang="hu-HU" dirty="0" err="1" smtClean="0"/>
              <a:t>target-language</a:t>
            </a:r>
            <a:r>
              <a:rPr lang="hu-HU" dirty="0" smtClean="0"/>
              <a:t> </a:t>
            </a:r>
            <a:r>
              <a:rPr lang="hu-HU" dirty="0" err="1" smtClean="0"/>
              <a:t>embedding</a:t>
            </a:r>
            <a:r>
              <a:rPr lang="hu-HU" dirty="0" smtClean="0"/>
              <a:t> </a:t>
            </a:r>
            <a:r>
              <a:rPr lang="hu-HU" dirty="0" err="1" smtClean="0"/>
              <a:t>dictionary</a:t>
            </a:r>
            <a:r>
              <a:rPr lang="hu-HU" dirty="0" smtClean="0"/>
              <a:t>.</a:t>
            </a:r>
          </a:p>
          <a:p>
            <a:pPr lvl="1"/>
            <a:r>
              <a:rPr lang="hu-HU" dirty="0" smtClean="0"/>
              <a:t>The </a:t>
            </a:r>
            <a:r>
              <a:rPr lang="hu-HU" dirty="0" err="1" smtClean="0"/>
              <a:t>embedding</a:t>
            </a:r>
            <a:r>
              <a:rPr lang="hu-HU" dirty="0" smtClean="0"/>
              <a:t> </a:t>
            </a:r>
            <a:r>
              <a:rPr lang="hu-HU" dirty="0" err="1" smtClean="0"/>
              <a:t>layer</a:t>
            </a:r>
            <a:r>
              <a:rPr lang="hu-HU" dirty="0" smtClean="0"/>
              <a:t> is </a:t>
            </a:r>
            <a:r>
              <a:rPr lang="hu-HU" b="1" dirty="0" err="1" smtClean="0"/>
              <a:t>learned</a:t>
            </a:r>
            <a:r>
              <a:rPr lang="hu-HU" b="1" dirty="0" smtClean="0"/>
              <a:t> </a:t>
            </a:r>
            <a:r>
              <a:rPr lang="hu-HU" b="1" dirty="0" err="1" smtClean="0"/>
              <a:t>during</a:t>
            </a:r>
            <a:r>
              <a:rPr lang="hu-HU" b="1" dirty="0" smtClean="0"/>
              <a:t> </a:t>
            </a:r>
            <a:r>
              <a:rPr lang="hu-HU" b="1" dirty="0" err="1" smtClean="0"/>
              <a:t>training</a:t>
            </a:r>
            <a:r>
              <a:rPr lang="hu-HU" b="1" dirty="0" smtClean="0"/>
              <a:t> of </a:t>
            </a:r>
            <a:r>
              <a:rPr lang="hu-HU" b="1" dirty="0" err="1" smtClean="0"/>
              <a:t>the</a:t>
            </a:r>
            <a:r>
              <a:rPr lang="hu-HU" b="1" dirty="0" smtClean="0"/>
              <a:t> </a:t>
            </a:r>
            <a:r>
              <a:rPr lang="hu-HU" b="1" dirty="0" err="1" smtClean="0"/>
              <a:t>model</a:t>
            </a:r>
            <a:r>
              <a:rPr lang="hu-HU" dirty="0" smtClean="0"/>
              <a:t>.</a:t>
            </a:r>
          </a:p>
          <a:p>
            <a:pPr lvl="1"/>
            <a:r>
              <a:rPr lang="hu-HU" dirty="0" err="1" smtClean="0"/>
              <a:t>These</a:t>
            </a:r>
            <a:r>
              <a:rPr lang="hu-HU" dirty="0" smtClean="0"/>
              <a:t> </a:t>
            </a:r>
            <a:r>
              <a:rPr lang="hu-HU" dirty="0" err="1" smtClean="0"/>
              <a:t>are</a:t>
            </a:r>
            <a:r>
              <a:rPr lang="hu-HU" dirty="0" smtClean="0"/>
              <a:t> </a:t>
            </a:r>
            <a:r>
              <a:rPr lang="hu-HU" b="1" dirty="0" err="1" smtClean="0"/>
              <a:t>context-independent</a:t>
            </a:r>
            <a:r>
              <a:rPr lang="hu-HU" b="1" dirty="0" smtClean="0"/>
              <a:t> </a:t>
            </a:r>
            <a:r>
              <a:rPr lang="hu-HU" b="1" dirty="0" err="1" smtClean="0"/>
              <a:t>representations</a:t>
            </a:r>
            <a:r>
              <a:rPr lang="hu-HU" b="1" dirty="0" smtClean="0"/>
              <a:t> </a:t>
            </a:r>
            <a:r>
              <a:rPr lang="hu-HU" dirty="0" smtClean="0"/>
              <a:t>of a </a:t>
            </a:r>
            <a:r>
              <a:rPr lang="hu-HU" dirty="0" err="1" smtClean="0"/>
              <a:t>token</a:t>
            </a:r>
            <a:r>
              <a:rPr lang="hu-HU" dirty="0" smtClean="0"/>
              <a:t> </a:t>
            </a:r>
            <a:r>
              <a:rPr lang="hu-HU" dirty="0" err="1" smtClean="0"/>
              <a:t>form</a:t>
            </a:r>
            <a:endParaRPr lang="hu-HU" dirty="0" smtClean="0"/>
          </a:p>
          <a:p>
            <a:pPr lvl="2"/>
            <a:r>
              <a:rPr lang="hu-HU" dirty="0" err="1" smtClean="0"/>
              <a:t>the</a:t>
            </a:r>
            <a:r>
              <a:rPr lang="hu-HU" dirty="0" smtClean="0"/>
              <a:t> </a:t>
            </a:r>
            <a:r>
              <a:rPr lang="hu-HU" dirty="0" err="1" smtClean="0"/>
              <a:t>same</a:t>
            </a:r>
            <a:r>
              <a:rPr lang="hu-HU" dirty="0" smtClean="0"/>
              <a:t> </a:t>
            </a:r>
            <a:r>
              <a:rPr lang="hu-HU" dirty="0" err="1" smtClean="0"/>
              <a:t>token</a:t>
            </a:r>
            <a:r>
              <a:rPr lang="hu-HU" dirty="0" smtClean="0"/>
              <a:t> </a:t>
            </a:r>
            <a:r>
              <a:rPr lang="hu-HU" dirty="0" err="1" smtClean="0"/>
              <a:t>form</a:t>
            </a:r>
            <a:r>
              <a:rPr lang="hu-HU" dirty="0" smtClean="0"/>
              <a:t> </a:t>
            </a:r>
            <a:r>
              <a:rPr lang="hu-HU" dirty="0" err="1" smtClean="0"/>
              <a:t>appearing</a:t>
            </a:r>
            <a:r>
              <a:rPr lang="hu-HU" dirty="0" smtClean="0"/>
              <a:t> </a:t>
            </a:r>
            <a:r>
              <a:rPr lang="hu-HU" dirty="0" err="1" smtClean="0"/>
              <a:t>at</a:t>
            </a:r>
            <a:r>
              <a:rPr lang="hu-HU" dirty="0" smtClean="0"/>
              <a:t> </a:t>
            </a:r>
            <a:r>
              <a:rPr lang="hu-HU" dirty="0" err="1" smtClean="0"/>
              <a:t>different</a:t>
            </a:r>
            <a:r>
              <a:rPr lang="hu-HU" dirty="0" smtClean="0"/>
              <a:t> </a:t>
            </a:r>
            <a:r>
              <a:rPr lang="hu-HU" dirty="0" err="1" smtClean="0"/>
              <a:t>places</a:t>
            </a:r>
            <a:r>
              <a:rPr lang="hu-HU" dirty="0" smtClean="0"/>
              <a:t> </a:t>
            </a:r>
            <a:r>
              <a:rPr lang="hu-HU" dirty="0" err="1" smtClean="0"/>
              <a:t>in</a:t>
            </a:r>
            <a:r>
              <a:rPr lang="hu-HU" dirty="0" smtClean="0"/>
              <a:t> </a:t>
            </a:r>
            <a:r>
              <a:rPr lang="hu-HU" dirty="0" err="1" smtClean="0"/>
              <a:t>the</a:t>
            </a:r>
            <a:r>
              <a:rPr lang="hu-HU" dirty="0" smtClean="0"/>
              <a:t> corpus is </a:t>
            </a:r>
            <a:r>
              <a:rPr lang="hu-HU" dirty="0" err="1" smtClean="0"/>
              <a:t>mapped</a:t>
            </a:r>
            <a:r>
              <a:rPr lang="hu-HU" dirty="0" smtClean="0"/>
              <a:t> </a:t>
            </a:r>
            <a:r>
              <a:rPr lang="hu-HU" dirty="0" err="1" smtClean="0"/>
              <a:t>to</a:t>
            </a:r>
            <a:r>
              <a:rPr lang="hu-HU" dirty="0" smtClean="0"/>
              <a:t> </a:t>
            </a:r>
            <a:r>
              <a:rPr lang="hu-HU" dirty="0" err="1" smtClean="0"/>
              <a:t>the</a:t>
            </a:r>
            <a:r>
              <a:rPr lang="hu-HU" dirty="0" smtClean="0"/>
              <a:t> </a:t>
            </a:r>
            <a:r>
              <a:rPr lang="hu-HU" dirty="0" err="1" smtClean="0"/>
              <a:t>same</a:t>
            </a:r>
            <a:r>
              <a:rPr lang="hu-HU" dirty="0" smtClean="0"/>
              <a:t> </a:t>
            </a:r>
            <a:r>
              <a:rPr lang="hu-HU" dirty="0" err="1" smtClean="0"/>
              <a:t>vector</a:t>
            </a:r>
            <a:endParaRPr lang="hu-HU" dirty="0" smtClean="0"/>
          </a:p>
          <a:p>
            <a:pPr lvl="1"/>
            <a:r>
              <a:rPr lang="hu-HU" dirty="0" smtClean="0"/>
              <a:t>The </a:t>
            </a:r>
            <a:r>
              <a:rPr lang="hu-HU" dirty="0" err="1" smtClean="0"/>
              <a:t>embedding</a:t>
            </a:r>
            <a:r>
              <a:rPr lang="hu-HU" dirty="0" smtClean="0"/>
              <a:t> </a:t>
            </a:r>
            <a:r>
              <a:rPr lang="hu-HU" dirty="0" err="1" smtClean="0"/>
              <a:t>layer</a:t>
            </a:r>
            <a:r>
              <a:rPr lang="hu-HU" dirty="0" smtClean="0"/>
              <a:t> </a:t>
            </a:r>
            <a:r>
              <a:rPr lang="hu-HU" dirty="0" err="1" smtClean="0"/>
              <a:t>can</a:t>
            </a:r>
            <a:r>
              <a:rPr lang="hu-HU" dirty="0" smtClean="0"/>
              <a:t> be </a:t>
            </a:r>
            <a:r>
              <a:rPr lang="hu-HU" dirty="0" err="1" smtClean="0"/>
              <a:t>initialised</a:t>
            </a:r>
            <a:r>
              <a:rPr lang="hu-HU" dirty="0" smtClean="0"/>
              <a:t> </a:t>
            </a:r>
            <a:r>
              <a:rPr lang="hu-HU" dirty="0" err="1" smtClean="0"/>
              <a:t>using</a:t>
            </a:r>
            <a:r>
              <a:rPr lang="hu-HU" dirty="0" smtClean="0"/>
              <a:t> </a:t>
            </a:r>
            <a:r>
              <a:rPr lang="hu-HU" dirty="0" err="1" smtClean="0"/>
              <a:t>pre-trained</a:t>
            </a:r>
            <a:r>
              <a:rPr lang="hu-HU" dirty="0" smtClean="0"/>
              <a:t> </a:t>
            </a:r>
            <a:r>
              <a:rPr lang="hu-HU" dirty="0" err="1" smtClean="0"/>
              <a:t>vectors</a:t>
            </a:r>
            <a:r>
              <a:rPr lang="hu-HU" dirty="0" smtClean="0"/>
              <a:t> </a:t>
            </a:r>
            <a:r>
              <a:rPr lang="hu-HU" dirty="0" err="1" smtClean="0"/>
              <a:t>established</a:t>
            </a:r>
            <a:r>
              <a:rPr lang="hu-HU" dirty="0" smtClean="0"/>
              <a:t> </a:t>
            </a:r>
            <a:r>
              <a:rPr lang="hu-HU" dirty="0" err="1" smtClean="0"/>
              <a:t>using</a:t>
            </a:r>
            <a:r>
              <a:rPr lang="hu-HU" dirty="0" smtClean="0"/>
              <a:t> </a:t>
            </a:r>
            <a:r>
              <a:rPr lang="hu-HU" dirty="0" err="1" smtClean="0"/>
              <a:t>some</a:t>
            </a:r>
            <a:r>
              <a:rPr lang="hu-HU" dirty="0" smtClean="0"/>
              <a:t> </a:t>
            </a:r>
            <a:r>
              <a:rPr lang="hu-HU" dirty="0" err="1" smtClean="0"/>
              <a:t>word</a:t>
            </a:r>
            <a:r>
              <a:rPr lang="hu-HU" dirty="0" smtClean="0"/>
              <a:t> </a:t>
            </a:r>
            <a:r>
              <a:rPr lang="hu-HU" dirty="0" err="1" smtClean="0"/>
              <a:t>distribution-based</a:t>
            </a:r>
            <a:r>
              <a:rPr lang="hu-HU" dirty="0" smtClean="0"/>
              <a:t> software </a:t>
            </a:r>
            <a:r>
              <a:rPr lang="hu-HU" dirty="0" err="1" smtClean="0"/>
              <a:t>like</a:t>
            </a:r>
            <a:r>
              <a:rPr lang="hu-HU" dirty="0" smtClean="0"/>
              <a:t> word2vec.</a:t>
            </a:r>
          </a:p>
          <a:p>
            <a:r>
              <a:rPr lang="hu-HU" dirty="0" err="1" smtClean="0"/>
              <a:t>Furthermore</a:t>
            </a:r>
            <a:r>
              <a:rPr lang="hu-HU" dirty="0" smtClean="0"/>
              <a:t>, </a:t>
            </a:r>
            <a:r>
              <a:rPr lang="hu-HU" dirty="0" err="1" smtClean="0"/>
              <a:t>transformers</a:t>
            </a:r>
            <a:r>
              <a:rPr lang="hu-HU" dirty="0" smtClean="0"/>
              <a:t> add a </a:t>
            </a:r>
            <a:r>
              <a:rPr lang="hu-HU" dirty="0" err="1" smtClean="0"/>
              <a:t>so-called</a:t>
            </a:r>
            <a:r>
              <a:rPr lang="hu-HU" dirty="0" smtClean="0"/>
              <a:t> </a:t>
            </a:r>
            <a:r>
              <a:rPr lang="hu-HU" b="1" dirty="0" err="1" smtClean="0"/>
              <a:t>positional</a:t>
            </a:r>
            <a:r>
              <a:rPr lang="hu-HU" b="1" dirty="0" smtClean="0"/>
              <a:t> </a:t>
            </a:r>
            <a:r>
              <a:rPr lang="hu-HU" b="1" dirty="0" err="1" smtClean="0"/>
              <a:t>encoding</a:t>
            </a:r>
            <a:r>
              <a:rPr lang="hu-HU" b="1" dirty="0" smtClean="0"/>
              <a:t> </a:t>
            </a:r>
            <a:r>
              <a:rPr lang="hu-HU" dirty="0" smtClean="0"/>
              <a:t>(</a:t>
            </a:r>
            <a:r>
              <a:rPr lang="hu-HU" dirty="0" err="1" smtClean="0"/>
              <a:t>sometimes</a:t>
            </a:r>
            <a:r>
              <a:rPr lang="hu-HU" dirty="0" smtClean="0"/>
              <a:t> </a:t>
            </a:r>
            <a:r>
              <a:rPr lang="hu-HU" dirty="0" err="1" smtClean="0"/>
              <a:t>also</a:t>
            </a:r>
            <a:r>
              <a:rPr lang="hu-HU" dirty="0" smtClean="0"/>
              <a:t> </a:t>
            </a:r>
            <a:r>
              <a:rPr lang="hu-HU" dirty="0" err="1" smtClean="0"/>
              <a:t>called</a:t>
            </a:r>
            <a:r>
              <a:rPr lang="hu-HU" dirty="0" smtClean="0"/>
              <a:t> </a:t>
            </a:r>
            <a:r>
              <a:rPr lang="hu-HU" dirty="0" err="1" smtClean="0"/>
              <a:t>embedding</a:t>
            </a:r>
            <a:r>
              <a:rPr lang="hu-HU" dirty="0" smtClean="0"/>
              <a:t>) </a:t>
            </a:r>
            <a:r>
              <a:rPr lang="hu-HU" b="1" dirty="0" err="1" smtClean="0"/>
              <a:t>vector</a:t>
            </a:r>
            <a:r>
              <a:rPr lang="hu-HU" b="1" dirty="0" smtClean="0"/>
              <a:t> </a:t>
            </a:r>
            <a:r>
              <a:rPr lang="hu-HU" dirty="0" err="1" smtClean="0"/>
              <a:t>to</a:t>
            </a:r>
            <a:r>
              <a:rPr lang="hu-HU" dirty="0" smtClean="0"/>
              <a:t> </a:t>
            </a:r>
            <a:r>
              <a:rPr lang="hu-HU" dirty="0" err="1" smtClean="0"/>
              <a:t>each</a:t>
            </a:r>
            <a:r>
              <a:rPr lang="hu-HU" dirty="0" smtClean="0"/>
              <a:t> </a:t>
            </a:r>
            <a:r>
              <a:rPr lang="hu-HU" dirty="0" err="1" smtClean="0"/>
              <a:t>token</a:t>
            </a:r>
            <a:r>
              <a:rPr lang="hu-HU" dirty="0" smtClean="0"/>
              <a:t> </a:t>
            </a:r>
            <a:r>
              <a:rPr lang="hu-HU" dirty="0" err="1" smtClean="0"/>
              <a:t>embedding</a:t>
            </a:r>
            <a:r>
              <a:rPr lang="hu-HU" dirty="0" smtClean="0"/>
              <a:t> </a:t>
            </a:r>
            <a:r>
              <a:rPr lang="hu-HU" dirty="0" err="1" smtClean="0"/>
              <a:t>vector</a:t>
            </a:r>
            <a:r>
              <a:rPr lang="hu-HU" dirty="0" smtClean="0"/>
              <a:t>.</a:t>
            </a:r>
          </a:p>
          <a:p>
            <a:pPr lvl="1"/>
            <a:r>
              <a:rPr lang="hu-HU" dirty="0" err="1" smtClean="0"/>
              <a:t>Like</a:t>
            </a:r>
            <a:r>
              <a:rPr lang="hu-HU" dirty="0" smtClean="0"/>
              <a:t> </a:t>
            </a:r>
            <a:r>
              <a:rPr lang="hu-HU" dirty="0" err="1" smtClean="0"/>
              <a:t>plain</a:t>
            </a:r>
            <a:r>
              <a:rPr lang="hu-HU" dirty="0" smtClean="0"/>
              <a:t> </a:t>
            </a:r>
            <a:r>
              <a:rPr lang="hu-HU" dirty="0" err="1" smtClean="0"/>
              <a:t>densely</a:t>
            </a:r>
            <a:r>
              <a:rPr lang="hu-HU" dirty="0" smtClean="0"/>
              <a:t> </a:t>
            </a:r>
            <a:r>
              <a:rPr lang="hu-HU" dirty="0" err="1" smtClean="0"/>
              <a:t>connected</a:t>
            </a:r>
            <a:r>
              <a:rPr lang="hu-HU" dirty="0" smtClean="0"/>
              <a:t> </a:t>
            </a:r>
            <a:r>
              <a:rPr lang="hu-HU" dirty="0" err="1" smtClean="0"/>
              <a:t>neural</a:t>
            </a:r>
            <a:r>
              <a:rPr lang="hu-HU" dirty="0" smtClean="0"/>
              <a:t> </a:t>
            </a:r>
            <a:r>
              <a:rPr lang="hu-HU" dirty="0" err="1" smtClean="0"/>
              <a:t>networks</a:t>
            </a:r>
            <a:r>
              <a:rPr lang="hu-HU" dirty="0" smtClean="0"/>
              <a:t>, </a:t>
            </a:r>
            <a:r>
              <a:rPr lang="hu-HU" dirty="0" err="1" smtClean="0"/>
              <a:t>contrary</a:t>
            </a:r>
            <a:r>
              <a:rPr lang="hu-HU" dirty="0" smtClean="0"/>
              <a:t> </a:t>
            </a:r>
            <a:r>
              <a:rPr lang="hu-HU" dirty="0" err="1" smtClean="0"/>
              <a:t>to</a:t>
            </a:r>
            <a:r>
              <a:rPr lang="hu-HU" dirty="0" smtClean="0"/>
              <a:t> </a:t>
            </a:r>
            <a:r>
              <a:rPr lang="hu-HU" dirty="0" err="1" smtClean="0"/>
              <a:t>RNNs</a:t>
            </a:r>
            <a:r>
              <a:rPr lang="hu-HU" dirty="0" smtClean="0"/>
              <a:t>, </a:t>
            </a:r>
            <a:r>
              <a:rPr lang="hu-HU" dirty="0" err="1" smtClean="0"/>
              <a:t>transformers</a:t>
            </a:r>
            <a:r>
              <a:rPr lang="hu-HU" dirty="0" smtClean="0"/>
              <a:t> </a:t>
            </a:r>
            <a:r>
              <a:rPr lang="hu-HU" dirty="0" err="1" smtClean="0"/>
              <a:t>do</a:t>
            </a:r>
            <a:r>
              <a:rPr lang="hu-HU" dirty="0" smtClean="0"/>
              <a:t> </a:t>
            </a:r>
            <a:r>
              <a:rPr lang="hu-HU" dirty="0" err="1" smtClean="0"/>
              <a:t>not</a:t>
            </a:r>
            <a:r>
              <a:rPr lang="hu-HU" dirty="0" smtClean="0"/>
              <a:t> </a:t>
            </a:r>
            <a:r>
              <a:rPr lang="hu-HU" dirty="0" err="1" smtClean="0"/>
              <a:t>capture</a:t>
            </a:r>
            <a:r>
              <a:rPr lang="hu-HU" dirty="0" smtClean="0"/>
              <a:t> </a:t>
            </a:r>
            <a:r>
              <a:rPr lang="hu-HU" dirty="0" err="1" smtClean="0"/>
              <a:t>the</a:t>
            </a:r>
            <a:r>
              <a:rPr lang="hu-HU" dirty="0" smtClean="0"/>
              <a:t> </a:t>
            </a:r>
            <a:r>
              <a:rPr lang="hu-HU" dirty="0" err="1" smtClean="0"/>
              <a:t>notion</a:t>
            </a:r>
            <a:r>
              <a:rPr lang="hu-HU" dirty="0" smtClean="0"/>
              <a:t> of </a:t>
            </a:r>
            <a:r>
              <a:rPr lang="hu-HU" dirty="0" err="1" smtClean="0"/>
              <a:t>ordering</a:t>
            </a:r>
            <a:r>
              <a:rPr lang="hu-HU" dirty="0" smtClean="0"/>
              <a:t> </a:t>
            </a:r>
            <a:r>
              <a:rPr lang="hu-HU" dirty="0" err="1" smtClean="0"/>
              <a:t>of</a:t>
            </a:r>
            <a:r>
              <a:rPr lang="hu-HU" dirty="0" smtClean="0"/>
              <a:t> </a:t>
            </a:r>
            <a:r>
              <a:rPr lang="hu-HU" dirty="0" err="1" smtClean="0"/>
              <a:t>inputs</a:t>
            </a:r>
            <a:r>
              <a:rPr lang="hu-HU" dirty="0" smtClean="0"/>
              <a:t> </a:t>
            </a:r>
            <a:r>
              <a:rPr lang="hu-HU" dirty="0" err="1" smtClean="0"/>
              <a:t>by</a:t>
            </a:r>
            <a:r>
              <a:rPr lang="hu-HU" dirty="0" smtClean="0"/>
              <a:t> </a:t>
            </a:r>
            <a:r>
              <a:rPr lang="hu-HU" dirty="0" err="1" smtClean="0"/>
              <a:t>themselves</a:t>
            </a:r>
            <a:r>
              <a:rPr lang="hu-HU" dirty="0" smtClean="0"/>
              <a:t>.</a:t>
            </a:r>
          </a:p>
          <a:p>
            <a:pPr lvl="1"/>
            <a:r>
              <a:rPr lang="hu-HU" dirty="0" err="1" smtClean="0"/>
              <a:t>Relative</a:t>
            </a:r>
            <a:r>
              <a:rPr lang="hu-HU" dirty="0" smtClean="0"/>
              <a:t> and </a:t>
            </a:r>
            <a:r>
              <a:rPr lang="hu-HU" dirty="0" err="1" smtClean="0"/>
              <a:t>absolute</a:t>
            </a:r>
            <a:r>
              <a:rPr lang="hu-HU" dirty="0" smtClean="0"/>
              <a:t> </a:t>
            </a:r>
            <a:r>
              <a:rPr lang="hu-HU" dirty="0" err="1" smtClean="0"/>
              <a:t>ordering</a:t>
            </a:r>
            <a:r>
              <a:rPr lang="hu-HU" dirty="0" smtClean="0"/>
              <a:t> </a:t>
            </a:r>
            <a:r>
              <a:rPr lang="hu-HU" dirty="0" err="1" smtClean="0"/>
              <a:t>within</a:t>
            </a:r>
            <a:r>
              <a:rPr lang="hu-HU" dirty="0" smtClean="0"/>
              <a:t> </a:t>
            </a:r>
            <a:r>
              <a:rPr lang="hu-HU" dirty="0" err="1" smtClean="0"/>
              <a:t>the</a:t>
            </a:r>
            <a:r>
              <a:rPr lang="hu-HU" dirty="0" smtClean="0"/>
              <a:t> </a:t>
            </a:r>
            <a:r>
              <a:rPr lang="hu-HU" dirty="0" err="1" smtClean="0"/>
              <a:t>sequence</a:t>
            </a:r>
            <a:r>
              <a:rPr lang="hu-HU" dirty="0" smtClean="0"/>
              <a:t> </a:t>
            </a:r>
            <a:r>
              <a:rPr lang="hu-HU" dirty="0" err="1" smtClean="0"/>
              <a:t>are</a:t>
            </a:r>
            <a:r>
              <a:rPr lang="hu-HU" dirty="0" smtClean="0"/>
              <a:t> </a:t>
            </a:r>
            <a:r>
              <a:rPr lang="hu-HU" dirty="0" err="1" smtClean="0"/>
              <a:t>expressed</a:t>
            </a:r>
            <a:r>
              <a:rPr lang="hu-HU" dirty="0" smtClean="0"/>
              <a:t> </a:t>
            </a:r>
            <a:r>
              <a:rPr lang="hu-HU" dirty="0" err="1" smtClean="0"/>
              <a:t>by</a:t>
            </a:r>
            <a:r>
              <a:rPr lang="hu-HU" dirty="0" smtClean="0"/>
              <a:t> </a:t>
            </a:r>
            <a:r>
              <a:rPr lang="hu-HU" dirty="0" err="1" smtClean="0"/>
              <a:t>adding</a:t>
            </a:r>
            <a:r>
              <a:rPr lang="hu-HU" dirty="0" smtClean="0"/>
              <a:t> a </a:t>
            </a:r>
            <a:r>
              <a:rPr lang="hu-HU" dirty="0" err="1" smtClean="0"/>
              <a:t>numeric</a:t>
            </a:r>
            <a:r>
              <a:rPr lang="hu-HU" dirty="0" smtClean="0"/>
              <a:t> </a:t>
            </a:r>
            <a:r>
              <a:rPr lang="hu-HU" dirty="0" err="1" smtClean="0"/>
              <a:t>vector</a:t>
            </a:r>
            <a:r>
              <a:rPr lang="hu-HU" dirty="0" smtClean="0"/>
              <a:t> </a:t>
            </a:r>
            <a:r>
              <a:rPr lang="hu-HU" dirty="0" err="1" smtClean="0"/>
              <a:t>that</a:t>
            </a:r>
            <a:r>
              <a:rPr lang="hu-HU" dirty="0" smtClean="0"/>
              <a:t> </a:t>
            </a:r>
            <a:r>
              <a:rPr lang="hu-HU" dirty="0" err="1" smtClean="0"/>
              <a:t>encodes</a:t>
            </a:r>
            <a:r>
              <a:rPr lang="hu-HU" dirty="0" smtClean="0"/>
              <a:t> </a:t>
            </a:r>
            <a:r>
              <a:rPr lang="hu-HU" dirty="0" err="1" smtClean="0"/>
              <a:t>position</a:t>
            </a:r>
            <a:r>
              <a:rPr lang="hu-HU" dirty="0" smtClean="0"/>
              <a:t>.</a:t>
            </a:r>
          </a:p>
          <a:p>
            <a:pPr lvl="1"/>
            <a:r>
              <a:rPr lang="hu-HU" dirty="0" smtClean="0"/>
              <a:t>The </a:t>
            </a:r>
            <a:r>
              <a:rPr lang="hu-HU" dirty="0"/>
              <a:t>(</a:t>
            </a:r>
            <a:r>
              <a:rPr lang="hu-HU" dirty="0" err="1"/>
              <a:t>sinusoidal</a:t>
            </a:r>
            <a:r>
              <a:rPr lang="hu-HU" dirty="0"/>
              <a:t>) </a:t>
            </a:r>
            <a:r>
              <a:rPr lang="hu-HU" dirty="0" err="1" smtClean="0"/>
              <a:t>positional</a:t>
            </a:r>
            <a:r>
              <a:rPr lang="hu-HU" dirty="0" smtClean="0"/>
              <a:t> </a:t>
            </a:r>
            <a:r>
              <a:rPr lang="hu-HU" dirty="0" err="1" smtClean="0"/>
              <a:t>embedding</a:t>
            </a:r>
            <a:r>
              <a:rPr lang="hu-HU" dirty="0" smtClean="0"/>
              <a:t> </a:t>
            </a:r>
            <a:r>
              <a:rPr lang="hu-HU" dirty="0" err="1" smtClean="0"/>
              <a:t>vector</a:t>
            </a:r>
            <a:r>
              <a:rPr lang="hu-HU" dirty="0" smtClean="0"/>
              <a:t> </a:t>
            </a:r>
            <a:r>
              <a:rPr lang="hu-HU" dirty="0" err="1" smtClean="0"/>
              <a:t>contains</a:t>
            </a:r>
            <a:r>
              <a:rPr lang="hu-HU" dirty="0" smtClean="0"/>
              <a:t> </a:t>
            </a:r>
            <a:r>
              <a:rPr lang="hu-HU" dirty="0" err="1" smtClean="0"/>
              <a:t>the</a:t>
            </a:r>
            <a:r>
              <a:rPr lang="hu-HU" dirty="0" smtClean="0"/>
              <a:t> </a:t>
            </a:r>
            <a:r>
              <a:rPr lang="hu-HU" dirty="0" err="1" smtClean="0"/>
              <a:t>value</a:t>
            </a:r>
            <a:r>
              <a:rPr lang="hu-HU" dirty="0" smtClean="0"/>
              <a:t> of a sine </a:t>
            </a:r>
            <a:r>
              <a:rPr lang="hu-HU" dirty="0" err="1" smtClean="0"/>
              <a:t>function</a:t>
            </a:r>
            <a:r>
              <a:rPr lang="hu-HU" dirty="0" smtClean="0"/>
              <a:t> </a:t>
            </a:r>
            <a:r>
              <a:rPr lang="hu-HU" dirty="0" err="1" smtClean="0"/>
              <a:t>in</a:t>
            </a:r>
            <a:r>
              <a:rPr lang="hu-HU" dirty="0" smtClean="0"/>
              <a:t> </a:t>
            </a:r>
            <a:r>
              <a:rPr lang="hu-HU" dirty="0" err="1" smtClean="0"/>
              <a:t>each</a:t>
            </a:r>
            <a:r>
              <a:rPr lang="hu-HU" dirty="0" smtClean="0"/>
              <a:t> </a:t>
            </a:r>
            <a:r>
              <a:rPr lang="hu-HU" dirty="0" err="1" smtClean="0"/>
              <a:t>dimension</a:t>
            </a:r>
            <a:r>
              <a:rPr lang="hu-HU" dirty="0" smtClean="0"/>
              <a:t> of </a:t>
            </a:r>
            <a:r>
              <a:rPr lang="hu-HU" dirty="0" err="1" smtClean="0"/>
              <a:t>the</a:t>
            </a:r>
            <a:r>
              <a:rPr lang="hu-HU" dirty="0" smtClean="0"/>
              <a:t> </a:t>
            </a:r>
            <a:r>
              <a:rPr lang="hu-HU" dirty="0" err="1" smtClean="0"/>
              <a:t>vector</a:t>
            </a:r>
            <a:endParaRPr lang="hu-HU" dirty="0" smtClean="0"/>
          </a:p>
          <a:p>
            <a:pPr lvl="2"/>
            <a:r>
              <a:rPr lang="hu-HU" dirty="0" err="1" smtClean="0"/>
              <a:t>the</a:t>
            </a:r>
            <a:r>
              <a:rPr lang="hu-HU" dirty="0" smtClean="0"/>
              <a:t> </a:t>
            </a:r>
            <a:r>
              <a:rPr lang="hu-HU" dirty="0" err="1" smtClean="0"/>
              <a:t>wavelength</a:t>
            </a:r>
            <a:r>
              <a:rPr lang="hu-HU" dirty="0" smtClean="0"/>
              <a:t> </a:t>
            </a:r>
            <a:r>
              <a:rPr lang="hu-HU" dirty="0"/>
              <a:t>of </a:t>
            </a:r>
            <a:r>
              <a:rPr lang="hu-HU" dirty="0" err="1"/>
              <a:t>the</a:t>
            </a:r>
            <a:r>
              <a:rPr lang="hu-HU" dirty="0"/>
              <a:t> sine </a:t>
            </a:r>
            <a:r>
              <a:rPr lang="hu-HU" dirty="0" err="1"/>
              <a:t>function</a:t>
            </a:r>
            <a:r>
              <a:rPr lang="hu-HU" dirty="0"/>
              <a:t> </a:t>
            </a:r>
            <a:r>
              <a:rPr lang="hu-HU" dirty="0" err="1"/>
              <a:t>increases</a:t>
            </a:r>
            <a:r>
              <a:rPr lang="hu-HU" dirty="0"/>
              <a:t> </a:t>
            </a:r>
            <a:r>
              <a:rPr lang="hu-HU" dirty="0" err="1" smtClean="0"/>
              <a:t>gradually</a:t>
            </a:r>
            <a:r>
              <a:rPr lang="hu-HU" dirty="0" smtClean="0"/>
              <a:t> over </a:t>
            </a:r>
            <a:r>
              <a:rPr lang="hu-HU" dirty="0" err="1" smtClean="0"/>
              <a:t>the</a:t>
            </a:r>
            <a:r>
              <a:rPr lang="hu-HU" dirty="0" smtClean="0"/>
              <a:t> </a:t>
            </a:r>
            <a:r>
              <a:rPr lang="hu-HU" dirty="0" err="1" smtClean="0"/>
              <a:t>dimensions</a:t>
            </a:r>
            <a:r>
              <a:rPr lang="hu-HU" dirty="0" smtClean="0"/>
              <a:t>, </a:t>
            </a:r>
            <a:r>
              <a:rPr lang="hu-HU" dirty="0" err="1" smtClean="0"/>
              <a:t>so</a:t>
            </a:r>
            <a:r>
              <a:rPr lang="hu-HU" dirty="0" smtClean="0"/>
              <a:t> </a:t>
            </a:r>
            <a:r>
              <a:rPr lang="hu-HU" dirty="0" err="1" smtClean="0"/>
              <a:t>the</a:t>
            </a:r>
            <a:r>
              <a:rPr lang="hu-HU" dirty="0" smtClean="0"/>
              <a:t> </a:t>
            </a:r>
            <a:r>
              <a:rPr lang="hu-HU" dirty="0" err="1" smtClean="0"/>
              <a:t>entire</a:t>
            </a:r>
            <a:r>
              <a:rPr lang="hu-HU" dirty="0" smtClean="0"/>
              <a:t> </a:t>
            </a:r>
            <a:r>
              <a:rPr lang="hu-HU" dirty="0" err="1" smtClean="0"/>
              <a:t>vector</a:t>
            </a:r>
            <a:r>
              <a:rPr lang="hu-HU" dirty="0" smtClean="0"/>
              <a:t>’s </a:t>
            </a:r>
            <a:r>
              <a:rPr lang="hu-HU" dirty="0" err="1" smtClean="0"/>
              <a:t>value</a:t>
            </a:r>
            <a:r>
              <a:rPr lang="hu-HU" dirty="0" smtClean="0"/>
              <a:t> is </a:t>
            </a:r>
            <a:r>
              <a:rPr lang="hu-HU" dirty="0" err="1" smtClean="0"/>
              <a:t>not</a:t>
            </a:r>
            <a:r>
              <a:rPr lang="hu-HU" dirty="0" smtClean="0"/>
              <a:t> </a:t>
            </a:r>
            <a:r>
              <a:rPr lang="hu-HU" dirty="0" err="1" smtClean="0"/>
              <a:t>cyclic</a:t>
            </a:r>
            <a:r>
              <a:rPr lang="hu-HU" dirty="0" smtClean="0"/>
              <a:t> </a:t>
            </a:r>
            <a:r>
              <a:rPr lang="hu-HU" dirty="0" err="1" smtClean="0"/>
              <a:t>in</a:t>
            </a:r>
            <a:r>
              <a:rPr lang="hu-HU" dirty="0" smtClean="0"/>
              <a:t> </a:t>
            </a:r>
            <a:r>
              <a:rPr lang="hu-HU" dirty="0" err="1" smtClean="0"/>
              <a:t>the</a:t>
            </a:r>
            <a:r>
              <a:rPr lang="hu-HU" dirty="0" smtClean="0"/>
              <a:t> </a:t>
            </a:r>
            <a:r>
              <a:rPr lang="hu-HU" dirty="0" err="1" smtClean="0"/>
              <a:t>way</a:t>
            </a:r>
            <a:r>
              <a:rPr lang="hu-HU" dirty="0" smtClean="0"/>
              <a:t> a </a:t>
            </a:r>
            <a:r>
              <a:rPr lang="hu-HU" dirty="0" err="1" smtClean="0"/>
              <a:t>single</a:t>
            </a:r>
            <a:r>
              <a:rPr lang="hu-HU" dirty="0" smtClean="0"/>
              <a:t> sine </a:t>
            </a:r>
            <a:r>
              <a:rPr lang="hu-HU" dirty="0" err="1" smtClean="0"/>
              <a:t>function</a:t>
            </a:r>
            <a:r>
              <a:rPr lang="hu-HU" dirty="0" smtClean="0"/>
              <a:t>’s </a:t>
            </a:r>
            <a:r>
              <a:rPr lang="hu-HU" dirty="0" err="1" smtClean="0"/>
              <a:t>value</a:t>
            </a:r>
            <a:r>
              <a:rPr lang="hu-HU" dirty="0" smtClean="0"/>
              <a:t> is</a:t>
            </a:r>
            <a:endParaRPr lang="hu-HU" dirty="0"/>
          </a:p>
        </p:txBody>
      </p:sp>
    </p:spTree>
    <p:extLst>
      <p:ext uri="{BB962C8B-B14F-4D97-AF65-F5344CB8AC3E}">
        <p14:creationId xmlns:p14="http://schemas.microsoft.com/office/powerpoint/2010/main" val="24866823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Complexity</a:t>
            </a:r>
            <a:r>
              <a:rPr lang="hu-HU" dirty="0" smtClean="0"/>
              <a:t> of </a:t>
            </a:r>
            <a:r>
              <a:rPr lang="hu-HU" dirty="0" err="1" smtClean="0"/>
              <a:t>Transformers</a:t>
            </a:r>
            <a:endParaRPr lang="en-GB" dirty="0"/>
          </a:p>
        </p:txBody>
      </p:sp>
      <p:sp>
        <p:nvSpPr>
          <p:cNvPr id="3" name="Tartalom helye 2"/>
          <p:cNvSpPr>
            <a:spLocks noGrp="1"/>
          </p:cNvSpPr>
          <p:nvPr>
            <p:ph idx="1"/>
          </p:nvPr>
        </p:nvSpPr>
        <p:spPr/>
        <p:txBody>
          <a:bodyPr>
            <a:normAutofit fontScale="77500" lnSpcReduction="20000"/>
          </a:bodyPr>
          <a:lstStyle/>
          <a:p>
            <a:r>
              <a:rPr lang="hu-HU" dirty="0" smtClean="0"/>
              <a:t>The </a:t>
            </a:r>
            <a:r>
              <a:rPr lang="hu-HU" dirty="0" err="1" smtClean="0"/>
              <a:t>complexity</a:t>
            </a:r>
            <a:r>
              <a:rPr lang="hu-HU" dirty="0" smtClean="0"/>
              <a:t> of </a:t>
            </a:r>
            <a:r>
              <a:rPr lang="hu-HU" dirty="0" err="1" smtClean="0"/>
              <a:t>calculations</a:t>
            </a:r>
            <a:r>
              <a:rPr lang="hu-HU" dirty="0" smtClean="0"/>
              <a:t> </a:t>
            </a:r>
            <a:r>
              <a:rPr lang="hu-HU" dirty="0" err="1" smtClean="0"/>
              <a:t>done</a:t>
            </a:r>
            <a:r>
              <a:rPr lang="hu-HU" dirty="0" smtClean="0"/>
              <a:t> </a:t>
            </a:r>
            <a:r>
              <a:rPr lang="hu-HU" dirty="0" err="1" smtClean="0"/>
              <a:t>using</a:t>
            </a:r>
            <a:r>
              <a:rPr lang="hu-HU" dirty="0" smtClean="0"/>
              <a:t> </a:t>
            </a:r>
            <a:r>
              <a:rPr lang="hu-HU" dirty="0" err="1" smtClean="0"/>
              <a:t>transformers</a:t>
            </a:r>
            <a:r>
              <a:rPr lang="hu-HU" dirty="0" smtClean="0"/>
              <a:t> is a </a:t>
            </a:r>
            <a:r>
              <a:rPr lang="hu-HU" dirty="0" err="1" smtClean="0"/>
              <a:t>crucial</a:t>
            </a:r>
            <a:r>
              <a:rPr lang="hu-HU" dirty="0" smtClean="0"/>
              <a:t> </a:t>
            </a:r>
            <a:r>
              <a:rPr lang="hu-HU" dirty="0" err="1" smtClean="0"/>
              <a:t>aspect</a:t>
            </a:r>
            <a:endParaRPr lang="hu-HU" dirty="0" smtClean="0"/>
          </a:p>
          <a:p>
            <a:r>
              <a:rPr lang="hu-HU" dirty="0" smtClean="0"/>
              <a:t>Main </a:t>
            </a:r>
            <a:r>
              <a:rPr lang="hu-HU" dirty="0" err="1" smtClean="0"/>
              <a:t>properties</a:t>
            </a:r>
            <a:r>
              <a:rPr lang="hu-HU" dirty="0" smtClean="0"/>
              <a:t>:</a:t>
            </a:r>
          </a:p>
          <a:p>
            <a:pPr lvl="1"/>
            <a:r>
              <a:rPr lang="hu-HU" dirty="0" err="1" smtClean="0"/>
              <a:t>hidden</a:t>
            </a:r>
            <a:r>
              <a:rPr lang="hu-HU" dirty="0" smtClean="0"/>
              <a:t> </a:t>
            </a:r>
            <a:r>
              <a:rPr lang="hu-HU" dirty="0" err="1" smtClean="0"/>
              <a:t>layer</a:t>
            </a:r>
            <a:r>
              <a:rPr lang="hu-HU" dirty="0" smtClean="0"/>
              <a:t> </a:t>
            </a:r>
            <a:r>
              <a:rPr lang="hu-HU" dirty="0" err="1" smtClean="0"/>
              <a:t>dimension</a:t>
            </a:r>
            <a:r>
              <a:rPr lang="hu-HU" dirty="0" smtClean="0"/>
              <a:t> </a:t>
            </a:r>
            <a:r>
              <a:rPr lang="hu-HU" i="1" dirty="0" smtClean="0"/>
              <a:t>k</a:t>
            </a:r>
            <a:r>
              <a:rPr lang="hu-HU" dirty="0" smtClean="0"/>
              <a:t> (</a:t>
            </a:r>
            <a:r>
              <a:rPr lang="hu-HU" dirty="0" err="1" smtClean="0"/>
              <a:t>needs</a:t>
            </a:r>
            <a:r>
              <a:rPr lang="hu-HU" dirty="0" smtClean="0"/>
              <a:t> </a:t>
            </a:r>
            <a:r>
              <a:rPr lang="hu-HU" dirty="0" err="1" smtClean="0"/>
              <a:t>to</a:t>
            </a:r>
            <a:r>
              <a:rPr lang="hu-HU" dirty="0" smtClean="0"/>
              <a:t> be </a:t>
            </a:r>
            <a:r>
              <a:rPr lang="hu-HU" dirty="0" err="1" smtClean="0"/>
              <a:t>identical</a:t>
            </a:r>
            <a:r>
              <a:rPr lang="hu-HU" dirty="0" smtClean="0"/>
              <a:t> </a:t>
            </a:r>
            <a:r>
              <a:rPr lang="hu-HU" dirty="0" err="1" smtClean="0"/>
              <a:t>across</a:t>
            </a:r>
            <a:r>
              <a:rPr lang="hu-HU" dirty="0" smtClean="0"/>
              <a:t> </a:t>
            </a:r>
            <a:r>
              <a:rPr lang="hu-HU" dirty="0" err="1" smtClean="0"/>
              <a:t>transformer</a:t>
            </a:r>
            <a:r>
              <a:rPr lang="hu-HU" dirty="0" smtClean="0"/>
              <a:t> </a:t>
            </a:r>
            <a:r>
              <a:rPr lang="hu-HU" dirty="0" err="1" smtClean="0"/>
              <a:t>blocks</a:t>
            </a:r>
            <a:r>
              <a:rPr lang="hu-HU" dirty="0"/>
              <a:t> </a:t>
            </a:r>
            <a:r>
              <a:rPr lang="hu-HU" dirty="0" smtClean="0"/>
              <a:t>– </a:t>
            </a:r>
            <a:r>
              <a:rPr lang="hu-HU" dirty="0" err="1" smtClean="0"/>
              <a:t>why</a:t>
            </a:r>
            <a:r>
              <a:rPr lang="hu-HU" dirty="0" smtClean="0"/>
              <a:t>?)</a:t>
            </a:r>
          </a:p>
          <a:p>
            <a:pPr lvl="1"/>
            <a:r>
              <a:rPr lang="hu-HU" dirty="0" err="1" smtClean="0"/>
              <a:t>number</a:t>
            </a:r>
            <a:r>
              <a:rPr lang="hu-HU" dirty="0" smtClean="0"/>
              <a:t> of </a:t>
            </a:r>
            <a:r>
              <a:rPr lang="hu-HU" dirty="0" err="1" smtClean="0"/>
              <a:t>attention</a:t>
            </a:r>
            <a:r>
              <a:rPr lang="hu-HU" dirty="0" smtClean="0"/>
              <a:t> </a:t>
            </a:r>
            <a:r>
              <a:rPr lang="hu-HU" dirty="0" err="1" smtClean="0"/>
              <a:t>heads</a:t>
            </a:r>
            <a:r>
              <a:rPr lang="hu-HU" dirty="0" smtClean="0"/>
              <a:t> </a:t>
            </a:r>
            <a:r>
              <a:rPr lang="hu-HU" i="1" dirty="0" smtClean="0"/>
              <a:t>h</a:t>
            </a:r>
          </a:p>
          <a:p>
            <a:pPr lvl="1"/>
            <a:r>
              <a:rPr lang="hu-HU" dirty="0" err="1" smtClean="0"/>
              <a:t>number</a:t>
            </a:r>
            <a:r>
              <a:rPr lang="hu-HU" dirty="0" smtClean="0"/>
              <a:t> of </a:t>
            </a:r>
            <a:r>
              <a:rPr lang="hu-HU" dirty="0" err="1" smtClean="0"/>
              <a:t>transformer</a:t>
            </a:r>
            <a:r>
              <a:rPr lang="hu-HU" dirty="0" smtClean="0"/>
              <a:t> </a:t>
            </a:r>
            <a:r>
              <a:rPr lang="hu-HU" dirty="0" err="1" smtClean="0"/>
              <a:t>blocks</a:t>
            </a:r>
            <a:r>
              <a:rPr lang="hu-HU" dirty="0" smtClean="0"/>
              <a:t> N</a:t>
            </a:r>
          </a:p>
          <a:p>
            <a:pPr lvl="1"/>
            <a:r>
              <a:rPr lang="hu-HU" dirty="0" smtClean="0"/>
              <a:t>input / output </a:t>
            </a:r>
            <a:r>
              <a:rPr lang="hu-HU" dirty="0" err="1" smtClean="0"/>
              <a:t>sequence</a:t>
            </a:r>
            <a:r>
              <a:rPr lang="hu-HU" dirty="0" smtClean="0"/>
              <a:t> </a:t>
            </a:r>
            <a:r>
              <a:rPr lang="hu-HU" dirty="0" err="1" smtClean="0"/>
              <a:t>length</a:t>
            </a:r>
            <a:endParaRPr lang="hu-HU" dirty="0" smtClean="0"/>
          </a:p>
          <a:p>
            <a:r>
              <a:rPr lang="hu-HU" b="1" dirty="0" smtClean="0"/>
              <a:t>Time and </a:t>
            </a:r>
            <a:r>
              <a:rPr lang="hu-HU" b="1" dirty="0" err="1" smtClean="0"/>
              <a:t>memory</a:t>
            </a:r>
            <a:r>
              <a:rPr lang="hu-HU" b="1" dirty="0" smtClean="0"/>
              <a:t> </a:t>
            </a:r>
            <a:r>
              <a:rPr lang="hu-HU" b="1" dirty="0" err="1" smtClean="0"/>
              <a:t>requirement</a:t>
            </a:r>
            <a:r>
              <a:rPr lang="hu-HU" b="1" dirty="0" smtClean="0"/>
              <a:t> </a:t>
            </a:r>
            <a:r>
              <a:rPr lang="hu-HU" dirty="0" smtClean="0"/>
              <a:t>of </a:t>
            </a:r>
            <a:r>
              <a:rPr lang="hu-HU" dirty="0" err="1" smtClean="0"/>
              <a:t>computation</a:t>
            </a:r>
            <a:r>
              <a:rPr lang="hu-HU" dirty="0" smtClean="0"/>
              <a:t> </a:t>
            </a:r>
            <a:r>
              <a:rPr lang="hu-HU" dirty="0" err="1" smtClean="0"/>
              <a:t>scales</a:t>
            </a:r>
            <a:endParaRPr lang="hu-HU" dirty="0"/>
          </a:p>
          <a:p>
            <a:pPr lvl="1"/>
            <a:r>
              <a:rPr lang="hu-HU" b="1" dirty="0" err="1" smtClean="0"/>
              <a:t>linearly</a:t>
            </a:r>
            <a:r>
              <a:rPr lang="hu-HU" b="1" dirty="0" smtClean="0"/>
              <a:t> </a:t>
            </a:r>
            <a:r>
              <a:rPr lang="hu-HU" dirty="0" err="1" smtClean="0"/>
              <a:t>with</a:t>
            </a:r>
            <a:r>
              <a:rPr lang="hu-HU" dirty="0" smtClean="0"/>
              <a:t> </a:t>
            </a:r>
            <a:r>
              <a:rPr lang="hu-HU" dirty="0" err="1" smtClean="0"/>
              <a:t>the</a:t>
            </a:r>
            <a:r>
              <a:rPr lang="hu-HU" dirty="0" smtClean="0"/>
              <a:t> </a:t>
            </a:r>
            <a:r>
              <a:rPr lang="hu-HU" dirty="0" err="1" smtClean="0"/>
              <a:t>number</a:t>
            </a:r>
            <a:r>
              <a:rPr lang="hu-HU" dirty="0" smtClean="0"/>
              <a:t> of </a:t>
            </a:r>
            <a:r>
              <a:rPr lang="hu-HU" dirty="0" err="1" smtClean="0"/>
              <a:t>attention</a:t>
            </a:r>
            <a:r>
              <a:rPr lang="hu-HU" dirty="0" smtClean="0"/>
              <a:t> </a:t>
            </a:r>
            <a:r>
              <a:rPr lang="hu-HU" dirty="0" err="1" smtClean="0"/>
              <a:t>heads</a:t>
            </a:r>
            <a:r>
              <a:rPr lang="hu-HU" dirty="0" smtClean="0"/>
              <a:t> </a:t>
            </a:r>
            <a:r>
              <a:rPr lang="hu-HU" i="1" dirty="0" smtClean="0"/>
              <a:t>h </a:t>
            </a:r>
            <a:r>
              <a:rPr lang="hu-HU" dirty="0" smtClean="0"/>
              <a:t>and </a:t>
            </a:r>
            <a:r>
              <a:rPr lang="hu-HU" dirty="0" err="1" smtClean="0"/>
              <a:t>blocks</a:t>
            </a:r>
            <a:r>
              <a:rPr lang="hu-HU" dirty="0" smtClean="0"/>
              <a:t> </a:t>
            </a:r>
            <a:r>
              <a:rPr lang="hu-HU" i="1" dirty="0" smtClean="0"/>
              <a:t>N</a:t>
            </a:r>
            <a:endParaRPr lang="hu-HU" i="1" dirty="0"/>
          </a:p>
          <a:p>
            <a:pPr lvl="1"/>
            <a:r>
              <a:rPr lang="hu-HU" b="1" dirty="0" err="1" smtClean="0"/>
              <a:t>subquadratically</a:t>
            </a:r>
            <a:r>
              <a:rPr lang="hu-HU" b="1" dirty="0" smtClean="0"/>
              <a:t> </a:t>
            </a:r>
            <a:r>
              <a:rPr lang="hu-HU" dirty="0" err="1" smtClean="0"/>
              <a:t>with</a:t>
            </a:r>
            <a:r>
              <a:rPr lang="hu-HU" dirty="0" smtClean="0"/>
              <a:t> </a:t>
            </a:r>
            <a:r>
              <a:rPr lang="hu-HU" dirty="0" err="1" smtClean="0"/>
              <a:t>the</a:t>
            </a:r>
            <a:r>
              <a:rPr lang="hu-HU" dirty="0" smtClean="0"/>
              <a:t> </a:t>
            </a:r>
            <a:r>
              <a:rPr lang="hu-HU" dirty="0" err="1" smtClean="0"/>
              <a:t>hidden</a:t>
            </a:r>
            <a:r>
              <a:rPr lang="hu-HU" dirty="0" smtClean="0"/>
              <a:t> </a:t>
            </a:r>
            <a:r>
              <a:rPr lang="hu-HU" dirty="0" err="1" smtClean="0"/>
              <a:t>layer</a:t>
            </a:r>
            <a:r>
              <a:rPr lang="hu-HU" dirty="0" smtClean="0"/>
              <a:t> </a:t>
            </a:r>
            <a:r>
              <a:rPr lang="hu-HU" dirty="0" err="1" smtClean="0"/>
              <a:t>dimension</a:t>
            </a:r>
            <a:r>
              <a:rPr lang="hu-HU" dirty="0" smtClean="0"/>
              <a:t> </a:t>
            </a:r>
            <a:r>
              <a:rPr lang="hu-HU" i="1" dirty="0" smtClean="0"/>
              <a:t>k</a:t>
            </a:r>
          </a:p>
          <a:p>
            <a:pPr lvl="1"/>
            <a:r>
              <a:rPr lang="hu-HU" b="1" dirty="0" err="1" smtClean="0"/>
              <a:t>quadratically</a:t>
            </a:r>
            <a:r>
              <a:rPr lang="hu-HU" b="1" dirty="0" smtClean="0"/>
              <a:t> </a:t>
            </a:r>
            <a:r>
              <a:rPr lang="hu-HU" dirty="0" err="1" smtClean="0"/>
              <a:t>with</a:t>
            </a:r>
            <a:r>
              <a:rPr lang="hu-HU" dirty="0" smtClean="0"/>
              <a:t> </a:t>
            </a:r>
            <a:r>
              <a:rPr lang="hu-HU" dirty="0" err="1" smtClean="0"/>
              <a:t>sequence</a:t>
            </a:r>
            <a:r>
              <a:rPr lang="hu-HU" dirty="0" smtClean="0"/>
              <a:t> </a:t>
            </a:r>
            <a:r>
              <a:rPr lang="hu-HU" dirty="0" err="1" smtClean="0"/>
              <a:t>length</a:t>
            </a:r>
            <a:r>
              <a:rPr lang="hu-HU" dirty="0" smtClean="0"/>
              <a:t>(s) (input / output </a:t>
            </a:r>
            <a:r>
              <a:rPr lang="hu-HU" dirty="0" err="1" smtClean="0"/>
              <a:t>separately</a:t>
            </a:r>
            <a:r>
              <a:rPr lang="hu-HU" dirty="0" smtClean="0"/>
              <a:t>)</a:t>
            </a:r>
          </a:p>
        </p:txBody>
      </p:sp>
    </p:spTree>
    <p:extLst>
      <p:ext uri="{BB962C8B-B14F-4D97-AF65-F5344CB8AC3E}">
        <p14:creationId xmlns:p14="http://schemas.microsoft.com/office/powerpoint/2010/main" val="41676448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Tokenisation</a:t>
            </a:r>
            <a:endParaRPr lang="en-GB" dirty="0"/>
          </a:p>
        </p:txBody>
      </p:sp>
      <p:sp>
        <p:nvSpPr>
          <p:cNvPr id="3" name="Tartalom helye 2"/>
          <p:cNvSpPr>
            <a:spLocks noGrp="1"/>
          </p:cNvSpPr>
          <p:nvPr>
            <p:ph idx="1"/>
          </p:nvPr>
        </p:nvSpPr>
        <p:spPr/>
        <p:txBody>
          <a:bodyPr>
            <a:normAutofit fontScale="47500" lnSpcReduction="20000"/>
          </a:bodyPr>
          <a:lstStyle/>
          <a:p>
            <a:r>
              <a:rPr lang="hu-HU" dirty="0" err="1" smtClean="0"/>
              <a:t>In</a:t>
            </a:r>
            <a:r>
              <a:rPr lang="hu-HU" dirty="0" smtClean="0"/>
              <a:t> </a:t>
            </a:r>
            <a:r>
              <a:rPr lang="hu-HU" dirty="0" err="1" smtClean="0"/>
              <a:t>all</a:t>
            </a:r>
            <a:r>
              <a:rPr lang="hu-HU" dirty="0" smtClean="0"/>
              <a:t> </a:t>
            </a:r>
            <a:r>
              <a:rPr lang="hu-HU" dirty="0" err="1" smtClean="0"/>
              <a:t>NLP</a:t>
            </a:r>
            <a:r>
              <a:rPr lang="hu-HU" dirty="0" smtClean="0"/>
              <a:t> </a:t>
            </a:r>
            <a:r>
              <a:rPr lang="hu-HU" dirty="0" err="1" smtClean="0"/>
              <a:t>tasks</a:t>
            </a:r>
            <a:r>
              <a:rPr lang="hu-HU" dirty="0" smtClean="0"/>
              <a:t>, </a:t>
            </a:r>
            <a:r>
              <a:rPr lang="hu-HU" b="1" dirty="0" err="1" smtClean="0"/>
              <a:t>splitting</a:t>
            </a:r>
            <a:r>
              <a:rPr lang="hu-HU" b="1" dirty="0" smtClean="0"/>
              <a:t> </a:t>
            </a:r>
            <a:r>
              <a:rPr lang="hu-HU" b="1" dirty="0" err="1" smtClean="0"/>
              <a:t>up</a:t>
            </a:r>
            <a:r>
              <a:rPr lang="hu-HU" b="1" dirty="0" smtClean="0"/>
              <a:t> </a:t>
            </a:r>
            <a:r>
              <a:rPr lang="hu-HU" b="1" dirty="0" err="1" smtClean="0"/>
              <a:t>the</a:t>
            </a:r>
            <a:r>
              <a:rPr lang="hu-HU" b="1" dirty="0" smtClean="0"/>
              <a:t> input </a:t>
            </a:r>
            <a:r>
              <a:rPr lang="hu-HU" b="1" dirty="0" err="1" smtClean="0"/>
              <a:t>sequence</a:t>
            </a:r>
            <a:r>
              <a:rPr lang="hu-HU" b="1" dirty="0" smtClean="0"/>
              <a:t> </a:t>
            </a:r>
            <a:r>
              <a:rPr lang="hu-HU" dirty="0" smtClean="0"/>
              <a:t>(</a:t>
            </a:r>
            <a:r>
              <a:rPr lang="hu-HU" dirty="0" err="1" smtClean="0"/>
              <a:t>the</a:t>
            </a:r>
            <a:r>
              <a:rPr lang="hu-HU" dirty="0" smtClean="0"/>
              <a:t> text) </a:t>
            </a:r>
            <a:r>
              <a:rPr lang="hu-HU" b="1" dirty="0" err="1" smtClean="0"/>
              <a:t>into</a:t>
            </a:r>
            <a:r>
              <a:rPr lang="hu-HU" b="1" dirty="0" smtClean="0"/>
              <a:t> </a:t>
            </a:r>
            <a:r>
              <a:rPr lang="hu-HU" b="1" dirty="0" err="1" smtClean="0"/>
              <a:t>atomic</a:t>
            </a:r>
            <a:r>
              <a:rPr lang="hu-HU" b="1" dirty="0" smtClean="0"/>
              <a:t> </a:t>
            </a:r>
            <a:r>
              <a:rPr lang="hu-HU" b="1" dirty="0" err="1" smtClean="0"/>
              <a:t>units</a:t>
            </a:r>
            <a:r>
              <a:rPr lang="hu-HU" b="1" dirty="0" smtClean="0"/>
              <a:t> of </a:t>
            </a:r>
            <a:r>
              <a:rPr lang="hu-HU" b="1" dirty="0" err="1" smtClean="0"/>
              <a:t>processing</a:t>
            </a:r>
            <a:r>
              <a:rPr lang="hu-HU" b="1" dirty="0" smtClean="0"/>
              <a:t> </a:t>
            </a:r>
            <a:r>
              <a:rPr lang="hu-HU" dirty="0" smtClean="0"/>
              <a:t>(</a:t>
            </a:r>
            <a:r>
              <a:rPr lang="hu-HU" dirty="0" err="1" smtClean="0"/>
              <a:t>tokens</a:t>
            </a:r>
            <a:r>
              <a:rPr lang="hu-HU" dirty="0" smtClean="0"/>
              <a:t>) is </a:t>
            </a:r>
            <a:r>
              <a:rPr lang="hu-HU" dirty="0" err="1" smtClean="0"/>
              <a:t>the</a:t>
            </a:r>
            <a:r>
              <a:rPr lang="hu-HU" dirty="0" smtClean="0"/>
              <a:t> </a:t>
            </a:r>
            <a:r>
              <a:rPr lang="hu-HU" dirty="0" err="1" smtClean="0"/>
              <a:t>crucial</a:t>
            </a:r>
            <a:r>
              <a:rPr lang="hu-HU" dirty="0" smtClean="0"/>
              <a:t> </a:t>
            </a:r>
            <a:r>
              <a:rPr lang="hu-HU" dirty="0" err="1" smtClean="0"/>
              <a:t>first</a:t>
            </a:r>
            <a:r>
              <a:rPr lang="hu-HU" dirty="0" smtClean="0"/>
              <a:t> </a:t>
            </a:r>
            <a:r>
              <a:rPr lang="hu-HU" dirty="0" err="1" smtClean="0"/>
              <a:t>step</a:t>
            </a:r>
            <a:r>
              <a:rPr lang="hu-HU" dirty="0" smtClean="0"/>
              <a:t>. </a:t>
            </a:r>
            <a:r>
              <a:rPr lang="hu-HU" dirty="0" err="1" smtClean="0"/>
              <a:t>It</a:t>
            </a:r>
            <a:r>
              <a:rPr lang="hu-HU" dirty="0" smtClean="0"/>
              <a:t> is </a:t>
            </a:r>
            <a:r>
              <a:rPr lang="hu-HU" dirty="0" err="1" smtClean="0"/>
              <a:t>referred</a:t>
            </a:r>
            <a:r>
              <a:rPr lang="hu-HU" dirty="0" smtClean="0"/>
              <a:t> </a:t>
            </a:r>
            <a:r>
              <a:rPr lang="hu-HU" dirty="0" err="1" smtClean="0"/>
              <a:t>to</a:t>
            </a:r>
            <a:r>
              <a:rPr lang="hu-HU" dirty="0" smtClean="0"/>
              <a:t> </a:t>
            </a:r>
            <a:r>
              <a:rPr lang="hu-HU" dirty="0" err="1" smtClean="0"/>
              <a:t>as</a:t>
            </a:r>
            <a:r>
              <a:rPr lang="hu-HU" dirty="0" smtClean="0"/>
              <a:t> </a:t>
            </a:r>
            <a:r>
              <a:rPr lang="hu-HU" b="1" dirty="0" err="1" smtClean="0"/>
              <a:t>tokenisation</a:t>
            </a:r>
            <a:r>
              <a:rPr lang="hu-HU" dirty="0" smtClean="0"/>
              <a:t>.</a:t>
            </a:r>
          </a:p>
          <a:p>
            <a:pPr lvl="1"/>
            <a:r>
              <a:rPr lang="hu-HU" dirty="0" err="1" smtClean="0"/>
              <a:t>Tokens</a:t>
            </a:r>
            <a:r>
              <a:rPr lang="hu-HU" dirty="0" smtClean="0"/>
              <a:t> </a:t>
            </a:r>
            <a:r>
              <a:rPr lang="hu-HU" dirty="0" err="1" smtClean="0"/>
              <a:t>are</a:t>
            </a:r>
            <a:r>
              <a:rPr lang="hu-HU" dirty="0" smtClean="0"/>
              <a:t> </a:t>
            </a:r>
            <a:r>
              <a:rPr lang="hu-HU" dirty="0" err="1" smtClean="0"/>
              <a:t>then</a:t>
            </a:r>
            <a:r>
              <a:rPr lang="hu-HU" dirty="0" smtClean="0"/>
              <a:t> </a:t>
            </a:r>
            <a:r>
              <a:rPr lang="hu-HU" dirty="0" err="1" smtClean="0"/>
              <a:t>mapped</a:t>
            </a:r>
            <a:r>
              <a:rPr lang="hu-HU" dirty="0" smtClean="0"/>
              <a:t> </a:t>
            </a:r>
            <a:r>
              <a:rPr lang="hu-HU" dirty="0" err="1" smtClean="0"/>
              <a:t>to</a:t>
            </a:r>
            <a:r>
              <a:rPr lang="hu-HU" dirty="0" smtClean="0"/>
              <a:t> an </a:t>
            </a:r>
            <a:r>
              <a:rPr lang="hu-HU" dirty="0" err="1" smtClean="0"/>
              <a:t>embedding</a:t>
            </a:r>
            <a:r>
              <a:rPr lang="hu-HU" dirty="0" smtClean="0"/>
              <a:t> </a:t>
            </a:r>
            <a:r>
              <a:rPr lang="hu-HU" dirty="0" err="1" smtClean="0"/>
              <a:t>vector</a:t>
            </a:r>
            <a:r>
              <a:rPr lang="hu-HU" dirty="0" smtClean="0"/>
              <a:t>.</a:t>
            </a:r>
          </a:p>
          <a:p>
            <a:r>
              <a:rPr lang="hu-HU" dirty="0" err="1" smtClean="0"/>
              <a:t>Generally</a:t>
            </a:r>
            <a:r>
              <a:rPr lang="hu-HU" dirty="0" smtClean="0"/>
              <a:t>, </a:t>
            </a:r>
            <a:r>
              <a:rPr lang="hu-HU" dirty="0" err="1" smtClean="0"/>
              <a:t>the</a:t>
            </a:r>
            <a:r>
              <a:rPr lang="hu-HU" dirty="0" smtClean="0"/>
              <a:t> </a:t>
            </a:r>
            <a:r>
              <a:rPr lang="hu-HU" dirty="0" err="1" smtClean="0"/>
              <a:t>smallest</a:t>
            </a:r>
            <a:r>
              <a:rPr lang="hu-HU" dirty="0" smtClean="0"/>
              <a:t> </a:t>
            </a:r>
            <a:r>
              <a:rPr lang="hu-HU" dirty="0" err="1" smtClean="0"/>
              <a:t>meaningful</a:t>
            </a:r>
            <a:r>
              <a:rPr lang="hu-HU" dirty="0" smtClean="0"/>
              <a:t> </a:t>
            </a:r>
            <a:r>
              <a:rPr lang="hu-HU" dirty="0" err="1" smtClean="0"/>
              <a:t>units</a:t>
            </a:r>
            <a:r>
              <a:rPr lang="hu-HU" dirty="0" smtClean="0"/>
              <a:t> </a:t>
            </a:r>
            <a:r>
              <a:rPr lang="hu-HU" dirty="0" err="1" smtClean="0"/>
              <a:t>are</a:t>
            </a:r>
            <a:r>
              <a:rPr lang="hu-HU" dirty="0" smtClean="0"/>
              <a:t> </a:t>
            </a:r>
            <a:r>
              <a:rPr lang="hu-HU" dirty="0" err="1" smtClean="0"/>
              <a:t>chosen</a:t>
            </a:r>
            <a:r>
              <a:rPr lang="hu-HU" dirty="0" smtClean="0"/>
              <a:t> </a:t>
            </a:r>
            <a:r>
              <a:rPr lang="hu-HU" dirty="0" err="1" smtClean="0"/>
              <a:t>as</a:t>
            </a:r>
            <a:r>
              <a:rPr lang="hu-HU" dirty="0" smtClean="0"/>
              <a:t> </a:t>
            </a:r>
            <a:r>
              <a:rPr lang="hu-HU" dirty="0" err="1" smtClean="0"/>
              <a:t>tokens</a:t>
            </a:r>
            <a:r>
              <a:rPr lang="hu-HU" dirty="0" smtClean="0"/>
              <a:t>.</a:t>
            </a:r>
          </a:p>
          <a:p>
            <a:pPr lvl="1"/>
            <a:r>
              <a:rPr lang="hu-HU" dirty="0" err="1" smtClean="0"/>
              <a:t>characters</a:t>
            </a:r>
            <a:r>
              <a:rPr lang="hu-HU" dirty="0" smtClean="0"/>
              <a:t> / </a:t>
            </a:r>
            <a:r>
              <a:rPr lang="hu-HU" dirty="0" err="1" smtClean="0"/>
              <a:t>letters</a:t>
            </a:r>
            <a:r>
              <a:rPr lang="hu-HU" dirty="0" smtClean="0"/>
              <a:t> </a:t>
            </a:r>
            <a:r>
              <a:rPr lang="hu-HU" dirty="0" err="1" smtClean="0"/>
              <a:t>are</a:t>
            </a:r>
            <a:r>
              <a:rPr lang="hu-HU" dirty="0" smtClean="0"/>
              <a:t> </a:t>
            </a:r>
            <a:r>
              <a:rPr lang="hu-HU" dirty="0" err="1" smtClean="0"/>
              <a:t>not</a:t>
            </a:r>
            <a:r>
              <a:rPr lang="hu-HU" dirty="0" smtClean="0"/>
              <a:t> </a:t>
            </a:r>
            <a:r>
              <a:rPr lang="hu-HU" dirty="0" err="1" smtClean="0"/>
              <a:t>very</a:t>
            </a:r>
            <a:r>
              <a:rPr lang="hu-HU" dirty="0" smtClean="0"/>
              <a:t> </a:t>
            </a:r>
            <a:r>
              <a:rPr lang="hu-HU" dirty="0" err="1" smtClean="0"/>
              <a:t>useful</a:t>
            </a:r>
            <a:endParaRPr lang="hu-HU" dirty="0" smtClean="0"/>
          </a:p>
          <a:p>
            <a:pPr lvl="1"/>
            <a:r>
              <a:rPr lang="hu-HU" dirty="0" err="1" smtClean="0"/>
              <a:t>bad</a:t>
            </a:r>
            <a:r>
              <a:rPr lang="hu-HU" dirty="0" smtClean="0"/>
              <a:t> </a:t>
            </a:r>
            <a:r>
              <a:rPr lang="hu-HU" dirty="0" err="1" smtClean="0"/>
              <a:t>in</a:t>
            </a:r>
            <a:r>
              <a:rPr lang="hu-HU" dirty="0" smtClean="0"/>
              <a:t> </a:t>
            </a:r>
            <a:r>
              <a:rPr lang="hu-HU" dirty="0" err="1" smtClean="0"/>
              <a:t>terms</a:t>
            </a:r>
            <a:r>
              <a:rPr lang="hu-HU" dirty="0" smtClean="0"/>
              <a:t> of </a:t>
            </a:r>
            <a:r>
              <a:rPr lang="hu-HU" dirty="0" err="1" smtClean="0"/>
              <a:t>efficiency</a:t>
            </a:r>
            <a:r>
              <a:rPr lang="hu-HU" dirty="0"/>
              <a:t> </a:t>
            </a:r>
            <a:r>
              <a:rPr lang="hu-HU" dirty="0" smtClean="0"/>
              <a:t>(</a:t>
            </a:r>
            <a:r>
              <a:rPr lang="hu-HU" dirty="0" err="1" smtClean="0"/>
              <a:t>why</a:t>
            </a:r>
            <a:r>
              <a:rPr lang="hu-HU" dirty="0" smtClean="0"/>
              <a:t>?)</a:t>
            </a:r>
          </a:p>
          <a:p>
            <a:r>
              <a:rPr lang="hu-HU" dirty="0" err="1" smtClean="0"/>
              <a:t>One</a:t>
            </a:r>
            <a:r>
              <a:rPr lang="hu-HU" dirty="0" smtClean="0"/>
              <a:t> </a:t>
            </a:r>
            <a:r>
              <a:rPr lang="hu-HU" dirty="0" err="1" smtClean="0"/>
              <a:t>option</a:t>
            </a:r>
            <a:r>
              <a:rPr lang="hu-HU" dirty="0" smtClean="0"/>
              <a:t> is </a:t>
            </a:r>
            <a:r>
              <a:rPr lang="hu-HU" dirty="0" err="1" smtClean="0"/>
              <a:t>to</a:t>
            </a:r>
            <a:r>
              <a:rPr lang="hu-HU" dirty="0" smtClean="0"/>
              <a:t> </a:t>
            </a:r>
            <a:r>
              <a:rPr lang="hu-HU" dirty="0" err="1" smtClean="0"/>
              <a:t>use</a:t>
            </a:r>
            <a:r>
              <a:rPr lang="hu-HU" dirty="0" smtClean="0"/>
              <a:t> </a:t>
            </a:r>
            <a:r>
              <a:rPr lang="hu-HU" dirty="0" err="1" smtClean="0"/>
              <a:t>words</a:t>
            </a:r>
            <a:r>
              <a:rPr lang="hu-HU" dirty="0" smtClean="0"/>
              <a:t> </a:t>
            </a:r>
            <a:r>
              <a:rPr lang="hu-HU" dirty="0" err="1" smtClean="0"/>
              <a:t>separated</a:t>
            </a:r>
            <a:r>
              <a:rPr lang="hu-HU" dirty="0" smtClean="0"/>
              <a:t> </a:t>
            </a:r>
            <a:r>
              <a:rPr lang="hu-HU" dirty="0" err="1" smtClean="0"/>
              <a:t>either</a:t>
            </a:r>
            <a:r>
              <a:rPr lang="hu-HU" dirty="0" smtClean="0"/>
              <a:t> </a:t>
            </a:r>
            <a:r>
              <a:rPr lang="hu-HU" dirty="0" err="1" smtClean="0"/>
              <a:t>by</a:t>
            </a:r>
            <a:r>
              <a:rPr lang="hu-HU" dirty="0" smtClean="0"/>
              <a:t> </a:t>
            </a:r>
            <a:r>
              <a:rPr lang="hu-HU" dirty="0" err="1" smtClean="0"/>
              <a:t>whitespace</a:t>
            </a:r>
            <a:r>
              <a:rPr lang="hu-HU" dirty="0" smtClean="0"/>
              <a:t> </a:t>
            </a:r>
            <a:r>
              <a:rPr lang="hu-HU" dirty="0" err="1" smtClean="0"/>
              <a:t>or</a:t>
            </a:r>
            <a:r>
              <a:rPr lang="hu-HU" dirty="0" smtClean="0"/>
              <a:t> </a:t>
            </a:r>
            <a:r>
              <a:rPr lang="hu-HU" dirty="0" err="1" smtClean="0"/>
              <a:t>by</a:t>
            </a:r>
            <a:r>
              <a:rPr lang="hu-HU" dirty="0" smtClean="0"/>
              <a:t> </a:t>
            </a:r>
            <a:r>
              <a:rPr lang="hu-HU" dirty="0" err="1" smtClean="0"/>
              <a:t>nonword</a:t>
            </a:r>
            <a:r>
              <a:rPr lang="hu-HU" dirty="0" smtClean="0"/>
              <a:t> </a:t>
            </a:r>
            <a:r>
              <a:rPr lang="hu-HU" dirty="0" err="1" smtClean="0"/>
              <a:t>characters</a:t>
            </a:r>
            <a:r>
              <a:rPr lang="hu-HU" dirty="0" smtClean="0"/>
              <a:t> (</a:t>
            </a:r>
            <a:r>
              <a:rPr lang="hu-HU" dirty="0" err="1" smtClean="0"/>
              <a:t>punctuation</a:t>
            </a:r>
            <a:r>
              <a:rPr lang="hu-HU" dirty="0" smtClean="0"/>
              <a:t>) </a:t>
            </a:r>
            <a:r>
              <a:rPr lang="hu-HU" dirty="0" err="1" smtClean="0"/>
              <a:t>as</a:t>
            </a:r>
            <a:r>
              <a:rPr lang="hu-HU" dirty="0" smtClean="0"/>
              <a:t> </a:t>
            </a:r>
            <a:r>
              <a:rPr lang="hu-HU" dirty="0" err="1" smtClean="0"/>
              <a:t>tokens</a:t>
            </a:r>
            <a:r>
              <a:rPr lang="hu-HU" dirty="0" smtClean="0"/>
              <a:t>.</a:t>
            </a:r>
          </a:p>
          <a:p>
            <a:r>
              <a:rPr lang="hu-HU" dirty="0" err="1" smtClean="0"/>
              <a:t>But</a:t>
            </a:r>
            <a:r>
              <a:rPr lang="hu-HU" dirty="0" smtClean="0"/>
              <a:t> </a:t>
            </a:r>
            <a:r>
              <a:rPr lang="hu-HU" dirty="0" err="1" smtClean="0"/>
              <a:t>these</a:t>
            </a:r>
            <a:r>
              <a:rPr lang="hu-HU" dirty="0" smtClean="0"/>
              <a:t> </a:t>
            </a:r>
            <a:r>
              <a:rPr lang="hu-HU" dirty="0" err="1" smtClean="0"/>
              <a:t>are</a:t>
            </a:r>
            <a:r>
              <a:rPr lang="hu-HU" dirty="0" smtClean="0"/>
              <a:t> </a:t>
            </a:r>
            <a:r>
              <a:rPr lang="hu-HU" dirty="0" err="1" smtClean="0"/>
              <a:t>too</a:t>
            </a:r>
            <a:r>
              <a:rPr lang="hu-HU" dirty="0" smtClean="0"/>
              <a:t> </a:t>
            </a:r>
            <a:r>
              <a:rPr lang="hu-HU" dirty="0" err="1" smtClean="0"/>
              <a:t>large</a:t>
            </a:r>
            <a:r>
              <a:rPr lang="hu-HU" dirty="0" smtClean="0"/>
              <a:t>, most </a:t>
            </a:r>
            <a:r>
              <a:rPr lang="hu-HU" dirty="0" err="1" smtClean="0"/>
              <a:t>languages</a:t>
            </a:r>
            <a:r>
              <a:rPr lang="hu-HU" dirty="0" smtClean="0"/>
              <a:t> </a:t>
            </a:r>
            <a:r>
              <a:rPr lang="hu-HU" dirty="0" err="1" smtClean="0"/>
              <a:t>have</a:t>
            </a:r>
            <a:r>
              <a:rPr lang="hu-HU" dirty="0" smtClean="0"/>
              <a:t> </a:t>
            </a:r>
            <a:r>
              <a:rPr lang="hu-HU" dirty="0" err="1" smtClean="0"/>
              <a:t>subword</a:t>
            </a:r>
            <a:r>
              <a:rPr lang="hu-HU" dirty="0" smtClean="0"/>
              <a:t> </a:t>
            </a:r>
            <a:r>
              <a:rPr lang="hu-HU" dirty="0" err="1" smtClean="0"/>
              <a:t>information</a:t>
            </a:r>
            <a:r>
              <a:rPr lang="hu-HU" dirty="0" smtClean="0"/>
              <a:t> </a:t>
            </a:r>
            <a:r>
              <a:rPr lang="hu-HU" dirty="0" err="1" smtClean="0"/>
              <a:t>that</a:t>
            </a:r>
            <a:r>
              <a:rPr lang="hu-HU" dirty="0" smtClean="0"/>
              <a:t> is </a:t>
            </a:r>
            <a:r>
              <a:rPr lang="hu-HU" dirty="0" err="1" smtClean="0"/>
              <a:t>meaningful</a:t>
            </a:r>
            <a:r>
              <a:rPr lang="hu-HU" dirty="0" smtClean="0"/>
              <a:t>.</a:t>
            </a:r>
          </a:p>
          <a:p>
            <a:pPr lvl="1"/>
            <a:r>
              <a:rPr lang="hu-HU" i="1" dirty="0" err="1" smtClean="0"/>
              <a:t>mean</a:t>
            </a:r>
            <a:r>
              <a:rPr lang="hu-HU" i="1" dirty="0" smtClean="0"/>
              <a:t>, </a:t>
            </a:r>
            <a:r>
              <a:rPr lang="hu-HU" i="1" dirty="0" err="1" smtClean="0"/>
              <a:t>meaning</a:t>
            </a:r>
            <a:r>
              <a:rPr lang="hu-HU" i="1" dirty="0" smtClean="0"/>
              <a:t>, </a:t>
            </a:r>
            <a:r>
              <a:rPr lang="hu-HU" i="1" dirty="0" err="1" smtClean="0"/>
              <a:t>meaningful</a:t>
            </a:r>
            <a:r>
              <a:rPr lang="hu-HU" i="1" dirty="0" smtClean="0"/>
              <a:t>, </a:t>
            </a:r>
            <a:r>
              <a:rPr lang="hu-HU" i="1" dirty="0" err="1" smtClean="0"/>
              <a:t>meaningless</a:t>
            </a:r>
            <a:r>
              <a:rPr lang="hu-HU" i="1" dirty="0" smtClean="0"/>
              <a:t>, </a:t>
            </a:r>
            <a:r>
              <a:rPr lang="hu-HU" i="1" dirty="0" err="1" smtClean="0"/>
              <a:t>means</a:t>
            </a:r>
            <a:r>
              <a:rPr lang="hu-HU" i="1" dirty="0" smtClean="0"/>
              <a:t>, </a:t>
            </a:r>
            <a:r>
              <a:rPr lang="hu-HU" i="1" dirty="0" err="1" smtClean="0"/>
              <a:t>meant</a:t>
            </a:r>
            <a:r>
              <a:rPr lang="hu-HU" i="1" dirty="0" smtClean="0"/>
              <a:t>: </a:t>
            </a:r>
            <a:r>
              <a:rPr lang="hu-HU" dirty="0" err="1" smtClean="0"/>
              <a:t>shouldn</a:t>
            </a:r>
            <a:r>
              <a:rPr lang="hu-HU" dirty="0" smtClean="0"/>
              <a:t>’t be </a:t>
            </a:r>
            <a:r>
              <a:rPr lang="hu-HU" dirty="0" err="1" smtClean="0"/>
              <a:t>treated</a:t>
            </a:r>
            <a:r>
              <a:rPr lang="hu-HU" dirty="0" smtClean="0"/>
              <a:t> </a:t>
            </a:r>
            <a:r>
              <a:rPr lang="hu-HU" dirty="0" err="1" smtClean="0"/>
              <a:t>as</a:t>
            </a:r>
            <a:r>
              <a:rPr lang="hu-HU" dirty="0" smtClean="0"/>
              <a:t> </a:t>
            </a:r>
            <a:r>
              <a:rPr lang="hu-HU" dirty="0" err="1" smtClean="0"/>
              <a:t>completely</a:t>
            </a:r>
            <a:r>
              <a:rPr lang="hu-HU" dirty="0" smtClean="0"/>
              <a:t> </a:t>
            </a:r>
            <a:r>
              <a:rPr lang="hu-HU" dirty="0" err="1" smtClean="0"/>
              <a:t>separate</a:t>
            </a:r>
            <a:r>
              <a:rPr lang="hu-HU" dirty="0" smtClean="0"/>
              <a:t> </a:t>
            </a:r>
            <a:r>
              <a:rPr lang="hu-HU" dirty="0" err="1" smtClean="0"/>
              <a:t>atomic</a:t>
            </a:r>
            <a:r>
              <a:rPr lang="hu-HU" dirty="0" smtClean="0"/>
              <a:t> </a:t>
            </a:r>
            <a:r>
              <a:rPr lang="hu-HU" dirty="0" err="1" smtClean="0"/>
              <a:t>units</a:t>
            </a:r>
            <a:endParaRPr lang="hu-HU" dirty="0" smtClean="0"/>
          </a:p>
          <a:p>
            <a:r>
              <a:rPr lang="hu-HU" dirty="0" err="1" smtClean="0"/>
              <a:t>Middle</a:t>
            </a:r>
            <a:r>
              <a:rPr lang="hu-HU" dirty="0" smtClean="0"/>
              <a:t> </a:t>
            </a:r>
            <a:r>
              <a:rPr lang="hu-HU" dirty="0" err="1" smtClean="0"/>
              <a:t>ground</a:t>
            </a:r>
            <a:r>
              <a:rPr lang="hu-HU" dirty="0" smtClean="0"/>
              <a:t>: </a:t>
            </a:r>
            <a:r>
              <a:rPr lang="hu-HU" b="1" dirty="0" err="1" smtClean="0"/>
              <a:t>subword</a:t>
            </a:r>
            <a:r>
              <a:rPr lang="hu-HU" b="1" dirty="0" smtClean="0"/>
              <a:t> </a:t>
            </a:r>
            <a:r>
              <a:rPr lang="hu-HU" b="1" dirty="0" err="1" smtClean="0"/>
              <a:t>tokenisation</a:t>
            </a:r>
            <a:endParaRPr lang="hu-HU" b="1" dirty="0" smtClean="0"/>
          </a:p>
          <a:p>
            <a:pPr lvl="1"/>
            <a:r>
              <a:rPr lang="hu-HU" dirty="0" err="1" smtClean="0"/>
              <a:t>subword</a:t>
            </a:r>
            <a:r>
              <a:rPr lang="hu-HU" dirty="0" smtClean="0"/>
              <a:t> </a:t>
            </a:r>
            <a:r>
              <a:rPr lang="hu-HU" dirty="0" err="1" smtClean="0"/>
              <a:t>tokens</a:t>
            </a:r>
            <a:r>
              <a:rPr lang="hu-HU" dirty="0" smtClean="0"/>
              <a:t> </a:t>
            </a:r>
            <a:r>
              <a:rPr lang="hu-HU" dirty="0" err="1" smtClean="0"/>
              <a:t>are</a:t>
            </a:r>
            <a:r>
              <a:rPr lang="hu-HU" dirty="0" smtClean="0"/>
              <a:t> </a:t>
            </a:r>
            <a:r>
              <a:rPr lang="hu-HU" dirty="0" err="1" smtClean="0"/>
              <a:t>variable</a:t>
            </a:r>
            <a:r>
              <a:rPr lang="hu-HU" dirty="0" smtClean="0"/>
              <a:t> </a:t>
            </a:r>
            <a:r>
              <a:rPr lang="hu-HU" dirty="0" err="1" smtClean="0"/>
              <a:t>length</a:t>
            </a:r>
            <a:r>
              <a:rPr lang="hu-HU" dirty="0" smtClean="0"/>
              <a:t>, </a:t>
            </a:r>
            <a:r>
              <a:rPr lang="hu-HU" dirty="0" err="1" smtClean="0"/>
              <a:t>from</a:t>
            </a:r>
            <a:r>
              <a:rPr lang="hu-HU" dirty="0" smtClean="0"/>
              <a:t> a </a:t>
            </a:r>
            <a:r>
              <a:rPr lang="hu-HU" dirty="0" err="1" smtClean="0"/>
              <a:t>single</a:t>
            </a:r>
            <a:r>
              <a:rPr lang="hu-HU" dirty="0" smtClean="0"/>
              <a:t> </a:t>
            </a:r>
            <a:r>
              <a:rPr lang="hu-HU" dirty="0" err="1" smtClean="0"/>
              <a:t>character</a:t>
            </a:r>
            <a:r>
              <a:rPr lang="hu-HU" dirty="0" smtClean="0"/>
              <a:t> </a:t>
            </a:r>
            <a:r>
              <a:rPr lang="hu-HU" dirty="0" err="1" smtClean="0"/>
              <a:t>to</a:t>
            </a:r>
            <a:r>
              <a:rPr lang="hu-HU" dirty="0" smtClean="0"/>
              <a:t> an </a:t>
            </a:r>
            <a:r>
              <a:rPr lang="hu-HU" dirty="0" err="1" smtClean="0"/>
              <a:t>entire</a:t>
            </a:r>
            <a:r>
              <a:rPr lang="hu-HU" dirty="0" smtClean="0"/>
              <a:t> </a:t>
            </a:r>
            <a:r>
              <a:rPr lang="hu-HU" dirty="0" err="1" smtClean="0"/>
              <a:t>word</a:t>
            </a:r>
            <a:r>
              <a:rPr lang="hu-HU" dirty="0" smtClean="0"/>
              <a:t> (</a:t>
            </a:r>
            <a:r>
              <a:rPr lang="hu-HU" dirty="0" err="1" smtClean="0"/>
              <a:t>e.g</a:t>
            </a:r>
            <a:r>
              <a:rPr lang="hu-HU" dirty="0" smtClean="0"/>
              <a:t>. </a:t>
            </a:r>
            <a:r>
              <a:rPr lang="hu-HU" i="1" dirty="0" err="1" smtClean="0"/>
              <a:t>mean</a:t>
            </a:r>
            <a:r>
              <a:rPr lang="hu-HU" i="1" dirty="0" smtClean="0"/>
              <a:t>, atom </a:t>
            </a:r>
            <a:r>
              <a:rPr lang="hu-HU" dirty="0" err="1" smtClean="0"/>
              <a:t>cannot</a:t>
            </a:r>
            <a:r>
              <a:rPr lang="hu-HU" dirty="0" smtClean="0"/>
              <a:t> be </a:t>
            </a:r>
            <a:r>
              <a:rPr lang="hu-HU" dirty="0" err="1" smtClean="0"/>
              <a:t>sensibly</a:t>
            </a:r>
            <a:r>
              <a:rPr lang="hu-HU" dirty="0" smtClean="0"/>
              <a:t> </a:t>
            </a:r>
            <a:r>
              <a:rPr lang="hu-HU" dirty="0" err="1" smtClean="0"/>
              <a:t>split</a:t>
            </a:r>
            <a:r>
              <a:rPr lang="hu-HU" dirty="0" smtClean="0"/>
              <a:t> </a:t>
            </a:r>
            <a:r>
              <a:rPr lang="hu-HU" dirty="0" err="1" smtClean="0"/>
              <a:t>up</a:t>
            </a:r>
            <a:r>
              <a:rPr lang="hu-HU" dirty="0" smtClean="0"/>
              <a:t>)</a:t>
            </a:r>
          </a:p>
          <a:p>
            <a:r>
              <a:rPr lang="hu-HU" dirty="0" err="1" smtClean="0"/>
              <a:t>Tokenisers</a:t>
            </a:r>
            <a:r>
              <a:rPr lang="hu-HU" dirty="0" smtClean="0"/>
              <a:t> </a:t>
            </a:r>
            <a:r>
              <a:rPr lang="hu-HU" dirty="0" err="1" smtClean="0"/>
              <a:t>are</a:t>
            </a:r>
            <a:r>
              <a:rPr lang="hu-HU" dirty="0" smtClean="0"/>
              <a:t> </a:t>
            </a:r>
            <a:r>
              <a:rPr lang="hu-HU" dirty="0" err="1" smtClean="0"/>
              <a:t>usually</a:t>
            </a:r>
            <a:r>
              <a:rPr lang="hu-HU" dirty="0" smtClean="0"/>
              <a:t> </a:t>
            </a:r>
            <a:r>
              <a:rPr lang="hu-HU" b="1" dirty="0" err="1" smtClean="0"/>
              <a:t>created</a:t>
            </a:r>
            <a:r>
              <a:rPr lang="hu-HU" b="1" dirty="0" smtClean="0"/>
              <a:t> </a:t>
            </a:r>
            <a:r>
              <a:rPr lang="hu-HU" b="1" dirty="0" err="1" smtClean="0"/>
              <a:t>using</a:t>
            </a:r>
            <a:r>
              <a:rPr lang="hu-HU" b="1" dirty="0" smtClean="0"/>
              <a:t> a </a:t>
            </a:r>
            <a:r>
              <a:rPr lang="hu-HU" b="1" dirty="0" err="1" smtClean="0"/>
              <a:t>language-agnostic</a:t>
            </a:r>
            <a:r>
              <a:rPr lang="hu-HU" b="1" dirty="0" smtClean="0"/>
              <a:t> </a:t>
            </a:r>
            <a:r>
              <a:rPr lang="hu-HU" b="1" dirty="0" err="1" smtClean="0"/>
              <a:t>general</a:t>
            </a:r>
            <a:r>
              <a:rPr lang="hu-HU" b="1" dirty="0" smtClean="0"/>
              <a:t> </a:t>
            </a:r>
            <a:r>
              <a:rPr lang="hu-HU" b="1" dirty="0" err="1" smtClean="0"/>
              <a:t>algorithm</a:t>
            </a:r>
            <a:r>
              <a:rPr lang="hu-HU" b="1" dirty="0" smtClean="0"/>
              <a:t> </a:t>
            </a:r>
            <a:r>
              <a:rPr lang="hu-HU" dirty="0" err="1" smtClean="0"/>
              <a:t>that</a:t>
            </a:r>
            <a:r>
              <a:rPr lang="hu-HU" dirty="0" smtClean="0"/>
              <a:t> </a:t>
            </a:r>
            <a:r>
              <a:rPr lang="hu-HU" b="1" dirty="0" err="1" smtClean="0"/>
              <a:t>starts</a:t>
            </a:r>
            <a:r>
              <a:rPr lang="hu-HU" b="1" dirty="0" smtClean="0"/>
              <a:t> out </a:t>
            </a:r>
            <a:r>
              <a:rPr lang="hu-HU" b="1" dirty="0" err="1" smtClean="0"/>
              <a:t>with</a:t>
            </a:r>
            <a:r>
              <a:rPr lang="hu-HU" b="1" dirty="0" smtClean="0"/>
              <a:t> </a:t>
            </a:r>
            <a:r>
              <a:rPr lang="hu-HU" b="1" dirty="0" err="1" smtClean="0"/>
              <a:t>individual</a:t>
            </a:r>
            <a:r>
              <a:rPr lang="hu-HU" b="1" dirty="0" smtClean="0"/>
              <a:t> </a:t>
            </a:r>
            <a:r>
              <a:rPr lang="hu-HU" b="1" dirty="0" err="1" smtClean="0"/>
              <a:t>characters</a:t>
            </a:r>
            <a:r>
              <a:rPr lang="hu-HU" b="1" dirty="0" smtClean="0"/>
              <a:t> </a:t>
            </a:r>
            <a:r>
              <a:rPr lang="hu-HU" dirty="0" err="1" smtClean="0"/>
              <a:t>as</a:t>
            </a:r>
            <a:r>
              <a:rPr lang="hu-HU" dirty="0" smtClean="0"/>
              <a:t> </a:t>
            </a:r>
            <a:r>
              <a:rPr lang="hu-HU" dirty="0" err="1" smtClean="0"/>
              <a:t>tokens</a:t>
            </a:r>
            <a:r>
              <a:rPr lang="hu-HU" dirty="0" smtClean="0"/>
              <a:t> and </a:t>
            </a:r>
            <a:r>
              <a:rPr lang="hu-HU" b="1" dirty="0" err="1" smtClean="0"/>
              <a:t>combines</a:t>
            </a:r>
            <a:r>
              <a:rPr lang="hu-HU" b="1" dirty="0" smtClean="0"/>
              <a:t> </a:t>
            </a:r>
            <a:r>
              <a:rPr lang="hu-HU" b="1" dirty="0" err="1" smtClean="0"/>
              <a:t>neighboring</a:t>
            </a:r>
            <a:r>
              <a:rPr lang="hu-HU" b="1" dirty="0" smtClean="0"/>
              <a:t> </a:t>
            </a:r>
            <a:r>
              <a:rPr lang="hu-HU" b="1" dirty="0" err="1" smtClean="0"/>
              <a:t>tokens</a:t>
            </a:r>
            <a:r>
              <a:rPr lang="hu-HU" b="1" dirty="0" smtClean="0"/>
              <a:t> </a:t>
            </a:r>
            <a:r>
              <a:rPr lang="hu-HU" dirty="0" err="1" smtClean="0"/>
              <a:t>into</a:t>
            </a:r>
            <a:r>
              <a:rPr lang="hu-HU" dirty="0" smtClean="0"/>
              <a:t> </a:t>
            </a:r>
            <a:r>
              <a:rPr lang="hu-HU" dirty="0" err="1" smtClean="0"/>
              <a:t>one</a:t>
            </a:r>
            <a:r>
              <a:rPr lang="hu-HU" dirty="0" smtClean="0"/>
              <a:t> </a:t>
            </a:r>
            <a:r>
              <a:rPr lang="hu-HU" dirty="0" err="1" smtClean="0"/>
              <a:t>new</a:t>
            </a:r>
            <a:r>
              <a:rPr lang="hu-HU" dirty="0" smtClean="0"/>
              <a:t> </a:t>
            </a:r>
            <a:r>
              <a:rPr lang="hu-HU" dirty="0" err="1" smtClean="0"/>
              <a:t>token</a:t>
            </a:r>
            <a:r>
              <a:rPr lang="hu-HU" dirty="0" smtClean="0"/>
              <a:t> </a:t>
            </a:r>
            <a:r>
              <a:rPr lang="hu-HU" dirty="0" err="1" smtClean="0"/>
              <a:t>if</a:t>
            </a:r>
            <a:r>
              <a:rPr lang="hu-HU" dirty="0" smtClean="0"/>
              <a:t> </a:t>
            </a:r>
            <a:r>
              <a:rPr lang="hu-HU" dirty="0" err="1" smtClean="0"/>
              <a:t>they</a:t>
            </a:r>
            <a:r>
              <a:rPr lang="hu-HU" dirty="0" smtClean="0"/>
              <a:t> </a:t>
            </a:r>
            <a:r>
              <a:rPr lang="hu-HU" dirty="0" err="1" smtClean="0"/>
              <a:t>occur</a:t>
            </a:r>
            <a:r>
              <a:rPr lang="hu-HU" dirty="0" smtClean="0"/>
              <a:t> </a:t>
            </a:r>
            <a:r>
              <a:rPr lang="hu-HU" dirty="0" err="1" smtClean="0"/>
              <a:t>very</a:t>
            </a:r>
            <a:r>
              <a:rPr lang="hu-HU" dirty="0" smtClean="0"/>
              <a:t> </a:t>
            </a:r>
            <a:r>
              <a:rPr lang="hu-HU" dirty="0" err="1" smtClean="0"/>
              <a:t>frequently</a:t>
            </a:r>
            <a:r>
              <a:rPr lang="hu-HU" dirty="0" smtClean="0"/>
              <a:t> </a:t>
            </a:r>
            <a:r>
              <a:rPr lang="hu-HU" dirty="0" err="1" smtClean="0"/>
              <a:t>next</a:t>
            </a:r>
            <a:r>
              <a:rPr lang="hu-HU" dirty="0" smtClean="0"/>
              <a:t> </a:t>
            </a:r>
            <a:r>
              <a:rPr lang="hu-HU" dirty="0" err="1" smtClean="0"/>
              <a:t>to</a:t>
            </a:r>
            <a:r>
              <a:rPr lang="hu-HU" dirty="0" smtClean="0"/>
              <a:t> </a:t>
            </a:r>
            <a:r>
              <a:rPr lang="hu-HU" dirty="0" err="1" smtClean="0"/>
              <a:t>each</a:t>
            </a:r>
            <a:r>
              <a:rPr lang="hu-HU" dirty="0" smtClean="0"/>
              <a:t> </a:t>
            </a:r>
            <a:r>
              <a:rPr lang="hu-HU" dirty="0" err="1" smtClean="0"/>
              <a:t>other</a:t>
            </a:r>
            <a:r>
              <a:rPr lang="hu-HU" dirty="0" smtClean="0"/>
              <a:t> </a:t>
            </a:r>
            <a:r>
              <a:rPr lang="hu-HU" dirty="0" err="1" smtClean="0"/>
              <a:t>in</a:t>
            </a:r>
            <a:r>
              <a:rPr lang="hu-HU" dirty="0" smtClean="0"/>
              <a:t> a </a:t>
            </a:r>
            <a:r>
              <a:rPr lang="hu-HU" dirty="0" err="1" smtClean="0"/>
              <a:t>training</a:t>
            </a:r>
            <a:r>
              <a:rPr lang="hu-HU" dirty="0" smtClean="0"/>
              <a:t> corpus, </a:t>
            </a:r>
            <a:r>
              <a:rPr lang="hu-HU" b="1" dirty="0" err="1" smtClean="0"/>
              <a:t>iteratively</a:t>
            </a:r>
            <a:endParaRPr lang="hu-HU" b="1" dirty="0" smtClean="0"/>
          </a:p>
          <a:p>
            <a:pPr lvl="1"/>
            <a:r>
              <a:rPr lang="hu-HU" dirty="0" err="1" smtClean="0"/>
              <a:t>thus</a:t>
            </a:r>
            <a:r>
              <a:rPr lang="hu-HU" dirty="0" smtClean="0"/>
              <a:t> </a:t>
            </a:r>
            <a:r>
              <a:rPr lang="hu-HU" dirty="0" err="1" smtClean="0"/>
              <a:t>the</a:t>
            </a:r>
            <a:r>
              <a:rPr lang="hu-HU" dirty="0" smtClean="0"/>
              <a:t> </a:t>
            </a:r>
            <a:r>
              <a:rPr lang="hu-HU" dirty="0" err="1" smtClean="0"/>
              <a:t>resulting</a:t>
            </a:r>
            <a:r>
              <a:rPr lang="hu-HU" dirty="0" smtClean="0"/>
              <a:t> </a:t>
            </a:r>
            <a:r>
              <a:rPr lang="hu-HU" dirty="0" err="1" smtClean="0"/>
              <a:t>tokeniser</a:t>
            </a:r>
            <a:r>
              <a:rPr lang="hu-HU" dirty="0" smtClean="0"/>
              <a:t> is </a:t>
            </a:r>
            <a:r>
              <a:rPr lang="hu-HU" dirty="0" err="1" smtClean="0"/>
              <a:t>dependent</a:t>
            </a:r>
            <a:r>
              <a:rPr lang="hu-HU" dirty="0" smtClean="0"/>
              <a:t> </a:t>
            </a:r>
            <a:r>
              <a:rPr lang="hu-HU" dirty="0" err="1" smtClean="0"/>
              <a:t>on</a:t>
            </a:r>
            <a:r>
              <a:rPr lang="hu-HU" dirty="0" smtClean="0"/>
              <a:t> </a:t>
            </a:r>
            <a:r>
              <a:rPr lang="hu-HU" dirty="0" err="1" smtClean="0"/>
              <a:t>the</a:t>
            </a:r>
            <a:r>
              <a:rPr lang="hu-HU" dirty="0" smtClean="0"/>
              <a:t> (</a:t>
            </a:r>
            <a:r>
              <a:rPr lang="hu-HU" dirty="0" err="1" smtClean="0"/>
              <a:t>language</a:t>
            </a:r>
            <a:r>
              <a:rPr lang="hu-HU" dirty="0" smtClean="0"/>
              <a:t> of </a:t>
            </a:r>
            <a:r>
              <a:rPr lang="hu-HU" dirty="0" err="1" smtClean="0"/>
              <a:t>the</a:t>
            </a:r>
            <a:r>
              <a:rPr lang="hu-HU" dirty="0" smtClean="0"/>
              <a:t>) </a:t>
            </a:r>
            <a:r>
              <a:rPr lang="hu-HU" dirty="0" err="1" smtClean="0"/>
              <a:t>training</a:t>
            </a:r>
            <a:r>
              <a:rPr lang="hu-HU" dirty="0" smtClean="0"/>
              <a:t> corpus</a:t>
            </a:r>
          </a:p>
          <a:p>
            <a:pPr lvl="1"/>
            <a:r>
              <a:rPr lang="hu-HU" dirty="0" err="1" smtClean="0"/>
              <a:t>does</a:t>
            </a:r>
            <a:r>
              <a:rPr lang="hu-HU" dirty="0" smtClean="0"/>
              <a:t> </a:t>
            </a:r>
            <a:r>
              <a:rPr lang="hu-HU" dirty="0" err="1" smtClean="0"/>
              <a:t>not</a:t>
            </a:r>
            <a:r>
              <a:rPr lang="hu-HU" dirty="0" smtClean="0"/>
              <a:t> </a:t>
            </a:r>
            <a:r>
              <a:rPr lang="hu-HU" dirty="0" err="1" smtClean="0"/>
              <a:t>identify</a:t>
            </a:r>
            <a:r>
              <a:rPr lang="hu-HU" dirty="0" smtClean="0"/>
              <a:t> </a:t>
            </a:r>
            <a:r>
              <a:rPr lang="hu-HU" dirty="0" err="1" smtClean="0"/>
              <a:t>meaningful</a:t>
            </a:r>
            <a:r>
              <a:rPr lang="hu-HU" dirty="0" smtClean="0"/>
              <a:t> </a:t>
            </a:r>
            <a:r>
              <a:rPr lang="hu-HU" dirty="0" err="1" smtClean="0"/>
              <a:t>units</a:t>
            </a:r>
            <a:r>
              <a:rPr lang="hu-HU" dirty="0" smtClean="0"/>
              <a:t> 100 % </a:t>
            </a:r>
            <a:r>
              <a:rPr lang="hu-HU" dirty="0" err="1" smtClean="0"/>
              <a:t>reliably</a:t>
            </a:r>
            <a:r>
              <a:rPr lang="hu-HU" dirty="0" smtClean="0"/>
              <a:t>, </a:t>
            </a:r>
            <a:r>
              <a:rPr lang="hu-HU" dirty="0" err="1" smtClean="0"/>
              <a:t>but</a:t>
            </a:r>
            <a:r>
              <a:rPr lang="hu-HU" dirty="0" smtClean="0"/>
              <a:t> </a:t>
            </a:r>
            <a:r>
              <a:rPr lang="hu-HU" dirty="0" err="1" smtClean="0"/>
              <a:t>works</a:t>
            </a:r>
            <a:r>
              <a:rPr lang="hu-HU" dirty="0" smtClean="0"/>
              <a:t> </a:t>
            </a:r>
            <a:r>
              <a:rPr lang="hu-HU" dirty="0" err="1" smtClean="0"/>
              <a:t>good</a:t>
            </a:r>
            <a:r>
              <a:rPr lang="hu-HU" dirty="0" smtClean="0"/>
              <a:t> </a:t>
            </a:r>
            <a:r>
              <a:rPr lang="hu-HU" dirty="0" err="1" smtClean="0"/>
              <a:t>enough</a:t>
            </a:r>
            <a:endParaRPr lang="hu-HU" dirty="0" smtClean="0"/>
          </a:p>
          <a:p>
            <a:pPr lvl="1"/>
            <a:r>
              <a:rPr lang="hu-HU" dirty="0" smtClean="0"/>
              <a:t>main </a:t>
            </a:r>
            <a:r>
              <a:rPr lang="hu-HU" dirty="0" err="1" smtClean="0"/>
              <a:t>algorithmic</a:t>
            </a:r>
            <a:r>
              <a:rPr lang="hu-HU" dirty="0" smtClean="0"/>
              <a:t> </a:t>
            </a:r>
            <a:r>
              <a:rPr lang="hu-HU" dirty="0" err="1" smtClean="0"/>
              <a:t>variants</a:t>
            </a:r>
            <a:r>
              <a:rPr lang="hu-HU" dirty="0" smtClean="0"/>
              <a:t>: </a:t>
            </a:r>
            <a:r>
              <a:rPr lang="hu-HU" b="1" dirty="0" err="1"/>
              <a:t>Byte-Pair</a:t>
            </a:r>
            <a:r>
              <a:rPr lang="hu-HU" b="1" dirty="0"/>
              <a:t> </a:t>
            </a:r>
            <a:r>
              <a:rPr lang="hu-HU" b="1" dirty="0" err="1"/>
              <a:t>Encoding</a:t>
            </a:r>
            <a:r>
              <a:rPr lang="hu-HU" b="1" dirty="0"/>
              <a:t> (</a:t>
            </a:r>
            <a:r>
              <a:rPr lang="hu-HU" b="1" dirty="0" err="1" smtClean="0"/>
              <a:t>BPE</a:t>
            </a:r>
            <a:r>
              <a:rPr lang="hu-HU" b="1" dirty="0" smtClean="0"/>
              <a:t>), </a:t>
            </a:r>
            <a:r>
              <a:rPr lang="hu-HU" dirty="0" err="1" smtClean="0"/>
              <a:t>Unigram</a:t>
            </a:r>
            <a:r>
              <a:rPr lang="hu-HU" dirty="0" smtClean="0"/>
              <a:t>, </a:t>
            </a:r>
            <a:r>
              <a:rPr lang="hu-HU" dirty="0" err="1" smtClean="0"/>
              <a:t>WordPiece</a:t>
            </a:r>
            <a:endParaRPr lang="hu-HU" dirty="0" smtClean="0"/>
          </a:p>
          <a:p>
            <a:pPr lvl="1"/>
            <a:r>
              <a:rPr lang="hu-HU" dirty="0" err="1" smtClean="0"/>
              <a:t>popular</a:t>
            </a:r>
            <a:r>
              <a:rPr lang="hu-HU" dirty="0" smtClean="0"/>
              <a:t> </a:t>
            </a:r>
            <a:r>
              <a:rPr lang="hu-HU" dirty="0" err="1" smtClean="0"/>
              <a:t>implementation</a:t>
            </a:r>
            <a:r>
              <a:rPr lang="hu-HU" dirty="0" smtClean="0"/>
              <a:t>: </a:t>
            </a:r>
            <a:r>
              <a:rPr lang="hu-HU" dirty="0" err="1" smtClean="0"/>
              <a:t>Google</a:t>
            </a:r>
            <a:r>
              <a:rPr lang="hu-HU" dirty="0" smtClean="0"/>
              <a:t>’s </a:t>
            </a:r>
            <a:r>
              <a:rPr lang="hu-HU" dirty="0" err="1" smtClean="0">
                <a:hlinkClick r:id="rId2"/>
              </a:rPr>
              <a:t>SentencePiece</a:t>
            </a:r>
            <a:r>
              <a:rPr lang="hu-HU" dirty="0" smtClean="0"/>
              <a:t> </a:t>
            </a:r>
            <a:r>
              <a:rPr lang="hu-HU" dirty="0" err="1" smtClean="0"/>
              <a:t>library</a:t>
            </a:r>
            <a:endParaRPr lang="hu-HU" dirty="0" smtClean="0"/>
          </a:p>
        </p:txBody>
      </p:sp>
    </p:spTree>
    <p:extLst>
      <p:ext uri="{BB962C8B-B14F-4D97-AF65-F5344CB8AC3E}">
        <p14:creationId xmlns:p14="http://schemas.microsoft.com/office/powerpoint/2010/main" val="2493247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a:bodyPr>
          <a:lstStyle/>
          <a:p>
            <a:r>
              <a:rPr lang="hu-HU" sz="4000" dirty="0" err="1" smtClean="0"/>
              <a:t>Encoder-decoder</a:t>
            </a:r>
            <a:r>
              <a:rPr lang="hu-HU" sz="4000" dirty="0" smtClean="0"/>
              <a:t> </a:t>
            </a:r>
            <a:r>
              <a:rPr lang="hu-HU" sz="4000" dirty="0" err="1" smtClean="0"/>
              <a:t>Tranformer</a:t>
            </a:r>
            <a:r>
              <a:rPr lang="hu-HU" sz="4000" dirty="0" smtClean="0"/>
              <a:t> </a:t>
            </a:r>
            <a:r>
              <a:rPr lang="hu-HU" sz="4000" dirty="0" err="1" smtClean="0"/>
              <a:t>Models</a:t>
            </a:r>
            <a:endParaRPr lang="en-GB" sz="4000" dirty="0"/>
          </a:p>
        </p:txBody>
      </p:sp>
      <p:sp>
        <p:nvSpPr>
          <p:cNvPr id="3" name="Tartalom helye 2"/>
          <p:cNvSpPr>
            <a:spLocks noGrp="1"/>
          </p:cNvSpPr>
          <p:nvPr>
            <p:ph idx="1"/>
          </p:nvPr>
        </p:nvSpPr>
        <p:spPr>
          <a:xfrm>
            <a:off x="457200" y="1600200"/>
            <a:ext cx="8229600" cy="4637112"/>
          </a:xfrm>
        </p:spPr>
        <p:txBody>
          <a:bodyPr>
            <a:normAutofit fontScale="62500" lnSpcReduction="20000"/>
          </a:bodyPr>
          <a:lstStyle/>
          <a:p>
            <a:r>
              <a:rPr lang="hu-HU" dirty="0" err="1" smtClean="0"/>
              <a:t>As</a:t>
            </a:r>
            <a:r>
              <a:rPr lang="hu-HU" dirty="0" smtClean="0"/>
              <a:t> </a:t>
            </a:r>
            <a:r>
              <a:rPr lang="hu-HU" dirty="0" err="1" smtClean="0"/>
              <a:t>seen</a:t>
            </a:r>
            <a:r>
              <a:rPr lang="hu-HU" dirty="0" smtClean="0"/>
              <a:t> </a:t>
            </a:r>
            <a:r>
              <a:rPr lang="hu-HU" dirty="0" err="1" smtClean="0"/>
              <a:t>on</a:t>
            </a:r>
            <a:r>
              <a:rPr lang="hu-HU" dirty="0" smtClean="0"/>
              <a:t> a </a:t>
            </a:r>
            <a:r>
              <a:rPr lang="hu-HU" dirty="0" err="1" smtClean="0"/>
              <a:t>previous</a:t>
            </a:r>
            <a:r>
              <a:rPr lang="hu-HU" dirty="0" smtClean="0"/>
              <a:t> </a:t>
            </a:r>
            <a:r>
              <a:rPr lang="hu-HU" dirty="0" err="1" smtClean="0"/>
              <a:t>slide</a:t>
            </a:r>
            <a:r>
              <a:rPr lang="hu-HU" dirty="0" smtClean="0"/>
              <a:t>, </a:t>
            </a:r>
            <a:r>
              <a:rPr lang="hu-HU" dirty="0" err="1" smtClean="0"/>
              <a:t>the</a:t>
            </a:r>
            <a:r>
              <a:rPr lang="hu-HU" dirty="0" smtClean="0"/>
              <a:t> </a:t>
            </a:r>
            <a:r>
              <a:rPr lang="hu-HU" dirty="0" err="1" smtClean="0"/>
              <a:t>original</a:t>
            </a:r>
            <a:r>
              <a:rPr lang="hu-HU" dirty="0" smtClean="0"/>
              <a:t> </a:t>
            </a:r>
            <a:r>
              <a:rPr lang="hu-HU" dirty="0" err="1" smtClean="0"/>
              <a:t>transformer</a:t>
            </a:r>
            <a:r>
              <a:rPr lang="hu-HU" dirty="0" smtClean="0"/>
              <a:t> </a:t>
            </a:r>
            <a:r>
              <a:rPr lang="hu-HU" dirty="0" err="1" smtClean="0"/>
              <a:t>network</a:t>
            </a:r>
            <a:r>
              <a:rPr lang="hu-HU" dirty="0" smtClean="0"/>
              <a:t> </a:t>
            </a:r>
            <a:r>
              <a:rPr lang="hu-HU" dirty="0" err="1" smtClean="0"/>
              <a:t>described</a:t>
            </a:r>
            <a:r>
              <a:rPr lang="hu-HU" dirty="0" smtClean="0"/>
              <a:t> </a:t>
            </a:r>
            <a:r>
              <a:rPr lang="hu-HU" dirty="0" err="1" smtClean="0"/>
              <a:t>in</a:t>
            </a:r>
            <a:r>
              <a:rPr lang="hu-HU" dirty="0" smtClean="0"/>
              <a:t> </a:t>
            </a:r>
            <a:r>
              <a:rPr lang="hu-HU" i="1" dirty="0" err="1" smtClean="0"/>
              <a:t>Attention</a:t>
            </a:r>
            <a:r>
              <a:rPr lang="hu-HU" i="1" dirty="0" smtClean="0"/>
              <a:t> is </a:t>
            </a:r>
            <a:r>
              <a:rPr lang="hu-HU" i="1" dirty="0" err="1" smtClean="0"/>
              <a:t>all</a:t>
            </a:r>
            <a:r>
              <a:rPr lang="hu-HU" i="1" dirty="0" smtClean="0"/>
              <a:t> </a:t>
            </a:r>
            <a:r>
              <a:rPr lang="hu-HU" i="1" dirty="0" err="1" smtClean="0"/>
              <a:t>you</a:t>
            </a:r>
            <a:r>
              <a:rPr lang="hu-HU" i="1" dirty="0" smtClean="0"/>
              <a:t> </a:t>
            </a:r>
            <a:r>
              <a:rPr lang="hu-HU" i="1" dirty="0" err="1" smtClean="0"/>
              <a:t>need</a:t>
            </a:r>
            <a:r>
              <a:rPr lang="hu-HU" i="1" dirty="0" smtClean="0"/>
              <a:t> </a:t>
            </a:r>
            <a:r>
              <a:rPr lang="hu-HU" dirty="0" smtClean="0"/>
              <a:t>has an </a:t>
            </a:r>
            <a:r>
              <a:rPr lang="hu-HU" dirty="0" err="1" smtClean="0"/>
              <a:t>encoder-decoder</a:t>
            </a:r>
            <a:r>
              <a:rPr lang="hu-HU" dirty="0" smtClean="0"/>
              <a:t> </a:t>
            </a:r>
            <a:r>
              <a:rPr lang="hu-HU" dirty="0" err="1" smtClean="0"/>
              <a:t>architecture</a:t>
            </a:r>
            <a:r>
              <a:rPr lang="hu-HU" dirty="0" smtClean="0"/>
              <a:t>.</a:t>
            </a:r>
          </a:p>
          <a:p>
            <a:r>
              <a:rPr lang="hu-HU" dirty="0" err="1" smtClean="0"/>
              <a:t>Other</a:t>
            </a:r>
            <a:r>
              <a:rPr lang="hu-HU" dirty="0" smtClean="0"/>
              <a:t> </a:t>
            </a:r>
            <a:r>
              <a:rPr lang="hu-HU" dirty="0" err="1" smtClean="0"/>
              <a:t>notable</a:t>
            </a:r>
            <a:r>
              <a:rPr lang="hu-HU" dirty="0" smtClean="0"/>
              <a:t> </a:t>
            </a:r>
            <a:r>
              <a:rPr lang="hu-HU" b="1" dirty="0" err="1" smtClean="0"/>
              <a:t>encoder-decoder</a:t>
            </a:r>
            <a:r>
              <a:rPr lang="hu-HU" b="1" dirty="0" smtClean="0"/>
              <a:t> </a:t>
            </a:r>
            <a:r>
              <a:rPr lang="hu-HU" b="1" dirty="0" err="1" smtClean="0"/>
              <a:t>transformer</a:t>
            </a:r>
            <a:r>
              <a:rPr lang="hu-HU" b="1" dirty="0" smtClean="0"/>
              <a:t> </a:t>
            </a:r>
            <a:r>
              <a:rPr lang="hu-HU" b="1" dirty="0" err="1" smtClean="0"/>
              <a:t>models</a:t>
            </a:r>
            <a:r>
              <a:rPr lang="hu-HU" b="1" dirty="0" smtClean="0"/>
              <a:t> </a:t>
            </a:r>
            <a:r>
              <a:rPr lang="hu-HU" dirty="0" err="1" smtClean="0"/>
              <a:t>include</a:t>
            </a:r>
            <a:r>
              <a:rPr lang="hu-HU" dirty="0" smtClean="0"/>
              <a:t>:</a:t>
            </a:r>
          </a:p>
          <a:p>
            <a:pPr lvl="1"/>
            <a:r>
              <a:rPr lang="hu-HU" dirty="0" smtClean="0">
                <a:hlinkClick r:id="rId2"/>
              </a:rPr>
              <a:t>BART</a:t>
            </a:r>
            <a:r>
              <a:rPr lang="hu-HU" dirty="0" smtClean="0"/>
              <a:t>: </a:t>
            </a:r>
            <a:r>
              <a:rPr lang="hu-HU" dirty="0" err="1" smtClean="0"/>
              <a:t>like</a:t>
            </a:r>
            <a:r>
              <a:rPr lang="hu-HU" dirty="0" smtClean="0"/>
              <a:t> </a:t>
            </a:r>
            <a:r>
              <a:rPr lang="hu-HU" dirty="0" err="1" smtClean="0"/>
              <a:t>the</a:t>
            </a:r>
            <a:r>
              <a:rPr lang="hu-HU" dirty="0" smtClean="0"/>
              <a:t> </a:t>
            </a:r>
            <a:r>
              <a:rPr lang="hu-HU" dirty="0" err="1" smtClean="0"/>
              <a:t>Vaswani</a:t>
            </a:r>
            <a:r>
              <a:rPr lang="hu-HU" dirty="0" smtClean="0"/>
              <a:t> et </a:t>
            </a:r>
            <a:r>
              <a:rPr lang="hu-HU" dirty="0" err="1" smtClean="0"/>
              <a:t>al</a:t>
            </a:r>
            <a:r>
              <a:rPr lang="hu-HU" dirty="0" smtClean="0"/>
              <a:t>. </a:t>
            </a:r>
            <a:r>
              <a:rPr lang="hu-HU" dirty="0" err="1" smtClean="0"/>
              <a:t>transformer</a:t>
            </a:r>
            <a:r>
              <a:rPr lang="hu-HU" dirty="0" smtClean="0"/>
              <a:t>, </a:t>
            </a:r>
            <a:r>
              <a:rPr lang="hu-HU" dirty="0" err="1" smtClean="0"/>
              <a:t>but</a:t>
            </a:r>
            <a:r>
              <a:rPr lang="hu-HU" dirty="0" smtClean="0"/>
              <a:t> </a:t>
            </a:r>
            <a:r>
              <a:rPr lang="hu-HU" dirty="0" err="1" smtClean="0"/>
              <a:t>contains</a:t>
            </a:r>
            <a:r>
              <a:rPr lang="hu-HU" dirty="0" smtClean="0"/>
              <a:t> a </a:t>
            </a:r>
            <a:r>
              <a:rPr lang="hu-HU" dirty="0" err="1" smtClean="0"/>
              <a:t>bidirectional</a:t>
            </a:r>
            <a:r>
              <a:rPr lang="hu-HU" dirty="0" smtClean="0"/>
              <a:t> </a:t>
            </a:r>
            <a:r>
              <a:rPr lang="hu-HU" dirty="0" err="1" smtClean="0"/>
              <a:t>encoder</a:t>
            </a:r>
            <a:r>
              <a:rPr lang="hu-HU" dirty="0" smtClean="0"/>
              <a:t> (</a:t>
            </a:r>
            <a:r>
              <a:rPr lang="hu-HU" dirty="0" err="1" smtClean="0"/>
              <a:t>like</a:t>
            </a:r>
            <a:r>
              <a:rPr lang="hu-HU" dirty="0" smtClean="0"/>
              <a:t> </a:t>
            </a:r>
            <a:r>
              <a:rPr lang="hu-HU" dirty="0" err="1" smtClean="0"/>
              <a:t>BERT</a:t>
            </a:r>
            <a:r>
              <a:rPr lang="hu-HU" dirty="0" smtClean="0"/>
              <a:t>) </a:t>
            </a:r>
            <a:r>
              <a:rPr lang="hu-HU" dirty="0" err="1" smtClean="0"/>
              <a:t>in</a:t>
            </a:r>
            <a:r>
              <a:rPr lang="hu-HU" dirty="0" smtClean="0"/>
              <a:t> </a:t>
            </a:r>
            <a:r>
              <a:rPr lang="hu-HU" dirty="0" err="1" smtClean="0"/>
              <a:t>combination</a:t>
            </a:r>
            <a:r>
              <a:rPr lang="hu-HU" dirty="0" smtClean="0"/>
              <a:t> </a:t>
            </a:r>
            <a:r>
              <a:rPr lang="hu-HU" dirty="0" err="1" smtClean="0"/>
              <a:t>with</a:t>
            </a:r>
            <a:r>
              <a:rPr lang="hu-HU" dirty="0" smtClean="0"/>
              <a:t> </a:t>
            </a:r>
            <a:r>
              <a:rPr lang="hu-HU" dirty="0" err="1" smtClean="0"/>
              <a:t>the</a:t>
            </a:r>
            <a:r>
              <a:rPr lang="hu-HU" dirty="0" smtClean="0"/>
              <a:t> </a:t>
            </a:r>
            <a:r>
              <a:rPr lang="hu-HU" dirty="0" err="1" smtClean="0"/>
              <a:t>autoregressive</a:t>
            </a:r>
            <a:r>
              <a:rPr lang="hu-HU" dirty="0" smtClean="0"/>
              <a:t> (</a:t>
            </a:r>
            <a:r>
              <a:rPr lang="hu-HU" dirty="0" err="1" smtClean="0"/>
              <a:t>GPT-like</a:t>
            </a:r>
            <a:r>
              <a:rPr lang="hu-HU" dirty="0" smtClean="0"/>
              <a:t>) </a:t>
            </a:r>
            <a:r>
              <a:rPr lang="hu-HU" dirty="0" err="1" smtClean="0"/>
              <a:t>decoder</a:t>
            </a:r>
            <a:endParaRPr lang="hu-HU" dirty="0" smtClean="0"/>
          </a:p>
          <a:p>
            <a:pPr lvl="1"/>
            <a:r>
              <a:rPr lang="hu-HU" dirty="0" smtClean="0">
                <a:hlinkClick r:id="rId3"/>
              </a:rPr>
              <a:t>T5</a:t>
            </a:r>
            <a:r>
              <a:rPr lang="hu-HU" dirty="0" smtClean="0"/>
              <a:t> (2019): a </a:t>
            </a:r>
            <a:r>
              <a:rPr lang="hu-HU" dirty="0" err="1" smtClean="0"/>
              <a:t>text-to-text</a:t>
            </a:r>
            <a:r>
              <a:rPr lang="hu-HU" dirty="0" smtClean="0"/>
              <a:t> </a:t>
            </a:r>
            <a:r>
              <a:rPr lang="hu-HU" dirty="0" err="1" smtClean="0"/>
              <a:t>transformer</a:t>
            </a:r>
            <a:r>
              <a:rPr lang="hu-HU" dirty="0" smtClean="0"/>
              <a:t> </a:t>
            </a:r>
            <a:r>
              <a:rPr lang="hu-HU" dirty="0" err="1" smtClean="0"/>
              <a:t>that</a:t>
            </a:r>
            <a:r>
              <a:rPr lang="hu-HU" dirty="0" smtClean="0"/>
              <a:t> </a:t>
            </a:r>
            <a:r>
              <a:rPr lang="hu-HU" dirty="0" err="1" smtClean="0"/>
              <a:t>treats</a:t>
            </a:r>
            <a:r>
              <a:rPr lang="hu-HU" dirty="0" smtClean="0"/>
              <a:t> </a:t>
            </a:r>
            <a:r>
              <a:rPr lang="hu-HU" b="1" dirty="0" err="1" smtClean="0"/>
              <a:t>NLP</a:t>
            </a:r>
            <a:r>
              <a:rPr lang="hu-HU" b="1" dirty="0" smtClean="0"/>
              <a:t> </a:t>
            </a:r>
            <a:r>
              <a:rPr lang="hu-HU" b="1" dirty="0" err="1" smtClean="0"/>
              <a:t>tasks</a:t>
            </a:r>
            <a:r>
              <a:rPr lang="hu-HU" b="1" dirty="0" smtClean="0"/>
              <a:t> </a:t>
            </a:r>
            <a:r>
              <a:rPr lang="hu-HU" dirty="0" err="1" smtClean="0"/>
              <a:t>in</a:t>
            </a:r>
            <a:r>
              <a:rPr lang="hu-HU" dirty="0" smtClean="0"/>
              <a:t> </a:t>
            </a:r>
            <a:r>
              <a:rPr lang="hu-HU" dirty="0" err="1" smtClean="0"/>
              <a:t>general</a:t>
            </a:r>
            <a:r>
              <a:rPr lang="hu-HU" dirty="0" smtClean="0"/>
              <a:t> </a:t>
            </a:r>
            <a:r>
              <a:rPr lang="hu-HU" dirty="0" err="1" smtClean="0"/>
              <a:t>as</a:t>
            </a:r>
            <a:r>
              <a:rPr lang="hu-HU" dirty="0" smtClean="0"/>
              <a:t> seq2seq </a:t>
            </a:r>
            <a:r>
              <a:rPr lang="hu-HU" dirty="0" err="1" smtClean="0"/>
              <a:t>tasks</a:t>
            </a:r>
            <a:r>
              <a:rPr lang="hu-HU" dirty="0" smtClean="0"/>
              <a:t> (mT5: </a:t>
            </a:r>
            <a:r>
              <a:rPr lang="hu-HU" dirty="0" err="1" smtClean="0"/>
              <a:t>multilingual</a:t>
            </a:r>
            <a:r>
              <a:rPr lang="hu-HU" dirty="0" smtClean="0"/>
              <a:t> version)</a:t>
            </a:r>
          </a:p>
          <a:p>
            <a:pPr lvl="1"/>
            <a:r>
              <a:rPr lang="hu-HU" dirty="0" smtClean="0">
                <a:hlinkClick r:id="rId4"/>
              </a:rPr>
              <a:t>Marian</a:t>
            </a:r>
            <a:r>
              <a:rPr lang="hu-HU" dirty="0" smtClean="0"/>
              <a:t> (2018): </a:t>
            </a:r>
            <a:r>
              <a:rPr lang="hu-HU" dirty="0" err="1" smtClean="0"/>
              <a:t>like</a:t>
            </a:r>
            <a:r>
              <a:rPr lang="hu-HU" dirty="0" smtClean="0"/>
              <a:t> </a:t>
            </a:r>
            <a:r>
              <a:rPr lang="hu-HU" dirty="0" err="1" smtClean="0"/>
              <a:t>original</a:t>
            </a:r>
            <a:r>
              <a:rPr lang="hu-HU" dirty="0" smtClean="0"/>
              <a:t> </a:t>
            </a:r>
            <a:r>
              <a:rPr lang="hu-HU" dirty="0" err="1" smtClean="0"/>
              <a:t>transformer</a:t>
            </a:r>
            <a:r>
              <a:rPr lang="hu-HU" dirty="0" smtClean="0"/>
              <a:t>, </a:t>
            </a:r>
            <a:r>
              <a:rPr lang="hu-HU" dirty="0" err="1" smtClean="0"/>
              <a:t>but</a:t>
            </a:r>
            <a:r>
              <a:rPr lang="hu-HU" dirty="0" smtClean="0"/>
              <a:t> </a:t>
            </a:r>
            <a:r>
              <a:rPr lang="hu-HU" dirty="0" err="1" smtClean="0"/>
              <a:t>trained</a:t>
            </a:r>
            <a:r>
              <a:rPr lang="hu-HU" dirty="0" smtClean="0"/>
              <a:t> </a:t>
            </a:r>
            <a:r>
              <a:rPr lang="hu-HU" dirty="0" err="1" smtClean="0"/>
              <a:t>specifically</a:t>
            </a:r>
            <a:r>
              <a:rPr lang="hu-HU" dirty="0" smtClean="0"/>
              <a:t> </a:t>
            </a:r>
            <a:r>
              <a:rPr lang="hu-HU" dirty="0" err="1" smtClean="0"/>
              <a:t>for</a:t>
            </a:r>
            <a:r>
              <a:rPr lang="hu-HU" dirty="0" smtClean="0"/>
              <a:t> </a:t>
            </a:r>
            <a:r>
              <a:rPr lang="hu-HU" b="1" dirty="0" err="1" smtClean="0"/>
              <a:t>machine</a:t>
            </a:r>
            <a:r>
              <a:rPr lang="hu-HU" b="1" dirty="0" smtClean="0"/>
              <a:t> </a:t>
            </a:r>
            <a:r>
              <a:rPr lang="hu-HU" b="1" dirty="0" err="1" smtClean="0"/>
              <a:t>translation</a:t>
            </a:r>
            <a:r>
              <a:rPr lang="hu-HU" b="1" dirty="0" smtClean="0"/>
              <a:t> (</a:t>
            </a:r>
            <a:r>
              <a:rPr lang="hu-HU" b="1" dirty="0" err="1" smtClean="0"/>
              <a:t>MT</a:t>
            </a:r>
            <a:r>
              <a:rPr lang="hu-HU" b="1" dirty="0" smtClean="0"/>
              <a:t>), </a:t>
            </a:r>
            <a:r>
              <a:rPr lang="hu-HU" dirty="0" err="1" smtClean="0"/>
              <a:t>specialised</a:t>
            </a:r>
            <a:r>
              <a:rPr lang="hu-HU" dirty="0" smtClean="0"/>
              <a:t> </a:t>
            </a:r>
            <a:r>
              <a:rPr lang="hu-HU" dirty="0" err="1" smtClean="0"/>
              <a:t>models</a:t>
            </a:r>
            <a:r>
              <a:rPr lang="hu-HU" dirty="0" smtClean="0"/>
              <a:t> per </a:t>
            </a:r>
            <a:r>
              <a:rPr lang="hu-HU" dirty="0" err="1" smtClean="0"/>
              <a:t>language</a:t>
            </a:r>
            <a:r>
              <a:rPr lang="hu-HU" dirty="0" smtClean="0"/>
              <a:t> </a:t>
            </a:r>
            <a:r>
              <a:rPr lang="hu-HU" dirty="0" err="1" smtClean="0"/>
              <a:t>pair</a:t>
            </a:r>
            <a:r>
              <a:rPr lang="hu-HU" dirty="0" smtClean="0"/>
              <a:t> and </a:t>
            </a:r>
            <a:r>
              <a:rPr lang="hu-HU" dirty="0" err="1" smtClean="0"/>
              <a:t>domain</a:t>
            </a:r>
            <a:endParaRPr lang="hu-HU" dirty="0" smtClean="0"/>
          </a:p>
          <a:p>
            <a:pPr lvl="2"/>
            <a:r>
              <a:rPr lang="hu-HU" dirty="0" smtClean="0"/>
              <a:t>T5 and Marian </a:t>
            </a:r>
            <a:r>
              <a:rPr lang="hu-HU" dirty="0" err="1" smtClean="0"/>
              <a:t>are</a:t>
            </a:r>
            <a:r>
              <a:rPr lang="hu-HU" dirty="0" smtClean="0"/>
              <a:t> </a:t>
            </a:r>
            <a:r>
              <a:rPr lang="hu-HU" dirty="0" err="1" smtClean="0"/>
              <a:t>outperformed</a:t>
            </a:r>
            <a:r>
              <a:rPr lang="hu-HU" dirty="0" smtClean="0"/>
              <a:t> </a:t>
            </a:r>
            <a:r>
              <a:rPr lang="hu-HU" dirty="0" err="1" smtClean="0"/>
              <a:t>by</a:t>
            </a:r>
            <a:r>
              <a:rPr lang="hu-HU" dirty="0" smtClean="0"/>
              <a:t> </a:t>
            </a:r>
            <a:r>
              <a:rPr lang="hu-HU" dirty="0" err="1" smtClean="0"/>
              <a:t>LLMs</a:t>
            </a:r>
            <a:r>
              <a:rPr lang="hu-HU" dirty="0" smtClean="0"/>
              <a:t> </a:t>
            </a:r>
            <a:r>
              <a:rPr lang="hu-HU" dirty="0" err="1" smtClean="0"/>
              <a:t>without</a:t>
            </a:r>
            <a:r>
              <a:rPr lang="hu-HU" dirty="0" smtClean="0"/>
              <a:t> </a:t>
            </a:r>
            <a:r>
              <a:rPr lang="hu-HU" dirty="0" err="1" smtClean="0"/>
              <a:t>task-specific</a:t>
            </a:r>
            <a:r>
              <a:rPr lang="hu-HU" dirty="0" smtClean="0"/>
              <a:t> </a:t>
            </a:r>
            <a:r>
              <a:rPr lang="hu-HU" dirty="0" err="1" smtClean="0"/>
              <a:t>training</a:t>
            </a:r>
            <a:endParaRPr lang="hu-HU" dirty="0" smtClean="0"/>
          </a:p>
          <a:p>
            <a:pPr lvl="1"/>
            <a:r>
              <a:rPr lang="hu-HU" dirty="0" err="1" smtClean="0">
                <a:hlinkClick r:id="rId5"/>
              </a:rPr>
              <a:t>Whisper</a:t>
            </a:r>
            <a:r>
              <a:rPr lang="hu-HU" dirty="0" smtClean="0"/>
              <a:t> (2022): </a:t>
            </a:r>
            <a:r>
              <a:rPr lang="hu-HU" b="1" dirty="0" err="1" smtClean="0"/>
              <a:t>automatic</a:t>
            </a:r>
            <a:r>
              <a:rPr lang="hu-HU" b="1" dirty="0" smtClean="0"/>
              <a:t> </a:t>
            </a:r>
            <a:r>
              <a:rPr lang="hu-HU" b="1" dirty="0" err="1" smtClean="0"/>
              <a:t>speech</a:t>
            </a:r>
            <a:r>
              <a:rPr lang="hu-HU" b="1" dirty="0" smtClean="0"/>
              <a:t> </a:t>
            </a:r>
            <a:r>
              <a:rPr lang="hu-HU" b="1" dirty="0" err="1" smtClean="0"/>
              <a:t>recognition</a:t>
            </a:r>
            <a:r>
              <a:rPr lang="hu-HU" b="1" dirty="0" smtClean="0"/>
              <a:t> </a:t>
            </a:r>
            <a:r>
              <a:rPr lang="hu-HU" dirty="0" smtClean="0"/>
              <a:t>(</a:t>
            </a:r>
            <a:r>
              <a:rPr lang="hu-HU" dirty="0" err="1" smtClean="0"/>
              <a:t>ASR</a:t>
            </a:r>
            <a:r>
              <a:rPr lang="hu-HU" dirty="0" smtClean="0"/>
              <a:t>) / </a:t>
            </a:r>
            <a:r>
              <a:rPr lang="hu-HU" dirty="0" err="1" smtClean="0"/>
              <a:t>transcription</a:t>
            </a:r>
            <a:r>
              <a:rPr lang="hu-HU" dirty="0" smtClean="0"/>
              <a:t> </a:t>
            </a:r>
            <a:r>
              <a:rPr lang="hu-HU" dirty="0" err="1" smtClean="0"/>
              <a:t>model</a:t>
            </a:r>
            <a:r>
              <a:rPr lang="hu-HU" dirty="0" smtClean="0"/>
              <a:t> </a:t>
            </a:r>
            <a:r>
              <a:rPr lang="hu-HU" dirty="0" err="1" smtClean="0"/>
              <a:t>containing</a:t>
            </a:r>
            <a:r>
              <a:rPr lang="hu-HU" dirty="0" smtClean="0"/>
              <a:t> an </a:t>
            </a:r>
            <a:r>
              <a:rPr lang="hu-HU" dirty="0" err="1" smtClean="0"/>
              <a:t>audio</a:t>
            </a:r>
            <a:r>
              <a:rPr lang="hu-HU" dirty="0" smtClean="0"/>
              <a:t> </a:t>
            </a:r>
            <a:r>
              <a:rPr lang="hu-HU" dirty="0" err="1" smtClean="0"/>
              <a:t>encoder</a:t>
            </a:r>
            <a:r>
              <a:rPr lang="hu-HU" dirty="0" smtClean="0"/>
              <a:t> and a text </a:t>
            </a:r>
            <a:r>
              <a:rPr lang="hu-HU" dirty="0" err="1" smtClean="0"/>
              <a:t>decoder</a:t>
            </a:r>
            <a:endParaRPr lang="hu-HU" dirty="0" smtClean="0"/>
          </a:p>
          <a:p>
            <a:pPr lvl="1"/>
            <a:r>
              <a:rPr lang="hu-HU" dirty="0" err="1" smtClean="0">
                <a:hlinkClick r:id="rId6"/>
              </a:rPr>
              <a:t>GIT</a:t>
            </a:r>
            <a:r>
              <a:rPr lang="hu-HU" dirty="0" smtClean="0"/>
              <a:t> (2022): </a:t>
            </a:r>
            <a:r>
              <a:rPr lang="hu-HU" b="1" dirty="0" smtClean="0"/>
              <a:t>image </a:t>
            </a:r>
            <a:r>
              <a:rPr lang="hu-HU" b="1" dirty="0" err="1" smtClean="0"/>
              <a:t>encoder</a:t>
            </a:r>
            <a:r>
              <a:rPr lang="hu-HU" b="1" dirty="0" smtClean="0"/>
              <a:t>, text </a:t>
            </a:r>
            <a:r>
              <a:rPr lang="hu-HU" b="1" dirty="0" err="1" smtClean="0"/>
              <a:t>decoder</a:t>
            </a:r>
            <a:endParaRPr lang="hu-HU" b="1" dirty="0" smtClean="0"/>
          </a:p>
          <a:p>
            <a:pPr lvl="2"/>
            <a:r>
              <a:rPr lang="hu-HU" dirty="0" smtClean="0"/>
              <a:t>image </a:t>
            </a:r>
            <a:r>
              <a:rPr lang="hu-HU" dirty="0" err="1" smtClean="0"/>
              <a:t>captioning</a:t>
            </a:r>
            <a:r>
              <a:rPr lang="hu-HU" dirty="0" smtClean="0"/>
              <a:t>, </a:t>
            </a:r>
            <a:r>
              <a:rPr lang="hu-HU" dirty="0" err="1" smtClean="0"/>
              <a:t>visual</a:t>
            </a:r>
            <a:r>
              <a:rPr lang="hu-HU" dirty="0" smtClean="0"/>
              <a:t> </a:t>
            </a:r>
            <a:r>
              <a:rPr lang="hu-HU" dirty="0" err="1" smtClean="0"/>
              <a:t>question</a:t>
            </a:r>
            <a:r>
              <a:rPr lang="hu-HU" dirty="0" smtClean="0"/>
              <a:t> </a:t>
            </a:r>
            <a:r>
              <a:rPr lang="hu-HU" dirty="0" err="1" smtClean="0"/>
              <a:t>answering</a:t>
            </a:r>
            <a:endParaRPr lang="hu-HU" dirty="0" smtClean="0"/>
          </a:p>
          <a:p>
            <a:pPr lvl="2"/>
            <a:r>
              <a:rPr lang="hu-HU" dirty="0" err="1" smtClean="0"/>
              <a:t>not</a:t>
            </a:r>
            <a:r>
              <a:rPr lang="hu-HU" dirty="0" smtClean="0"/>
              <a:t> </a:t>
            </a:r>
            <a:r>
              <a:rPr lang="hu-HU" dirty="0" err="1" smtClean="0"/>
              <a:t>to</a:t>
            </a:r>
            <a:r>
              <a:rPr lang="hu-HU" dirty="0" smtClean="0"/>
              <a:t> be </a:t>
            </a:r>
            <a:r>
              <a:rPr lang="hu-HU" dirty="0" err="1" smtClean="0"/>
              <a:t>confused</a:t>
            </a:r>
            <a:r>
              <a:rPr lang="hu-HU" dirty="0" smtClean="0"/>
              <a:t> </a:t>
            </a:r>
            <a:r>
              <a:rPr lang="hu-HU" dirty="0" err="1" smtClean="0"/>
              <a:t>with</a:t>
            </a:r>
            <a:r>
              <a:rPr lang="hu-HU" dirty="0" smtClean="0"/>
              <a:t> </a:t>
            </a:r>
            <a:r>
              <a:rPr lang="hu-HU" dirty="0" err="1" smtClean="0"/>
              <a:t>the</a:t>
            </a:r>
            <a:r>
              <a:rPr lang="hu-HU" dirty="0" smtClean="0"/>
              <a:t> version </a:t>
            </a:r>
            <a:r>
              <a:rPr lang="hu-HU" dirty="0" err="1" smtClean="0"/>
              <a:t>control</a:t>
            </a:r>
            <a:r>
              <a:rPr lang="hu-HU" dirty="0" smtClean="0"/>
              <a:t> </a:t>
            </a:r>
            <a:r>
              <a:rPr lang="hu-HU" dirty="0" err="1" smtClean="0"/>
              <a:t>system</a:t>
            </a:r>
            <a:r>
              <a:rPr lang="hu-HU" dirty="0" smtClean="0"/>
              <a:t> </a:t>
            </a:r>
            <a:r>
              <a:rPr lang="hu-HU" dirty="0" err="1" smtClean="0"/>
              <a:t>called</a:t>
            </a:r>
            <a:r>
              <a:rPr lang="hu-HU" dirty="0" smtClean="0"/>
              <a:t> </a:t>
            </a:r>
            <a:r>
              <a:rPr lang="hu-HU" dirty="0" err="1" smtClean="0"/>
              <a:t>Git</a:t>
            </a:r>
            <a:endParaRPr lang="hu-HU" dirty="0" smtClean="0"/>
          </a:p>
          <a:p>
            <a:pPr lvl="1"/>
            <a:r>
              <a:rPr lang="hu-HU" dirty="0" err="1" smtClean="0">
                <a:hlinkClick r:id="rId7"/>
              </a:rPr>
              <a:t>TrOCR</a:t>
            </a:r>
            <a:r>
              <a:rPr lang="hu-HU" dirty="0" smtClean="0"/>
              <a:t> (2021): image </a:t>
            </a:r>
            <a:r>
              <a:rPr lang="hu-HU" dirty="0" err="1" smtClean="0"/>
              <a:t>encoder</a:t>
            </a:r>
            <a:r>
              <a:rPr lang="hu-HU" dirty="0" smtClean="0"/>
              <a:t>, text </a:t>
            </a:r>
            <a:r>
              <a:rPr lang="hu-HU" dirty="0" err="1" smtClean="0"/>
              <a:t>decoder</a:t>
            </a:r>
            <a:r>
              <a:rPr lang="hu-HU" dirty="0" smtClean="0"/>
              <a:t>, </a:t>
            </a:r>
            <a:r>
              <a:rPr lang="hu-HU" dirty="0" err="1" smtClean="0"/>
              <a:t>trained</a:t>
            </a:r>
            <a:r>
              <a:rPr lang="hu-HU" dirty="0" smtClean="0"/>
              <a:t> </a:t>
            </a:r>
            <a:r>
              <a:rPr lang="hu-HU" dirty="0" err="1" smtClean="0"/>
              <a:t>for</a:t>
            </a:r>
            <a:r>
              <a:rPr lang="hu-HU" dirty="0" smtClean="0"/>
              <a:t> </a:t>
            </a:r>
            <a:r>
              <a:rPr lang="hu-HU" b="1" dirty="0" err="1" smtClean="0"/>
              <a:t>optical</a:t>
            </a:r>
            <a:r>
              <a:rPr lang="hu-HU" b="1" dirty="0" smtClean="0"/>
              <a:t> </a:t>
            </a:r>
            <a:r>
              <a:rPr lang="hu-HU" b="1" dirty="0" err="1" smtClean="0"/>
              <a:t>character</a:t>
            </a:r>
            <a:r>
              <a:rPr lang="hu-HU" b="1" dirty="0" smtClean="0"/>
              <a:t> </a:t>
            </a:r>
            <a:r>
              <a:rPr lang="hu-HU" b="1" dirty="0" err="1" smtClean="0"/>
              <a:t>recognition</a:t>
            </a:r>
            <a:r>
              <a:rPr lang="hu-HU" b="1" dirty="0" smtClean="0"/>
              <a:t> </a:t>
            </a:r>
            <a:r>
              <a:rPr lang="hu-HU" dirty="0" smtClean="0"/>
              <a:t>(OCR)</a:t>
            </a:r>
          </a:p>
          <a:p>
            <a:r>
              <a:rPr lang="hu-HU" dirty="0" err="1" smtClean="0"/>
              <a:t>All</a:t>
            </a:r>
            <a:r>
              <a:rPr lang="hu-HU" dirty="0" smtClean="0"/>
              <a:t> of </a:t>
            </a:r>
            <a:r>
              <a:rPr lang="hu-HU" dirty="0" err="1" smtClean="0"/>
              <a:t>these</a:t>
            </a:r>
            <a:r>
              <a:rPr lang="hu-HU" dirty="0" smtClean="0"/>
              <a:t> and </a:t>
            </a:r>
            <a:r>
              <a:rPr lang="hu-HU" dirty="0" err="1" smtClean="0"/>
              <a:t>thousands</a:t>
            </a:r>
            <a:r>
              <a:rPr lang="hu-HU" dirty="0" smtClean="0"/>
              <a:t> of </a:t>
            </a:r>
            <a:r>
              <a:rPr lang="hu-HU" dirty="0" err="1" smtClean="0"/>
              <a:t>others</a:t>
            </a:r>
            <a:r>
              <a:rPr lang="hu-HU" dirty="0" smtClean="0"/>
              <a:t> </a:t>
            </a:r>
            <a:r>
              <a:rPr lang="hu-HU" dirty="0" err="1" smtClean="0"/>
              <a:t>are</a:t>
            </a:r>
            <a:r>
              <a:rPr lang="hu-HU" dirty="0" smtClean="0"/>
              <a:t> </a:t>
            </a:r>
            <a:r>
              <a:rPr lang="hu-HU" dirty="0" err="1" smtClean="0"/>
              <a:t>available</a:t>
            </a:r>
            <a:r>
              <a:rPr lang="hu-HU" dirty="0" smtClean="0"/>
              <a:t> </a:t>
            </a:r>
            <a:r>
              <a:rPr lang="hu-HU" dirty="0" err="1" smtClean="0"/>
              <a:t>on</a:t>
            </a:r>
            <a:r>
              <a:rPr lang="hu-HU" dirty="0" smtClean="0"/>
              <a:t> </a:t>
            </a:r>
            <a:r>
              <a:rPr lang="hu-HU" dirty="0" err="1" smtClean="0"/>
              <a:t>Hugging</a:t>
            </a:r>
            <a:r>
              <a:rPr lang="hu-HU" dirty="0" smtClean="0"/>
              <a:t> </a:t>
            </a:r>
            <a:r>
              <a:rPr lang="hu-HU" dirty="0" err="1" smtClean="0"/>
              <a:t>Face</a:t>
            </a:r>
            <a:r>
              <a:rPr lang="hu-HU" dirty="0" smtClean="0"/>
              <a:t> </a:t>
            </a:r>
            <a:r>
              <a:rPr lang="hu-HU" dirty="0" err="1" smtClean="0"/>
              <a:t>for</a:t>
            </a:r>
            <a:r>
              <a:rPr lang="hu-HU" dirty="0" smtClean="0"/>
              <a:t> free</a:t>
            </a:r>
            <a:endParaRPr lang="en-GB" dirty="0"/>
          </a:p>
        </p:txBody>
      </p:sp>
    </p:spTree>
    <p:extLst>
      <p:ext uri="{BB962C8B-B14F-4D97-AF65-F5344CB8AC3E}">
        <p14:creationId xmlns:p14="http://schemas.microsoft.com/office/powerpoint/2010/main" val="28880912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Encoder</a:t>
            </a:r>
            <a:r>
              <a:rPr lang="hu-HU" dirty="0" smtClean="0"/>
              <a:t> </a:t>
            </a:r>
            <a:r>
              <a:rPr lang="hu-HU" dirty="0" err="1" smtClean="0"/>
              <a:t>Transformer</a:t>
            </a:r>
            <a:r>
              <a:rPr lang="hu-HU" dirty="0" smtClean="0"/>
              <a:t> </a:t>
            </a:r>
            <a:r>
              <a:rPr lang="hu-HU" dirty="0" err="1" smtClean="0"/>
              <a:t>Architecture</a:t>
            </a:r>
            <a:endParaRPr lang="en-GB" dirty="0"/>
          </a:p>
        </p:txBody>
      </p:sp>
      <p:sp>
        <p:nvSpPr>
          <p:cNvPr id="3" name="Tartalom helye 2"/>
          <p:cNvSpPr>
            <a:spLocks noGrp="1"/>
          </p:cNvSpPr>
          <p:nvPr>
            <p:ph idx="1"/>
          </p:nvPr>
        </p:nvSpPr>
        <p:spPr/>
        <p:txBody>
          <a:bodyPr>
            <a:normAutofit fontScale="55000" lnSpcReduction="20000"/>
          </a:bodyPr>
          <a:lstStyle/>
          <a:p>
            <a:r>
              <a:rPr lang="hu-HU" dirty="0" err="1" smtClean="0"/>
              <a:t>If</a:t>
            </a:r>
            <a:r>
              <a:rPr lang="hu-HU" dirty="0" smtClean="0"/>
              <a:t> </a:t>
            </a:r>
            <a:r>
              <a:rPr lang="hu-HU" dirty="0" err="1" smtClean="0"/>
              <a:t>we</a:t>
            </a:r>
            <a:r>
              <a:rPr lang="hu-HU" dirty="0" smtClean="0"/>
              <a:t> </a:t>
            </a:r>
            <a:r>
              <a:rPr lang="hu-HU" dirty="0" err="1" smtClean="0"/>
              <a:t>drop</a:t>
            </a:r>
            <a:r>
              <a:rPr lang="hu-HU" dirty="0" smtClean="0"/>
              <a:t> </a:t>
            </a:r>
            <a:r>
              <a:rPr lang="hu-HU" dirty="0" err="1" smtClean="0"/>
              <a:t>the</a:t>
            </a:r>
            <a:r>
              <a:rPr lang="hu-HU" dirty="0" smtClean="0"/>
              <a:t> right (</a:t>
            </a:r>
            <a:r>
              <a:rPr lang="hu-HU" dirty="0" err="1" smtClean="0"/>
              <a:t>decoder</a:t>
            </a:r>
            <a:r>
              <a:rPr lang="hu-HU" dirty="0" smtClean="0"/>
              <a:t>) </a:t>
            </a:r>
            <a:r>
              <a:rPr lang="hu-HU" dirty="0" err="1" smtClean="0"/>
              <a:t>half</a:t>
            </a:r>
            <a:r>
              <a:rPr lang="hu-HU" dirty="0" smtClean="0"/>
              <a:t> of </a:t>
            </a:r>
            <a:r>
              <a:rPr lang="hu-HU" dirty="0" err="1" smtClean="0"/>
              <a:t>the</a:t>
            </a:r>
            <a:r>
              <a:rPr lang="hu-HU" dirty="0" smtClean="0"/>
              <a:t> </a:t>
            </a:r>
            <a:r>
              <a:rPr lang="hu-HU" dirty="0" err="1" smtClean="0"/>
              <a:t>original</a:t>
            </a:r>
            <a:r>
              <a:rPr lang="hu-HU" dirty="0" smtClean="0"/>
              <a:t> </a:t>
            </a:r>
            <a:r>
              <a:rPr lang="hu-HU" dirty="0" err="1" smtClean="0"/>
              <a:t>transformer</a:t>
            </a:r>
            <a:r>
              <a:rPr lang="hu-HU" dirty="0" smtClean="0"/>
              <a:t>, </a:t>
            </a:r>
            <a:r>
              <a:rPr lang="hu-HU" dirty="0" err="1" smtClean="0"/>
              <a:t>we</a:t>
            </a:r>
            <a:r>
              <a:rPr lang="hu-HU" dirty="0" smtClean="0"/>
              <a:t> </a:t>
            </a:r>
            <a:r>
              <a:rPr lang="hu-HU" dirty="0" err="1" smtClean="0"/>
              <a:t>get</a:t>
            </a:r>
            <a:r>
              <a:rPr lang="hu-HU" dirty="0" smtClean="0"/>
              <a:t> an </a:t>
            </a:r>
            <a:r>
              <a:rPr lang="hu-HU" dirty="0" err="1" smtClean="0"/>
              <a:t>encoder-only</a:t>
            </a:r>
            <a:r>
              <a:rPr lang="hu-HU" dirty="0" smtClean="0"/>
              <a:t> </a:t>
            </a:r>
            <a:r>
              <a:rPr lang="hu-HU" dirty="0" err="1" smtClean="0"/>
              <a:t>transformer</a:t>
            </a:r>
            <a:r>
              <a:rPr lang="hu-HU" dirty="0" smtClean="0"/>
              <a:t> </a:t>
            </a:r>
            <a:r>
              <a:rPr lang="hu-HU" dirty="0" err="1" smtClean="0"/>
              <a:t>network</a:t>
            </a:r>
            <a:r>
              <a:rPr lang="hu-HU" dirty="0" smtClean="0"/>
              <a:t>.</a:t>
            </a:r>
            <a:endParaRPr lang="hu-HU" dirty="0"/>
          </a:p>
          <a:p>
            <a:r>
              <a:rPr lang="hu-HU" dirty="0" err="1" smtClean="0"/>
              <a:t>As</a:t>
            </a:r>
            <a:r>
              <a:rPr lang="hu-HU" dirty="0" smtClean="0"/>
              <a:t> </a:t>
            </a:r>
            <a:r>
              <a:rPr lang="hu-HU" dirty="0" err="1" smtClean="0"/>
              <a:t>we</a:t>
            </a:r>
            <a:r>
              <a:rPr lang="hu-HU" dirty="0" smtClean="0"/>
              <a:t> </a:t>
            </a:r>
            <a:r>
              <a:rPr lang="hu-HU" dirty="0" err="1" smtClean="0"/>
              <a:t>have</a:t>
            </a:r>
            <a:r>
              <a:rPr lang="hu-HU" dirty="0" smtClean="0"/>
              <a:t> </a:t>
            </a:r>
            <a:r>
              <a:rPr lang="hu-HU" dirty="0" err="1" smtClean="0"/>
              <a:t>seen</a:t>
            </a:r>
            <a:r>
              <a:rPr lang="hu-HU" dirty="0" smtClean="0"/>
              <a:t>, a </a:t>
            </a:r>
            <a:r>
              <a:rPr lang="hu-HU" dirty="0" err="1" smtClean="0"/>
              <a:t>transformer</a:t>
            </a:r>
            <a:r>
              <a:rPr lang="hu-HU" dirty="0" smtClean="0"/>
              <a:t> </a:t>
            </a:r>
            <a:r>
              <a:rPr lang="hu-HU" dirty="0" err="1" smtClean="0"/>
              <a:t>generates</a:t>
            </a:r>
            <a:r>
              <a:rPr lang="hu-HU" dirty="0" smtClean="0"/>
              <a:t> </a:t>
            </a:r>
            <a:r>
              <a:rPr lang="hu-HU" dirty="0" err="1" smtClean="0"/>
              <a:t>a</a:t>
            </a:r>
            <a:r>
              <a:rPr lang="hu-HU" dirty="0" smtClean="0"/>
              <a:t> </a:t>
            </a:r>
            <a:r>
              <a:rPr lang="hu-HU" dirty="0" err="1" smtClean="0"/>
              <a:t>vector</a:t>
            </a:r>
            <a:r>
              <a:rPr lang="hu-HU" dirty="0" smtClean="0"/>
              <a:t> </a:t>
            </a:r>
            <a:r>
              <a:rPr lang="hu-HU" dirty="0" err="1" smtClean="0"/>
              <a:t>representation</a:t>
            </a:r>
            <a:r>
              <a:rPr lang="hu-HU" dirty="0" smtClean="0"/>
              <a:t> </a:t>
            </a:r>
            <a:r>
              <a:rPr lang="hu-HU" dirty="0" err="1" smtClean="0"/>
              <a:t>for</a:t>
            </a:r>
            <a:r>
              <a:rPr lang="hu-HU" dirty="0" smtClean="0"/>
              <a:t> </a:t>
            </a:r>
            <a:r>
              <a:rPr lang="hu-HU" dirty="0" err="1" smtClean="0"/>
              <a:t>every</a:t>
            </a:r>
            <a:r>
              <a:rPr lang="hu-HU" dirty="0" smtClean="0"/>
              <a:t> input </a:t>
            </a:r>
            <a:r>
              <a:rPr lang="hu-HU" dirty="0" err="1" smtClean="0"/>
              <a:t>token</a:t>
            </a:r>
            <a:r>
              <a:rPr lang="hu-HU" dirty="0" smtClean="0"/>
              <a:t>.</a:t>
            </a:r>
          </a:p>
          <a:p>
            <a:pPr lvl="1"/>
            <a:r>
              <a:rPr lang="hu-HU" dirty="0" err="1" smtClean="0"/>
              <a:t>Each</a:t>
            </a:r>
            <a:r>
              <a:rPr lang="hu-HU" dirty="0" smtClean="0"/>
              <a:t> </a:t>
            </a:r>
            <a:r>
              <a:rPr lang="hu-HU" dirty="0" err="1" smtClean="0"/>
              <a:t>such</a:t>
            </a:r>
            <a:r>
              <a:rPr lang="hu-HU" dirty="0" smtClean="0"/>
              <a:t> output </a:t>
            </a:r>
            <a:r>
              <a:rPr lang="hu-HU" dirty="0" err="1" smtClean="0"/>
              <a:t>vector</a:t>
            </a:r>
            <a:r>
              <a:rPr lang="hu-HU" dirty="0" smtClean="0"/>
              <a:t> is a </a:t>
            </a:r>
            <a:r>
              <a:rPr lang="hu-HU" dirty="0" err="1" smtClean="0"/>
              <a:t>weighted</a:t>
            </a:r>
            <a:r>
              <a:rPr lang="hu-HU" dirty="0" smtClean="0"/>
              <a:t> </a:t>
            </a:r>
            <a:r>
              <a:rPr lang="hu-HU" dirty="0" err="1" smtClean="0"/>
              <a:t>representation</a:t>
            </a:r>
            <a:r>
              <a:rPr lang="hu-HU" dirty="0" smtClean="0"/>
              <a:t> of </a:t>
            </a:r>
            <a:r>
              <a:rPr lang="hu-HU" dirty="0" err="1" smtClean="0"/>
              <a:t>the</a:t>
            </a:r>
            <a:r>
              <a:rPr lang="hu-HU" dirty="0" smtClean="0"/>
              <a:t> </a:t>
            </a:r>
            <a:r>
              <a:rPr lang="hu-HU" dirty="0" err="1" smtClean="0"/>
              <a:t>entire</a:t>
            </a:r>
            <a:r>
              <a:rPr lang="hu-HU" dirty="0" smtClean="0"/>
              <a:t> </a:t>
            </a:r>
            <a:r>
              <a:rPr lang="hu-HU" dirty="0" err="1" smtClean="0"/>
              <a:t>sequence</a:t>
            </a:r>
            <a:r>
              <a:rPr lang="hu-HU" dirty="0" smtClean="0"/>
              <a:t> </a:t>
            </a:r>
            <a:r>
              <a:rPr lang="hu-HU" dirty="0" err="1" smtClean="0"/>
              <a:t>that</a:t>
            </a:r>
            <a:r>
              <a:rPr lang="hu-HU" dirty="0" smtClean="0"/>
              <a:t> </a:t>
            </a:r>
            <a:r>
              <a:rPr lang="hu-HU" dirty="0" err="1" smtClean="0"/>
              <a:t>focuses</a:t>
            </a:r>
            <a:r>
              <a:rPr lang="hu-HU" dirty="0" smtClean="0"/>
              <a:t> </a:t>
            </a:r>
            <a:r>
              <a:rPr lang="hu-HU" dirty="0" err="1" smtClean="0"/>
              <a:t>on</a:t>
            </a:r>
            <a:r>
              <a:rPr lang="hu-HU" dirty="0" smtClean="0"/>
              <a:t> </a:t>
            </a:r>
            <a:r>
              <a:rPr lang="hu-HU" dirty="0" err="1" smtClean="0"/>
              <a:t>the</a:t>
            </a:r>
            <a:r>
              <a:rPr lang="hu-HU" dirty="0" smtClean="0"/>
              <a:t> </a:t>
            </a:r>
            <a:r>
              <a:rPr lang="hu-HU" dirty="0" err="1" smtClean="0"/>
              <a:t>respective</a:t>
            </a:r>
            <a:r>
              <a:rPr lang="hu-HU" dirty="0" smtClean="0"/>
              <a:t> </a:t>
            </a:r>
            <a:r>
              <a:rPr lang="hu-HU" dirty="0" err="1" smtClean="0"/>
              <a:t>token</a:t>
            </a:r>
            <a:r>
              <a:rPr lang="hu-HU" dirty="0" smtClean="0"/>
              <a:t>.</a:t>
            </a:r>
          </a:p>
          <a:p>
            <a:r>
              <a:rPr lang="hu-HU" dirty="0" err="1" smtClean="0"/>
              <a:t>Thus</a:t>
            </a:r>
            <a:r>
              <a:rPr lang="hu-HU" dirty="0" smtClean="0"/>
              <a:t> a </a:t>
            </a:r>
            <a:r>
              <a:rPr lang="hu-HU" dirty="0" err="1" smtClean="0"/>
              <a:t>transformer</a:t>
            </a:r>
            <a:r>
              <a:rPr lang="hu-HU" dirty="0" smtClean="0"/>
              <a:t> is </a:t>
            </a:r>
            <a:r>
              <a:rPr lang="hu-HU" dirty="0" err="1" smtClean="0"/>
              <a:t>directly</a:t>
            </a:r>
            <a:r>
              <a:rPr lang="hu-HU" dirty="0" smtClean="0"/>
              <a:t> </a:t>
            </a:r>
            <a:r>
              <a:rPr lang="hu-HU" dirty="0" err="1" smtClean="0"/>
              <a:t>useful</a:t>
            </a:r>
            <a:r>
              <a:rPr lang="hu-HU" dirty="0" smtClean="0"/>
              <a:t> </a:t>
            </a:r>
            <a:r>
              <a:rPr lang="hu-HU" dirty="0" err="1" smtClean="0"/>
              <a:t>when</a:t>
            </a:r>
            <a:r>
              <a:rPr lang="hu-HU" dirty="0" smtClean="0"/>
              <a:t> </a:t>
            </a:r>
            <a:r>
              <a:rPr lang="hu-HU" dirty="0" err="1" smtClean="0"/>
              <a:t>we</a:t>
            </a:r>
            <a:r>
              <a:rPr lang="hu-HU" dirty="0" smtClean="0"/>
              <a:t> </a:t>
            </a:r>
            <a:r>
              <a:rPr lang="hu-HU" dirty="0" err="1" smtClean="0"/>
              <a:t>want</a:t>
            </a:r>
            <a:r>
              <a:rPr lang="hu-HU" dirty="0" smtClean="0"/>
              <a:t> </a:t>
            </a:r>
            <a:r>
              <a:rPr lang="hu-HU" dirty="0" err="1" smtClean="0"/>
              <a:t>to</a:t>
            </a:r>
            <a:r>
              <a:rPr lang="hu-HU" dirty="0" smtClean="0"/>
              <a:t> </a:t>
            </a:r>
            <a:r>
              <a:rPr lang="hu-HU" dirty="0" err="1" smtClean="0"/>
              <a:t>say</a:t>
            </a:r>
            <a:r>
              <a:rPr lang="hu-HU" dirty="0" smtClean="0"/>
              <a:t> </a:t>
            </a:r>
            <a:r>
              <a:rPr lang="hu-HU" dirty="0" err="1" smtClean="0"/>
              <a:t>something</a:t>
            </a:r>
            <a:r>
              <a:rPr lang="hu-HU" dirty="0" smtClean="0"/>
              <a:t> </a:t>
            </a:r>
            <a:r>
              <a:rPr lang="hu-HU" dirty="0" err="1" smtClean="0"/>
              <a:t>about</a:t>
            </a:r>
            <a:r>
              <a:rPr lang="hu-HU" dirty="0" smtClean="0"/>
              <a:t> </a:t>
            </a:r>
            <a:r>
              <a:rPr lang="hu-HU" dirty="0" err="1" smtClean="0"/>
              <a:t>each</a:t>
            </a:r>
            <a:r>
              <a:rPr lang="hu-HU" dirty="0" smtClean="0"/>
              <a:t> </a:t>
            </a:r>
            <a:r>
              <a:rPr lang="hu-HU" dirty="0" err="1" smtClean="0"/>
              <a:t>token</a:t>
            </a:r>
            <a:r>
              <a:rPr lang="hu-HU" dirty="0" smtClean="0"/>
              <a:t>.</a:t>
            </a:r>
          </a:p>
          <a:p>
            <a:pPr lvl="1"/>
            <a:r>
              <a:rPr lang="hu-HU" dirty="0" err="1"/>
              <a:t>R</a:t>
            </a:r>
            <a:r>
              <a:rPr lang="hu-HU" dirty="0" err="1" smtClean="0"/>
              <a:t>ecall</a:t>
            </a:r>
            <a:r>
              <a:rPr lang="hu-HU" dirty="0" smtClean="0"/>
              <a:t> </a:t>
            </a:r>
            <a:r>
              <a:rPr lang="hu-HU" dirty="0" err="1" smtClean="0"/>
              <a:t>RNNs</a:t>
            </a:r>
            <a:r>
              <a:rPr lang="hu-HU" dirty="0" smtClean="0"/>
              <a:t> </a:t>
            </a:r>
            <a:r>
              <a:rPr lang="hu-HU" dirty="0" err="1" smtClean="0"/>
              <a:t>that</a:t>
            </a:r>
            <a:r>
              <a:rPr lang="hu-HU" dirty="0" smtClean="0"/>
              <a:t> </a:t>
            </a:r>
            <a:r>
              <a:rPr lang="hu-HU" dirty="0" err="1" smtClean="0"/>
              <a:t>generate</a:t>
            </a:r>
            <a:r>
              <a:rPr lang="hu-HU" dirty="0" smtClean="0"/>
              <a:t> an output </a:t>
            </a:r>
            <a:r>
              <a:rPr lang="hu-HU" dirty="0" err="1" smtClean="0"/>
              <a:t>for</a:t>
            </a:r>
            <a:r>
              <a:rPr lang="hu-HU" dirty="0" smtClean="0"/>
              <a:t> </a:t>
            </a:r>
            <a:r>
              <a:rPr lang="hu-HU" dirty="0" err="1" smtClean="0"/>
              <a:t>each</a:t>
            </a:r>
            <a:r>
              <a:rPr lang="hu-HU" dirty="0" smtClean="0"/>
              <a:t> </a:t>
            </a:r>
            <a:r>
              <a:rPr lang="hu-HU" dirty="0" err="1" smtClean="0"/>
              <a:t>token</a:t>
            </a:r>
            <a:endParaRPr lang="hu-HU" dirty="0" smtClean="0"/>
          </a:p>
          <a:p>
            <a:pPr lvl="1"/>
            <a:r>
              <a:rPr lang="hu-HU" dirty="0" err="1" smtClean="0"/>
              <a:t>Similarly</a:t>
            </a:r>
            <a:r>
              <a:rPr lang="hu-HU" dirty="0" smtClean="0"/>
              <a:t>, </a:t>
            </a:r>
            <a:r>
              <a:rPr lang="hu-HU" dirty="0" err="1" smtClean="0"/>
              <a:t>encoder</a:t>
            </a:r>
            <a:r>
              <a:rPr lang="hu-HU" dirty="0" smtClean="0"/>
              <a:t> </a:t>
            </a:r>
            <a:r>
              <a:rPr lang="hu-HU" dirty="0" err="1" smtClean="0"/>
              <a:t>transformers</a:t>
            </a:r>
            <a:r>
              <a:rPr lang="hu-HU" dirty="0" smtClean="0"/>
              <a:t>’ output </a:t>
            </a:r>
            <a:r>
              <a:rPr lang="hu-HU" dirty="0" err="1" smtClean="0"/>
              <a:t>vectors</a:t>
            </a:r>
            <a:r>
              <a:rPr lang="hu-HU" dirty="0" smtClean="0"/>
              <a:t> </a:t>
            </a:r>
            <a:r>
              <a:rPr lang="hu-HU" dirty="0" err="1" smtClean="0"/>
              <a:t>can</a:t>
            </a:r>
            <a:r>
              <a:rPr lang="hu-HU" dirty="0" smtClean="0"/>
              <a:t> be </a:t>
            </a:r>
            <a:r>
              <a:rPr lang="hu-HU" dirty="0" err="1" smtClean="0"/>
              <a:t>used</a:t>
            </a:r>
            <a:r>
              <a:rPr lang="hu-HU" dirty="0" smtClean="0"/>
              <a:t> </a:t>
            </a:r>
            <a:r>
              <a:rPr lang="hu-HU" dirty="0" err="1" smtClean="0"/>
              <a:t>for</a:t>
            </a:r>
            <a:r>
              <a:rPr lang="hu-HU" dirty="0" smtClean="0"/>
              <a:t> part of </a:t>
            </a:r>
            <a:r>
              <a:rPr lang="hu-HU" dirty="0" err="1" smtClean="0"/>
              <a:t>speech</a:t>
            </a:r>
            <a:r>
              <a:rPr lang="hu-HU" dirty="0" smtClean="0"/>
              <a:t> </a:t>
            </a:r>
            <a:r>
              <a:rPr lang="hu-HU" dirty="0" err="1" smtClean="0"/>
              <a:t>tagging</a:t>
            </a:r>
            <a:r>
              <a:rPr lang="hu-HU" dirty="0" smtClean="0"/>
              <a:t>, </a:t>
            </a:r>
            <a:r>
              <a:rPr lang="hu-HU" dirty="0" err="1" smtClean="0"/>
              <a:t>anonymisation</a:t>
            </a:r>
            <a:r>
              <a:rPr lang="hu-HU" dirty="0"/>
              <a:t> </a:t>
            </a:r>
            <a:r>
              <a:rPr lang="hu-HU" dirty="0" smtClean="0"/>
              <a:t>and </a:t>
            </a:r>
            <a:r>
              <a:rPr lang="hu-HU" dirty="0" err="1" smtClean="0"/>
              <a:t>other</a:t>
            </a:r>
            <a:r>
              <a:rPr lang="hu-HU" dirty="0" smtClean="0"/>
              <a:t> </a:t>
            </a:r>
            <a:r>
              <a:rPr lang="hu-HU" dirty="0" err="1" smtClean="0"/>
              <a:t>token</a:t>
            </a:r>
            <a:r>
              <a:rPr lang="hu-HU" dirty="0" smtClean="0"/>
              <a:t> </a:t>
            </a:r>
            <a:r>
              <a:rPr lang="hu-HU" dirty="0" err="1" smtClean="0"/>
              <a:t>labelling</a:t>
            </a:r>
            <a:r>
              <a:rPr lang="hu-HU" dirty="0" smtClean="0"/>
              <a:t> </a:t>
            </a:r>
            <a:r>
              <a:rPr lang="hu-HU" dirty="0" err="1" smtClean="0"/>
              <a:t>NLP</a:t>
            </a:r>
            <a:r>
              <a:rPr lang="hu-HU" dirty="0" smtClean="0"/>
              <a:t> </a:t>
            </a:r>
            <a:r>
              <a:rPr lang="hu-HU" dirty="0" err="1" smtClean="0"/>
              <a:t>tasks</a:t>
            </a:r>
            <a:endParaRPr lang="hu-HU" dirty="0" smtClean="0"/>
          </a:p>
          <a:p>
            <a:r>
              <a:rPr lang="hu-HU" dirty="0" err="1" smtClean="0"/>
              <a:t>Training</a:t>
            </a:r>
            <a:r>
              <a:rPr lang="hu-HU" dirty="0" smtClean="0"/>
              <a:t> an </a:t>
            </a:r>
            <a:r>
              <a:rPr lang="hu-HU" dirty="0" err="1" smtClean="0"/>
              <a:t>encoder</a:t>
            </a:r>
            <a:r>
              <a:rPr lang="hu-HU" dirty="0" smtClean="0"/>
              <a:t> </a:t>
            </a:r>
            <a:r>
              <a:rPr lang="hu-HU" dirty="0" err="1" smtClean="0"/>
              <a:t>transformer</a:t>
            </a:r>
            <a:r>
              <a:rPr lang="hu-HU" dirty="0" smtClean="0"/>
              <a:t> </a:t>
            </a:r>
            <a:r>
              <a:rPr lang="hu-HU" dirty="0" err="1" smtClean="0"/>
              <a:t>requires</a:t>
            </a:r>
            <a:r>
              <a:rPr lang="hu-HU" dirty="0" smtClean="0"/>
              <a:t> </a:t>
            </a:r>
            <a:r>
              <a:rPr lang="hu-HU" dirty="0" err="1" smtClean="0"/>
              <a:t>huge</a:t>
            </a:r>
            <a:r>
              <a:rPr lang="hu-HU" dirty="0" smtClean="0"/>
              <a:t> </a:t>
            </a:r>
            <a:r>
              <a:rPr lang="hu-HU" dirty="0" err="1" smtClean="0"/>
              <a:t>amounts</a:t>
            </a:r>
            <a:r>
              <a:rPr lang="hu-HU" dirty="0" smtClean="0"/>
              <a:t> of </a:t>
            </a:r>
            <a:r>
              <a:rPr lang="hu-HU" dirty="0" err="1" smtClean="0"/>
              <a:t>training</a:t>
            </a:r>
            <a:r>
              <a:rPr lang="hu-HU" dirty="0" smtClean="0"/>
              <a:t> </a:t>
            </a:r>
            <a:r>
              <a:rPr lang="hu-HU" dirty="0" err="1" smtClean="0"/>
              <a:t>data</a:t>
            </a:r>
            <a:r>
              <a:rPr lang="hu-HU" dirty="0" smtClean="0"/>
              <a:t> and </a:t>
            </a:r>
            <a:r>
              <a:rPr lang="hu-HU" dirty="0" err="1" smtClean="0"/>
              <a:t>very</a:t>
            </a:r>
            <a:r>
              <a:rPr lang="hu-HU" dirty="0" smtClean="0"/>
              <a:t> </a:t>
            </a:r>
            <a:r>
              <a:rPr lang="hu-HU" dirty="0" err="1" smtClean="0"/>
              <a:t>significant</a:t>
            </a:r>
            <a:r>
              <a:rPr lang="hu-HU" dirty="0" smtClean="0"/>
              <a:t> </a:t>
            </a:r>
            <a:r>
              <a:rPr lang="hu-HU" dirty="0" err="1" smtClean="0"/>
              <a:t>compute</a:t>
            </a:r>
            <a:r>
              <a:rPr lang="hu-HU" dirty="0" smtClean="0"/>
              <a:t> </a:t>
            </a:r>
            <a:r>
              <a:rPr lang="hu-HU" dirty="0" err="1" smtClean="0"/>
              <a:t>resources</a:t>
            </a:r>
            <a:r>
              <a:rPr lang="hu-HU" dirty="0" smtClean="0"/>
              <a:t>, </a:t>
            </a:r>
            <a:r>
              <a:rPr lang="hu-HU" dirty="0" err="1" smtClean="0"/>
              <a:t>thus</a:t>
            </a:r>
            <a:r>
              <a:rPr lang="hu-HU" dirty="0" smtClean="0"/>
              <a:t> </a:t>
            </a:r>
            <a:r>
              <a:rPr lang="hu-HU" dirty="0" err="1" smtClean="0"/>
              <a:t>they</a:t>
            </a:r>
            <a:r>
              <a:rPr lang="hu-HU" dirty="0" smtClean="0"/>
              <a:t> </a:t>
            </a:r>
            <a:r>
              <a:rPr lang="hu-HU" dirty="0" err="1" smtClean="0"/>
              <a:t>are</a:t>
            </a:r>
            <a:r>
              <a:rPr lang="hu-HU" dirty="0" smtClean="0"/>
              <a:t> </a:t>
            </a:r>
            <a:r>
              <a:rPr lang="hu-HU" dirty="0" err="1" smtClean="0"/>
              <a:t>generally</a:t>
            </a:r>
            <a:r>
              <a:rPr lang="hu-HU" dirty="0" smtClean="0"/>
              <a:t> </a:t>
            </a:r>
            <a:r>
              <a:rPr lang="hu-HU" dirty="0" err="1" smtClean="0"/>
              <a:t>not</a:t>
            </a:r>
            <a:r>
              <a:rPr lang="hu-HU" dirty="0" smtClean="0"/>
              <a:t> </a:t>
            </a:r>
            <a:r>
              <a:rPr lang="hu-HU" dirty="0" err="1" smtClean="0"/>
              <a:t>trained</a:t>
            </a:r>
            <a:r>
              <a:rPr lang="hu-HU" dirty="0" smtClean="0"/>
              <a:t> </a:t>
            </a:r>
            <a:r>
              <a:rPr lang="hu-HU" dirty="0" err="1" smtClean="0"/>
              <a:t>specfically</a:t>
            </a:r>
            <a:r>
              <a:rPr lang="hu-HU" dirty="0" smtClean="0"/>
              <a:t> </a:t>
            </a:r>
            <a:r>
              <a:rPr lang="hu-HU" dirty="0" err="1" smtClean="0"/>
              <a:t>for</a:t>
            </a:r>
            <a:r>
              <a:rPr lang="hu-HU" dirty="0" smtClean="0"/>
              <a:t> </a:t>
            </a:r>
            <a:r>
              <a:rPr lang="hu-HU" dirty="0" err="1" smtClean="0"/>
              <a:t>one</a:t>
            </a:r>
            <a:r>
              <a:rPr lang="hu-HU" dirty="0" smtClean="0"/>
              <a:t> </a:t>
            </a:r>
            <a:r>
              <a:rPr lang="hu-HU" dirty="0" err="1" smtClean="0"/>
              <a:t>task</a:t>
            </a:r>
            <a:endParaRPr lang="hu-HU" dirty="0" smtClean="0"/>
          </a:p>
          <a:p>
            <a:r>
              <a:rPr lang="hu-HU" dirty="0" smtClean="0"/>
              <a:t>A </a:t>
            </a:r>
            <a:r>
              <a:rPr lang="hu-HU" dirty="0" err="1" smtClean="0"/>
              <a:t>general</a:t>
            </a:r>
            <a:r>
              <a:rPr lang="hu-HU" dirty="0" smtClean="0"/>
              <a:t> </a:t>
            </a:r>
            <a:r>
              <a:rPr lang="hu-HU" dirty="0" err="1" smtClean="0"/>
              <a:t>encoder</a:t>
            </a:r>
            <a:r>
              <a:rPr lang="hu-HU" dirty="0" smtClean="0"/>
              <a:t> </a:t>
            </a:r>
            <a:r>
              <a:rPr lang="hu-HU" dirty="0" err="1" smtClean="0"/>
              <a:t>model</a:t>
            </a:r>
            <a:r>
              <a:rPr lang="hu-HU" dirty="0" smtClean="0"/>
              <a:t> is </a:t>
            </a:r>
            <a:r>
              <a:rPr lang="hu-HU" dirty="0" err="1" smtClean="0"/>
              <a:t>trained</a:t>
            </a:r>
            <a:r>
              <a:rPr lang="hu-HU" dirty="0" smtClean="0"/>
              <a:t> </a:t>
            </a:r>
            <a:r>
              <a:rPr lang="hu-HU" dirty="0" err="1" smtClean="0"/>
              <a:t>to</a:t>
            </a:r>
            <a:r>
              <a:rPr lang="hu-HU" dirty="0" smtClean="0"/>
              <a:t> </a:t>
            </a:r>
            <a:r>
              <a:rPr lang="hu-HU" dirty="0" err="1" smtClean="0"/>
              <a:t>learn</a:t>
            </a:r>
            <a:r>
              <a:rPr lang="hu-HU" dirty="0" smtClean="0"/>
              <a:t> </a:t>
            </a:r>
            <a:r>
              <a:rPr lang="hu-HU" dirty="0" err="1" smtClean="0"/>
              <a:t>the</a:t>
            </a:r>
            <a:r>
              <a:rPr lang="hu-HU" dirty="0" smtClean="0"/>
              <a:t> </a:t>
            </a:r>
            <a:r>
              <a:rPr lang="hu-HU" dirty="0" err="1" smtClean="0"/>
              <a:t>given</a:t>
            </a:r>
            <a:r>
              <a:rPr lang="hu-HU" dirty="0" smtClean="0"/>
              <a:t> </a:t>
            </a:r>
            <a:r>
              <a:rPr lang="hu-HU" dirty="0" err="1" smtClean="0"/>
              <a:t>language</a:t>
            </a:r>
            <a:r>
              <a:rPr lang="hu-HU" dirty="0" smtClean="0"/>
              <a:t>(s) </a:t>
            </a:r>
            <a:r>
              <a:rPr lang="hu-HU" dirty="0" err="1" smtClean="0"/>
              <a:t>as</a:t>
            </a:r>
            <a:r>
              <a:rPr lang="hu-HU" dirty="0" smtClean="0"/>
              <a:t> </a:t>
            </a:r>
            <a:r>
              <a:rPr lang="hu-HU" dirty="0" err="1" smtClean="0"/>
              <a:t>such</a:t>
            </a:r>
            <a:endParaRPr lang="hu-HU" dirty="0" smtClean="0"/>
          </a:p>
          <a:p>
            <a:pPr lvl="1"/>
            <a:r>
              <a:rPr lang="hu-HU" dirty="0" err="1" smtClean="0"/>
              <a:t>This</a:t>
            </a:r>
            <a:r>
              <a:rPr lang="hu-HU" dirty="0" smtClean="0"/>
              <a:t> is </a:t>
            </a:r>
            <a:r>
              <a:rPr lang="hu-HU" dirty="0" err="1" smtClean="0"/>
              <a:t>referred</a:t>
            </a:r>
            <a:r>
              <a:rPr lang="hu-HU" dirty="0" smtClean="0"/>
              <a:t> </a:t>
            </a:r>
            <a:r>
              <a:rPr lang="hu-HU" dirty="0" err="1" smtClean="0"/>
              <a:t>to</a:t>
            </a:r>
            <a:r>
              <a:rPr lang="hu-HU" dirty="0" smtClean="0"/>
              <a:t> </a:t>
            </a:r>
            <a:r>
              <a:rPr lang="hu-HU" dirty="0" err="1" smtClean="0"/>
              <a:t>as</a:t>
            </a:r>
            <a:r>
              <a:rPr lang="hu-HU" dirty="0" smtClean="0"/>
              <a:t> </a:t>
            </a:r>
            <a:r>
              <a:rPr lang="hu-HU" dirty="0" err="1" smtClean="0"/>
              <a:t>pre-training</a:t>
            </a:r>
            <a:endParaRPr lang="hu-HU" dirty="0" smtClean="0"/>
          </a:p>
          <a:p>
            <a:pPr lvl="1"/>
            <a:r>
              <a:rPr lang="hu-HU" dirty="0" err="1" smtClean="0"/>
              <a:t>Then</a:t>
            </a:r>
            <a:r>
              <a:rPr lang="hu-HU" dirty="0" smtClean="0"/>
              <a:t> a </a:t>
            </a:r>
            <a:r>
              <a:rPr lang="hu-HU" dirty="0" err="1" smtClean="0"/>
              <a:t>much</a:t>
            </a:r>
            <a:r>
              <a:rPr lang="hu-HU" dirty="0" smtClean="0"/>
              <a:t> </a:t>
            </a:r>
            <a:r>
              <a:rPr lang="hu-HU" dirty="0" err="1" smtClean="0"/>
              <a:t>smaller</a:t>
            </a:r>
            <a:r>
              <a:rPr lang="hu-HU" dirty="0" smtClean="0"/>
              <a:t> </a:t>
            </a:r>
            <a:r>
              <a:rPr lang="hu-HU" dirty="0" err="1" smtClean="0"/>
              <a:t>neural</a:t>
            </a:r>
            <a:r>
              <a:rPr lang="hu-HU" dirty="0" smtClean="0"/>
              <a:t> </a:t>
            </a:r>
            <a:r>
              <a:rPr lang="hu-HU" dirty="0" err="1" smtClean="0"/>
              <a:t>network</a:t>
            </a:r>
            <a:r>
              <a:rPr lang="hu-HU" dirty="0" smtClean="0"/>
              <a:t> is </a:t>
            </a:r>
            <a:r>
              <a:rPr lang="hu-HU" dirty="0" err="1" smtClean="0"/>
              <a:t>added</a:t>
            </a:r>
            <a:r>
              <a:rPr lang="hu-HU" dirty="0" smtClean="0"/>
              <a:t> </a:t>
            </a:r>
            <a:r>
              <a:rPr lang="hu-HU" dirty="0" err="1" smtClean="0"/>
              <a:t>on</a:t>
            </a:r>
            <a:r>
              <a:rPr lang="hu-HU" dirty="0" smtClean="0"/>
              <a:t> top of </a:t>
            </a:r>
            <a:r>
              <a:rPr lang="hu-HU" dirty="0" err="1" smtClean="0"/>
              <a:t>the</a:t>
            </a:r>
            <a:r>
              <a:rPr lang="hu-HU" dirty="0" smtClean="0"/>
              <a:t> </a:t>
            </a:r>
            <a:r>
              <a:rPr lang="hu-HU" dirty="0" err="1" smtClean="0"/>
              <a:t>transformer</a:t>
            </a:r>
            <a:r>
              <a:rPr lang="hu-HU" dirty="0" smtClean="0"/>
              <a:t>’s output </a:t>
            </a:r>
            <a:r>
              <a:rPr lang="hu-HU" dirty="0" err="1" smtClean="0"/>
              <a:t>layer</a:t>
            </a:r>
            <a:r>
              <a:rPr lang="hu-HU" dirty="0" smtClean="0"/>
              <a:t>, and </a:t>
            </a:r>
            <a:r>
              <a:rPr lang="hu-HU" dirty="0" err="1" smtClean="0"/>
              <a:t>this</a:t>
            </a:r>
            <a:r>
              <a:rPr lang="hu-HU" dirty="0" smtClean="0"/>
              <a:t> </a:t>
            </a:r>
            <a:r>
              <a:rPr lang="hu-HU" dirty="0" err="1" smtClean="0"/>
              <a:t>much</a:t>
            </a:r>
            <a:r>
              <a:rPr lang="hu-HU" dirty="0" smtClean="0"/>
              <a:t> </a:t>
            </a:r>
            <a:r>
              <a:rPr lang="hu-HU" dirty="0" err="1" smtClean="0"/>
              <a:t>smaller</a:t>
            </a:r>
            <a:r>
              <a:rPr lang="hu-HU" dirty="0" smtClean="0"/>
              <a:t> </a:t>
            </a:r>
            <a:r>
              <a:rPr lang="hu-HU" dirty="0" err="1" smtClean="0"/>
              <a:t>network</a:t>
            </a:r>
            <a:r>
              <a:rPr lang="hu-HU" dirty="0" smtClean="0"/>
              <a:t> is </a:t>
            </a:r>
            <a:r>
              <a:rPr lang="hu-HU" dirty="0" err="1" smtClean="0"/>
              <a:t>trained</a:t>
            </a:r>
            <a:r>
              <a:rPr lang="hu-HU" dirty="0" smtClean="0"/>
              <a:t> </a:t>
            </a:r>
            <a:r>
              <a:rPr lang="hu-HU" dirty="0" err="1" smtClean="0"/>
              <a:t>for</a:t>
            </a:r>
            <a:r>
              <a:rPr lang="hu-HU" dirty="0" smtClean="0"/>
              <a:t> </a:t>
            </a:r>
            <a:r>
              <a:rPr lang="hu-HU" dirty="0" err="1" smtClean="0"/>
              <a:t>the</a:t>
            </a:r>
            <a:r>
              <a:rPr lang="hu-HU" dirty="0" smtClean="0"/>
              <a:t> </a:t>
            </a:r>
            <a:r>
              <a:rPr lang="hu-HU" dirty="0" err="1" smtClean="0"/>
              <a:t>specific</a:t>
            </a:r>
            <a:r>
              <a:rPr lang="hu-HU" dirty="0" smtClean="0"/>
              <a:t> </a:t>
            </a:r>
            <a:r>
              <a:rPr lang="hu-HU" dirty="0" smtClean="0"/>
              <a:t>(</a:t>
            </a:r>
            <a:r>
              <a:rPr lang="hu-HU" dirty="0" err="1" smtClean="0"/>
              <a:t>e.g</a:t>
            </a:r>
            <a:r>
              <a:rPr lang="hu-HU" dirty="0" smtClean="0"/>
              <a:t>.) </a:t>
            </a:r>
            <a:r>
              <a:rPr lang="hu-HU" dirty="0" err="1" smtClean="0"/>
              <a:t>classification</a:t>
            </a:r>
            <a:r>
              <a:rPr lang="hu-HU" dirty="0" smtClean="0"/>
              <a:t> </a:t>
            </a:r>
            <a:r>
              <a:rPr lang="hu-HU" dirty="0" err="1" smtClean="0"/>
              <a:t>task</a:t>
            </a:r>
            <a:endParaRPr lang="hu-HU" dirty="0" smtClean="0"/>
          </a:p>
          <a:p>
            <a:pPr lvl="1"/>
            <a:r>
              <a:rPr lang="hu-HU" dirty="0" smtClean="0"/>
              <a:t>Classic </a:t>
            </a:r>
            <a:r>
              <a:rPr lang="hu-HU" dirty="0" err="1" smtClean="0"/>
              <a:t>application</a:t>
            </a:r>
            <a:r>
              <a:rPr lang="hu-HU" dirty="0" smtClean="0"/>
              <a:t> of </a:t>
            </a:r>
            <a:r>
              <a:rPr lang="hu-HU" dirty="0" err="1" smtClean="0"/>
              <a:t>the</a:t>
            </a:r>
            <a:r>
              <a:rPr lang="hu-HU" dirty="0" smtClean="0"/>
              <a:t> </a:t>
            </a:r>
            <a:r>
              <a:rPr lang="hu-HU" dirty="0" err="1" smtClean="0"/>
              <a:t>concept</a:t>
            </a:r>
            <a:r>
              <a:rPr lang="hu-HU" dirty="0" smtClean="0"/>
              <a:t> </a:t>
            </a:r>
            <a:r>
              <a:rPr lang="hu-HU" dirty="0" err="1" smtClean="0"/>
              <a:t>of</a:t>
            </a:r>
            <a:r>
              <a:rPr lang="hu-HU" dirty="0" smtClean="0"/>
              <a:t> </a:t>
            </a:r>
            <a:r>
              <a:rPr lang="hu-HU" dirty="0" err="1" smtClean="0"/>
              <a:t>transfer</a:t>
            </a:r>
            <a:r>
              <a:rPr lang="hu-HU" dirty="0" smtClean="0"/>
              <a:t> </a:t>
            </a:r>
            <a:r>
              <a:rPr lang="hu-HU" dirty="0" err="1" smtClean="0"/>
              <a:t>learning</a:t>
            </a:r>
            <a:endParaRPr lang="hu-HU" dirty="0" smtClean="0"/>
          </a:p>
        </p:txBody>
      </p:sp>
    </p:spTree>
    <p:extLst>
      <p:ext uri="{BB962C8B-B14F-4D97-AF65-F5344CB8AC3E}">
        <p14:creationId xmlns:p14="http://schemas.microsoft.com/office/powerpoint/2010/main" val="32433957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a:t>Encoder</a:t>
            </a:r>
            <a:r>
              <a:rPr lang="hu-HU" dirty="0"/>
              <a:t> </a:t>
            </a:r>
            <a:r>
              <a:rPr lang="hu-HU" dirty="0" err="1"/>
              <a:t>Transformer</a:t>
            </a:r>
            <a:r>
              <a:rPr lang="hu-HU" dirty="0"/>
              <a:t> </a:t>
            </a:r>
            <a:r>
              <a:rPr lang="hu-HU" dirty="0" err="1"/>
              <a:t>Architecture</a:t>
            </a:r>
            <a:endParaRPr lang="en-GB" dirty="0"/>
          </a:p>
        </p:txBody>
      </p:sp>
      <p:sp>
        <p:nvSpPr>
          <p:cNvPr id="3" name="Tartalom helye 2"/>
          <p:cNvSpPr>
            <a:spLocks noGrp="1"/>
          </p:cNvSpPr>
          <p:nvPr>
            <p:ph idx="1"/>
          </p:nvPr>
        </p:nvSpPr>
        <p:spPr>
          <a:xfrm>
            <a:off x="457200" y="1600200"/>
            <a:ext cx="8291264" cy="4637112"/>
          </a:xfrm>
        </p:spPr>
        <p:txBody>
          <a:bodyPr>
            <a:normAutofit fontScale="70000" lnSpcReduction="20000"/>
          </a:bodyPr>
          <a:lstStyle/>
          <a:p>
            <a:r>
              <a:rPr lang="hu-HU" dirty="0" err="1" smtClean="0"/>
              <a:t>Pre-training</a:t>
            </a:r>
            <a:r>
              <a:rPr lang="hu-HU" dirty="0" smtClean="0"/>
              <a:t> is </a:t>
            </a:r>
            <a:r>
              <a:rPr lang="hu-HU" dirty="0" err="1" smtClean="0"/>
              <a:t>done</a:t>
            </a:r>
            <a:r>
              <a:rPr lang="hu-HU" dirty="0" smtClean="0"/>
              <a:t> </a:t>
            </a:r>
            <a:r>
              <a:rPr lang="hu-HU" dirty="0" err="1" smtClean="0"/>
              <a:t>by</a:t>
            </a:r>
            <a:r>
              <a:rPr lang="hu-HU" dirty="0" smtClean="0"/>
              <a:t> </a:t>
            </a:r>
            <a:r>
              <a:rPr lang="hu-HU" dirty="0" err="1" smtClean="0"/>
              <a:t>masked</a:t>
            </a:r>
            <a:r>
              <a:rPr lang="hu-HU" dirty="0" smtClean="0"/>
              <a:t> </a:t>
            </a:r>
            <a:r>
              <a:rPr lang="hu-HU" dirty="0" err="1" smtClean="0"/>
              <a:t>language</a:t>
            </a:r>
            <a:r>
              <a:rPr lang="hu-HU" dirty="0" smtClean="0"/>
              <a:t> modelling (</a:t>
            </a:r>
            <a:r>
              <a:rPr lang="hu-HU" dirty="0" err="1" smtClean="0"/>
              <a:t>MLM</a:t>
            </a:r>
            <a:r>
              <a:rPr lang="hu-HU" dirty="0" smtClean="0"/>
              <a:t>)</a:t>
            </a:r>
          </a:p>
          <a:p>
            <a:r>
              <a:rPr lang="hu-HU" dirty="0" err="1" smtClean="0"/>
              <a:t>In</a:t>
            </a:r>
            <a:r>
              <a:rPr lang="hu-HU" dirty="0" smtClean="0"/>
              <a:t> </a:t>
            </a:r>
            <a:r>
              <a:rPr lang="hu-HU" dirty="0" err="1" smtClean="0"/>
              <a:t>the</a:t>
            </a:r>
            <a:r>
              <a:rPr lang="hu-HU" dirty="0" smtClean="0"/>
              <a:t> input </a:t>
            </a:r>
            <a:r>
              <a:rPr lang="hu-HU" dirty="0" err="1" smtClean="0"/>
              <a:t>sequence</a:t>
            </a:r>
            <a:r>
              <a:rPr lang="hu-HU" dirty="0" smtClean="0"/>
              <a:t>, </a:t>
            </a:r>
            <a:r>
              <a:rPr lang="hu-HU" dirty="0" err="1" smtClean="0"/>
              <a:t>some</a:t>
            </a:r>
            <a:r>
              <a:rPr lang="hu-HU" dirty="0" smtClean="0"/>
              <a:t> </a:t>
            </a:r>
            <a:r>
              <a:rPr lang="hu-HU" dirty="0" err="1" smtClean="0"/>
              <a:t>tokens</a:t>
            </a:r>
            <a:r>
              <a:rPr lang="hu-HU" dirty="0" smtClean="0"/>
              <a:t> </a:t>
            </a:r>
            <a:r>
              <a:rPr lang="hu-HU" dirty="0" err="1" smtClean="0"/>
              <a:t>are</a:t>
            </a:r>
            <a:r>
              <a:rPr lang="hu-HU" dirty="0" smtClean="0"/>
              <a:t> </a:t>
            </a:r>
            <a:r>
              <a:rPr lang="hu-HU" dirty="0" err="1" smtClean="0"/>
              <a:t>masked</a:t>
            </a:r>
            <a:r>
              <a:rPr lang="hu-HU" dirty="0" smtClean="0"/>
              <a:t>, </a:t>
            </a:r>
            <a:r>
              <a:rPr lang="hu-HU" dirty="0" err="1" smtClean="0"/>
              <a:t>which</a:t>
            </a:r>
            <a:r>
              <a:rPr lang="hu-HU" dirty="0" smtClean="0"/>
              <a:t> </a:t>
            </a:r>
            <a:r>
              <a:rPr lang="hu-HU" dirty="0" err="1" smtClean="0"/>
              <a:t>means</a:t>
            </a:r>
            <a:r>
              <a:rPr lang="hu-HU" dirty="0" smtClean="0"/>
              <a:t> </a:t>
            </a:r>
            <a:r>
              <a:rPr lang="hu-HU" dirty="0" err="1" smtClean="0"/>
              <a:t>they</a:t>
            </a:r>
            <a:r>
              <a:rPr lang="hu-HU" dirty="0" smtClean="0"/>
              <a:t> </a:t>
            </a:r>
            <a:r>
              <a:rPr lang="hu-HU" dirty="0" err="1" smtClean="0"/>
              <a:t>are</a:t>
            </a:r>
            <a:r>
              <a:rPr lang="hu-HU" dirty="0" smtClean="0"/>
              <a:t> </a:t>
            </a:r>
            <a:r>
              <a:rPr lang="hu-HU" dirty="0" err="1" smtClean="0"/>
              <a:t>replaced</a:t>
            </a:r>
            <a:r>
              <a:rPr lang="hu-HU" dirty="0" smtClean="0"/>
              <a:t> </a:t>
            </a:r>
            <a:r>
              <a:rPr lang="hu-HU" dirty="0" err="1" smtClean="0"/>
              <a:t>by</a:t>
            </a:r>
            <a:r>
              <a:rPr lang="hu-HU" dirty="0" smtClean="0"/>
              <a:t> a </a:t>
            </a:r>
            <a:r>
              <a:rPr lang="hu-HU" dirty="0" smtClean="0"/>
              <a:t>[</a:t>
            </a:r>
            <a:r>
              <a:rPr lang="hu-HU" dirty="0" err="1" smtClean="0"/>
              <a:t>MASK</a:t>
            </a:r>
            <a:r>
              <a:rPr lang="hu-HU" dirty="0" smtClean="0"/>
              <a:t>] </a:t>
            </a:r>
            <a:r>
              <a:rPr lang="hu-HU" dirty="0" err="1" smtClean="0"/>
              <a:t>token</a:t>
            </a:r>
            <a:r>
              <a:rPr lang="hu-HU" dirty="0" smtClean="0"/>
              <a:t>.</a:t>
            </a:r>
          </a:p>
          <a:p>
            <a:pPr lvl="1"/>
            <a:r>
              <a:rPr lang="en-GB" i="1" dirty="0" smtClean="0"/>
              <a:t>The </a:t>
            </a:r>
            <a:r>
              <a:rPr lang="en-GB" i="1" dirty="0"/>
              <a:t>dominant sequence transduction models are based on complex </a:t>
            </a:r>
            <a:r>
              <a:rPr lang="hu-HU" dirty="0" smtClean="0"/>
              <a:t>[</a:t>
            </a:r>
            <a:r>
              <a:rPr lang="hu-HU" dirty="0" err="1" smtClean="0"/>
              <a:t>MASK</a:t>
            </a:r>
            <a:r>
              <a:rPr lang="hu-HU" dirty="0" smtClean="0"/>
              <a:t>] </a:t>
            </a:r>
            <a:r>
              <a:rPr lang="en-GB" i="1" dirty="0" smtClean="0"/>
              <a:t>or </a:t>
            </a:r>
            <a:r>
              <a:rPr lang="en-GB" i="1" dirty="0"/>
              <a:t>convolutional neural networks that include </a:t>
            </a:r>
            <a:r>
              <a:rPr lang="hu-HU" dirty="0" smtClean="0"/>
              <a:t>[</a:t>
            </a:r>
            <a:r>
              <a:rPr lang="hu-HU" dirty="0" err="1" smtClean="0"/>
              <a:t>MASK</a:t>
            </a:r>
            <a:r>
              <a:rPr lang="hu-HU" dirty="0" smtClean="0"/>
              <a:t>] </a:t>
            </a:r>
            <a:r>
              <a:rPr lang="en-GB" i="1" dirty="0" smtClean="0"/>
              <a:t>encoder </a:t>
            </a:r>
            <a:r>
              <a:rPr lang="en-GB" i="1" dirty="0"/>
              <a:t>and a decoder</a:t>
            </a:r>
            <a:r>
              <a:rPr lang="en-GB" i="1" dirty="0" smtClean="0"/>
              <a:t>.</a:t>
            </a:r>
            <a:endParaRPr lang="hu-HU" i="1" dirty="0" smtClean="0"/>
          </a:p>
          <a:p>
            <a:pPr lvl="2"/>
            <a:r>
              <a:rPr lang="hu-HU" dirty="0" smtClean="0"/>
              <a:t>The </a:t>
            </a:r>
            <a:r>
              <a:rPr lang="hu-HU" dirty="0" err="1" smtClean="0"/>
              <a:t>same</a:t>
            </a:r>
            <a:r>
              <a:rPr lang="hu-HU" dirty="0" smtClean="0"/>
              <a:t> </a:t>
            </a:r>
            <a:r>
              <a:rPr lang="hu-HU" dirty="0" err="1" smtClean="0"/>
              <a:t>task</a:t>
            </a:r>
            <a:r>
              <a:rPr lang="hu-HU" dirty="0" smtClean="0"/>
              <a:t> is </a:t>
            </a:r>
            <a:r>
              <a:rPr lang="hu-HU" dirty="0" err="1" smtClean="0"/>
              <a:t>known</a:t>
            </a:r>
            <a:r>
              <a:rPr lang="hu-HU" dirty="0" smtClean="0"/>
              <a:t> </a:t>
            </a:r>
            <a:r>
              <a:rPr lang="hu-HU" dirty="0" err="1" smtClean="0"/>
              <a:t>in</a:t>
            </a:r>
            <a:r>
              <a:rPr lang="hu-HU" dirty="0" smtClean="0"/>
              <a:t> </a:t>
            </a:r>
            <a:r>
              <a:rPr lang="hu-HU" dirty="0" err="1" smtClean="0"/>
              <a:t>language</a:t>
            </a:r>
            <a:r>
              <a:rPr lang="hu-HU" dirty="0" smtClean="0"/>
              <a:t> </a:t>
            </a:r>
            <a:r>
              <a:rPr lang="hu-HU" dirty="0" err="1" smtClean="0"/>
              <a:t>learning</a:t>
            </a:r>
            <a:r>
              <a:rPr lang="hu-HU" dirty="0" smtClean="0"/>
              <a:t> and testing </a:t>
            </a:r>
            <a:r>
              <a:rPr lang="hu-HU" dirty="0" err="1" smtClean="0"/>
              <a:t>as</a:t>
            </a:r>
            <a:r>
              <a:rPr lang="hu-HU" dirty="0" smtClean="0"/>
              <a:t> a </a:t>
            </a:r>
            <a:r>
              <a:rPr lang="hu-HU" dirty="0" err="1" smtClean="0"/>
              <a:t>cloze</a:t>
            </a:r>
            <a:r>
              <a:rPr lang="hu-HU" dirty="0" smtClean="0"/>
              <a:t> test.</a:t>
            </a:r>
          </a:p>
          <a:p>
            <a:pPr lvl="1"/>
            <a:r>
              <a:rPr lang="hu-HU" dirty="0" err="1" smtClean="0"/>
              <a:t>We</a:t>
            </a:r>
            <a:r>
              <a:rPr lang="hu-HU" dirty="0" smtClean="0"/>
              <a:t> add a</a:t>
            </a:r>
            <a:r>
              <a:rPr lang="hu-HU" dirty="0" smtClean="0"/>
              <a:t> </a:t>
            </a:r>
            <a:r>
              <a:rPr lang="hu-HU" b="1" dirty="0" err="1" smtClean="0"/>
              <a:t>softmax</a:t>
            </a:r>
            <a:r>
              <a:rPr lang="hu-HU" b="1" dirty="0" smtClean="0"/>
              <a:t> </a:t>
            </a:r>
            <a:r>
              <a:rPr lang="hu-HU" dirty="0" err="1" smtClean="0"/>
              <a:t>layer</a:t>
            </a:r>
            <a:r>
              <a:rPr lang="hu-HU" dirty="0" smtClean="0"/>
              <a:t> </a:t>
            </a:r>
            <a:r>
              <a:rPr lang="hu-HU" dirty="0" smtClean="0"/>
              <a:t>(a </a:t>
            </a:r>
            <a:r>
              <a:rPr lang="hu-HU" i="1" dirty="0" smtClean="0"/>
              <a:t>k</a:t>
            </a:r>
            <a:r>
              <a:rPr lang="hu-HU" dirty="0" smtClean="0"/>
              <a:t> x </a:t>
            </a:r>
            <a:r>
              <a:rPr lang="hu-HU" i="1" dirty="0" smtClean="0"/>
              <a:t>V </a:t>
            </a:r>
            <a:r>
              <a:rPr lang="hu-HU" dirty="0" err="1" smtClean="0"/>
              <a:t>densely</a:t>
            </a:r>
            <a:r>
              <a:rPr lang="hu-HU" dirty="0" smtClean="0"/>
              <a:t> </a:t>
            </a:r>
            <a:r>
              <a:rPr lang="hu-HU" dirty="0" err="1" smtClean="0"/>
              <a:t>connected</a:t>
            </a:r>
            <a:r>
              <a:rPr lang="hu-HU" dirty="0" smtClean="0"/>
              <a:t> </a:t>
            </a:r>
            <a:r>
              <a:rPr lang="hu-HU" dirty="0" err="1" smtClean="0"/>
              <a:t>layer</a:t>
            </a:r>
            <a:r>
              <a:rPr lang="hu-HU" dirty="0" smtClean="0"/>
              <a:t> </a:t>
            </a:r>
            <a:r>
              <a:rPr lang="hu-HU" dirty="0" err="1" smtClean="0"/>
              <a:t>with</a:t>
            </a:r>
            <a:r>
              <a:rPr lang="hu-HU" dirty="0" smtClean="0"/>
              <a:t> </a:t>
            </a:r>
            <a:r>
              <a:rPr lang="hu-HU" dirty="0" err="1" smtClean="0"/>
              <a:t>softmax</a:t>
            </a:r>
            <a:r>
              <a:rPr lang="hu-HU" dirty="0" smtClean="0"/>
              <a:t> </a:t>
            </a:r>
            <a:r>
              <a:rPr lang="hu-HU" dirty="0" err="1" smtClean="0"/>
              <a:t>activation</a:t>
            </a:r>
            <a:r>
              <a:rPr lang="hu-HU" dirty="0" smtClean="0"/>
              <a:t>) </a:t>
            </a:r>
            <a:r>
              <a:rPr lang="hu-HU" dirty="0" err="1" smtClean="0"/>
              <a:t>on</a:t>
            </a:r>
            <a:r>
              <a:rPr lang="hu-HU" dirty="0" smtClean="0"/>
              <a:t> </a:t>
            </a:r>
            <a:r>
              <a:rPr lang="hu-HU" dirty="0" smtClean="0"/>
              <a:t>top of </a:t>
            </a:r>
            <a:r>
              <a:rPr lang="hu-HU" dirty="0" err="1" smtClean="0"/>
              <a:t>the</a:t>
            </a:r>
            <a:r>
              <a:rPr lang="hu-HU" dirty="0" smtClean="0"/>
              <a:t> output </a:t>
            </a:r>
            <a:r>
              <a:rPr lang="hu-HU" dirty="0" smtClean="0"/>
              <a:t>of </a:t>
            </a:r>
            <a:r>
              <a:rPr lang="hu-HU" dirty="0" err="1" smtClean="0"/>
              <a:t>the</a:t>
            </a:r>
            <a:r>
              <a:rPr lang="hu-HU" dirty="0" smtClean="0"/>
              <a:t> top </a:t>
            </a:r>
            <a:r>
              <a:rPr lang="hu-HU" dirty="0" err="1" smtClean="0"/>
              <a:t>transformer</a:t>
            </a:r>
            <a:r>
              <a:rPr lang="hu-HU" dirty="0" smtClean="0"/>
              <a:t> </a:t>
            </a:r>
            <a:r>
              <a:rPr lang="hu-HU" dirty="0" err="1" smtClean="0"/>
              <a:t>block</a:t>
            </a:r>
            <a:r>
              <a:rPr lang="hu-HU" dirty="0" smtClean="0"/>
              <a:t>.</a:t>
            </a:r>
          </a:p>
          <a:p>
            <a:pPr lvl="2"/>
            <a:r>
              <a:rPr lang="hu-HU" dirty="0" err="1" smtClean="0"/>
              <a:t>This</a:t>
            </a:r>
            <a:r>
              <a:rPr lang="hu-HU" dirty="0" smtClean="0"/>
              <a:t> </a:t>
            </a:r>
            <a:r>
              <a:rPr lang="hu-HU" dirty="0" err="1" smtClean="0"/>
              <a:t>softmax</a:t>
            </a:r>
            <a:r>
              <a:rPr lang="hu-HU" dirty="0" smtClean="0"/>
              <a:t> </a:t>
            </a:r>
            <a:r>
              <a:rPr lang="hu-HU" dirty="0" err="1" smtClean="0"/>
              <a:t>layer</a:t>
            </a:r>
            <a:r>
              <a:rPr lang="hu-HU" dirty="0" smtClean="0"/>
              <a:t> </a:t>
            </a:r>
            <a:r>
              <a:rPr lang="hu-HU" dirty="0" err="1" smtClean="0"/>
              <a:t>predicts</a:t>
            </a:r>
            <a:r>
              <a:rPr lang="hu-HU" dirty="0" smtClean="0"/>
              <a:t> </a:t>
            </a:r>
            <a:r>
              <a:rPr lang="hu-HU" dirty="0" err="1" smtClean="0"/>
              <a:t>the</a:t>
            </a:r>
            <a:r>
              <a:rPr lang="hu-HU" dirty="0" smtClean="0"/>
              <a:t> </a:t>
            </a:r>
            <a:r>
              <a:rPr lang="hu-HU" b="1" dirty="0" err="1" smtClean="0"/>
              <a:t>probability</a:t>
            </a:r>
            <a:r>
              <a:rPr lang="hu-HU" b="1" dirty="0" smtClean="0"/>
              <a:t> </a:t>
            </a:r>
            <a:r>
              <a:rPr lang="hu-HU" b="1" dirty="0" err="1" smtClean="0"/>
              <a:t>distribution</a:t>
            </a:r>
            <a:r>
              <a:rPr lang="hu-HU" b="1" dirty="0" smtClean="0"/>
              <a:t> of </a:t>
            </a:r>
            <a:r>
              <a:rPr lang="hu-HU" b="1" dirty="0" err="1" smtClean="0"/>
              <a:t>the</a:t>
            </a:r>
            <a:r>
              <a:rPr lang="hu-HU" b="1" dirty="0" smtClean="0"/>
              <a:t> </a:t>
            </a:r>
            <a:r>
              <a:rPr lang="hu-HU" b="1" dirty="0" err="1" smtClean="0"/>
              <a:t>given</a:t>
            </a:r>
            <a:r>
              <a:rPr lang="hu-HU" b="1" dirty="0" smtClean="0"/>
              <a:t> </a:t>
            </a:r>
            <a:r>
              <a:rPr lang="hu-HU" b="1" dirty="0" err="1" smtClean="0"/>
              <a:t>token</a:t>
            </a:r>
            <a:r>
              <a:rPr lang="hu-HU" b="1" dirty="0" smtClean="0"/>
              <a:t> </a:t>
            </a:r>
            <a:r>
              <a:rPr lang="hu-HU" dirty="0" smtClean="0"/>
              <a:t>over </a:t>
            </a:r>
            <a:r>
              <a:rPr lang="hu-HU" dirty="0" err="1" smtClean="0"/>
              <a:t>the</a:t>
            </a:r>
            <a:r>
              <a:rPr lang="hu-HU" dirty="0" smtClean="0"/>
              <a:t> </a:t>
            </a:r>
            <a:r>
              <a:rPr lang="hu-HU" dirty="0" err="1" smtClean="0"/>
              <a:t>entire</a:t>
            </a:r>
            <a:r>
              <a:rPr lang="hu-HU" dirty="0" smtClean="0"/>
              <a:t> </a:t>
            </a:r>
            <a:r>
              <a:rPr lang="hu-HU" dirty="0" err="1" smtClean="0"/>
              <a:t>vocabulary</a:t>
            </a:r>
            <a:r>
              <a:rPr lang="hu-HU" dirty="0" smtClean="0"/>
              <a:t>.</a:t>
            </a:r>
          </a:p>
          <a:p>
            <a:pPr lvl="2"/>
            <a:r>
              <a:rPr lang="hu-HU" dirty="0" err="1" smtClean="0"/>
              <a:t>If</a:t>
            </a:r>
            <a:r>
              <a:rPr lang="hu-HU" dirty="0" smtClean="0"/>
              <a:t> </a:t>
            </a:r>
            <a:r>
              <a:rPr lang="hu-HU" dirty="0" err="1" smtClean="0"/>
              <a:t>the</a:t>
            </a:r>
            <a:r>
              <a:rPr lang="hu-HU" dirty="0" smtClean="0"/>
              <a:t> input </a:t>
            </a:r>
            <a:r>
              <a:rPr lang="hu-HU" dirty="0" err="1" smtClean="0"/>
              <a:t>token</a:t>
            </a:r>
            <a:r>
              <a:rPr lang="hu-HU" dirty="0" smtClean="0"/>
              <a:t> is </a:t>
            </a:r>
            <a:r>
              <a:rPr lang="hu-HU" b="1" dirty="0" err="1" smtClean="0"/>
              <a:t>not</a:t>
            </a:r>
            <a:r>
              <a:rPr lang="hu-HU" b="1" dirty="0" smtClean="0"/>
              <a:t> </a:t>
            </a:r>
            <a:r>
              <a:rPr lang="hu-HU" dirty="0" err="1" smtClean="0"/>
              <a:t>masked</a:t>
            </a:r>
            <a:r>
              <a:rPr lang="hu-HU" dirty="0" smtClean="0"/>
              <a:t>: </a:t>
            </a:r>
            <a:r>
              <a:rPr lang="hu-HU" dirty="0" err="1" smtClean="0"/>
              <a:t>essentially</a:t>
            </a:r>
            <a:r>
              <a:rPr lang="hu-HU" dirty="0" smtClean="0"/>
              <a:t> an </a:t>
            </a:r>
            <a:r>
              <a:rPr lang="hu-HU" b="1" dirty="0" err="1" smtClean="0"/>
              <a:t>autoencoder</a:t>
            </a:r>
            <a:r>
              <a:rPr lang="hu-HU" b="1" dirty="0" smtClean="0"/>
              <a:t> </a:t>
            </a:r>
            <a:r>
              <a:rPr lang="hu-HU" dirty="0" err="1" smtClean="0"/>
              <a:t>task</a:t>
            </a:r>
            <a:r>
              <a:rPr lang="hu-HU" dirty="0" smtClean="0"/>
              <a:t>.</a:t>
            </a:r>
          </a:p>
          <a:p>
            <a:pPr lvl="3"/>
            <a:r>
              <a:rPr lang="hu-HU" dirty="0" smtClean="0"/>
              <a:t>map </a:t>
            </a:r>
            <a:r>
              <a:rPr lang="hu-HU" dirty="0" err="1" smtClean="0"/>
              <a:t>the</a:t>
            </a:r>
            <a:r>
              <a:rPr lang="hu-HU" dirty="0" smtClean="0"/>
              <a:t> input </a:t>
            </a:r>
            <a:r>
              <a:rPr lang="hu-HU" dirty="0" err="1" smtClean="0"/>
              <a:t>token</a:t>
            </a:r>
            <a:r>
              <a:rPr lang="hu-HU" dirty="0" smtClean="0"/>
              <a:t> (</a:t>
            </a:r>
            <a:r>
              <a:rPr lang="hu-HU" dirty="0" err="1" smtClean="0"/>
              <a:t>e.g</a:t>
            </a:r>
            <a:r>
              <a:rPr lang="hu-HU" dirty="0" smtClean="0"/>
              <a:t>. </a:t>
            </a:r>
            <a:r>
              <a:rPr lang="hu-HU" i="1" dirty="0" err="1" smtClean="0"/>
              <a:t>ship</a:t>
            </a:r>
            <a:r>
              <a:rPr lang="hu-HU" dirty="0" smtClean="0"/>
              <a:t>) an output </a:t>
            </a:r>
            <a:r>
              <a:rPr lang="hu-HU" dirty="0" err="1" smtClean="0"/>
              <a:t>vector</a:t>
            </a:r>
            <a:r>
              <a:rPr lang="hu-HU" dirty="0" smtClean="0"/>
              <a:t> </a:t>
            </a:r>
            <a:r>
              <a:rPr lang="hu-HU" dirty="0" err="1" smtClean="0"/>
              <a:t>that</a:t>
            </a:r>
            <a:r>
              <a:rPr lang="hu-HU" dirty="0" smtClean="0"/>
              <a:t> has a 1 </a:t>
            </a:r>
            <a:r>
              <a:rPr lang="hu-HU" dirty="0" err="1" smtClean="0"/>
              <a:t>value</a:t>
            </a:r>
            <a:r>
              <a:rPr lang="hu-HU" dirty="0" smtClean="0"/>
              <a:t> </a:t>
            </a:r>
            <a:r>
              <a:rPr lang="hu-HU" dirty="0" err="1" smtClean="0"/>
              <a:t>in</a:t>
            </a:r>
            <a:r>
              <a:rPr lang="hu-HU" dirty="0" smtClean="0"/>
              <a:t> </a:t>
            </a:r>
            <a:r>
              <a:rPr lang="hu-HU" dirty="0" err="1" smtClean="0"/>
              <a:t>the</a:t>
            </a:r>
            <a:r>
              <a:rPr lang="hu-HU" dirty="0" smtClean="0"/>
              <a:t> </a:t>
            </a:r>
            <a:r>
              <a:rPr lang="hu-HU" dirty="0" err="1" smtClean="0"/>
              <a:t>coordinate</a:t>
            </a:r>
            <a:r>
              <a:rPr lang="hu-HU" dirty="0" smtClean="0"/>
              <a:t> of </a:t>
            </a:r>
            <a:r>
              <a:rPr lang="hu-HU" dirty="0" err="1" smtClean="0"/>
              <a:t>the</a:t>
            </a:r>
            <a:r>
              <a:rPr lang="hu-HU" dirty="0" smtClean="0"/>
              <a:t> </a:t>
            </a:r>
            <a:r>
              <a:rPr lang="hu-HU" dirty="0" err="1" smtClean="0"/>
              <a:t>V-dimensional</a:t>
            </a:r>
            <a:r>
              <a:rPr lang="hu-HU" dirty="0" smtClean="0"/>
              <a:t> output </a:t>
            </a:r>
            <a:r>
              <a:rPr lang="hu-HU" dirty="0" err="1" smtClean="0"/>
              <a:t>vector</a:t>
            </a:r>
            <a:r>
              <a:rPr lang="hu-HU" dirty="0" smtClean="0"/>
              <a:t> </a:t>
            </a:r>
            <a:r>
              <a:rPr lang="hu-HU" dirty="0" err="1" smtClean="0"/>
              <a:t>that</a:t>
            </a:r>
            <a:r>
              <a:rPr lang="hu-HU" dirty="0" smtClean="0"/>
              <a:t> </a:t>
            </a:r>
            <a:r>
              <a:rPr lang="hu-HU" dirty="0" err="1" smtClean="0"/>
              <a:t>corresponds</a:t>
            </a:r>
            <a:r>
              <a:rPr lang="hu-HU" dirty="0" smtClean="0"/>
              <a:t> </a:t>
            </a:r>
            <a:r>
              <a:rPr lang="hu-HU" dirty="0" err="1" smtClean="0"/>
              <a:t>to</a:t>
            </a:r>
            <a:r>
              <a:rPr lang="hu-HU" dirty="0" smtClean="0"/>
              <a:t> </a:t>
            </a:r>
            <a:r>
              <a:rPr lang="hu-HU" dirty="0" err="1" smtClean="0"/>
              <a:t>that</a:t>
            </a:r>
            <a:r>
              <a:rPr lang="hu-HU" dirty="0" smtClean="0"/>
              <a:t> </a:t>
            </a:r>
            <a:r>
              <a:rPr lang="hu-HU" dirty="0" err="1" smtClean="0"/>
              <a:t>token</a:t>
            </a:r>
            <a:r>
              <a:rPr lang="hu-HU" dirty="0" smtClean="0"/>
              <a:t>, 0 </a:t>
            </a:r>
            <a:r>
              <a:rPr lang="hu-HU" dirty="0" err="1" smtClean="0"/>
              <a:t>everywhere</a:t>
            </a:r>
            <a:r>
              <a:rPr lang="hu-HU" dirty="0" smtClean="0"/>
              <a:t> </a:t>
            </a:r>
            <a:r>
              <a:rPr lang="hu-HU" dirty="0" err="1" smtClean="0"/>
              <a:t>else</a:t>
            </a:r>
            <a:endParaRPr lang="hu-HU" dirty="0" smtClean="0"/>
          </a:p>
          <a:p>
            <a:pPr lvl="3"/>
            <a:r>
              <a:rPr lang="hu-HU" dirty="0" err="1" smtClean="0"/>
              <a:t>not</a:t>
            </a:r>
            <a:r>
              <a:rPr lang="hu-HU" dirty="0" smtClean="0"/>
              <a:t> </a:t>
            </a:r>
            <a:r>
              <a:rPr lang="hu-HU" dirty="0" err="1" smtClean="0"/>
              <a:t>trivial</a:t>
            </a:r>
            <a:r>
              <a:rPr lang="hu-HU" dirty="0" smtClean="0"/>
              <a:t>: input is a </a:t>
            </a:r>
            <a:r>
              <a:rPr lang="hu-HU" dirty="0" err="1" smtClean="0"/>
              <a:t>k-dimensional</a:t>
            </a:r>
            <a:r>
              <a:rPr lang="hu-HU" dirty="0" smtClean="0"/>
              <a:t> </a:t>
            </a:r>
            <a:r>
              <a:rPr lang="hu-HU" dirty="0" err="1" smtClean="0"/>
              <a:t>dense</a:t>
            </a:r>
            <a:r>
              <a:rPr lang="hu-HU" dirty="0" smtClean="0"/>
              <a:t> </a:t>
            </a:r>
            <a:r>
              <a:rPr lang="hu-HU" dirty="0" err="1" smtClean="0"/>
              <a:t>vector</a:t>
            </a:r>
            <a:r>
              <a:rPr lang="hu-HU" dirty="0" smtClean="0"/>
              <a:t>, output is a </a:t>
            </a:r>
            <a:r>
              <a:rPr lang="hu-HU" dirty="0" err="1" smtClean="0"/>
              <a:t>V-dimensional</a:t>
            </a:r>
            <a:r>
              <a:rPr lang="hu-HU" dirty="0" smtClean="0"/>
              <a:t> </a:t>
            </a:r>
            <a:r>
              <a:rPr lang="hu-HU" dirty="0" err="1" smtClean="0"/>
              <a:t>softmax</a:t>
            </a:r>
            <a:r>
              <a:rPr lang="hu-HU" dirty="0" smtClean="0"/>
              <a:t> </a:t>
            </a:r>
            <a:r>
              <a:rPr lang="hu-HU" dirty="0" err="1" smtClean="0"/>
              <a:t>vector</a:t>
            </a:r>
            <a:r>
              <a:rPr lang="hu-HU" dirty="0" smtClean="0"/>
              <a:t> over </a:t>
            </a:r>
            <a:r>
              <a:rPr lang="hu-HU" dirty="0" err="1" smtClean="0"/>
              <a:t>the</a:t>
            </a:r>
            <a:r>
              <a:rPr lang="hu-HU" dirty="0" smtClean="0"/>
              <a:t> </a:t>
            </a:r>
            <a:r>
              <a:rPr lang="hu-HU" dirty="0" err="1" smtClean="0"/>
              <a:t>vocabulary</a:t>
            </a:r>
            <a:endParaRPr lang="hu-HU" dirty="0" smtClean="0"/>
          </a:p>
          <a:p>
            <a:pPr lvl="2"/>
            <a:r>
              <a:rPr lang="hu-HU" dirty="0" err="1" smtClean="0"/>
              <a:t>If</a:t>
            </a:r>
            <a:r>
              <a:rPr lang="hu-HU" dirty="0" smtClean="0"/>
              <a:t> </a:t>
            </a:r>
            <a:r>
              <a:rPr lang="hu-HU" dirty="0" err="1" smtClean="0"/>
              <a:t>the</a:t>
            </a:r>
            <a:r>
              <a:rPr lang="hu-HU" dirty="0" smtClean="0"/>
              <a:t> input </a:t>
            </a:r>
            <a:r>
              <a:rPr lang="hu-HU" dirty="0" err="1" smtClean="0"/>
              <a:t>token</a:t>
            </a:r>
            <a:r>
              <a:rPr lang="hu-HU" dirty="0" smtClean="0"/>
              <a:t> </a:t>
            </a:r>
            <a:r>
              <a:rPr lang="hu-HU" b="1" dirty="0" smtClean="0"/>
              <a:t>is </a:t>
            </a:r>
            <a:r>
              <a:rPr lang="hu-HU" dirty="0" err="1" smtClean="0"/>
              <a:t>masked</a:t>
            </a:r>
            <a:r>
              <a:rPr lang="hu-HU" dirty="0" smtClean="0"/>
              <a:t>: </a:t>
            </a:r>
            <a:r>
              <a:rPr lang="hu-HU" b="1" dirty="0" err="1" smtClean="0"/>
              <a:t>much</a:t>
            </a:r>
            <a:r>
              <a:rPr lang="hu-HU" b="1" dirty="0" smtClean="0"/>
              <a:t> more </a:t>
            </a:r>
            <a:r>
              <a:rPr lang="hu-HU" b="1" dirty="0" err="1" smtClean="0"/>
              <a:t>challenging</a:t>
            </a:r>
            <a:r>
              <a:rPr lang="hu-HU" dirty="0" smtClean="0"/>
              <a:t>, </a:t>
            </a:r>
            <a:r>
              <a:rPr lang="hu-HU" dirty="0" err="1" smtClean="0"/>
              <a:t>the</a:t>
            </a:r>
            <a:r>
              <a:rPr lang="hu-HU" dirty="0" smtClean="0"/>
              <a:t> </a:t>
            </a:r>
            <a:r>
              <a:rPr lang="hu-HU" dirty="0" err="1" smtClean="0"/>
              <a:t>model</a:t>
            </a:r>
            <a:r>
              <a:rPr lang="hu-HU" dirty="0" smtClean="0"/>
              <a:t> has </a:t>
            </a:r>
            <a:r>
              <a:rPr lang="hu-HU" dirty="0" err="1" smtClean="0"/>
              <a:t>to</a:t>
            </a:r>
            <a:r>
              <a:rPr lang="hu-HU" dirty="0" smtClean="0"/>
              <a:t> </a:t>
            </a:r>
            <a:r>
              <a:rPr lang="hu-HU" dirty="0" err="1" smtClean="0"/>
              <a:t>guess</a:t>
            </a:r>
            <a:r>
              <a:rPr lang="hu-HU" dirty="0" smtClean="0"/>
              <a:t> </a:t>
            </a:r>
            <a:r>
              <a:rPr lang="hu-HU" dirty="0" err="1" smtClean="0"/>
              <a:t>based</a:t>
            </a:r>
            <a:r>
              <a:rPr lang="hu-HU" dirty="0" smtClean="0"/>
              <a:t> </a:t>
            </a:r>
            <a:r>
              <a:rPr lang="hu-HU" dirty="0" err="1" smtClean="0"/>
              <a:t>on</a:t>
            </a:r>
            <a:r>
              <a:rPr lang="hu-HU" dirty="0" smtClean="0"/>
              <a:t> </a:t>
            </a:r>
            <a:r>
              <a:rPr lang="hu-HU" dirty="0" err="1" smtClean="0"/>
              <a:t>the</a:t>
            </a:r>
            <a:r>
              <a:rPr lang="hu-HU" dirty="0" smtClean="0"/>
              <a:t> </a:t>
            </a:r>
            <a:r>
              <a:rPr lang="hu-HU" dirty="0" err="1" smtClean="0"/>
              <a:t>context</a:t>
            </a:r>
            <a:r>
              <a:rPr lang="hu-HU" dirty="0" smtClean="0"/>
              <a:t> </a:t>
            </a:r>
            <a:r>
              <a:rPr lang="hu-HU" dirty="0" err="1" smtClean="0"/>
              <a:t>tokens</a:t>
            </a:r>
            <a:r>
              <a:rPr lang="hu-HU" dirty="0" smtClean="0"/>
              <a:t> </a:t>
            </a:r>
            <a:r>
              <a:rPr lang="hu-HU" dirty="0" err="1" smtClean="0"/>
              <a:t>what</a:t>
            </a:r>
            <a:r>
              <a:rPr lang="hu-HU" dirty="0" smtClean="0"/>
              <a:t> </a:t>
            </a:r>
            <a:r>
              <a:rPr lang="hu-HU" dirty="0" err="1" smtClean="0"/>
              <a:t>each</a:t>
            </a:r>
            <a:r>
              <a:rPr lang="hu-HU" dirty="0" smtClean="0"/>
              <a:t> </a:t>
            </a:r>
            <a:r>
              <a:rPr lang="hu-HU" dirty="0" err="1" smtClean="0"/>
              <a:t>masked</a:t>
            </a:r>
            <a:r>
              <a:rPr lang="hu-HU" dirty="0" smtClean="0"/>
              <a:t> </a:t>
            </a:r>
            <a:r>
              <a:rPr lang="hu-HU" dirty="0" err="1" smtClean="0"/>
              <a:t>token</a:t>
            </a:r>
            <a:r>
              <a:rPr lang="hu-HU" dirty="0" smtClean="0"/>
              <a:t> </a:t>
            </a:r>
            <a:r>
              <a:rPr lang="hu-HU" dirty="0" err="1" smtClean="0"/>
              <a:t>stands</a:t>
            </a:r>
            <a:r>
              <a:rPr lang="hu-HU" dirty="0" smtClean="0"/>
              <a:t> </a:t>
            </a:r>
            <a:r>
              <a:rPr lang="hu-HU" dirty="0" err="1" smtClean="0"/>
              <a:t>for</a:t>
            </a:r>
            <a:r>
              <a:rPr lang="hu-HU" dirty="0" smtClean="0"/>
              <a:t>.</a:t>
            </a:r>
          </a:p>
        </p:txBody>
      </p:sp>
    </p:spTree>
    <p:extLst>
      <p:ext uri="{BB962C8B-B14F-4D97-AF65-F5344CB8AC3E}">
        <p14:creationId xmlns:p14="http://schemas.microsoft.com/office/powerpoint/2010/main" val="28390412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a:t>Encoder</a:t>
            </a:r>
            <a:r>
              <a:rPr lang="hu-HU" dirty="0"/>
              <a:t> </a:t>
            </a:r>
            <a:r>
              <a:rPr lang="hu-HU" dirty="0" err="1"/>
              <a:t>Transformer</a:t>
            </a:r>
            <a:r>
              <a:rPr lang="hu-HU" dirty="0"/>
              <a:t> </a:t>
            </a:r>
            <a:r>
              <a:rPr lang="hu-HU" dirty="0" err="1"/>
              <a:t>Architecture</a:t>
            </a:r>
            <a:endParaRPr lang="en-GB" dirty="0"/>
          </a:p>
        </p:txBody>
      </p:sp>
      <p:sp>
        <p:nvSpPr>
          <p:cNvPr id="3" name="Tartalom helye 2"/>
          <p:cNvSpPr>
            <a:spLocks noGrp="1"/>
          </p:cNvSpPr>
          <p:nvPr>
            <p:ph idx="1"/>
          </p:nvPr>
        </p:nvSpPr>
        <p:spPr/>
        <p:txBody>
          <a:bodyPr>
            <a:normAutofit fontScale="55000" lnSpcReduction="20000"/>
          </a:bodyPr>
          <a:lstStyle/>
          <a:p>
            <a:r>
              <a:rPr lang="hu-HU" b="1" dirty="0" err="1" smtClean="0"/>
              <a:t>BERT</a:t>
            </a:r>
            <a:r>
              <a:rPr lang="hu-HU" dirty="0" smtClean="0"/>
              <a:t> </a:t>
            </a:r>
            <a:r>
              <a:rPr lang="hu-HU" dirty="0" err="1" smtClean="0"/>
              <a:t>family</a:t>
            </a:r>
            <a:r>
              <a:rPr lang="hu-HU" dirty="0" smtClean="0"/>
              <a:t> of </a:t>
            </a:r>
            <a:r>
              <a:rPr lang="hu-HU" dirty="0" err="1" smtClean="0"/>
              <a:t>models</a:t>
            </a:r>
            <a:endParaRPr lang="hu-HU" dirty="0" smtClean="0"/>
          </a:p>
          <a:p>
            <a:pPr lvl="1"/>
            <a:r>
              <a:rPr lang="hu-HU" dirty="0" err="1" smtClean="0"/>
              <a:t>Devlin</a:t>
            </a:r>
            <a:r>
              <a:rPr lang="hu-HU" dirty="0" smtClean="0"/>
              <a:t> et </a:t>
            </a:r>
            <a:r>
              <a:rPr lang="hu-HU" dirty="0" err="1" smtClean="0"/>
              <a:t>al</a:t>
            </a:r>
            <a:r>
              <a:rPr lang="hu-HU" dirty="0" smtClean="0"/>
              <a:t>., </a:t>
            </a:r>
            <a:r>
              <a:rPr lang="en-GB" i="1" dirty="0">
                <a:hlinkClick r:id="rId2"/>
              </a:rPr>
              <a:t>BERT: Pre-training of Deep Bidirectional Transformers for Language </a:t>
            </a:r>
            <a:r>
              <a:rPr lang="en-GB" i="1" dirty="0" smtClean="0">
                <a:hlinkClick r:id="rId2"/>
              </a:rPr>
              <a:t>Understanding</a:t>
            </a:r>
            <a:r>
              <a:rPr lang="hu-HU" i="1" dirty="0" smtClean="0"/>
              <a:t>, </a:t>
            </a:r>
            <a:r>
              <a:rPr lang="hu-HU" dirty="0" smtClean="0"/>
              <a:t>2018</a:t>
            </a:r>
          </a:p>
          <a:p>
            <a:pPr lvl="1"/>
            <a:r>
              <a:rPr lang="hu-HU" dirty="0" err="1" smtClean="0"/>
              <a:t>restricted</a:t>
            </a:r>
            <a:r>
              <a:rPr lang="hu-HU" dirty="0" smtClean="0"/>
              <a:t> </a:t>
            </a:r>
            <a:r>
              <a:rPr lang="hu-HU" dirty="0" err="1"/>
              <a:t>to</a:t>
            </a:r>
            <a:r>
              <a:rPr lang="hu-HU" dirty="0"/>
              <a:t> 500-token </a:t>
            </a:r>
            <a:r>
              <a:rPr lang="hu-HU" dirty="0" err="1"/>
              <a:t>context</a:t>
            </a:r>
            <a:r>
              <a:rPr lang="hu-HU" dirty="0"/>
              <a:t> </a:t>
            </a:r>
            <a:r>
              <a:rPr lang="hu-HU" dirty="0" err="1"/>
              <a:t>windows</a:t>
            </a:r>
            <a:endParaRPr lang="hu-HU" dirty="0"/>
          </a:p>
          <a:p>
            <a:pPr lvl="1"/>
            <a:r>
              <a:rPr lang="hu-HU" dirty="0" err="1"/>
              <a:t>longer</a:t>
            </a:r>
            <a:r>
              <a:rPr lang="hu-HU" dirty="0"/>
              <a:t> </a:t>
            </a:r>
            <a:r>
              <a:rPr lang="hu-HU" dirty="0" err="1"/>
              <a:t>contexts</a:t>
            </a:r>
            <a:r>
              <a:rPr lang="hu-HU" dirty="0"/>
              <a:t> had </a:t>
            </a:r>
            <a:r>
              <a:rPr lang="hu-HU" dirty="0" err="1"/>
              <a:t>to</a:t>
            </a:r>
            <a:r>
              <a:rPr lang="hu-HU" dirty="0"/>
              <a:t> be </a:t>
            </a:r>
            <a:r>
              <a:rPr lang="hu-HU" dirty="0" err="1"/>
              <a:t>truncated</a:t>
            </a:r>
            <a:r>
              <a:rPr lang="hu-HU" dirty="0"/>
              <a:t> </a:t>
            </a:r>
            <a:r>
              <a:rPr lang="hu-HU" dirty="0" err="1"/>
              <a:t>to</a:t>
            </a:r>
            <a:r>
              <a:rPr lang="hu-HU" dirty="0"/>
              <a:t> 500 </a:t>
            </a:r>
            <a:r>
              <a:rPr lang="hu-HU" dirty="0" err="1"/>
              <a:t>tokens</a:t>
            </a:r>
            <a:endParaRPr lang="hu-HU" dirty="0"/>
          </a:p>
          <a:p>
            <a:pPr lvl="1"/>
            <a:r>
              <a:rPr lang="hu-HU" dirty="0" err="1"/>
              <a:t>BERT-base</a:t>
            </a:r>
            <a:r>
              <a:rPr lang="hu-HU" dirty="0"/>
              <a:t>: N</a:t>
            </a:r>
            <a:r>
              <a:rPr lang="pt-BR" dirty="0"/>
              <a:t>=12, </a:t>
            </a:r>
            <a:r>
              <a:rPr lang="hu-HU" dirty="0"/>
              <a:t>k</a:t>
            </a:r>
            <a:r>
              <a:rPr lang="pt-BR" dirty="0"/>
              <a:t>=768, </a:t>
            </a:r>
            <a:r>
              <a:rPr lang="hu-HU" dirty="0"/>
              <a:t>h</a:t>
            </a:r>
            <a:r>
              <a:rPr lang="pt-BR" dirty="0"/>
              <a:t>=12, 110M </a:t>
            </a:r>
            <a:r>
              <a:rPr lang="hu-HU" dirty="0"/>
              <a:t>p</a:t>
            </a:r>
            <a:r>
              <a:rPr lang="pt-BR" dirty="0"/>
              <a:t>arameters</a:t>
            </a:r>
            <a:endParaRPr lang="hu-HU" dirty="0"/>
          </a:p>
          <a:p>
            <a:pPr lvl="1"/>
            <a:r>
              <a:rPr lang="hu-HU" dirty="0" err="1"/>
              <a:t>BERT-large</a:t>
            </a:r>
            <a:r>
              <a:rPr lang="hu-HU" dirty="0"/>
              <a:t>: N</a:t>
            </a:r>
            <a:r>
              <a:rPr lang="pt-BR" dirty="0"/>
              <a:t>=</a:t>
            </a:r>
            <a:r>
              <a:rPr lang="hu-HU" dirty="0"/>
              <a:t>24</a:t>
            </a:r>
            <a:r>
              <a:rPr lang="pt-BR" dirty="0"/>
              <a:t>, </a:t>
            </a:r>
            <a:r>
              <a:rPr lang="hu-HU" dirty="0"/>
              <a:t>k</a:t>
            </a:r>
            <a:r>
              <a:rPr lang="pt-BR" dirty="0"/>
              <a:t>=</a:t>
            </a:r>
            <a:r>
              <a:rPr lang="hu-HU" dirty="0"/>
              <a:t>1024</a:t>
            </a:r>
            <a:r>
              <a:rPr lang="pt-BR" dirty="0"/>
              <a:t>, </a:t>
            </a:r>
            <a:r>
              <a:rPr lang="hu-HU" dirty="0"/>
              <a:t>h</a:t>
            </a:r>
            <a:r>
              <a:rPr lang="pt-BR" dirty="0"/>
              <a:t>=1</a:t>
            </a:r>
            <a:r>
              <a:rPr lang="hu-HU" dirty="0"/>
              <a:t>6</a:t>
            </a:r>
            <a:r>
              <a:rPr lang="pt-BR" dirty="0"/>
              <a:t>, </a:t>
            </a:r>
            <a:r>
              <a:rPr lang="hu-HU" dirty="0"/>
              <a:t>340</a:t>
            </a:r>
            <a:r>
              <a:rPr lang="pt-BR" dirty="0"/>
              <a:t>M </a:t>
            </a:r>
            <a:r>
              <a:rPr lang="hu-HU" dirty="0"/>
              <a:t>p</a:t>
            </a:r>
            <a:r>
              <a:rPr lang="pt-BR" dirty="0" smtClean="0"/>
              <a:t>arameters</a:t>
            </a:r>
            <a:endParaRPr lang="hu-HU" dirty="0" smtClean="0"/>
          </a:p>
          <a:p>
            <a:pPr lvl="1"/>
            <a:r>
              <a:rPr lang="hu-HU" dirty="0" err="1" smtClean="0"/>
              <a:t>secondary</a:t>
            </a:r>
            <a:r>
              <a:rPr lang="hu-HU" dirty="0" smtClean="0"/>
              <a:t> </a:t>
            </a:r>
            <a:r>
              <a:rPr lang="hu-HU" dirty="0" err="1" smtClean="0"/>
              <a:t>pre-training</a:t>
            </a:r>
            <a:r>
              <a:rPr lang="hu-HU" dirty="0" smtClean="0"/>
              <a:t> </a:t>
            </a:r>
            <a:r>
              <a:rPr lang="hu-HU" dirty="0" err="1" smtClean="0"/>
              <a:t>task</a:t>
            </a:r>
            <a:r>
              <a:rPr lang="hu-HU" dirty="0" smtClean="0"/>
              <a:t>: </a:t>
            </a:r>
            <a:r>
              <a:rPr lang="hu-HU" dirty="0" err="1" smtClean="0"/>
              <a:t>next</a:t>
            </a:r>
            <a:r>
              <a:rPr lang="hu-HU" dirty="0" smtClean="0"/>
              <a:t> </a:t>
            </a:r>
            <a:r>
              <a:rPr lang="hu-HU" dirty="0" err="1" smtClean="0"/>
              <a:t>sentence</a:t>
            </a:r>
            <a:r>
              <a:rPr lang="hu-HU" dirty="0" smtClean="0"/>
              <a:t> </a:t>
            </a:r>
            <a:r>
              <a:rPr lang="hu-HU" dirty="0" err="1" smtClean="0"/>
              <a:t>prediction</a:t>
            </a:r>
            <a:endParaRPr lang="hu-HU" dirty="0" smtClean="0"/>
          </a:p>
          <a:p>
            <a:pPr lvl="2"/>
            <a:r>
              <a:rPr lang="hu-HU" dirty="0" err="1" smtClean="0"/>
              <a:t>context</a:t>
            </a:r>
            <a:r>
              <a:rPr lang="hu-HU" dirty="0" smtClean="0"/>
              <a:t> </a:t>
            </a:r>
            <a:r>
              <a:rPr lang="hu-HU" dirty="0" err="1" smtClean="0"/>
              <a:t>contains</a:t>
            </a:r>
            <a:r>
              <a:rPr lang="hu-HU" dirty="0" smtClean="0"/>
              <a:t> </a:t>
            </a:r>
            <a:r>
              <a:rPr lang="hu-HU" dirty="0" err="1" smtClean="0"/>
              <a:t>two</a:t>
            </a:r>
            <a:r>
              <a:rPr lang="hu-HU" dirty="0" smtClean="0"/>
              <a:t> </a:t>
            </a:r>
            <a:r>
              <a:rPr lang="hu-HU" dirty="0" err="1" smtClean="0"/>
              <a:t>sentences</a:t>
            </a:r>
            <a:r>
              <a:rPr lang="hu-HU" dirty="0" smtClean="0"/>
              <a:t>, </a:t>
            </a:r>
            <a:r>
              <a:rPr lang="hu-HU" dirty="0" err="1" smtClean="0"/>
              <a:t>separated</a:t>
            </a:r>
            <a:r>
              <a:rPr lang="hu-HU" dirty="0" smtClean="0"/>
              <a:t> </a:t>
            </a:r>
            <a:r>
              <a:rPr lang="hu-HU" dirty="0" err="1" smtClean="0"/>
              <a:t>by</a:t>
            </a:r>
            <a:r>
              <a:rPr lang="hu-HU" dirty="0" smtClean="0"/>
              <a:t> a </a:t>
            </a:r>
            <a:r>
              <a:rPr lang="hu-HU" dirty="0" err="1" smtClean="0"/>
              <a:t>special</a:t>
            </a:r>
            <a:r>
              <a:rPr lang="hu-HU" dirty="0" smtClean="0"/>
              <a:t> </a:t>
            </a:r>
            <a:r>
              <a:rPr lang="hu-HU" dirty="0" err="1" smtClean="0"/>
              <a:t>separator</a:t>
            </a:r>
            <a:r>
              <a:rPr lang="hu-HU" dirty="0" smtClean="0"/>
              <a:t> </a:t>
            </a:r>
            <a:r>
              <a:rPr lang="hu-HU" dirty="0" err="1" smtClean="0"/>
              <a:t>token</a:t>
            </a:r>
            <a:endParaRPr lang="hu-HU" dirty="0" smtClean="0"/>
          </a:p>
          <a:p>
            <a:pPr lvl="2"/>
            <a:r>
              <a:rPr lang="hu-HU" dirty="0" err="1" smtClean="0"/>
              <a:t>does</a:t>
            </a:r>
            <a:r>
              <a:rPr lang="hu-HU" dirty="0" smtClean="0"/>
              <a:t> </a:t>
            </a:r>
            <a:r>
              <a:rPr lang="hu-HU" dirty="0" err="1" smtClean="0"/>
              <a:t>the</a:t>
            </a:r>
            <a:r>
              <a:rPr lang="hu-HU" dirty="0" smtClean="0"/>
              <a:t> </a:t>
            </a:r>
            <a:r>
              <a:rPr lang="hu-HU" dirty="0" err="1" smtClean="0"/>
              <a:t>second</a:t>
            </a:r>
            <a:r>
              <a:rPr lang="hu-HU" dirty="0" smtClean="0"/>
              <a:t> </a:t>
            </a:r>
            <a:r>
              <a:rPr lang="hu-HU" dirty="0" err="1" smtClean="0"/>
              <a:t>sentence</a:t>
            </a:r>
            <a:r>
              <a:rPr lang="hu-HU" dirty="0" smtClean="0"/>
              <a:t> </a:t>
            </a:r>
            <a:r>
              <a:rPr lang="hu-HU" dirty="0" err="1" smtClean="0"/>
              <a:t>in</a:t>
            </a:r>
            <a:r>
              <a:rPr lang="hu-HU" dirty="0" smtClean="0"/>
              <a:t> </a:t>
            </a:r>
            <a:r>
              <a:rPr lang="hu-HU" dirty="0" err="1" smtClean="0"/>
              <a:t>fact</a:t>
            </a:r>
            <a:r>
              <a:rPr lang="hu-HU" dirty="0" smtClean="0"/>
              <a:t> </a:t>
            </a:r>
            <a:r>
              <a:rPr lang="hu-HU" dirty="0" err="1" smtClean="0"/>
              <a:t>come</a:t>
            </a:r>
            <a:r>
              <a:rPr lang="hu-HU" dirty="0" smtClean="0"/>
              <a:t> </a:t>
            </a:r>
            <a:r>
              <a:rPr lang="hu-HU" dirty="0" err="1" smtClean="0"/>
              <a:t>after</a:t>
            </a:r>
            <a:r>
              <a:rPr lang="hu-HU" dirty="0" smtClean="0"/>
              <a:t> </a:t>
            </a:r>
            <a:r>
              <a:rPr lang="hu-HU" dirty="0" err="1" smtClean="0"/>
              <a:t>the</a:t>
            </a:r>
            <a:r>
              <a:rPr lang="hu-HU" dirty="0" smtClean="0"/>
              <a:t> </a:t>
            </a:r>
            <a:r>
              <a:rPr lang="hu-HU" dirty="0" err="1" smtClean="0"/>
              <a:t>first</a:t>
            </a:r>
            <a:r>
              <a:rPr lang="hu-HU" dirty="0" smtClean="0"/>
              <a:t> </a:t>
            </a:r>
            <a:r>
              <a:rPr lang="hu-HU" dirty="0" err="1" smtClean="0"/>
              <a:t>sentence</a:t>
            </a:r>
            <a:r>
              <a:rPr lang="hu-HU" dirty="0"/>
              <a:t> </a:t>
            </a:r>
            <a:r>
              <a:rPr lang="hu-HU" dirty="0" err="1" smtClean="0"/>
              <a:t>in</a:t>
            </a:r>
            <a:r>
              <a:rPr lang="hu-HU" dirty="0" smtClean="0"/>
              <a:t> </a:t>
            </a:r>
            <a:r>
              <a:rPr lang="hu-HU" dirty="0" err="1" smtClean="0"/>
              <a:t>the</a:t>
            </a:r>
            <a:r>
              <a:rPr lang="hu-HU" dirty="0" smtClean="0"/>
              <a:t> corpus, </a:t>
            </a:r>
            <a:r>
              <a:rPr lang="hu-HU" dirty="0" err="1" smtClean="0"/>
              <a:t>or</a:t>
            </a:r>
            <a:r>
              <a:rPr lang="hu-HU" dirty="0" smtClean="0"/>
              <a:t> </a:t>
            </a:r>
            <a:r>
              <a:rPr lang="hu-HU" dirty="0" err="1" smtClean="0"/>
              <a:t>are</a:t>
            </a:r>
            <a:r>
              <a:rPr lang="hu-HU" dirty="0" smtClean="0"/>
              <a:t> </a:t>
            </a:r>
            <a:r>
              <a:rPr lang="hu-HU" dirty="0" err="1" smtClean="0"/>
              <a:t>they</a:t>
            </a:r>
            <a:r>
              <a:rPr lang="hu-HU" dirty="0" smtClean="0"/>
              <a:t> </a:t>
            </a:r>
            <a:r>
              <a:rPr lang="hu-HU" dirty="0" err="1" smtClean="0"/>
              <a:t>randomly</a:t>
            </a:r>
            <a:r>
              <a:rPr lang="hu-HU" dirty="0" smtClean="0"/>
              <a:t> </a:t>
            </a:r>
            <a:r>
              <a:rPr lang="hu-HU" dirty="0" err="1" smtClean="0"/>
              <a:t>paired</a:t>
            </a:r>
            <a:r>
              <a:rPr lang="hu-HU" dirty="0" smtClean="0"/>
              <a:t> (</a:t>
            </a:r>
            <a:r>
              <a:rPr lang="hu-HU" dirty="0" err="1" smtClean="0"/>
              <a:t>binary</a:t>
            </a:r>
            <a:r>
              <a:rPr lang="hu-HU" dirty="0" smtClean="0"/>
              <a:t> </a:t>
            </a:r>
            <a:r>
              <a:rPr lang="hu-HU" dirty="0" err="1" smtClean="0"/>
              <a:t>classification</a:t>
            </a:r>
            <a:r>
              <a:rPr lang="hu-HU" dirty="0" smtClean="0"/>
              <a:t>)</a:t>
            </a:r>
          </a:p>
          <a:p>
            <a:pPr lvl="1"/>
            <a:r>
              <a:rPr lang="hu-HU" dirty="0" err="1" smtClean="0"/>
              <a:t>pre-training</a:t>
            </a:r>
            <a:r>
              <a:rPr lang="hu-HU" dirty="0" smtClean="0"/>
              <a:t> </a:t>
            </a:r>
            <a:r>
              <a:rPr lang="hu-HU" dirty="0" err="1" smtClean="0"/>
              <a:t>just</a:t>
            </a:r>
            <a:r>
              <a:rPr lang="hu-HU" dirty="0" smtClean="0"/>
              <a:t> a </a:t>
            </a:r>
            <a:r>
              <a:rPr lang="hu-HU" dirty="0" err="1" smtClean="0"/>
              <a:t>BERT-base</a:t>
            </a:r>
            <a:r>
              <a:rPr lang="hu-HU" dirty="0" smtClean="0"/>
              <a:t> </a:t>
            </a:r>
            <a:r>
              <a:rPr lang="hu-HU" dirty="0" err="1" smtClean="0"/>
              <a:t>model</a:t>
            </a:r>
            <a:r>
              <a:rPr lang="hu-HU" dirty="0" smtClean="0"/>
              <a:t> </a:t>
            </a:r>
            <a:r>
              <a:rPr lang="hu-HU" b="1" dirty="0" err="1" smtClean="0"/>
              <a:t>takes</a:t>
            </a:r>
            <a:r>
              <a:rPr lang="hu-HU" b="1" dirty="0" smtClean="0"/>
              <a:t> </a:t>
            </a:r>
            <a:r>
              <a:rPr lang="hu-HU" b="1" dirty="0" err="1" smtClean="0"/>
              <a:t>several</a:t>
            </a:r>
            <a:r>
              <a:rPr lang="hu-HU" b="1" dirty="0" smtClean="0"/>
              <a:t> </a:t>
            </a:r>
            <a:r>
              <a:rPr lang="hu-HU" b="1" dirty="0" err="1" smtClean="0"/>
              <a:t>weeks</a:t>
            </a:r>
            <a:r>
              <a:rPr lang="hu-HU" b="1" dirty="0" smtClean="0"/>
              <a:t> </a:t>
            </a:r>
            <a:r>
              <a:rPr lang="hu-HU" b="1" dirty="0" err="1" smtClean="0"/>
              <a:t>on</a:t>
            </a:r>
            <a:r>
              <a:rPr lang="hu-HU" b="1" dirty="0" smtClean="0"/>
              <a:t> </a:t>
            </a:r>
            <a:r>
              <a:rPr lang="hu-HU" b="1" dirty="0" err="1" smtClean="0"/>
              <a:t>a</a:t>
            </a:r>
            <a:r>
              <a:rPr lang="hu-HU" b="1" dirty="0" smtClean="0"/>
              <a:t> </a:t>
            </a:r>
            <a:r>
              <a:rPr lang="hu-HU" b="1" dirty="0" err="1" smtClean="0"/>
              <a:t>single</a:t>
            </a:r>
            <a:r>
              <a:rPr lang="hu-HU" b="1" dirty="0" smtClean="0"/>
              <a:t> </a:t>
            </a:r>
            <a:r>
              <a:rPr lang="hu-HU" b="1" dirty="0" err="1" smtClean="0"/>
              <a:t>GPU</a:t>
            </a:r>
            <a:endParaRPr lang="hu-HU" b="1" dirty="0" smtClean="0"/>
          </a:p>
          <a:p>
            <a:r>
              <a:rPr lang="hu-HU" dirty="0" err="1" smtClean="0"/>
              <a:t>Many</a:t>
            </a:r>
            <a:r>
              <a:rPr lang="hu-HU" dirty="0" smtClean="0"/>
              <a:t> </a:t>
            </a:r>
            <a:r>
              <a:rPr lang="hu-HU" b="1" dirty="0" err="1" smtClean="0"/>
              <a:t>gradual</a:t>
            </a:r>
            <a:r>
              <a:rPr lang="hu-HU" b="1" dirty="0" smtClean="0"/>
              <a:t> </a:t>
            </a:r>
            <a:r>
              <a:rPr lang="hu-HU" b="1" dirty="0" err="1" smtClean="0"/>
              <a:t>improvements</a:t>
            </a:r>
            <a:r>
              <a:rPr lang="hu-HU" b="1" dirty="0" smtClean="0"/>
              <a:t> </a:t>
            </a:r>
            <a:r>
              <a:rPr lang="hu-HU" dirty="0" smtClean="0"/>
              <a:t>over </a:t>
            </a:r>
            <a:r>
              <a:rPr lang="hu-HU" dirty="0" err="1" smtClean="0"/>
              <a:t>time</a:t>
            </a:r>
            <a:endParaRPr lang="hu-HU" dirty="0" smtClean="0"/>
          </a:p>
          <a:p>
            <a:pPr lvl="1"/>
            <a:r>
              <a:rPr lang="hu-HU" dirty="0" err="1" smtClean="0"/>
              <a:t>current</a:t>
            </a:r>
            <a:r>
              <a:rPr lang="hu-HU" dirty="0" smtClean="0"/>
              <a:t> </a:t>
            </a:r>
            <a:r>
              <a:rPr lang="hu-HU" dirty="0" err="1" smtClean="0"/>
              <a:t>state-of-the-art</a:t>
            </a:r>
            <a:r>
              <a:rPr lang="hu-HU" dirty="0" smtClean="0"/>
              <a:t> </a:t>
            </a:r>
            <a:r>
              <a:rPr lang="hu-HU" dirty="0" err="1" smtClean="0"/>
              <a:t>encoder-only</a:t>
            </a:r>
            <a:r>
              <a:rPr lang="hu-HU" dirty="0" smtClean="0"/>
              <a:t> </a:t>
            </a:r>
            <a:r>
              <a:rPr lang="hu-HU" dirty="0" err="1" smtClean="0"/>
              <a:t>models</a:t>
            </a:r>
            <a:r>
              <a:rPr lang="hu-HU" dirty="0" smtClean="0"/>
              <a:t> </a:t>
            </a:r>
            <a:r>
              <a:rPr lang="hu-HU" dirty="0" err="1" smtClean="0"/>
              <a:t>in</a:t>
            </a:r>
            <a:r>
              <a:rPr lang="hu-HU" dirty="0" smtClean="0"/>
              <a:t> </a:t>
            </a:r>
            <a:r>
              <a:rPr lang="hu-HU" dirty="0" err="1" smtClean="0"/>
              <a:t>the</a:t>
            </a:r>
            <a:r>
              <a:rPr lang="hu-HU" dirty="0" smtClean="0"/>
              <a:t> </a:t>
            </a:r>
            <a:r>
              <a:rPr lang="hu-HU" dirty="0" err="1" smtClean="0"/>
              <a:t>BERT</a:t>
            </a:r>
            <a:r>
              <a:rPr lang="hu-HU" dirty="0" smtClean="0"/>
              <a:t> </a:t>
            </a:r>
            <a:r>
              <a:rPr lang="hu-HU" dirty="0" err="1" smtClean="0"/>
              <a:t>family</a:t>
            </a:r>
            <a:r>
              <a:rPr lang="hu-HU" dirty="0" smtClean="0"/>
              <a:t> </a:t>
            </a:r>
            <a:r>
              <a:rPr lang="hu-HU" dirty="0" err="1" smtClean="0"/>
              <a:t>include</a:t>
            </a:r>
            <a:r>
              <a:rPr lang="hu-HU" dirty="0" smtClean="0"/>
              <a:t> </a:t>
            </a:r>
            <a:r>
              <a:rPr lang="hu-HU" b="1" dirty="0" err="1" smtClean="0"/>
              <a:t>XLM-RoBERTa</a:t>
            </a:r>
            <a:r>
              <a:rPr lang="hu-HU" b="1" dirty="0" smtClean="0"/>
              <a:t> </a:t>
            </a:r>
            <a:r>
              <a:rPr lang="hu-HU" dirty="0" smtClean="0"/>
              <a:t>(2019) and </a:t>
            </a:r>
            <a:r>
              <a:rPr lang="hu-HU" b="1" dirty="0" smtClean="0"/>
              <a:t>Modern </a:t>
            </a:r>
            <a:r>
              <a:rPr lang="hu-HU" b="1" dirty="0" err="1" smtClean="0"/>
              <a:t>BERT</a:t>
            </a:r>
            <a:r>
              <a:rPr lang="hu-HU" b="1" dirty="0" smtClean="0"/>
              <a:t> </a:t>
            </a:r>
            <a:r>
              <a:rPr lang="hu-HU" dirty="0" smtClean="0"/>
              <a:t>(2024)</a:t>
            </a:r>
          </a:p>
          <a:p>
            <a:pPr lvl="1"/>
            <a:r>
              <a:rPr lang="hu-HU" dirty="0" err="1" smtClean="0"/>
              <a:t>better</a:t>
            </a:r>
            <a:r>
              <a:rPr lang="hu-HU" dirty="0" smtClean="0"/>
              <a:t> </a:t>
            </a:r>
            <a:r>
              <a:rPr lang="hu-HU" dirty="0" err="1" smtClean="0"/>
              <a:t>pre-training</a:t>
            </a:r>
            <a:r>
              <a:rPr lang="hu-HU" dirty="0" smtClean="0"/>
              <a:t> </a:t>
            </a:r>
            <a:r>
              <a:rPr lang="hu-HU" dirty="0" err="1" smtClean="0"/>
              <a:t>objectives</a:t>
            </a:r>
            <a:r>
              <a:rPr lang="hu-HU" dirty="0" smtClean="0"/>
              <a:t>, </a:t>
            </a:r>
            <a:r>
              <a:rPr lang="hu-HU" dirty="0" err="1" smtClean="0"/>
              <a:t>positional</a:t>
            </a:r>
            <a:r>
              <a:rPr lang="hu-HU" dirty="0" smtClean="0"/>
              <a:t> </a:t>
            </a:r>
            <a:r>
              <a:rPr lang="hu-HU" dirty="0" err="1" smtClean="0"/>
              <a:t>encodings</a:t>
            </a:r>
            <a:r>
              <a:rPr lang="hu-HU" dirty="0" smtClean="0"/>
              <a:t> (</a:t>
            </a:r>
            <a:r>
              <a:rPr lang="hu-HU" dirty="0" err="1" smtClean="0"/>
              <a:t>rotary</a:t>
            </a:r>
            <a:r>
              <a:rPr lang="hu-HU" dirty="0" smtClean="0"/>
              <a:t>)</a:t>
            </a:r>
          </a:p>
          <a:p>
            <a:pPr lvl="1"/>
            <a:r>
              <a:rPr lang="hu-HU" dirty="0" err="1" smtClean="0"/>
              <a:t>smart</a:t>
            </a:r>
            <a:r>
              <a:rPr lang="hu-HU" dirty="0" smtClean="0"/>
              <a:t> </a:t>
            </a:r>
            <a:r>
              <a:rPr lang="hu-HU" dirty="0" err="1" smtClean="0"/>
              <a:t>attention</a:t>
            </a:r>
            <a:r>
              <a:rPr lang="hu-HU" dirty="0" smtClean="0"/>
              <a:t> </a:t>
            </a:r>
            <a:r>
              <a:rPr lang="hu-HU" dirty="0" err="1"/>
              <a:t>hacks</a:t>
            </a:r>
            <a:r>
              <a:rPr lang="hu-HU" dirty="0"/>
              <a:t> </a:t>
            </a:r>
            <a:r>
              <a:rPr lang="hu-HU" dirty="0" err="1" smtClean="0"/>
              <a:t>allow</a:t>
            </a:r>
            <a:r>
              <a:rPr lang="hu-HU" dirty="0" smtClean="0"/>
              <a:t> </a:t>
            </a:r>
            <a:r>
              <a:rPr lang="hu-HU" dirty="0" err="1" smtClean="0"/>
              <a:t>for</a:t>
            </a:r>
            <a:r>
              <a:rPr lang="hu-HU" dirty="0" smtClean="0"/>
              <a:t> a </a:t>
            </a:r>
            <a:r>
              <a:rPr lang="hu-HU" dirty="0" err="1" smtClean="0"/>
              <a:t>much</a:t>
            </a:r>
            <a:r>
              <a:rPr lang="hu-HU" dirty="0" smtClean="0"/>
              <a:t> </a:t>
            </a:r>
            <a:r>
              <a:rPr lang="hu-HU" dirty="0" err="1" smtClean="0"/>
              <a:t>larger</a:t>
            </a:r>
            <a:r>
              <a:rPr lang="hu-HU" dirty="0" smtClean="0"/>
              <a:t> </a:t>
            </a:r>
            <a:r>
              <a:rPr lang="hu-HU" dirty="0" err="1" smtClean="0"/>
              <a:t>context</a:t>
            </a:r>
            <a:r>
              <a:rPr lang="hu-HU" dirty="0" smtClean="0"/>
              <a:t> </a:t>
            </a:r>
            <a:r>
              <a:rPr lang="hu-HU" dirty="0" err="1" smtClean="0"/>
              <a:t>window</a:t>
            </a:r>
            <a:r>
              <a:rPr lang="hu-HU" dirty="0" smtClean="0"/>
              <a:t> (8192 </a:t>
            </a:r>
            <a:r>
              <a:rPr lang="hu-HU" dirty="0" err="1" smtClean="0"/>
              <a:t>tokens</a:t>
            </a:r>
            <a:r>
              <a:rPr lang="hu-HU" dirty="0" smtClean="0"/>
              <a:t>)</a:t>
            </a:r>
          </a:p>
          <a:p>
            <a:pPr lvl="1"/>
            <a:r>
              <a:rPr lang="hu-HU" dirty="0" err="1" smtClean="0"/>
              <a:t>state-of-the-art</a:t>
            </a:r>
            <a:r>
              <a:rPr lang="hu-HU" dirty="0" smtClean="0"/>
              <a:t> </a:t>
            </a:r>
            <a:r>
              <a:rPr lang="hu-HU" dirty="0" err="1" smtClean="0"/>
              <a:t>BERT-like</a:t>
            </a:r>
            <a:r>
              <a:rPr lang="hu-HU" dirty="0" smtClean="0"/>
              <a:t> </a:t>
            </a:r>
            <a:r>
              <a:rPr lang="hu-HU" dirty="0" err="1" smtClean="0"/>
              <a:t>models</a:t>
            </a:r>
            <a:r>
              <a:rPr lang="hu-HU" dirty="0" smtClean="0"/>
              <a:t> </a:t>
            </a:r>
            <a:r>
              <a:rPr lang="hu-HU" dirty="0" err="1" smtClean="0"/>
              <a:t>are</a:t>
            </a:r>
            <a:r>
              <a:rPr lang="hu-HU" dirty="0" smtClean="0"/>
              <a:t> </a:t>
            </a:r>
            <a:r>
              <a:rPr lang="hu-HU" dirty="0" err="1" smtClean="0"/>
              <a:t>trained</a:t>
            </a:r>
            <a:r>
              <a:rPr lang="hu-HU" dirty="0" smtClean="0"/>
              <a:t> </a:t>
            </a:r>
            <a:r>
              <a:rPr lang="hu-HU" dirty="0" err="1" smtClean="0"/>
              <a:t>on</a:t>
            </a:r>
            <a:r>
              <a:rPr lang="hu-HU" dirty="0" smtClean="0"/>
              <a:t> </a:t>
            </a:r>
            <a:r>
              <a:rPr lang="hu-HU" dirty="0" err="1" smtClean="0"/>
              <a:t>huge</a:t>
            </a:r>
            <a:r>
              <a:rPr lang="hu-HU" dirty="0" smtClean="0"/>
              <a:t> </a:t>
            </a:r>
            <a:r>
              <a:rPr lang="hu-HU" dirty="0" err="1" smtClean="0"/>
              <a:t>multilingual</a:t>
            </a:r>
            <a:r>
              <a:rPr lang="hu-HU" dirty="0" smtClean="0"/>
              <a:t> </a:t>
            </a:r>
            <a:r>
              <a:rPr lang="hu-HU" dirty="0" err="1" smtClean="0"/>
              <a:t>corpora</a:t>
            </a:r>
            <a:r>
              <a:rPr lang="hu-HU" dirty="0" smtClean="0"/>
              <a:t> </a:t>
            </a:r>
            <a:r>
              <a:rPr lang="hu-HU" dirty="0" err="1" smtClean="0"/>
              <a:t>containing</a:t>
            </a:r>
            <a:r>
              <a:rPr lang="hu-HU" dirty="0" smtClean="0"/>
              <a:t> over 2 </a:t>
            </a:r>
            <a:r>
              <a:rPr lang="hu-HU" dirty="0" err="1" smtClean="0"/>
              <a:t>trillion</a:t>
            </a:r>
            <a:r>
              <a:rPr lang="hu-HU" dirty="0" smtClean="0"/>
              <a:t> </a:t>
            </a:r>
            <a:r>
              <a:rPr lang="hu-HU" dirty="0" err="1" smtClean="0"/>
              <a:t>tokens</a:t>
            </a:r>
            <a:endParaRPr lang="hu-HU" dirty="0" smtClean="0"/>
          </a:p>
        </p:txBody>
      </p:sp>
    </p:spTree>
    <p:extLst>
      <p:ext uri="{BB962C8B-B14F-4D97-AF65-F5344CB8AC3E}">
        <p14:creationId xmlns:p14="http://schemas.microsoft.com/office/powerpoint/2010/main" val="7058805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Autofit/>
          </a:bodyPr>
          <a:lstStyle/>
          <a:p>
            <a:r>
              <a:rPr lang="hu-HU" sz="3600" dirty="0" err="1" smtClean="0"/>
              <a:t>Decoder-only</a:t>
            </a:r>
            <a:r>
              <a:rPr lang="hu-HU" sz="3600" dirty="0" smtClean="0"/>
              <a:t> </a:t>
            </a:r>
            <a:r>
              <a:rPr lang="hu-HU" sz="3600" dirty="0" err="1" smtClean="0"/>
              <a:t>Transformer</a:t>
            </a:r>
            <a:r>
              <a:rPr lang="hu-HU" sz="3600" dirty="0" smtClean="0"/>
              <a:t> </a:t>
            </a:r>
            <a:r>
              <a:rPr lang="hu-HU" sz="3600" dirty="0" err="1" smtClean="0"/>
              <a:t>Architecture</a:t>
            </a:r>
            <a:endParaRPr lang="en-GB" sz="3600" dirty="0"/>
          </a:p>
        </p:txBody>
      </p:sp>
      <p:sp>
        <p:nvSpPr>
          <p:cNvPr id="3" name="Tartalom helye 2"/>
          <p:cNvSpPr>
            <a:spLocks noGrp="1"/>
          </p:cNvSpPr>
          <p:nvPr>
            <p:ph idx="1"/>
          </p:nvPr>
        </p:nvSpPr>
        <p:spPr/>
        <p:txBody>
          <a:bodyPr>
            <a:normAutofit fontScale="70000" lnSpcReduction="20000"/>
          </a:bodyPr>
          <a:lstStyle/>
          <a:p>
            <a:r>
              <a:rPr lang="hu-HU" dirty="0" smtClean="0"/>
              <a:t>Most </a:t>
            </a:r>
            <a:r>
              <a:rPr lang="hu-HU" dirty="0" err="1" smtClean="0"/>
              <a:t>famous</a:t>
            </a:r>
            <a:r>
              <a:rPr lang="hu-HU" dirty="0" smtClean="0"/>
              <a:t> </a:t>
            </a:r>
            <a:r>
              <a:rPr lang="hu-HU" dirty="0" err="1" smtClean="0"/>
              <a:t>example</a:t>
            </a:r>
            <a:r>
              <a:rPr lang="hu-HU" dirty="0" smtClean="0"/>
              <a:t>: </a:t>
            </a:r>
            <a:r>
              <a:rPr lang="hu-HU" b="1" dirty="0" err="1" smtClean="0"/>
              <a:t>GPT</a:t>
            </a:r>
            <a:r>
              <a:rPr lang="hu-HU" b="1" dirty="0" smtClean="0"/>
              <a:t> </a:t>
            </a:r>
            <a:r>
              <a:rPr lang="hu-HU" dirty="0" err="1" smtClean="0"/>
              <a:t>family</a:t>
            </a:r>
            <a:r>
              <a:rPr lang="hu-HU" dirty="0" smtClean="0"/>
              <a:t> of </a:t>
            </a:r>
            <a:r>
              <a:rPr lang="hu-HU" dirty="0" err="1" smtClean="0"/>
              <a:t>generative</a:t>
            </a:r>
            <a:r>
              <a:rPr lang="hu-HU" dirty="0" smtClean="0"/>
              <a:t> </a:t>
            </a:r>
            <a:r>
              <a:rPr lang="hu-HU" dirty="0" err="1" smtClean="0"/>
              <a:t>language</a:t>
            </a:r>
            <a:r>
              <a:rPr lang="hu-HU" dirty="0" smtClean="0"/>
              <a:t> </a:t>
            </a:r>
            <a:r>
              <a:rPr lang="hu-HU" dirty="0" err="1" smtClean="0"/>
              <a:t>models</a:t>
            </a:r>
            <a:r>
              <a:rPr lang="hu-HU" dirty="0" smtClean="0"/>
              <a:t>.</a:t>
            </a:r>
          </a:p>
          <a:p>
            <a:r>
              <a:rPr lang="hu-HU" b="1" dirty="0" err="1" smtClean="0"/>
              <a:t>Decoder-only</a:t>
            </a:r>
            <a:r>
              <a:rPr lang="hu-HU" b="1" dirty="0" smtClean="0"/>
              <a:t> </a:t>
            </a:r>
            <a:r>
              <a:rPr lang="hu-HU" dirty="0" err="1" smtClean="0"/>
              <a:t>means</a:t>
            </a:r>
            <a:r>
              <a:rPr lang="hu-HU" dirty="0" smtClean="0"/>
              <a:t> </a:t>
            </a:r>
            <a:r>
              <a:rPr lang="hu-HU" dirty="0" err="1" smtClean="0"/>
              <a:t>that</a:t>
            </a:r>
            <a:r>
              <a:rPr lang="hu-HU" dirty="0" smtClean="0"/>
              <a:t> </a:t>
            </a:r>
            <a:r>
              <a:rPr lang="hu-HU" dirty="0" err="1" smtClean="0"/>
              <a:t>the</a:t>
            </a:r>
            <a:r>
              <a:rPr lang="hu-HU" dirty="0" smtClean="0"/>
              <a:t> </a:t>
            </a:r>
            <a:r>
              <a:rPr lang="hu-HU" dirty="0" err="1" smtClean="0"/>
              <a:t>left</a:t>
            </a:r>
            <a:r>
              <a:rPr lang="hu-HU" dirty="0" smtClean="0"/>
              <a:t>, </a:t>
            </a:r>
            <a:r>
              <a:rPr lang="hu-HU" dirty="0" err="1" smtClean="0"/>
              <a:t>encoder</a:t>
            </a:r>
            <a:r>
              <a:rPr lang="hu-HU" dirty="0" smtClean="0"/>
              <a:t> </a:t>
            </a:r>
            <a:r>
              <a:rPr lang="hu-HU" dirty="0" err="1" smtClean="0"/>
              <a:t>half</a:t>
            </a:r>
            <a:r>
              <a:rPr lang="hu-HU" dirty="0" smtClean="0"/>
              <a:t> of </a:t>
            </a:r>
            <a:r>
              <a:rPr lang="hu-HU" dirty="0" err="1" smtClean="0"/>
              <a:t>the</a:t>
            </a:r>
            <a:r>
              <a:rPr lang="hu-HU" dirty="0" smtClean="0"/>
              <a:t> </a:t>
            </a:r>
            <a:r>
              <a:rPr lang="hu-HU" dirty="0" err="1" smtClean="0"/>
              <a:t>original</a:t>
            </a:r>
            <a:r>
              <a:rPr lang="hu-HU" dirty="0" smtClean="0"/>
              <a:t> </a:t>
            </a:r>
            <a:r>
              <a:rPr lang="hu-HU" dirty="0" err="1" smtClean="0"/>
              <a:t>transformer</a:t>
            </a:r>
            <a:r>
              <a:rPr lang="hu-HU" dirty="0" smtClean="0"/>
              <a:t> </a:t>
            </a:r>
            <a:r>
              <a:rPr lang="hu-HU" dirty="0" err="1" smtClean="0"/>
              <a:t>architecture</a:t>
            </a:r>
            <a:r>
              <a:rPr lang="hu-HU" dirty="0" smtClean="0"/>
              <a:t> is </a:t>
            </a:r>
            <a:r>
              <a:rPr lang="hu-HU" dirty="0" err="1" smtClean="0"/>
              <a:t>dropped</a:t>
            </a:r>
            <a:r>
              <a:rPr lang="hu-HU" dirty="0" smtClean="0"/>
              <a:t>.</a:t>
            </a:r>
          </a:p>
          <a:p>
            <a:pPr lvl="1"/>
            <a:r>
              <a:rPr lang="hu-HU" dirty="0" smtClean="0"/>
              <a:t>The right </a:t>
            </a:r>
            <a:r>
              <a:rPr lang="hu-HU" dirty="0" err="1" smtClean="0"/>
              <a:t>half</a:t>
            </a:r>
            <a:r>
              <a:rPr lang="hu-HU" dirty="0" smtClean="0"/>
              <a:t> is an </a:t>
            </a:r>
            <a:r>
              <a:rPr lang="hu-HU" dirty="0" err="1" smtClean="0"/>
              <a:t>autoregressive</a:t>
            </a:r>
            <a:r>
              <a:rPr lang="hu-HU" dirty="0" smtClean="0"/>
              <a:t> </a:t>
            </a:r>
            <a:r>
              <a:rPr lang="hu-HU" dirty="0" err="1" smtClean="0"/>
              <a:t>generator</a:t>
            </a:r>
            <a:r>
              <a:rPr lang="hu-HU" dirty="0" smtClean="0"/>
              <a:t> </a:t>
            </a:r>
            <a:r>
              <a:rPr lang="hu-HU" dirty="0" err="1" smtClean="0"/>
              <a:t>model</a:t>
            </a:r>
            <a:r>
              <a:rPr lang="hu-HU" dirty="0" smtClean="0"/>
              <a:t>.</a:t>
            </a:r>
          </a:p>
          <a:p>
            <a:pPr lvl="1"/>
            <a:r>
              <a:rPr lang="hu-HU" dirty="0" err="1" smtClean="0"/>
              <a:t>Since</a:t>
            </a:r>
            <a:r>
              <a:rPr lang="hu-HU" dirty="0" smtClean="0"/>
              <a:t> </a:t>
            </a:r>
            <a:r>
              <a:rPr lang="hu-HU" dirty="0" err="1" smtClean="0"/>
              <a:t>there</a:t>
            </a:r>
            <a:r>
              <a:rPr lang="hu-HU" dirty="0" smtClean="0"/>
              <a:t> is no </a:t>
            </a:r>
            <a:r>
              <a:rPr lang="hu-HU" dirty="0" err="1" smtClean="0"/>
              <a:t>encoder</a:t>
            </a:r>
            <a:r>
              <a:rPr lang="hu-HU" dirty="0" smtClean="0"/>
              <a:t> </a:t>
            </a:r>
            <a:r>
              <a:rPr lang="hu-HU" dirty="0" err="1" smtClean="0"/>
              <a:t>to</a:t>
            </a:r>
            <a:r>
              <a:rPr lang="hu-HU" dirty="0" smtClean="0"/>
              <a:t> </a:t>
            </a:r>
            <a:r>
              <a:rPr lang="hu-HU" dirty="0" err="1" smtClean="0"/>
              <a:t>attend</a:t>
            </a:r>
            <a:r>
              <a:rPr lang="hu-HU" dirty="0" smtClean="0"/>
              <a:t> </a:t>
            </a:r>
            <a:r>
              <a:rPr lang="hu-HU" dirty="0" err="1" smtClean="0"/>
              <a:t>to</a:t>
            </a:r>
            <a:r>
              <a:rPr lang="hu-HU" dirty="0" smtClean="0"/>
              <a:t>, </a:t>
            </a:r>
            <a:r>
              <a:rPr lang="hu-HU" dirty="0" err="1" smtClean="0"/>
              <a:t>the</a:t>
            </a:r>
            <a:r>
              <a:rPr lang="hu-HU" dirty="0" smtClean="0"/>
              <a:t> </a:t>
            </a:r>
            <a:r>
              <a:rPr lang="hu-HU" dirty="0" err="1" smtClean="0"/>
              <a:t>encoder-decoder</a:t>
            </a:r>
            <a:r>
              <a:rPr lang="hu-HU" dirty="0" smtClean="0"/>
              <a:t> </a:t>
            </a:r>
            <a:r>
              <a:rPr lang="hu-HU" dirty="0" err="1" smtClean="0"/>
              <a:t>attention</a:t>
            </a:r>
            <a:r>
              <a:rPr lang="hu-HU" dirty="0" smtClean="0"/>
              <a:t> </a:t>
            </a:r>
            <a:r>
              <a:rPr lang="hu-HU" dirty="0" err="1" smtClean="0"/>
              <a:t>layer</a:t>
            </a:r>
            <a:r>
              <a:rPr lang="hu-HU" dirty="0" smtClean="0"/>
              <a:t> is </a:t>
            </a:r>
            <a:r>
              <a:rPr lang="hu-HU" dirty="0" err="1" smtClean="0"/>
              <a:t>also</a:t>
            </a:r>
            <a:r>
              <a:rPr lang="hu-HU" dirty="0" smtClean="0"/>
              <a:t> </a:t>
            </a:r>
            <a:r>
              <a:rPr lang="hu-HU" dirty="0" err="1" smtClean="0"/>
              <a:t>removed</a:t>
            </a:r>
            <a:r>
              <a:rPr lang="hu-HU" dirty="0" smtClean="0"/>
              <a:t>.</a:t>
            </a:r>
          </a:p>
          <a:p>
            <a:pPr lvl="1"/>
            <a:r>
              <a:rPr lang="hu-HU" dirty="0" err="1" smtClean="0"/>
              <a:t>What</a:t>
            </a:r>
            <a:r>
              <a:rPr lang="hu-HU" dirty="0" smtClean="0"/>
              <a:t> </a:t>
            </a:r>
            <a:r>
              <a:rPr lang="hu-HU" dirty="0" err="1" smtClean="0"/>
              <a:t>remains</a:t>
            </a:r>
            <a:r>
              <a:rPr lang="hu-HU" dirty="0" smtClean="0"/>
              <a:t> is a </a:t>
            </a:r>
            <a:r>
              <a:rPr lang="hu-HU" dirty="0" err="1" smtClean="0"/>
              <a:t>generator</a:t>
            </a:r>
            <a:r>
              <a:rPr lang="hu-HU" dirty="0" smtClean="0"/>
              <a:t> </a:t>
            </a:r>
            <a:r>
              <a:rPr lang="hu-HU" dirty="0" err="1" smtClean="0"/>
              <a:t>with</a:t>
            </a:r>
            <a:r>
              <a:rPr lang="hu-HU" dirty="0" smtClean="0"/>
              <a:t> </a:t>
            </a:r>
            <a:r>
              <a:rPr lang="hu-HU" dirty="0" err="1" smtClean="0"/>
              <a:t>only</a:t>
            </a:r>
            <a:r>
              <a:rPr lang="hu-HU" dirty="0" smtClean="0"/>
              <a:t> </a:t>
            </a:r>
            <a:r>
              <a:rPr lang="hu-HU" dirty="0" err="1" smtClean="0"/>
              <a:t>self-attention</a:t>
            </a:r>
            <a:r>
              <a:rPr lang="hu-HU" dirty="0" smtClean="0"/>
              <a:t> </a:t>
            </a:r>
            <a:r>
              <a:rPr lang="hu-HU" dirty="0" err="1" smtClean="0"/>
              <a:t>that</a:t>
            </a:r>
            <a:r>
              <a:rPr lang="hu-HU" dirty="0" smtClean="0"/>
              <a:t> </a:t>
            </a:r>
            <a:r>
              <a:rPr lang="hu-HU" dirty="0" err="1" smtClean="0"/>
              <a:t>predicts</a:t>
            </a:r>
            <a:r>
              <a:rPr lang="hu-HU" dirty="0" smtClean="0"/>
              <a:t> </a:t>
            </a:r>
            <a:r>
              <a:rPr lang="hu-HU" dirty="0" err="1" smtClean="0"/>
              <a:t>the</a:t>
            </a:r>
            <a:r>
              <a:rPr lang="hu-HU" dirty="0" smtClean="0"/>
              <a:t> </a:t>
            </a:r>
            <a:r>
              <a:rPr lang="hu-HU" dirty="0" err="1" smtClean="0"/>
              <a:t>softmax</a:t>
            </a:r>
            <a:r>
              <a:rPr lang="hu-HU" dirty="0" smtClean="0"/>
              <a:t> </a:t>
            </a:r>
            <a:r>
              <a:rPr lang="hu-HU" dirty="0" err="1" smtClean="0"/>
              <a:t>probability</a:t>
            </a:r>
            <a:r>
              <a:rPr lang="hu-HU" dirty="0" smtClean="0"/>
              <a:t> </a:t>
            </a:r>
            <a:r>
              <a:rPr lang="hu-HU" dirty="0" err="1" smtClean="0"/>
              <a:t>distribution</a:t>
            </a:r>
            <a:r>
              <a:rPr lang="hu-HU" dirty="0" smtClean="0"/>
              <a:t> of </a:t>
            </a:r>
            <a:r>
              <a:rPr lang="hu-HU" dirty="0" err="1" smtClean="0"/>
              <a:t>the</a:t>
            </a:r>
            <a:r>
              <a:rPr lang="hu-HU" dirty="0" smtClean="0"/>
              <a:t> </a:t>
            </a:r>
            <a:r>
              <a:rPr lang="hu-HU" dirty="0" err="1" smtClean="0"/>
              <a:t>next</a:t>
            </a:r>
            <a:r>
              <a:rPr lang="hu-HU" dirty="0" smtClean="0"/>
              <a:t> </a:t>
            </a:r>
            <a:r>
              <a:rPr lang="hu-HU" dirty="0" err="1" smtClean="0"/>
              <a:t>token</a:t>
            </a:r>
            <a:r>
              <a:rPr lang="hu-HU" dirty="0" smtClean="0"/>
              <a:t> (</a:t>
            </a:r>
            <a:r>
              <a:rPr lang="hu-HU" dirty="0" err="1" smtClean="0"/>
              <a:t>often</a:t>
            </a:r>
            <a:r>
              <a:rPr lang="hu-HU" dirty="0" smtClean="0"/>
              <a:t> </a:t>
            </a:r>
            <a:r>
              <a:rPr lang="hu-HU" dirty="0" err="1" smtClean="0"/>
              <a:t>referred</a:t>
            </a:r>
            <a:r>
              <a:rPr lang="hu-HU" dirty="0" smtClean="0"/>
              <a:t> </a:t>
            </a:r>
            <a:r>
              <a:rPr lang="hu-HU" dirty="0" err="1" smtClean="0"/>
              <a:t>to</a:t>
            </a:r>
            <a:r>
              <a:rPr lang="hu-HU" dirty="0" smtClean="0"/>
              <a:t> </a:t>
            </a:r>
            <a:r>
              <a:rPr lang="hu-HU" dirty="0" err="1" smtClean="0"/>
              <a:t>as</a:t>
            </a:r>
            <a:r>
              <a:rPr lang="hu-HU" dirty="0" smtClean="0"/>
              <a:t> </a:t>
            </a:r>
            <a:r>
              <a:rPr lang="hu-HU" dirty="0" err="1" smtClean="0"/>
              <a:t>the</a:t>
            </a:r>
            <a:r>
              <a:rPr lang="hu-HU" dirty="0" smtClean="0"/>
              <a:t> </a:t>
            </a:r>
            <a:r>
              <a:rPr lang="hu-HU" b="1" dirty="0" err="1" smtClean="0"/>
              <a:t>continuation</a:t>
            </a:r>
            <a:r>
              <a:rPr lang="hu-HU" dirty="0" smtClean="0"/>
              <a:t>) </a:t>
            </a:r>
            <a:r>
              <a:rPr lang="hu-HU" dirty="0" err="1" smtClean="0"/>
              <a:t>based</a:t>
            </a:r>
            <a:r>
              <a:rPr lang="hu-HU" dirty="0" smtClean="0"/>
              <a:t> </a:t>
            </a:r>
            <a:r>
              <a:rPr lang="hu-HU" dirty="0" err="1" smtClean="0"/>
              <a:t>on</a:t>
            </a:r>
            <a:r>
              <a:rPr lang="hu-HU" dirty="0" smtClean="0"/>
              <a:t> </a:t>
            </a:r>
            <a:r>
              <a:rPr lang="hu-HU" dirty="0" err="1" smtClean="0"/>
              <a:t>the</a:t>
            </a:r>
            <a:r>
              <a:rPr lang="hu-HU" dirty="0" smtClean="0"/>
              <a:t> </a:t>
            </a:r>
            <a:r>
              <a:rPr lang="hu-HU" dirty="0" err="1" smtClean="0"/>
              <a:t>preceding</a:t>
            </a:r>
            <a:r>
              <a:rPr lang="hu-HU" dirty="0" smtClean="0"/>
              <a:t> </a:t>
            </a:r>
            <a:r>
              <a:rPr lang="hu-HU" dirty="0" err="1" smtClean="0"/>
              <a:t>context</a:t>
            </a:r>
            <a:r>
              <a:rPr lang="hu-HU" dirty="0" smtClean="0"/>
              <a:t>.</a:t>
            </a:r>
          </a:p>
          <a:p>
            <a:pPr lvl="1"/>
            <a:r>
              <a:rPr lang="en-GB" dirty="0" smtClean="0"/>
              <a:t>"</a:t>
            </a:r>
            <a:r>
              <a:rPr lang="hu-HU" dirty="0" err="1" smtClean="0"/>
              <a:t>Decoder-only</a:t>
            </a:r>
            <a:r>
              <a:rPr lang="en-GB" dirty="0" smtClean="0"/>
              <a:t>"</a:t>
            </a:r>
            <a:r>
              <a:rPr lang="hu-HU" dirty="0" smtClean="0"/>
              <a:t> is a </a:t>
            </a:r>
            <a:r>
              <a:rPr lang="hu-HU" dirty="0" err="1" smtClean="0"/>
              <a:t>quite</a:t>
            </a:r>
            <a:r>
              <a:rPr lang="hu-HU" dirty="0" smtClean="0"/>
              <a:t> </a:t>
            </a:r>
            <a:r>
              <a:rPr lang="hu-HU" dirty="0" err="1" smtClean="0"/>
              <a:t>misleading</a:t>
            </a:r>
            <a:r>
              <a:rPr lang="hu-HU" dirty="0" smtClean="0"/>
              <a:t> </a:t>
            </a:r>
            <a:r>
              <a:rPr lang="hu-HU" dirty="0" err="1" smtClean="0"/>
              <a:t>description</a:t>
            </a:r>
            <a:r>
              <a:rPr lang="hu-HU" dirty="0" smtClean="0"/>
              <a:t>, </a:t>
            </a:r>
            <a:r>
              <a:rPr lang="hu-HU" dirty="0" err="1" smtClean="0"/>
              <a:t>as</a:t>
            </a:r>
            <a:r>
              <a:rPr lang="hu-HU" dirty="0" smtClean="0"/>
              <a:t> </a:t>
            </a:r>
            <a:r>
              <a:rPr lang="hu-HU" dirty="0" err="1" smtClean="0"/>
              <a:t>the</a:t>
            </a:r>
            <a:r>
              <a:rPr lang="hu-HU" dirty="0" smtClean="0"/>
              <a:t> </a:t>
            </a:r>
            <a:r>
              <a:rPr lang="hu-HU" dirty="0" err="1" smtClean="0"/>
              <a:t>preceding</a:t>
            </a:r>
            <a:r>
              <a:rPr lang="hu-HU" dirty="0" smtClean="0"/>
              <a:t> </a:t>
            </a:r>
            <a:r>
              <a:rPr lang="hu-HU" dirty="0" err="1" smtClean="0"/>
              <a:t>context</a:t>
            </a:r>
            <a:r>
              <a:rPr lang="hu-HU" dirty="0" smtClean="0"/>
              <a:t> is </a:t>
            </a:r>
            <a:r>
              <a:rPr lang="hu-HU" dirty="0" err="1" smtClean="0"/>
              <a:t>still</a:t>
            </a:r>
            <a:r>
              <a:rPr lang="hu-HU" dirty="0" smtClean="0"/>
              <a:t> </a:t>
            </a:r>
            <a:r>
              <a:rPr lang="hu-HU" dirty="0" err="1" smtClean="0"/>
              <a:t>encoded</a:t>
            </a:r>
            <a:r>
              <a:rPr lang="hu-HU" dirty="0" smtClean="0"/>
              <a:t>, </a:t>
            </a:r>
            <a:r>
              <a:rPr lang="hu-HU" dirty="0" err="1" smtClean="0"/>
              <a:t>like</a:t>
            </a:r>
            <a:r>
              <a:rPr lang="hu-HU" dirty="0" smtClean="0"/>
              <a:t> </a:t>
            </a:r>
            <a:r>
              <a:rPr lang="hu-HU" dirty="0" err="1" smtClean="0"/>
              <a:t>in</a:t>
            </a:r>
            <a:r>
              <a:rPr lang="hu-HU" dirty="0" smtClean="0"/>
              <a:t> an </a:t>
            </a:r>
            <a:r>
              <a:rPr lang="hu-HU" dirty="0" err="1" smtClean="0"/>
              <a:t>encoder-only</a:t>
            </a:r>
            <a:r>
              <a:rPr lang="hu-HU" dirty="0" smtClean="0"/>
              <a:t> </a:t>
            </a:r>
            <a:r>
              <a:rPr lang="hu-HU" dirty="0" err="1" smtClean="0"/>
              <a:t>transformer</a:t>
            </a:r>
            <a:endParaRPr lang="hu-HU" dirty="0" smtClean="0"/>
          </a:p>
          <a:p>
            <a:pPr lvl="2"/>
            <a:r>
              <a:rPr lang="hu-HU" dirty="0" err="1" smtClean="0"/>
              <a:t>if</a:t>
            </a:r>
            <a:r>
              <a:rPr lang="hu-HU" dirty="0" smtClean="0"/>
              <a:t> </a:t>
            </a:r>
            <a:r>
              <a:rPr lang="hu-HU" dirty="0" err="1" smtClean="0"/>
              <a:t>anything</a:t>
            </a:r>
            <a:r>
              <a:rPr lang="hu-HU" dirty="0" smtClean="0"/>
              <a:t>, </a:t>
            </a:r>
            <a:r>
              <a:rPr lang="hu-HU" dirty="0" err="1" smtClean="0"/>
              <a:t>it</a:t>
            </a:r>
            <a:r>
              <a:rPr lang="hu-HU" dirty="0" smtClean="0"/>
              <a:t> is </a:t>
            </a:r>
            <a:r>
              <a:rPr lang="hu-HU" dirty="0" err="1" smtClean="0"/>
              <a:t>in</a:t>
            </a:r>
            <a:r>
              <a:rPr lang="hu-HU" dirty="0" smtClean="0"/>
              <a:t> a </a:t>
            </a:r>
            <a:r>
              <a:rPr lang="hu-HU" dirty="0" err="1" smtClean="0"/>
              <a:t>proper</a:t>
            </a:r>
            <a:r>
              <a:rPr lang="hu-HU" dirty="0" smtClean="0"/>
              <a:t> </a:t>
            </a:r>
            <a:r>
              <a:rPr lang="hu-HU" dirty="0" err="1" smtClean="0"/>
              <a:t>sense</a:t>
            </a:r>
            <a:r>
              <a:rPr lang="hu-HU" dirty="0" smtClean="0"/>
              <a:t> more </a:t>
            </a:r>
            <a:r>
              <a:rPr lang="hu-HU" dirty="0" err="1" smtClean="0"/>
              <a:t>like</a:t>
            </a:r>
            <a:r>
              <a:rPr lang="hu-HU" dirty="0" smtClean="0"/>
              <a:t> an </a:t>
            </a:r>
            <a:r>
              <a:rPr lang="hu-HU" dirty="0" err="1" smtClean="0"/>
              <a:t>encoder-only</a:t>
            </a:r>
            <a:r>
              <a:rPr lang="hu-HU" dirty="0" smtClean="0"/>
              <a:t> </a:t>
            </a:r>
            <a:r>
              <a:rPr lang="hu-HU" dirty="0" err="1" smtClean="0"/>
              <a:t>model</a:t>
            </a:r>
            <a:r>
              <a:rPr lang="hu-HU" dirty="0" smtClean="0"/>
              <a:t> </a:t>
            </a:r>
            <a:r>
              <a:rPr lang="hu-HU" dirty="0" err="1" smtClean="0"/>
              <a:t>with</a:t>
            </a:r>
            <a:r>
              <a:rPr lang="hu-HU" dirty="0" smtClean="0"/>
              <a:t> a </a:t>
            </a:r>
            <a:r>
              <a:rPr lang="hu-HU" dirty="0" err="1" smtClean="0"/>
              <a:t>single</a:t>
            </a:r>
            <a:r>
              <a:rPr lang="hu-HU" dirty="0" smtClean="0"/>
              <a:t> </a:t>
            </a:r>
            <a:r>
              <a:rPr lang="hu-HU" dirty="0" err="1" smtClean="0"/>
              <a:t>softmax</a:t>
            </a:r>
            <a:r>
              <a:rPr lang="hu-HU" dirty="0" smtClean="0"/>
              <a:t> </a:t>
            </a:r>
            <a:r>
              <a:rPr lang="hu-HU" dirty="0" err="1" smtClean="0"/>
              <a:t>layer</a:t>
            </a:r>
            <a:r>
              <a:rPr lang="hu-HU" dirty="0" smtClean="0"/>
              <a:t> </a:t>
            </a:r>
            <a:r>
              <a:rPr lang="hu-HU" dirty="0" err="1" smtClean="0"/>
              <a:t>attached</a:t>
            </a:r>
            <a:r>
              <a:rPr lang="hu-HU" dirty="0" smtClean="0"/>
              <a:t> </a:t>
            </a:r>
            <a:r>
              <a:rPr lang="hu-HU" dirty="0" err="1" smtClean="0"/>
              <a:t>to</a:t>
            </a:r>
            <a:r>
              <a:rPr lang="hu-HU" dirty="0" smtClean="0"/>
              <a:t> </a:t>
            </a:r>
            <a:r>
              <a:rPr lang="hu-HU" dirty="0" err="1" smtClean="0"/>
              <a:t>the</a:t>
            </a:r>
            <a:r>
              <a:rPr lang="hu-HU" dirty="0" smtClean="0"/>
              <a:t> </a:t>
            </a:r>
            <a:r>
              <a:rPr lang="hu-HU" dirty="0" err="1" smtClean="0"/>
              <a:t>final</a:t>
            </a:r>
            <a:r>
              <a:rPr lang="hu-HU" dirty="0" smtClean="0"/>
              <a:t>, </a:t>
            </a:r>
            <a:r>
              <a:rPr lang="hu-HU" dirty="0" err="1" smtClean="0"/>
              <a:t>masked</a:t>
            </a:r>
            <a:r>
              <a:rPr lang="hu-HU" dirty="0" smtClean="0"/>
              <a:t> </a:t>
            </a:r>
            <a:r>
              <a:rPr lang="hu-HU" dirty="0" err="1" smtClean="0"/>
              <a:t>token</a:t>
            </a:r>
            <a:endParaRPr lang="hu-HU" dirty="0" smtClean="0"/>
          </a:p>
          <a:p>
            <a:pPr lvl="2"/>
            <a:r>
              <a:rPr lang="hu-HU" dirty="0" err="1" smtClean="0"/>
              <a:t>regardless</a:t>
            </a:r>
            <a:r>
              <a:rPr lang="hu-HU" dirty="0" smtClean="0"/>
              <a:t>, </a:t>
            </a:r>
            <a:r>
              <a:rPr lang="hu-HU" dirty="0" err="1" smtClean="0"/>
              <a:t>we</a:t>
            </a:r>
            <a:r>
              <a:rPr lang="hu-HU" dirty="0" smtClean="0"/>
              <a:t> </a:t>
            </a:r>
            <a:r>
              <a:rPr lang="hu-HU" dirty="0" err="1" smtClean="0"/>
              <a:t>call</a:t>
            </a:r>
            <a:r>
              <a:rPr lang="hu-HU" dirty="0" smtClean="0"/>
              <a:t> </a:t>
            </a:r>
            <a:r>
              <a:rPr lang="hu-HU" dirty="0" err="1" smtClean="0"/>
              <a:t>it</a:t>
            </a:r>
            <a:r>
              <a:rPr lang="hu-HU" dirty="0" smtClean="0"/>
              <a:t> </a:t>
            </a:r>
            <a:r>
              <a:rPr lang="en-GB" dirty="0" smtClean="0"/>
              <a:t>"</a:t>
            </a:r>
            <a:r>
              <a:rPr lang="hu-HU" dirty="0" err="1" smtClean="0"/>
              <a:t>decoder-only</a:t>
            </a:r>
            <a:r>
              <a:rPr lang="en-GB" dirty="0" smtClean="0"/>
              <a:t>"</a:t>
            </a:r>
            <a:r>
              <a:rPr lang="hu-HU" dirty="0" smtClean="0"/>
              <a:t> </a:t>
            </a:r>
            <a:r>
              <a:rPr lang="hu-HU" dirty="0" err="1" smtClean="0"/>
              <a:t>since</a:t>
            </a:r>
            <a:r>
              <a:rPr lang="hu-HU" dirty="0" smtClean="0"/>
              <a:t> </a:t>
            </a:r>
            <a:r>
              <a:rPr lang="hu-HU" dirty="0" err="1" smtClean="0"/>
              <a:t>this</a:t>
            </a:r>
            <a:r>
              <a:rPr lang="hu-HU" dirty="0" smtClean="0"/>
              <a:t> is </a:t>
            </a:r>
            <a:r>
              <a:rPr lang="hu-HU" dirty="0" err="1" smtClean="0"/>
              <a:t>the</a:t>
            </a:r>
            <a:r>
              <a:rPr lang="hu-HU" dirty="0" smtClean="0"/>
              <a:t> standard </a:t>
            </a:r>
            <a:r>
              <a:rPr lang="hu-HU" dirty="0" err="1" smtClean="0"/>
              <a:t>way</a:t>
            </a:r>
            <a:r>
              <a:rPr lang="hu-HU" dirty="0" smtClean="0"/>
              <a:t> </a:t>
            </a:r>
            <a:r>
              <a:rPr lang="hu-HU" dirty="0" err="1" smtClean="0"/>
              <a:t>to</a:t>
            </a:r>
            <a:r>
              <a:rPr lang="hu-HU" dirty="0" smtClean="0"/>
              <a:t> </a:t>
            </a:r>
            <a:r>
              <a:rPr lang="hu-HU" dirty="0" err="1" smtClean="0"/>
              <a:t>refer</a:t>
            </a:r>
            <a:r>
              <a:rPr lang="hu-HU" dirty="0" smtClean="0"/>
              <a:t> </a:t>
            </a:r>
            <a:r>
              <a:rPr lang="hu-HU" dirty="0" err="1" smtClean="0"/>
              <a:t>to</a:t>
            </a:r>
            <a:r>
              <a:rPr lang="hu-HU" dirty="0" smtClean="0"/>
              <a:t> </a:t>
            </a:r>
            <a:r>
              <a:rPr lang="hu-HU" dirty="0" err="1" smtClean="0"/>
              <a:t>this</a:t>
            </a:r>
            <a:r>
              <a:rPr lang="hu-HU" dirty="0" smtClean="0"/>
              <a:t> </a:t>
            </a:r>
            <a:r>
              <a:rPr lang="hu-HU" dirty="0" err="1" smtClean="0"/>
              <a:t>model</a:t>
            </a:r>
            <a:r>
              <a:rPr lang="hu-HU" dirty="0" smtClean="0"/>
              <a:t> </a:t>
            </a:r>
            <a:r>
              <a:rPr lang="hu-HU" dirty="0" err="1" smtClean="0"/>
              <a:t>architecture</a:t>
            </a:r>
            <a:endParaRPr lang="hu-HU" dirty="0" smtClean="0"/>
          </a:p>
        </p:txBody>
      </p:sp>
    </p:spTree>
    <p:extLst>
      <p:ext uri="{BB962C8B-B14F-4D97-AF65-F5344CB8AC3E}">
        <p14:creationId xmlns:p14="http://schemas.microsoft.com/office/powerpoint/2010/main" val="19472699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Autofit/>
          </a:bodyPr>
          <a:lstStyle/>
          <a:p>
            <a:r>
              <a:rPr lang="hu-HU" sz="3600" dirty="0" err="1" smtClean="0"/>
              <a:t>Generation</a:t>
            </a:r>
            <a:r>
              <a:rPr lang="hu-HU" sz="3600" dirty="0" smtClean="0"/>
              <a:t> </a:t>
            </a:r>
            <a:r>
              <a:rPr lang="hu-HU" sz="3600" dirty="0" err="1" smtClean="0"/>
              <a:t>Using</a:t>
            </a:r>
            <a:r>
              <a:rPr lang="hu-HU" sz="3600" dirty="0" smtClean="0"/>
              <a:t> a </a:t>
            </a:r>
            <a:r>
              <a:rPr lang="hu-HU" sz="3600" dirty="0" err="1" smtClean="0"/>
              <a:t>Decoder-only</a:t>
            </a:r>
            <a:r>
              <a:rPr lang="hu-HU" sz="3600" dirty="0" smtClean="0"/>
              <a:t> </a:t>
            </a:r>
            <a:r>
              <a:rPr lang="hu-HU" sz="3600" dirty="0" err="1" smtClean="0"/>
              <a:t>Model</a:t>
            </a:r>
            <a:endParaRPr lang="en-GB" sz="3600" dirty="0"/>
          </a:p>
        </p:txBody>
      </p:sp>
      <p:sp>
        <p:nvSpPr>
          <p:cNvPr id="3" name="Tartalom helye 2"/>
          <p:cNvSpPr>
            <a:spLocks noGrp="1"/>
          </p:cNvSpPr>
          <p:nvPr>
            <p:ph idx="1"/>
          </p:nvPr>
        </p:nvSpPr>
        <p:spPr/>
        <p:txBody>
          <a:bodyPr>
            <a:normAutofit fontScale="55000" lnSpcReduction="20000"/>
          </a:bodyPr>
          <a:lstStyle/>
          <a:p>
            <a:r>
              <a:rPr lang="hu-HU" dirty="0" smtClean="0"/>
              <a:t>The </a:t>
            </a:r>
            <a:r>
              <a:rPr lang="hu-HU" dirty="0" err="1"/>
              <a:t>preceding</a:t>
            </a:r>
            <a:r>
              <a:rPr lang="hu-HU" dirty="0"/>
              <a:t> </a:t>
            </a:r>
            <a:r>
              <a:rPr lang="hu-HU" dirty="0" err="1"/>
              <a:t>context</a:t>
            </a:r>
            <a:r>
              <a:rPr lang="hu-HU" dirty="0"/>
              <a:t> </a:t>
            </a:r>
            <a:r>
              <a:rPr lang="hu-HU" dirty="0" err="1"/>
              <a:t>generally</a:t>
            </a:r>
            <a:r>
              <a:rPr lang="hu-HU" dirty="0"/>
              <a:t> </a:t>
            </a:r>
            <a:r>
              <a:rPr lang="hu-HU" dirty="0" err="1"/>
              <a:t>does</a:t>
            </a:r>
            <a:r>
              <a:rPr lang="hu-HU" dirty="0"/>
              <a:t> </a:t>
            </a:r>
            <a:r>
              <a:rPr lang="hu-HU" dirty="0" err="1"/>
              <a:t>not</a:t>
            </a:r>
            <a:r>
              <a:rPr lang="hu-HU" dirty="0"/>
              <a:t> start out </a:t>
            </a:r>
            <a:r>
              <a:rPr lang="hu-HU" dirty="0" err="1"/>
              <a:t>completely</a:t>
            </a:r>
            <a:r>
              <a:rPr lang="hu-HU" dirty="0"/>
              <a:t> </a:t>
            </a:r>
            <a:r>
              <a:rPr lang="hu-HU" dirty="0" err="1"/>
              <a:t>empty</a:t>
            </a:r>
            <a:r>
              <a:rPr lang="hu-HU" dirty="0"/>
              <a:t>, </a:t>
            </a:r>
            <a:r>
              <a:rPr lang="hu-HU" dirty="0" err="1"/>
              <a:t>that</a:t>
            </a:r>
            <a:r>
              <a:rPr lang="hu-HU" dirty="0"/>
              <a:t> </a:t>
            </a:r>
            <a:r>
              <a:rPr lang="hu-HU" dirty="0" err="1"/>
              <a:t>would</a:t>
            </a:r>
            <a:r>
              <a:rPr lang="hu-HU" dirty="0"/>
              <a:t> be </a:t>
            </a:r>
            <a:r>
              <a:rPr lang="hu-HU" dirty="0" err="1" smtClean="0"/>
              <a:t>quite</a:t>
            </a:r>
            <a:r>
              <a:rPr lang="hu-HU" dirty="0" smtClean="0"/>
              <a:t> </a:t>
            </a:r>
            <a:r>
              <a:rPr lang="hu-HU" dirty="0" err="1" smtClean="0"/>
              <a:t>pointless</a:t>
            </a:r>
            <a:r>
              <a:rPr lang="hu-HU" dirty="0" smtClean="0"/>
              <a:t>.</a:t>
            </a:r>
            <a:endParaRPr lang="hu-HU" dirty="0"/>
          </a:p>
          <a:p>
            <a:r>
              <a:rPr lang="hu-HU" dirty="0" err="1"/>
              <a:t>Instead</a:t>
            </a:r>
            <a:r>
              <a:rPr lang="hu-HU" dirty="0"/>
              <a:t>, </a:t>
            </a:r>
            <a:r>
              <a:rPr lang="hu-HU" dirty="0" err="1"/>
              <a:t>it</a:t>
            </a:r>
            <a:r>
              <a:rPr lang="hu-HU" dirty="0"/>
              <a:t> </a:t>
            </a:r>
            <a:r>
              <a:rPr lang="hu-HU" dirty="0" err="1"/>
              <a:t>starts</a:t>
            </a:r>
            <a:r>
              <a:rPr lang="hu-HU" dirty="0"/>
              <a:t> out </a:t>
            </a:r>
            <a:r>
              <a:rPr lang="hu-HU" dirty="0" err="1"/>
              <a:t>with</a:t>
            </a:r>
            <a:r>
              <a:rPr lang="hu-HU" dirty="0"/>
              <a:t> a </a:t>
            </a:r>
            <a:r>
              <a:rPr lang="hu-HU" dirty="0" err="1"/>
              <a:t>specific</a:t>
            </a:r>
            <a:r>
              <a:rPr lang="hu-HU" dirty="0"/>
              <a:t> </a:t>
            </a:r>
            <a:r>
              <a:rPr lang="hu-HU" b="1" dirty="0" err="1"/>
              <a:t>pre-existing</a:t>
            </a:r>
            <a:r>
              <a:rPr lang="hu-HU" b="1" dirty="0"/>
              <a:t> input text</a:t>
            </a:r>
            <a:r>
              <a:rPr lang="hu-HU" dirty="0"/>
              <a:t>.</a:t>
            </a:r>
          </a:p>
          <a:p>
            <a:r>
              <a:rPr lang="hu-HU" dirty="0"/>
              <a:t>The input text is </a:t>
            </a:r>
            <a:r>
              <a:rPr lang="hu-HU" dirty="0" err="1"/>
              <a:t>tokenised</a:t>
            </a:r>
            <a:r>
              <a:rPr lang="hu-HU" dirty="0"/>
              <a:t> and </a:t>
            </a:r>
            <a:r>
              <a:rPr lang="hu-HU" dirty="0" err="1"/>
              <a:t>mapped</a:t>
            </a:r>
            <a:r>
              <a:rPr lang="hu-HU" dirty="0"/>
              <a:t> </a:t>
            </a:r>
            <a:r>
              <a:rPr lang="hu-HU" dirty="0" err="1"/>
              <a:t>to</a:t>
            </a:r>
            <a:r>
              <a:rPr lang="hu-HU" dirty="0"/>
              <a:t> </a:t>
            </a:r>
            <a:r>
              <a:rPr lang="hu-HU" dirty="0" err="1"/>
              <a:t>embedding</a:t>
            </a:r>
            <a:r>
              <a:rPr lang="hu-HU" dirty="0"/>
              <a:t> </a:t>
            </a:r>
            <a:r>
              <a:rPr lang="hu-HU" dirty="0" err="1"/>
              <a:t>vectors</a:t>
            </a:r>
            <a:r>
              <a:rPr lang="hu-HU" dirty="0"/>
              <a:t>.</a:t>
            </a:r>
          </a:p>
          <a:p>
            <a:r>
              <a:rPr lang="hu-HU" dirty="0" err="1"/>
              <a:t>In</a:t>
            </a:r>
            <a:r>
              <a:rPr lang="hu-HU" dirty="0"/>
              <a:t> an </a:t>
            </a:r>
            <a:r>
              <a:rPr lang="hu-HU" b="1" dirty="0" err="1"/>
              <a:t>LLM</a:t>
            </a:r>
            <a:r>
              <a:rPr lang="hu-HU" b="1" dirty="0"/>
              <a:t> chatbot </a:t>
            </a:r>
            <a:r>
              <a:rPr lang="hu-HU" dirty="0" err="1"/>
              <a:t>context</a:t>
            </a:r>
            <a:r>
              <a:rPr lang="hu-HU" dirty="0"/>
              <a:t>, </a:t>
            </a:r>
            <a:r>
              <a:rPr lang="hu-HU" dirty="0" err="1"/>
              <a:t>this</a:t>
            </a:r>
            <a:r>
              <a:rPr lang="hu-HU" dirty="0"/>
              <a:t> </a:t>
            </a:r>
            <a:r>
              <a:rPr lang="hu-HU" b="1" dirty="0"/>
              <a:t>input text </a:t>
            </a:r>
            <a:r>
              <a:rPr lang="hu-HU" dirty="0"/>
              <a:t>is </a:t>
            </a:r>
            <a:r>
              <a:rPr lang="hu-HU" dirty="0" err="1"/>
              <a:t>generally</a:t>
            </a:r>
            <a:r>
              <a:rPr lang="hu-HU" dirty="0"/>
              <a:t> </a:t>
            </a:r>
            <a:r>
              <a:rPr lang="hu-HU" dirty="0" err="1"/>
              <a:t>referred</a:t>
            </a:r>
            <a:r>
              <a:rPr lang="hu-HU" dirty="0"/>
              <a:t> </a:t>
            </a:r>
            <a:r>
              <a:rPr lang="hu-HU" dirty="0" err="1"/>
              <a:t>to</a:t>
            </a:r>
            <a:r>
              <a:rPr lang="hu-HU" dirty="0"/>
              <a:t> </a:t>
            </a:r>
            <a:r>
              <a:rPr lang="hu-HU" dirty="0" err="1"/>
              <a:t>as</a:t>
            </a:r>
            <a:r>
              <a:rPr lang="hu-HU" dirty="0"/>
              <a:t> </a:t>
            </a:r>
            <a:r>
              <a:rPr lang="hu-HU" dirty="0" err="1"/>
              <a:t>the</a:t>
            </a:r>
            <a:r>
              <a:rPr lang="hu-HU" dirty="0"/>
              <a:t> </a:t>
            </a:r>
            <a:r>
              <a:rPr lang="hu-HU" b="1" dirty="0"/>
              <a:t>prompt</a:t>
            </a:r>
            <a:r>
              <a:rPr lang="hu-HU" dirty="0"/>
              <a:t>.</a:t>
            </a:r>
          </a:p>
          <a:p>
            <a:r>
              <a:rPr lang="hu-HU" dirty="0"/>
              <a:t>The </a:t>
            </a:r>
            <a:r>
              <a:rPr lang="hu-HU" dirty="0" smtClean="0"/>
              <a:t>input is </a:t>
            </a:r>
            <a:r>
              <a:rPr lang="hu-HU" dirty="0" err="1"/>
              <a:t>then</a:t>
            </a:r>
            <a:r>
              <a:rPr lang="hu-HU" dirty="0"/>
              <a:t> </a:t>
            </a:r>
            <a:r>
              <a:rPr lang="hu-HU" b="1" dirty="0" err="1"/>
              <a:t>continued</a:t>
            </a:r>
            <a:r>
              <a:rPr lang="hu-HU" dirty="0"/>
              <a:t> </a:t>
            </a:r>
            <a:r>
              <a:rPr lang="hu-HU" dirty="0" err="1"/>
              <a:t>by</a:t>
            </a:r>
            <a:r>
              <a:rPr lang="hu-HU" dirty="0"/>
              <a:t> </a:t>
            </a:r>
            <a:r>
              <a:rPr lang="hu-HU" dirty="0" err="1" smtClean="0"/>
              <a:t>the</a:t>
            </a:r>
            <a:r>
              <a:rPr lang="hu-HU" dirty="0" smtClean="0"/>
              <a:t> </a:t>
            </a:r>
            <a:r>
              <a:rPr lang="hu-HU" dirty="0" err="1" smtClean="0"/>
              <a:t>generative</a:t>
            </a:r>
            <a:r>
              <a:rPr lang="hu-HU" dirty="0" smtClean="0"/>
              <a:t> </a:t>
            </a:r>
            <a:r>
              <a:rPr lang="hu-HU" dirty="0" err="1" smtClean="0"/>
              <a:t>model</a:t>
            </a:r>
            <a:r>
              <a:rPr lang="hu-HU" dirty="0" smtClean="0"/>
              <a:t>, </a:t>
            </a:r>
            <a:r>
              <a:rPr lang="hu-HU" b="1" dirty="0" err="1" smtClean="0"/>
              <a:t>token</a:t>
            </a:r>
            <a:r>
              <a:rPr lang="hu-HU" b="1" dirty="0" smtClean="0"/>
              <a:t> </a:t>
            </a:r>
            <a:r>
              <a:rPr lang="hu-HU" b="1" dirty="0" err="1" smtClean="0"/>
              <a:t>by</a:t>
            </a:r>
            <a:r>
              <a:rPr lang="hu-HU" b="1" dirty="0" smtClean="0"/>
              <a:t> </a:t>
            </a:r>
            <a:r>
              <a:rPr lang="hu-HU" b="1" dirty="0" err="1" smtClean="0"/>
              <a:t>token</a:t>
            </a:r>
            <a:r>
              <a:rPr lang="hu-HU" dirty="0" smtClean="0"/>
              <a:t>.</a:t>
            </a:r>
          </a:p>
          <a:p>
            <a:pPr lvl="1"/>
            <a:r>
              <a:rPr lang="hu-HU" dirty="0" smtClean="0"/>
              <a:t>The </a:t>
            </a:r>
            <a:r>
              <a:rPr lang="hu-HU" dirty="0" err="1" smtClean="0"/>
              <a:t>next</a:t>
            </a:r>
            <a:r>
              <a:rPr lang="hu-HU" dirty="0" smtClean="0"/>
              <a:t> </a:t>
            </a:r>
            <a:r>
              <a:rPr lang="hu-HU" dirty="0" err="1" smtClean="0"/>
              <a:t>token</a:t>
            </a:r>
            <a:r>
              <a:rPr lang="hu-HU" dirty="0" smtClean="0"/>
              <a:t> is </a:t>
            </a:r>
            <a:r>
              <a:rPr lang="hu-HU" dirty="0" err="1" smtClean="0"/>
              <a:t>generated</a:t>
            </a:r>
            <a:r>
              <a:rPr lang="hu-HU" dirty="0" smtClean="0"/>
              <a:t> </a:t>
            </a:r>
            <a:r>
              <a:rPr lang="hu-HU" dirty="0" err="1" smtClean="0"/>
              <a:t>by</a:t>
            </a:r>
            <a:r>
              <a:rPr lang="hu-HU" dirty="0" smtClean="0"/>
              <a:t> </a:t>
            </a:r>
            <a:r>
              <a:rPr lang="hu-HU" dirty="0" err="1" smtClean="0"/>
              <a:t>sampling</a:t>
            </a:r>
            <a:r>
              <a:rPr lang="hu-HU" dirty="0" smtClean="0"/>
              <a:t> </a:t>
            </a:r>
            <a:r>
              <a:rPr lang="hu-HU" dirty="0" err="1" smtClean="0"/>
              <a:t>from</a:t>
            </a:r>
            <a:r>
              <a:rPr lang="hu-HU" dirty="0" smtClean="0"/>
              <a:t> </a:t>
            </a:r>
            <a:r>
              <a:rPr lang="hu-HU" dirty="0" err="1" smtClean="0"/>
              <a:t>the</a:t>
            </a:r>
            <a:r>
              <a:rPr lang="hu-HU" dirty="0" smtClean="0"/>
              <a:t> output </a:t>
            </a:r>
            <a:r>
              <a:rPr lang="hu-HU" dirty="0" err="1" smtClean="0"/>
              <a:t>softmax</a:t>
            </a:r>
            <a:r>
              <a:rPr lang="hu-HU" dirty="0" smtClean="0"/>
              <a:t> </a:t>
            </a:r>
            <a:r>
              <a:rPr lang="hu-HU" dirty="0" err="1" smtClean="0"/>
              <a:t>distribution</a:t>
            </a:r>
            <a:endParaRPr lang="hu-HU" dirty="0" smtClean="0"/>
          </a:p>
          <a:p>
            <a:r>
              <a:rPr lang="hu-HU" dirty="0" err="1" smtClean="0"/>
              <a:t>Like</a:t>
            </a:r>
            <a:r>
              <a:rPr lang="hu-HU" dirty="0" smtClean="0"/>
              <a:t> </a:t>
            </a:r>
            <a:r>
              <a:rPr lang="hu-HU" dirty="0" err="1" smtClean="0"/>
              <a:t>in</a:t>
            </a:r>
            <a:r>
              <a:rPr lang="hu-HU" dirty="0" smtClean="0"/>
              <a:t> </a:t>
            </a:r>
            <a:r>
              <a:rPr lang="hu-HU" dirty="0" err="1" smtClean="0"/>
              <a:t>the</a:t>
            </a:r>
            <a:r>
              <a:rPr lang="hu-HU" dirty="0" smtClean="0"/>
              <a:t> </a:t>
            </a:r>
            <a:r>
              <a:rPr lang="hu-HU" dirty="0" err="1" smtClean="0"/>
              <a:t>encoder-decoder</a:t>
            </a:r>
            <a:r>
              <a:rPr lang="hu-HU" dirty="0" smtClean="0"/>
              <a:t> </a:t>
            </a:r>
            <a:r>
              <a:rPr lang="hu-HU" dirty="0" err="1" smtClean="0"/>
              <a:t>models</a:t>
            </a:r>
            <a:r>
              <a:rPr lang="hu-HU" dirty="0" smtClean="0"/>
              <a:t> </a:t>
            </a:r>
            <a:r>
              <a:rPr lang="hu-HU" dirty="0" err="1" smtClean="0"/>
              <a:t>we</a:t>
            </a:r>
            <a:r>
              <a:rPr lang="hu-HU" dirty="0" smtClean="0"/>
              <a:t> </a:t>
            </a:r>
            <a:r>
              <a:rPr lang="hu-HU" dirty="0" err="1" smtClean="0"/>
              <a:t>have</a:t>
            </a:r>
            <a:r>
              <a:rPr lang="hu-HU" dirty="0" smtClean="0"/>
              <a:t> </a:t>
            </a:r>
            <a:r>
              <a:rPr lang="hu-HU" dirty="0" err="1" smtClean="0"/>
              <a:t>already</a:t>
            </a:r>
            <a:r>
              <a:rPr lang="hu-HU" dirty="0" smtClean="0"/>
              <a:t> </a:t>
            </a:r>
            <a:r>
              <a:rPr lang="hu-HU" dirty="0" err="1" smtClean="0"/>
              <a:t>seen</a:t>
            </a:r>
            <a:r>
              <a:rPr lang="hu-HU" dirty="0" smtClean="0"/>
              <a:t>, </a:t>
            </a:r>
            <a:r>
              <a:rPr lang="hu-HU" b="1" dirty="0" err="1" smtClean="0"/>
              <a:t>the</a:t>
            </a:r>
            <a:r>
              <a:rPr lang="hu-HU" b="1" dirty="0" smtClean="0"/>
              <a:t> most </a:t>
            </a:r>
            <a:r>
              <a:rPr lang="hu-HU" b="1" dirty="0" err="1" smtClean="0"/>
              <a:t>recently</a:t>
            </a:r>
            <a:r>
              <a:rPr lang="hu-HU" b="1" dirty="0" smtClean="0"/>
              <a:t> </a:t>
            </a:r>
            <a:r>
              <a:rPr lang="hu-HU" b="1" dirty="0" err="1" smtClean="0"/>
              <a:t>generated</a:t>
            </a:r>
            <a:r>
              <a:rPr lang="hu-HU" b="1" dirty="0" smtClean="0"/>
              <a:t> </a:t>
            </a:r>
            <a:r>
              <a:rPr lang="hu-HU" b="1" dirty="0" err="1" smtClean="0"/>
              <a:t>token</a:t>
            </a:r>
            <a:r>
              <a:rPr lang="hu-HU" b="1" dirty="0" smtClean="0"/>
              <a:t> </a:t>
            </a:r>
            <a:r>
              <a:rPr lang="hu-HU" dirty="0" smtClean="0"/>
              <a:t>is </a:t>
            </a:r>
            <a:r>
              <a:rPr lang="hu-HU" dirty="0" err="1" smtClean="0"/>
              <a:t>mapped</a:t>
            </a:r>
            <a:r>
              <a:rPr lang="hu-HU" dirty="0" smtClean="0"/>
              <a:t> </a:t>
            </a:r>
            <a:r>
              <a:rPr lang="hu-HU" dirty="0" err="1" smtClean="0"/>
              <a:t>to</a:t>
            </a:r>
            <a:r>
              <a:rPr lang="hu-HU" dirty="0" smtClean="0"/>
              <a:t> a </a:t>
            </a:r>
            <a:r>
              <a:rPr lang="hu-HU" dirty="0" err="1" smtClean="0"/>
              <a:t>token</a:t>
            </a:r>
            <a:r>
              <a:rPr lang="hu-HU" dirty="0" smtClean="0"/>
              <a:t> </a:t>
            </a:r>
            <a:r>
              <a:rPr lang="hu-HU" dirty="0" err="1" smtClean="0"/>
              <a:t>embedding</a:t>
            </a:r>
            <a:r>
              <a:rPr lang="hu-HU" dirty="0" smtClean="0"/>
              <a:t> </a:t>
            </a:r>
            <a:r>
              <a:rPr lang="hu-HU" dirty="0" err="1" smtClean="0"/>
              <a:t>vector</a:t>
            </a:r>
            <a:r>
              <a:rPr lang="hu-HU" dirty="0" smtClean="0"/>
              <a:t> and </a:t>
            </a:r>
            <a:r>
              <a:rPr lang="hu-HU" b="1" dirty="0" err="1" smtClean="0"/>
              <a:t>concatenated</a:t>
            </a:r>
            <a:r>
              <a:rPr lang="hu-HU" b="1" dirty="0" smtClean="0"/>
              <a:t> </a:t>
            </a:r>
            <a:r>
              <a:rPr lang="hu-HU" b="1" dirty="0" err="1" smtClean="0"/>
              <a:t>to</a:t>
            </a:r>
            <a:r>
              <a:rPr lang="hu-HU" b="1" dirty="0" smtClean="0"/>
              <a:t> </a:t>
            </a:r>
            <a:r>
              <a:rPr lang="hu-HU" b="1" dirty="0" err="1" smtClean="0"/>
              <a:t>the</a:t>
            </a:r>
            <a:r>
              <a:rPr lang="hu-HU" b="1" dirty="0" smtClean="0"/>
              <a:t> </a:t>
            </a:r>
            <a:r>
              <a:rPr lang="hu-HU" b="1" dirty="0" err="1" smtClean="0"/>
              <a:t>previous</a:t>
            </a:r>
            <a:r>
              <a:rPr lang="hu-HU" b="1" dirty="0" smtClean="0"/>
              <a:t> input </a:t>
            </a:r>
            <a:r>
              <a:rPr lang="hu-HU" b="1" dirty="0" err="1" smtClean="0"/>
              <a:t>vectors</a:t>
            </a:r>
            <a:r>
              <a:rPr lang="hu-HU" dirty="0" smtClean="0"/>
              <a:t>.</a:t>
            </a:r>
          </a:p>
          <a:p>
            <a:r>
              <a:rPr lang="hu-HU" dirty="0" err="1" smtClean="0"/>
              <a:t>Consequence</a:t>
            </a:r>
            <a:r>
              <a:rPr lang="hu-HU" dirty="0" smtClean="0"/>
              <a:t>: </a:t>
            </a:r>
            <a:r>
              <a:rPr lang="hu-HU" dirty="0" err="1" smtClean="0"/>
              <a:t>There</a:t>
            </a:r>
            <a:r>
              <a:rPr lang="hu-HU" dirty="0" smtClean="0"/>
              <a:t> is </a:t>
            </a:r>
            <a:r>
              <a:rPr lang="hu-HU" b="1" dirty="0" smtClean="0"/>
              <a:t>no </a:t>
            </a:r>
            <a:r>
              <a:rPr lang="hu-HU" b="1" dirty="0" err="1" smtClean="0"/>
              <a:t>separation</a:t>
            </a:r>
            <a:r>
              <a:rPr lang="hu-HU" b="1" dirty="0" smtClean="0"/>
              <a:t> </a:t>
            </a:r>
            <a:r>
              <a:rPr lang="hu-HU" b="1" dirty="0" err="1" smtClean="0"/>
              <a:t>between</a:t>
            </a:r>
            <a:r>
              <a:rPr lang="hu-HU" b="1" dirty="0" smtClean="0"/>
              <a:t> </a:t>
            </a:r>
            <a:r>
              <a:rPr lang="hu-HU" b="1" dirty="0" err="1" smtClean="0"/>
              <a:t>the</a:t>
            </a:r>
            <a:r>
              <a:rPr lang="hu-HU" b="1" dirty="0" smtClean="0"/>
              <a:t> input and </a:t>
            </a:r>
            <a:r>
              <a:rPr lang="hu-HU" b="1" dirty="0" err="1" smtClean="0"/>
              <a:t>the</a:t>
            </a:r>
            <a:r>
              <a:rPr lang="hu-HU" b="1" dirty="0" smtClean="0"/>
              <a:t> </a:t>
            </a:r>
            <a:r>
              <a:rPr lang="hu-HU" b="1" dirty="0" err="1" smtClean="0"/>
              <a:t>generated</a:t>
            </a:r>
            <a:r>
              <a:rPr lang="hu-HU" b="1" dirty="0" smtClean="0"/>
              <a:t> output </a:t>
            </a:r>
            <a:r>
              <a:rPr lang="hu-HU" dirty="0" err="1" smtClean="0"/>
              <a:t>as</a:t>
            </a:r>
            <a:r>
              <a:rPr lang="hu-HU" dirty="0" smtClean="0"/>
              <a:t> far </a:t>
            </a:r>
            <a:r>
              <a:rPr lang="hu-HU" dirty="0" err="1" smtClean="0"/>
              <a:t>as</a:t>
            </a:r>
            <a:r>
              <a:rPr lang="hu-HU" dirty="0" smtClean="0"/>
              <a:t> </a:t>
            </a:r>
            <a:r>
              <a:rPr lang="hu-HU" dirty="0" err="1" smtClean="0"/>
              <a:t>the</a:t>
            </a:r>
            <a:r>
              <a:rPr lang="hu-HU" dirty="0" smtClean="0"/>
              <a:t> </a:t>
            </a:r>
            <a:r>
              <a:rPr lang="hu-HU" dirty="0" err="1" smtClean="0"/>
              <a:t>model</a:t>
            </a:r>
            <a:r>
              <a:rPr lang="hu-HU" dirty="0" smtClean="0"/>
              <a:t> is </a:t>
            </a:r>
            <a:r>
              <a:rPr lang="hu-HU" dirty="0" err="1" smtClean="0"/>
              <a:t>concerned</a:t>
            </a:r>
            <a:r>
              <a:rPr lang="hu-HU" dirty="0" smtClean="0"/>
              <a:t>, </a:t>
            </a:r>
            <a:r>
              <a:rPr lang="hu-HU" dirty="0" err="1" smtClean="0"/>
              <a:t>they</a:t>
            </a:r>
            <a:r>
              <a:rPr lang="hu-HU" dirty="0" smtClean="0"/>
              <a:t> </a:t>
            </a:r>
            <a:r>
              <a:rPr lang="hu-HU" dirty="0" err="1" smtClean="0"/>
              <a:t>both</a:t>
            </a:r>
            <a:r>
              <a:rPr lang="hu-HU" dirty="0" smtClean="0"/>
              <a:t> </a:t>
            </a:r>
            <a:r>
              <a:rPr lang="hu-HU" dirty="0" err="1" smtClean="0"/>
              <a:t>live</a:t>
            </a:r>
            <a:r>
              <a:rPr lang="hu-HU" dirty="0" smtClean="0"/>
              <a:t> </a:t>
            </a:r>
            <a:r>
              <a:rPr lang="hu-HU" dirty="0" err="1" smtClean="0"/>
              <a:t>in</a:t>
            </a:r>
            <a:r>
              <a:rPr lang="hu-HU" dirty="0" smtClean="0"/>
              <a:t> </a:t>
            </a:r>
            <a:r>
              <a:rPr lang="hu-HU" dirty="0" err="1" smtClean="0"/>
              <a:t>the</a:t>
            </a:r>
            <a:r>
              <a:rPr lang="hu-HU" dirty="0" smtClean="0"/>
              <a:t> </a:t>
            </a:r>
            <a:r>
              <a:rPr lang="hu-HU" dirty="0" err="1" smtClean="0"/>
              <a:t>same</a:t>
            </a:r>
            <a:r>
              <a:rPr lang="hu-HU" dirty="0" smtClean="0"/>
              <a:t> </a:t>
            </a:r>
            <a:r>
              <a:rPr lang="hu-HU" dirty="0" err="1" smtClean="0"/>
              <a:t>context</a:t>
            </a:r>
            <a:r>
              <a:rPr lang="hu-HU" dirty="0" smtClean="0"/>
              <a:t> </a:t>
            </a:r>
            <a:r>
              <a:rPr lang="hu-HU" dirty="0" err="1" smtClean="0"/>
              <a:t>window</a:t>
            </a:r>
            <a:r>
              <a:rPr lang="hu-HU" dirty="0" smtClean="0"/>
              <a:t>.</a:t>
            </a:r>
          </a:p>
          <a:p>
            <a:pPr lvl="1"/>
            <a:r>
              <a:rPr lang="hu-HU" dirty="0" err="1" smtClean="0"/>
              <a:t>Special</a:t>
            </a:r>
            <a:r>
              <a:rPr lang="hu-HU" dirty="0" smtClean="0"/>
              <a:t> </a:t>
            </a:r>
            <a:r>
              <a:rPr lang="hu-HU" dirty="0" err="1" smtClean="0"/>
              <a:t>separator</a:t>
            </a:r>
            <a:r>
              <a:rPr lang="hu-HU" dirty="0" smtClean="0"/>
              <a:t> </a:t>
            </a:r>
            <a:r>
              <a:rPr lang="hu-HU" dirty="0" err="1" smtClean="0"/>
              <a:t>tokens</a:t>
            </a:r>
            <a:r>
              <a:rPr lang="hu-HU" dirty="0" smtClean="0"/>
              <a:t> </a:t>
            </a:r>
            <a:r>
              <a:rPr lang="hu-HU" dirty="0" err="1" smtClean="0"/>
              <a:t>could</a:t>
            </a:r>
            <a:r>
              <a:rPr lang="hu-HU" dirty="0" smtClean="0"/>
              <a:t> be </a:t>
            </a:r>
            <a:r>
              <a:rPr lang="hu-HU" dirty="0" err="1" smtClean="0"/>
              <a:t>used</a:t>
            </a:r>
            <a:r>
              <a:rPr lang="hu-HU" dirty="0" smtClean="0"/>
              <a:t>.</a:t>
            </a:r>
          </a:p>
          <a:p>
            <a:pPr lvl="1"/>
            <a:r>
              <a:rPr lang="hu-HU" dirty="0" smtClean="0"/>
              <a:t>More </a:t>
            </a:r>
            <a:r>
              <a:rPr lang="hu-HU" dirty="0" err="1" smtClean="0"/>
              <a:t>commonly</a:t>
            </a:r>
            <a:r>
              <a:rPr lang="hu-HU" dirty="0" smtClean="0"/>
              <a:t>, </a:t>
            </a:r>
            <a:r>
              <a:rPr lang="hu-HU" b="1" dirty="0" err="1" smtClean="0"/>
              <a:t>markup-like</a:t>
            </a:r>
            <a:r>
              <a:rPr lang="hu-HU" b="1" dirty="0" smtClean="0"/>
              <a:t> </a:t>
            </a:r>
            <a:r>
              <a:rPr lang="hu-HU" b="1" dirty="0" err="1" smtClean="0"/>
              <a:t>tags</a:t>
            </a:r>
            <a:r>
              <a:rPr lang="hu-HU" b="1" dirty="0" smtClean="0"/>
              <a:t> </a:t>
            </a:r>
            <a:r>
              <a:rPr lang="hu-HU" b="1" dirty="0" err="1" smtClean="0"/>
              <a:t>delimit</a:t>
            </a:r>
            <a:r>
              <a:rPr lang="hu-HU" b="1" dirty="0" smtClean="0"/>
              <a:t> </a:t>
            </a:r>
            <a:r>
              <a:rPr lang="hu-HU" dirty="0" smtClean="0"/>
              <a:t>prompt and </a:t>
            </a:r>
            <a:r>
              <a:rPr lang="hu-HU" dirty="0" err="1" smtClean="0"/>
              <a:t>continuation</a:t>
            </a:r>
            <a:endParaRPr lang="hu-HU" dirty="0"/>
          </a:p>
          <a:p>
            <a:pPr lvl="1"/>
            <a:r>
              <a:rPr lang="hu-HU" dirty="0" smtClean="0"/>
              <a:t>A </a:t>
            </a:r>
            <a:r>
              <a:rPr lang="hu-HU" dirty="0" err="1" smtClean="0"/>
              <a:t>possibility</a:t>
            </a:r>
            <a:r>
              <a:rPr lang="hu-HU" dirty="0" smtClean="0"/>
              <a:t> </a:t>
            </a:r>
            <a:r>
              <a:rPr lang="hu-HU" dirty="0" err="1" smtClean="0"/>
              <a:t>would</a:t>
            </a:r>
            <a:r>
              <a:rPr lang="hu-HU" dirty="0" smtClean="0"/>
              <a:t> be </a:t>
            </a:r>
            <a:r>
              <a:rPr lang="hu-HU" dirty="0" err="1" smtClean="0"/>
              <a:t>to</a:t>
            </a:r>
            <a:r>
              <a:rPr lang="hu-HU" dirty="0" smtClean="0"/>
              <a:t> add a </a:t>
            </a:r>
            <a:r>
              <a:rPr lang="hu-HU" dirty="0" err="1" smtClean="0"/>
              <a:t>special</a:t>
            </a:r>
            <a:r>
              <a:rPr lang="hu-HU" dirty="0" smtClean="0"/>
              <a:t> </a:t>
            </a:r>
            <a:r>
              <a:rPr lang="hu-HU" dirty="0" err="1" smtClean="0"/>
              <a:t>embedding</a:t>
            </a:r>
            <a:r>
              <a:rPr lang="hu-HU" dirty="0" smtClean="0"/>
              <a:t> </a:t>
            </a:r>
            <a:r>
              <a:rPr lang="hu-HU" dirty="0" err="1" smtClean="0"/>
              <a:t>vector</a:t>
            </a:r>
            <a:r>
              <a:rPr lang="hu-HU" dirty="0" smtClean="0"/>
              <a:t> </a:t>
            </a:r>
            <a:r>
              <a:rPr lang="hu-HU" dirty="0" err="1" smtClean="0"/>
              <a:t>that</a:t>
            </a:r>
            <a:r>
              <a:rPr lang="hu-HU" dirty="0" smtClean="0"/>
              <a:t> </a:t>
            </a:r>
            <a:r>
              <a:rPr lang="hu-HU" dirty="0" err="1" smtClean="0"/>
              <a:t>differentiates</a:t>
            </a:r>
            <a:r>
              <a:rPr lang="hu-HU" dirty="0" smtClean="0"/>
              <a:t> </a:t>
            </a:r>
            <a:r>
              <a:rPr lang="hu-HU" dirty="0" err="1" smtClean="0"/>
              <a:t>the</a:t>
            </a:r>
            <a:r>
              <a:rPr lang="hu-HU" dirty="0" smtClean="0"/>
              <a:t> </a:t>
            </a:r>
            <a:r>
              <a:rPr lang="hu-HU" dirty="0" err="1" smtClean="0"/>
              <a:t>two</a:t>
            </a:r>
            <a:r>
              <a:rPr lang="hu-HU" dirty="0" smtClean="0"/>
              <a:t>, </a:t>
            </a:r>
            <a:r>
              <a:rPr lang="hu-HU" dirty="0" err="1" smtClean="0"/>
              <a:t>but</a:t>
            </a:r>
            <a:r>
              <a:rPr lang="hu-HU" dirty="0" smtClean="0"/>
              <a:t> </a:t>
            </a:r>
            <a:r>
              <a:rPr lang="hu-HU" dirty="0" err="1" smtClean="0"/>
              <a:t>this</a:t>
            </a:r>
            <a:r>
              <a:rPr lang="hu-HU" dirty="0" smtClean="0"/>
              <a:t> </a:t>
            </a:r>
            <a:r>
              <a:rPr lang="hu-HU" dirty="0" err="1" smtClean="0"/>
              <a:t>option</a:t>
            </a:r>
            <a:r>
              <a:rPr lang="hu-HU" dirty="0" smtClean="0"/>
              <a:t> is </a:t>
            </a:r>
            <a:r>
              <a:rPr lang="hu-HU" dirty="0" err="1" smtClean="0"/>
              <a:t>not</a:t>
            </a:r>
            <a:r>
              <a:rPr lang="hu-HU" dirty="0" smtClean="0"/>
              <a:t> </a:t>
            </a:r>
            <a:r>
              <a:rPr lang="hu-HU" dirty="0" err="1" smtClean="0"/>
              <a:t>commonly</a:t>
            </a:r>
            <a:r>
              <a:rPr lang="hu-HU" dirty="0" smtClean="0"/>
              <a:t> </a:t>
            </a:r>
            <a:r>
              <a:rPr lang="hu-HU" dirty="0" err="1" smtClean="0"/>
              <a:t>utilised</a:t>
            </a:r>
            <a:r>
              <a:rPr lang="hu-HU" dirty="0" smtClean="0"/>
              <a:t>.</a:t>
            </a:r>
            <a:endParaRPr lang="en-GB" dirty="0"/>
          </a:p>
        </p:txBody>
      </p:sp>
    </p:spTree>
    <p:extLst>
      <p:ext uri="{BB962C8B-B14F-4D97-AF65-F5344CB8AC3E}">
        <p14:creationId xmlns:p14="http://schemas.microsoft.com/office/powerpoint/2010/main" val="2449998043"/>
      </p:ext>
    </p:extLst>
  </p:cSld>
  <p:clrMapOvr>
    <a:masterClrMapping/>
  </p:clrMapOvr>
</p:sld>
</file>

<file path=ppt/theme/theme1.xml><?xml version="1.0" encoding="utf-8"?>
<a:theme xmlns:a="http://schemas.openxmlformats.org/drawingml/2006/main" name="Office-té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6755</TotalTime>
  <Words>5199</Words>
  <Application>Microsoft Office PowerPoint</Application>
  <PresentationFormat>Diavetítés a képernyőre (4:3 oldalarány)</PresentationFormat>
  <Paragraphs>349</Paragraphs>
  <Slides>29</Slides>
  <Notes>1</Notes>
  <HiddenSlides>0</HiddenSlides>
  <MMClips>0</MMClips>
  <ScaleCrop>false</ScaleCrop>
  <HeadingPairs>
    <vt:vector size="4" baseType="variant">
      <vt:variant>
        <vt:lpstr>Téma</vt:lpstr>
      </vt:variant>
      <vt:variant>
        <vt:i4>1</vt:i4>
      </vt:variant>
      <vt:variant>
        <vt:lpstr>Diacímek</vt:lpstr>
      </vt:variant>
      <vt:variant>
        <vt:i4>29</vt:i4>
      </vt:variant>
    </vt:vector>
  </HeadingPairs>
  <TitlesOfParts>
    <vt:vector size="30" baseType="lpstr">
      <vt:lpstr>Office-téma</vt:lpstr>
      <vt:lpstr>Generative Artificial Intelligence Text Generation with Deep Learning Models</vt:lpstr>
      <vt:lpstr>Natural Language Processing</vt:lpstr>
      <vt:lpstr>Earlier Developments</vt:lpstr>
      <vt:lpstr>Earlier Developments</vt:lpstr>
      <vt:lpstr>Text Generation with AI</vt:lpstr>
      <vt:lpstr>Machine Translation and Summarization</vt:lpstr>
      <vt:lpstr>Processing Sequences with Deep Neural Networks</vt:lpstr>
      <vt:lpstr>Recurrent Neural Networks</vt:lpstr>
      <vt:lpstr>Recurrent Neural Architectures</vt:lpstr>
      <vt:lpstr>Recurrent Neural Architectures</vt:lpstr>
      <vt:lpstr>Types of Recurrent Neural Networks </vt:lpstr>
      <vt:lpstr>Technical Difficulties of Recurrent Networks</vt:lpstr>
      <vt:lpstr>Representing Words in Vector Space</vt:lpstr>
      <vt:lpstr>Attention</vt:lpstr>
      <vt:lpstr>Attention</vt:lpstr>
      <vt:lpstr>Attention</vt:lpstr>
      <vt:lpstr>Multi-Head Attention</vt:lpstr>
      <vt:lpstr>Transformer</vt:lpstr>
      <vt:lpstr>Multi-head Attention in Transformers</vt:lpstr>
      <vt:lpstr>Further Components of the Transformer </vt:lpstr>
      <vt:lpstr>Input, Output and Positional Embeddings</vt:lpstr>
      <vt:lpstr>Complexity of Transformers</vt:lpstr>
      <vt:lpstr>Tokenisation</vt:lpstr>
      <vt:lpstr>Encoder-decoder Tranformer Models</vt:lpstr>
      <vt:lpstr>Encoder Transformer Architecture</vt:lpstr>
      <vt:lpstr>Encoder Transformer Architecture</vt:lpstr>
      <vt:lpstr>Encoder Transformer Architecture</vt:lpstr>
      <vt:lpstr>Decoder-only Transformer Architecture</vt:lpstr>
      <vt:lpstr>Generation Using a Decoder-only Model</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Artificial Intelligence Text Generation with Deep Learning Models</dc:title>
  <dc:creator>Anonim</dc:creator>
  <cp:lastModifiedBy>Anonim</cp:lastModifiedBy>
  <cp:revision>66</cp:revision>
  <dcterms:created xsi:type="dcterms:W3CDTF">2025-11-20T11:02:03Z</dcterms:created>
  <dcterms:modified xsi:type="dcterms:W3CDTF">2025-12-03T23:00:55Z</dcterms:modified>
</cp:coreProperties>
</file>