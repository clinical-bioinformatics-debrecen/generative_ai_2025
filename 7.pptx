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68" r:id="rId16"/>
    <p:sldId id="272" r:id="rId17"/>
    <p:sldId id="274" r:id="rId18"/>
    <p:sldId id="275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018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419E1-F777-494C-8491-EA8075BC2F52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E135A-751E-45AC-94CA-9175424420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34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6E135A-751E-45AC-94CA-91754244204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739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96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875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44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01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39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660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24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989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33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473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51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63148-D1F4-4513-BF47-76C1AF06D8D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969B3-B7F7-4F10-A649-0D48F285FA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41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4165" TargetMode="External"/><Relationship Id="rId2" Type="http://schemas.openxmlformats.org/officeDocument/2006/relationships/hyperlink" Target="https://cdn.openai.com/better-language-models/language_models_are_unsupervised_multitask_learners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Generative</a:t>
            </a:r>
            <a:r>
              <a:rPr lang="hu-HU" dirty="0"/>
              <a:t> </a:t>
            </a:r>
            <a:r>
              <a:rPr lang="hu-HU" dirty="0" err="1"/>
              <a:t>Artificial</a:t>
            </a:r>
            <a:r>
              <a:rPr lang="hu-HU" dirty="0"/>
              <a:t> </a:t>
            </a:r>
            <a:r>
              <a:rPr lang="hu-HU" dirty="0" err="1"/>
              <a:t>Intelligence</a:t>
            </a:r>
            <a:r>
              <a:rPr lang="hu-HU" dirty="0"/>
              <a:t/>
            </a:r>
            <a:br>
              <a:rPr lang="hu-HU" dirty="0"/>
            </a:br>
            <a:r>
              <a:rPr lang="hu-HU" i="1" dirty="0" err="1" smtClean="0"/>
              <a:t>GPT</a:t>
            </a:r>
            <a:r>
              <a:rPr lang="hu-HU" i="1" dirty="0" smtClean="0"/>
              <a:t> and </a:t>
            </a:r>
            <a:r>
              <a:rPr lang="hu-HU" i="1" dirty="0" err="1" smtClean="0"/>
              <a:t>Related</a:t>
            </a:r>
            <a:r>
              <a:rPr lang="hu-HU" i="1" dirty="0" smtClean="0"/>
              <a:t> </a:t>
            </a:r>
            <a:r>
              <a:rPr lang="hu-HU" sz="4000" i="1" dirty="0" err="1" smtClean="0"/>
              <a:t>Generative</a:t>
            </a:r>
            <a:r>
              <a:rPr lang="hu-HU" sz="4000" i="1" dirty="0" smtClean="0"/>
              <a:t> </a:t>
            </a:r>
            <a:r>
              <a:rPr lang="hu-HU" sz="4000" i="1" dirty="0" err="1" smtClean="0"/>
              <a:t>Language</a:t>
            </a:r>
            <a:r>
              <a:rPr lang="hu-HU" sz="4000" i="1" dirty="0" smtClean="0"/>
              <a:t> </a:t>
            </a:r>
            <a:r>
              <a:rPr lang="hu-HU" sz="4000" i="1" dirty="0" err="1" smtClean="0"/>
              <a:t>Models</a:t>
            </a:r>
            <a:endParaRPr lang="en-GB" sz="4000" i="1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403648" y="4365104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hu-HU" dirty="0" smtClean="0"/>
              <a:t>December 4, </a:t>
            </a:r>
            <a:r>
              <a:rPr lang="hu-HU" dirty="0"/>
              <a:t>2025</a:t>
            </a:r>
          </a:p>
          <a:p>
            <a:r>
              <a:rPr lang="hu-HU" dirty="0"/>
              <a:t>Pethő Gergely</a:t>
            </a:r>
          </a:p>
          <a:p>
            <a:r>
              <a:rPr lang="hu-HU" dirty="0" err="1"/>
              <a:t>UD</a:t>
            </a:r>
            <a:r>
              <a:rPr lang="hu-HU" dirty="0"/>
              <a:t> </a:t>
            </a:r>
            <a:r>
              <a:rPr lang="hu-HU" dirty="0" err="1"/>
              <a:t>Faculty</a:t>
            </a:r>
            <a:r>
              <a:rPr lang="hu-HU" dirty="0"/>
              <a:t> of Health Science, </a:t>
            </a:r>
            <a:r>
              <a:rPr lang="hu-HU" dirty="0" err="1"/>
              <a:t>Department</a:t>
            </a:r>
            <a:r>
              <a:rPr lang="hu-HU" dirty="0"/>
              <a:t> of </a:t>
            </a:r>
            <a:r>
              <a:rPr lang="hu-HU" dirty="0" err="1" smtClean="0"/>
              <a:t>Bioinformatics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309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GPT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err="1" smtClean="0"/>
              <a:t>GPT</a:t>
            </a:r>
            <a:r>
              <a:rPr lang="hu-HU" dirty="0" smtClean="0"/>
              <a:t> (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Pretrained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) is an </a:t>
            </a:r>
            <a:r>
              <a:rPr lang="hu-HU" dirty="0" err="1" smtClean="0"/>
              <a:t>open-source</a:t>
            </a:r>
            <a:r>
              <a:rPr lang="hu-HU" dirty="0" smtClean="0"/>
              <a:t>, </a:t>
            </a:r>
            <a:r>
              <a:rPr lang="hu-HU" dirty="0" err="1" smtClean="0"/>
              <a:t>transformer-based</a:t>
            </a:r>
            <a:r>
              <a:rPr lang="hu-HU" dirty="0" smtClean="0"/>
              <a:t> 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released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2018, </a:t>
            </a:r>
            <a:r>
              <a:rPr lang="hu-HU" dirty="0" err="1" smtClean="0"/>
              <a:t>shortly</a:t>
            </a:r>
            <a:r>
              <a:rPr lang="hu-HU" dirty="0" smtClean="0"/>
              <a:t> </a:t>
            </a:r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invention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endParaRPr lang="hu-HU" dirty="0" smtClean="0"/>
          </a:p>
          <a:p>
            <a:pPr lvl="1"/>
            <a:r>
              <a:rPr lang="hu-HU" dirty="0" smtClean="0"/>
              <a:t>117M </a:t>
            </a:r>
            <a:r>
              <a:rPr lang="hu-HU" dirty="0" err="1" smtClean="0"/>
              <a:t>parameters</a:t>
            </a:r>
            <a:r>
              <a:rPr lang="hu-HU" dirty="0" smtClean="0"/>
              <a:t>,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BERT-base</a:t>
            </a:r>
            <a:endParaRPr lang="hu-HU" dirty="0" smtClean="0"/>
          </a:p>
          <a:p>
            <a:pPr lvl="1"/>
            <a:r>
              <a:rPr lang="hu-HU" dirty="0" smtClean="0"/>
              <a:t>12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blocks</a:t>
            </a:r>
            <a:r>
              <a:rPr lang="hu-HU" dirty="0" smtClean="0"/>
              <a:t> and </a:t>
            </a:r>
            <a:r>
              <a:rPr lang="hu-HU" dirty="0" err="1" smtClean="0"/>
              <a:t>attention</a:t>
            </a:r>
            <a:r>
              <a:rPr lang="hu-HU" dirty="0" smtClean="0"/>
              <a:t> </a:t>
            </a:r>
            <a:r>
              <a:rPr lang="hu-HU" dirty="0" err="1" smtClean="0"/>
              <a:t>heads</a:t>
            </a:r>
            <a:r>
              <a:rPr lang="hu-HU" dirty="0" smtClean="0"/>
              <a:t>, 768-dimensional </a:t>
            </a:r>
            <a:r>
              <a:rPr lang="hu-HU" dirty="0" err="1" smtClean="0"/>
              <a:t>vectors</a:t>
            </a:r>
            <a:endParaRPr lang="hu-HU" dirty="0" smtClean="0"/>
          </a:p>
          <a:p>
            <a:pPr lvl="1"/>
            <a:r>
              <a:rPr lang="hu-HU" dirty="0" err="1" smtClean="0"/>
              <a:t>developed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OpenAI</a:t>
            </a:r>
            <a:r>
              <a:rPr lang="hu-HU" dirty="0" smtClean="0"/>
              <a:t>, a </a:t>
            </a:r>
            <a:r>
              <a:rPr lang="hu-HU" dirty="0" err="1" smtClean="0"/>
              <a:t>startup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originally</a:t>
            </a:r>
            <a:r>
              <a:rPr lang="hu-HU" dirty="0" smtClean="0"/>
              <a:t> </a:t>
            </a:r>
            <a:r>
              <a:rPr lang="hu-HU" dirty="0" err="1" smtClean="0"/>
              <a:t>wanted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invent</a:t>
            </a:r>
            <a:r>
              <a:rPr lang="hu-HU" dirty="0" smtClean="0"/>
              <a:t> </a:t>
            </a:r>
            <a:r>
              <a:rPr lang="hu-HU" dirty="0" err="1" smtClean="0"/>
              <a:t>AGI</a:t>
            </a:r>
            <a:r>
              <a:rPr lang="hu-HU" dirty="0" smtClean="0"/>
              <a:t> and </a:t>
            </a:r>
            <a:r>
              <a:rPr lang="hu-HU" dirty="0" err="1" smtClean="0"/>
              <a:t>make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openly</a:t>
            </a:r>
            <a:r>
              <a:rPr lang="hu-HU" dirty="0" smtClean="0"/>
              <a:t> </a:t>
            </a:r>
            <a:r>
              <a:rPr lang="hu-HU" dirty="0" err="1" smtClean="0"/>
              <a:t>available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public</a:t>
            </a:r>
            <a:endParaRPr lang="hu-HU" dirty="0" smtClean="0"/>
          </a:p>
          <a:p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successor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GPT-2, </a:t>
            </a:r>
            <a:r>
              <a:rPr lang="hu-HU" dirty="0" err="1" smtClean="0"/>
              <a:t>released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2018, 4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117M and 1.5G </a:t>
            </a:r>
            <a:r>
              <a:rPr lang="hu-HU" dirty="0" err="1" smtClean="0"/>
              <a:t>parameters</a:t>
            </a:r>
            <a:endParaRPr lang="hu-HU" dirty="0" smtClean="0"/>
          </a:p>
          <a:p>
            <a:pPr lvl="1"/>
            <a:r>
              <a:rPr lang="hu-HU" dirty="0" err="1" smtClean="0"/>
              <a:t>largest</a:t>
            </a:r>
            <a:r>
              <a:rPr lang="hu-HU" dirty="0" smtClean="0"/>
              <a:t>: 48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blocks</a:t>
            </a:r>
            <a:r>
              <a:rPr lang="hu-HU" dirty="0" smtClean="0"/>
              <a:t>, 1600-dimensional</a:t>
            </a:r>
          </a:p>
          <a:p>
            <a:r>
              <a:rPr lang="hu-HU" dirty="0" err="1" smtClean="0"/>
              <a:t>Breakthrough</a:t>
            </a:r>
            <a:r>
              <a:rPr lang="hu-HU" dirty="0" smtClean="0"/>
              <a:t> </a:t>
            </a:r>
            <a:r>
              <a:rPr lang="hu-HU" dirty="0" err="1" smtClean="0"/>
              <a:t>development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GPT-3, 2020, 8 </a:t>
            </a:r>
            <a:r>
              <a:rPr lang="hu-HU" dirty="0" err="1" smtClean="0"/>
              <a:t>sizes</a:t>
            </a:r>
            <a:r>
              <a:rPr lang="hu-HU" dirty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125M and 175B </a:t>
            </a:r>
            <a:r>
              <a:rPr lang="hu-HU" dirty="0" err="1" smtClean="0"/>
              <a:t>parameters</a:t>
            </a:r>
            <a:endParaRPr lang="hu-HU" dirty="0" smtClean="0"/>
          </a:p>
          <a:p>
            <a:pPr lvl="1"/>
            <a:r>
              <a:rPr lang="hu-HU" dirty="0" smtClean="0"/>
              <a:t>175B: 96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blocks</a:t>
            </a:r>
            <a:r>
              <a:rPr lang="hu-HU" dirty="0" smtClean="0"/>
              <a:t> and </a:t>
            </a:r>
            <a:r>
              <a:rPr lang="hu-HU" dirty="0" err="1" smtClean="0"/>
              <a:t>attention</a:t>
            </a:r>
            <a:r>
              <a:rPr lang="hu-HU" dirty="0" smtClean="0"/>
              <a:t> </a:t>
            </a:r>
            <a:r>
              <a:rPr lang="hu-HU" dirty="0" err="1" smtClean="0"/>
              <a:t>heads</a:t>
            </a:r>
            <a:r>
              <a:rPr lang="hu-HU" dirty="0" smtClean="0"/>
              <a:t>, 12288-dimensional</a:t>
            </a:r>
          </a:p>
          <a:p>
            <a:pPr lvl="1"/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open-sourced</a:t>
            </a:r>
            <a:r>
              <a:rPr lang="hu-HU" dirty="0" smtClean="0"/>
              <a:t>,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accessible</a:t>
            </a:r>
            <a:r>
              <a:rPr lang="hu-HU" dirty="0" smtClean="0"/>
              <a:t> </a:t>
            </a:r>
            <a:r>
              <a:rPr lang="hu-HU" dirty="0" err="1" smtClean="0"/>
              <a:t>through</a:t>
            </a:r>
            <a:r>
              <a:rPr lang="hu-HU" dirty="0" smtClean="0"/>
              <a:t> </a:t>
            </a:r>
            <a:r>
              <a:rPr lang="hu-HU" dirty="0" err="1" smtClean="0"/>
              <a:t>OpenAI</a:t>
            </a:r>
            <a:r>
              <a:rPr lang="hu-HU" dirty="0" smtClean="0"/>
              <a:t>’s </a:t>
            </a:r>
            <a:r>
              <a:rPr lang="hu-HU" dirty="0" err="1" smtClean="0"/>
              <a:t>API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065101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Pre-training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62500" lnSpcReduction="20000"/>
          </a:bodyPr>
          <a:lstStyle/>
          <a:p>
            <a:r>
              <a:rPr lang="hu-HU" b="1" dirty="0" err="1" smtClean="0"/>
              <a:t>Unsupervised</a:t>
            </a:r>
            <a:r>
              <a:rPr lang="hu-HU" b="1" dirty="0" smtClean="0"/>
              <a:t>, </a:t>
            </a:r>
            <a:r>
              <a:rPr lang="hu-HU" b="1" dirty="0" err="1" smtClean="0"/>
              <a:t>autoregressive</a:t>
            </a:r>
            <a:r>
              <a:rPr lang="hu-HU" b="1" dirty="0" smtClean="0"/>
              <a:t> </a:t>
            </a:r>
            <a:r>
              <a:rPr lang="hu-HU" dirty="0" err="1" smtClean="0"/>
              <a:t>pre-training</a:t>
            </a:r>
            <a:endParaRPr lang="hu-HU" dirty="0" smtClean="0"/>
          </a:p>
          <a:p>
            <a:r>
              <a:rPr lang="hu-HU" dirty="0" smtClean="0"/>
              <a:t>A </a:t>
            </a:r>
            <a:r>
              <a:rPr lang="hu-HU" b="1" dirty="0" err="1" smtClean="0"/>
              <a:t>training</a:t>
            </a:r>
            <a:r>
              <a:rPr lang="hu-HU" b="1" dirty="0" smtClean="0"/>
              <a:t> corpus of </a:t>
            </a:r>
            <a:r>
              <a:rPr lang="hu-HU" b="1" dirty="0" err="1" smtClean="0"/>
              <a:t>raw</a:t>
            </a:r>
            <a:r>
              <a:rPr lang="hu-HU" b="1" dirty="0" smtClean="0"/>
              <a:t> </a:t>
            </a:r>
            <a:r>
              <a:rPr lang="hu-HU" b="1" dirty="0" err="1" smtClean="0"/>
              <a:t>texts</a:t>
            </a:r>
            <a:r>
              <a:rPr lang="hu-HU" b="1" dirty="0" smtClean="0"/>
              <a:t> </a:t>
            </a:r>
            <a:r>
              <a:rPr lang="hu-HU" dirty="0" err="1" smtClean="0"/>
              <a:t>collected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internet is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train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endParaRPr lang="hu-HU" dirty="0" smtClean="0"/>
          </a:p>
          <a:p>
            <a:r>
              <a:rPr lang="hu-HU" dirty="0" smtClean="0"/>
              <a:t>An </a:t>
            </a:r>
            <a:r>
              <a:rPr lang="hu-HU" b="1" dirty="0" err="1" smtClean="0"/>
              <a:t>initial</a:t>
            </a:r>
            <a:r>
              <a:rPr lang="hu-HU" b="1" dirty="0" smtClean="0"/>
              <a:t> part of a text </a:t>
            </a:r>
            <a:r>
              <a:rPr lang="hu-HU" dirty="0" smtClean="0"/>
              <a:t>is </a:t>
            </a:r>
            <a:r>
              <a:rPr lang="hu-HU" dirty="0" err="1" smtClean="0"/>
              <a:t>provided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input</a:t>
            </a:r>
          </a:p>
          <a:p>
            <a:r>
              <a:rPr lang="hu-HU" dirty="0" err="1" smtClean="0"/>
              <a:t>Tokenised</a:t>
            </a:r>
            <a:r>
              <a:rPr lang="hu-HU" dirty="0" smtClean="0"/>
              <a:t>, </a:t>
            </a:r>
            <a:r>
              <a:rPr lang="hu-HU" dirty="0" err="1" smtClean="0"/>
              <a:t>embedded</a:t>
            </a:r>
            <a:r>
              <a:rPr lang="hu-HU" dirty="0" smtClean="0"/>
              <a:t>, </a:t>
            </a:r>
            <a:r>
              <a:rPr lang="hu-HU" dirty="0" err="1" smtClean="0"/>
              <a:t>processed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endParaRPr lang="hu-HU" dirty="0" smtClean="0"/>
          </a:p>
          <a:p>
            <a:r>
              <a:rPr lang="hu-HU" dirty="0" smtClean="0"/>
              <a:t>The </a:t>
            </a:r>
            <a:r>
              <a:rPr lang="hu-HU" b="1" dirty="0" smtClean="0"/>
              <a:t>output </a:t>
            </a:r>
            <a:r>
              <a:rPr lang="hu-HU" dirty="0" smtClean="0"/>
              <a:t>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predicted</a:t>
            </a:r>
            <a:r>
              <a:rPr lang="hu-HU" b="1" dirty="0" smtClean="0"/>
              <a:t> </a:t>
            </a:r>
            <a:r>
              <a:rPr lang="hu-HU" b="1" dirty="0" err="1" smtClean="0"/>
              <a:t>probability</a:t>
            </a:r>
            <a:r>
              <a:rPr lang="hu-HU" b="1" dirty="0" smtClean="0"/>
              <a:t> </a:t>
            </a:r>
            <a:r>
              <a:rPr lang="hu-HU" b="1" dirty="0" err="1" smtClean="0"/>
              <a:t>distribution</a:t>
            </a:r>
            <a:r>
              <a:rPr lang="hu-HU" b="1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endParaRPr lang="hu-HU" dirty="0" smtClean="0"/>
          </a:p>
          <a:p>
            <a:r>
              <a:rPr lang="hu-HU" dirty="0" smtClean="0"/>
              <a:t>The </a:t>
            </a:r>
            <a:r>
              <a:rPr lang="hu-HU" b="1" dirty="0" err="1" smtClean="0"/>
              <a:t>actual</a:t>
            </a:r>
            <a:r>
              <a:rPr lang="hu-HU" b="1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i="1" dirty="0" smtClean="0"/>
              <a:t>t </a:t>
            </a:r>
            <a:r>
              <a:rPr lang="hu-HU" dirty="0" smtClean="0"/>
              <a:t>is </a:t>
            </a:r>
            <a:r>
              <a:rPr lang="hu-HU" dirty="0" err="1" smtClean="0"/>
              <a:t>known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corpus.</a:t>
            </a:r>
          </a:p>
          <a:p>
            <a:r>
              <a:rPr lang="hu-HU" dirty="0" smtClean="0"/>
              <a:t>The </a:t>
            </a:r>
            <a:r>
              <a:rPr lang="hu-HU" b="1" dirty="0" err="1" smtClean="0"/>
              <a:t>error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loss</a:t>
            </a:r>
            <a:r>
              <a:rPr lang="hu-HU" dirty="0" smtClean="0"/>
              <a:t>)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 </a:t>
            </a:r>
            <a:r>
              <a:rPr lang="hu-HU" dirty="0" err="1" smtClean="0"/>
              <a:t>point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difference</a:t>
            </a:r>
            <a:r>
              <a:rPr lang="hu-HU" b="1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predicted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i="1" dirty="0" smtClean="0"/>
              <a:t>t </a:t>
            </a:r>
            <a:r>
              <a:rPr lang="hu-HU" dirty="0" smtClean="0"/>
              <a:t>and 1</a:t>
            </a:r>
          </a:p>
          <a:p>
            <a:pPr lvl="1"/>
            <a:r>
              <a:rPr lang="hu-HU" dirty="0" err="1"/>
              <a:t>A</a:t>
            </a:r>
            <a:r>
              <a:rPr lang="hu-HU" dirty="0" err="1" smtClean="0"/>
              <a:t>s</a:t>
            </a:r>
            <a:r>
              <a:rPr lang="hu-HU" dirty="0" smtClean="0"/>
              <a:t> </a:t>
            </a:r>
            <a:r>
              <a:rPr lang="hu-HU" dirty="0" err="1" smtClean="0"/>
              <a:t>always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error</a:t>
            </a:r>
            <a:r>
              <a:rPr lang="hu-HU" b="1" dirty="0" smtClean="0"/>
              <a:t> is </a:t>
            </a:r>
            <a:r>
              <a:rPr lang="hu-HU" b="1" dirty="0" err="1" smtClean="0"/>
              <a:t>back-propagated</a:t>
            </a:r>
            <a:r>
              <a:rPr lang="hu-HU" b="1" dirty="0" smtClean="0"/>
              <a:t> </a:t>
            </a:r>
            <a:r>
              <a:rPr lang="hu-HU" dirty="0" err="1" smtClean="0"/>
              <a:t>through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r>
              <a:rPr lang="hu-HU" dirty="0" smtClean="0"/>
              <a:t>, i.e.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parameter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r>
              <a:rPr lang="hu-HU" dirty="0" smtClean="0"/>
              <a:t> is </a:t>
            </a:r>
            <a:r>
              <a:rPr lang="hu-HU" dirty="0" err="1" smtClean="0"/>
              <a:t>updated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 </a:t>
            </a:r>
            <a:r>
              <a:rPr lang="hu-HU" dirty="0" err="1" smtClean="0"/>
              <a:t>point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partial</a:t>
            </a:r>
            <a:r>
              <a:rPr lang="hu-HU" dirty="0" smtClean="0"/>
              <a:t> </a:t>
            </a:r>
            <a:r>
              <a:rPr lang="hu-HU" dirty="0" err="1" smtClean="0"/>
              <a:t>derivative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error</a:t>
            </a:r>
            <a:r>
              <a:rPr lang="hu-HU" dirty="0" smtClean="0"/>
              <a:t> </a:t>
            </a:r>
            <a:r>
              <a:rPr lang="hu-HU" dirty="0" err="1" smtClean="0"/>
              <a:t>calculated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parameter</a:t>
            </a:r>
            <a:endParaRPr lang="hu-HU" dirty="0" smtClean="0"/>
          </a:p>
          <a:p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continues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endParaRPr lang="hu-HU" dirty="0" smtClean="0"/>
          </a:p>
          <a:p>
            <a:r>
              <a:rPr lang="hu-HU" dirty="0" smtClean="0"/>
              <a:t>The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window</a:t>
            </a:r>
            <a:r>
              <a:rPr lang="hu-HU" dirty="0" smtClean="0"/>
              <a:t> </a:t>
            </a:r>
            <a:r>
              <a:rPr lang="hu-HU" dirty="0" err="1" smtClean="0"/>
              <a:t>visible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limited </a:t>
            </a:r>
            <a:r>
              <a:rPr lang="hu-HU" dirty="0" err="1" smtClean="0"/>
              <a:t>because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quadratic</a:t>
            </a:r>
            <a:r>
              <a:rPr lang="hu-HU" dirty="0" smtClean="0"/>
              <a:t> </a:t>
            </a:r>
            <a:r>
              <a:rPr lang="hu-HU" dirty="0" err="1" smtClean="0"/>
              <a:t>complexity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relative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input </a:t>
            </a:r>
            <a:r>
              <a:rPr lang="hu-HU" dirty="0" err="1" smtClean="0"/>
              <a:t>length</a:t>
            </a:r>
            <a:endParaRPr lang="hu-HU" dirty="0" smtClean="0"/>
          </a:p>
          <a:p>
            <a:pPr lvl="1"/>
            <a:r>
              <a:rPr lang="hu-HU" dirty="0" err="1" smtClean="0"/>
              <a:t>For</a:t>
            </a:r>
            <a:r>
              <a:rPr lang="hu-HU" dirty="0" smtClean="0"/>
              <a:t> GPT-3,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limited </a:t>
            </a:r>
            <a:r>
              <a:rPr lang="hu-HU" dirty="0" err="1" smtClean="0"/>
              <a:t>to</a:t>
            </a:r>
            <a:r>
              <a:rPr lang="hu-HU" dirty="0" smtClean="0"/>
              <a:t> 2048 </a:t>
            </a:r>
            <a:r>
              <a:rPr lang="hu-HU" dirty="0" err="1" smtClean="0"/>
              <a:t>tokens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785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Result</a:t>
            </a:r>
            <a:r>
              <a:rPr lang="hu-HU" dirty="0" smtClean="0"/>
              <a:t> of </a:t>
            </a:r>
            <a:r>
              <a:rPr lang="hu-HU" dirty="0" err="1" smtClean="0"/>
              <a:t>Pre-training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 err="1" smtClean="0"/>
              <a:t>During</a:t>
            </a:r>
            <a:r>
              <a:rPr lang="hu-HU" dirty="0" smtClean="0"/>
              <a:t> </a:t>
            </a:r>
            <a:r>
              <a:rPr lang="hu-HU" dirty="0" err="1" smtClean="0"/>
              <a:t>pre-training</a:t>
            </a:r>
            <a:r>
              <a:rPr lang="hu-HU" dirty="0" smtClean="0"/>
              <a:t>, a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learns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predict</a:t>
            </a:r>
            <a:r>
              <a:rPr lang="hu-HU" dirty="0" smtClean="0"/>
              <a:t> </a:t>
            </a:r>
            <a:r>
              <a:rPr lang="hu-HU" b="1" dirty="0" err="1" smtClean="0"/>
              <a:t>how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input text </a:t>
            </a:r>
            <a:r>
              <a:rPr lang="hu-HU" b="1" dirty="0" err="1" smtClean="0"/>
              <a:t>would</a:t>
            </a:r>
            <a:r>
              <a:rPr lang="hu-HU" b="1" dirty="0" smtClean="0"/>
              <a:t> </a:t>
            </a:r>
            <a:r>
              <a:rPr lang="hu-HU" b="1" dirty="0" err="1" smtClean="0"/>
              <a:t>continue</a:t>
            </a:r>
            <a:r>
              <a:rPr lang="hu-HU" b="1" dirty="0" smtClean="0"/>
              <a:t>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had </a:t>
            </a:r>
            <a:r>
              <a:rPr lang="hu-HU" dirty="0" err="1" smtClean="0"/>
              <a:t>been</a:t>
            </a:r>
            <a:r>
              <a:rPr lang="hu-HU" dirty="0" smtClean="0"/>
              <a:t> </a:t>
            </a:r>
            <a:r>
              <a:rPr lang="hu-HU" dirty="0" err="1" smtClean="0"/>
              <a:t>written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a human.</a:t>
            </a:r>
          </a:p>
          <a:p>
            <a:pPr lvl="1"/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likely</a:t>
            </a:r>
            <a:r>
              <a:rPr lang="hu-HU" dirty="0" smtClean="0"/>
              <a:t> and </a:t>
            </a:r>
            <a:r>
              <a:rPr lang="hu-HU" dirty="0" err="1" smtClean="0"/>
              <a:t>unlikely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available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includes</a:t>
            </a:r>
            <a:endParaRPr lang="hu-HU" dirty="0" smtClean="0"/>
          </a:p>
          <a:p>
            <a:pPr lvl="2"/>
            <a:r>
              <a:rPr lang="hu-HU" dirty="0" err="1" smtClean="0"/>
              <a:t>language</a:t>
            </a:r>
            <a:endParaRPr lang="hu-HU" dirty="0" smtClean="0"/>
          </a:p>
          <a:p>
            <a:pPr lvl="2"/>
            <a:r>
              <a:rPr lang="hu-HU" dirty="0" err="1" smtClean="0"/>
              <a:t>style</a:t>
            </a:r>
            <a:endParaRPr lang="hu-HU" dirty="0" smtClean="0"/>
          </a:p>
          <a:p>
            <a:pPr lvl="2"/>
            <a:r>
              <a:rPr lang="hu-HU" dirty="0" err="1" smtClean="0"/>
              <a:t>topic</a:t>
            </a:r>
            <a:endParaRPr lang="hu-HU" dirty="0" smtClean="0"/>
          </a:p>
          <a:p>
            <a:pPr lvl="2"/>
            <a:r>
              <a:rPr lang="hu-HU" dirty="0" err="1" smtClean="0"/>
              <a:t>entities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been</a:t>
            </a:r>
            <a:r>
              <a:rPr lang="hu-HU" dirty="0" smtClean="0"/>
              <a:t> </a:t>
            </a:r>
            <a:r>
              <a:rPr lang="hu-HU" dirty="0" err="1" smtClean="0"/>
              <a:t>introduced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preceding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endParaRPr lang="hu-HU" dirty="0" smtClean="0"/>
          </a:p>
          <a:p>
            <a:pPr lvl="2"/>
            <a:r>
              <a:rPr lang="hu-HU" dirty="0" err="1" smtClean="0"/>
              <a:t>structure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so</a:t>
            </a:r>
            <a:r>
              <a:rPr lang="hu-HU" dirty="0" smtClean="0"/>
              <a:t> far, etc.</a:t>
            </a:r>
          </a:p>
          <a:p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b="1" dirty="0" err="1" smtClean="0"/>
              <a:t>not</a:t>
            </a:r>
            <a:r>
              <a:rPr lang="hu-HU" b="1" dirty="0" smtClean="0"/>
              <a:t> </a:t>
            </a:r>
            <a:r>
              <a:rPr lang="hu-HU" dirty="0" err="1" smtClean="0"/>
              <a:t>learn</a:t>
            </a:r>
            <a:r>
              <a:rPr lang="hu-HU" dirty="0" smtClean="0"/>
              <a:t> </a:t>
            </a:r>
            <a:r>
              <a:rPr lang="hu-HU" dirty="0" err="1" smtClean="0"/>
              <a:t>how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lead a </a:t>
            </a:r>
            <a:r>
              <a:rPr lang="hu-HU" dirty="0" err="1" smtClean="0"/>
              <a:t>conversation</a:t>
            </a:r>
            <a:r>
              <a:rPr lang="hu-HU" dirty="0" smtClean="0"/>
              <a:t>, i.e. </a:t>
            </a:r>
            <a:r>
              <a:rPr lang="hu-HU" dirty="0" err="1" smtClean="0"/>
              <a:t>behave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a chatbot.</a:t>
            </a:r>
          </a:p>
        </p:txBody>
      </p:sp>
    </p:spTree>
    <p:extLst>
      <p:ext uri="{BB962C8B-B14F-4D97-AF65-F5344CB8AC3E}">
        <p14:creationId xmlns:p14="http://schemas.microsoft.com/office/powerpoint/2010/main" val="268108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Inference</a:t>
            </a:r>
            <a:r>
              <a:rPr lang="hu-HU" dirty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a </a:t>
            </a:r>
            <a:r>
              <a:rPr lang="hu-HU" dirty="0" err="1" smtClean="0"/>
              <a:t>Pre-trained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62500" lnSpcReduction="20000"/>
          </a:bodyPr>
          <a:lstStyle/>
          <a:p>
            <a:r>
              <a:rPr lang="hu-HU" dirty="0" err="1" smtClean="0"/>
              <a:t>When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a </a:t>
            </a:r>
            <a:r>
              <a:rPr lang="hu-HU" dirty="0" err="1" smtClean="0"/>
              <a:t>pre-trained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inference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user</a:t>
            </a:r>
            <a:r>
              <a:rPr lang="hu-HU" dirty="0" smtClean="0"/>
              <a:t> </a:t>
            </a:r>
            <a:r>
              <a:rPr lang="hu-HU" dirty="0" err="1" smtClean="0"/>
              <a:t>enters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text,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smtClean="0"/>
              <a:t>prompt</a:t>
            </a:r>
            <a:r>
              <a:rPr lang="hu-HU" dirty="0" smtClean="0"/>
              <a:t>.</a:t>
            </a:r>
          </a:p>
          <a:p>
            <a:r>
              <a:rPr lang="hu-HU" dirty="0" smtClean="0"/>
              <a:t>The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calculates</a:t>
            </a:r>
            <a:r>
              <a:rPr lang="hu-HU" dirty="0" smtClean="0"/>
              <a:t> a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</a:t>
            </a:r>
            <a:r>
              <a:rPr lang="hu-HU" dirty="0" err="1" smtClean="0"/>
              <a:t>continue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prompt.</a:t>
            </a:r>
          </a:p>
          <a:p>
            <a:r>
              <a:rPr lang="hu-HU" dirty="0" smtClean="0"/>
              <a:t>The </a:t>
            </a:r>
            <a:r>
              <a:rPr lang="hu-HU" dirty="0" err="1" smtClean="0"/>
              <a:t>external</a:t>
            </a:r>
            <a:r>
              <a:rPr lang="hu-HU" dirty="0" smtClean="0"/>
              <a:t> </a:t>
            </a:r>
            <a:r>
              <a:rPr lang="hu-HU" dirty="0" err="1" smtClean="0"/>
              <a:t>piece</a:t>
            </a:r>
            <a:r>
              <a:rPr lang="hu-HU" dirty="0" smtClean="0"/>
              <a:t> of software (</a:t>
            </a:r>
            <a:r>
              <a:rPr lang="hu-HU" dirty="0" err="1" smtClean="0"/>
              <a:t>which</a:t>
            </a:r>
            <a:r>
              <a:rPr lang="hu-HU" dirty="0" smtClean="0"/>
              <a:t> is </a:t>
            </a:r>
            <a:r>
              <a:rPr lang="hu-HU" dirty="0" err="1" smtClean="0"/>
              <a:t>not</a:t>
            </a:r>
            <a:r>
              <a:rPr lang="hu-HU" dirty="0" smtClean="0"/>
              <a:t> part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) </a:t>
            </a:r>
            <a:r>
              <a:rPr lang="hu-HU" dirty="0" err="1" smtClean="0"/>
              <a:t>executes</a:t>
            </a:r>
            <a:r>
              <a:rPr lang="hu-HU" dirty="0" smtClean="0"/>
              <a:t> a </a:t>
            </a:r>
            <a:r>
              <a:rPr lang="hu-HU" dirty="0" err="1" smtClean="0"/>
              <a:t>loop</a:t>
            </a:r>
            <a:r>
              <a:rPr lang="hu-HU" dirty="0" smtClean="0"/>
              <a:t> </a:t>
            </a:r>
            <a:r>
              <a:rPr lang="hu-HU" dirty="0" err="1" smtClean="0"/>
              <a:t>consisting</a:t>
            </a:r>
            <a:r>
              <a:rPr lang="hu-HU" dirty="0" smtClean="0"/>
              <a:t> of </a:t>
            </a:r>
            <a:r>
              <a:rPr lang="hu-HU" dirty="0" err="1" smtClean="0"/>
              <a:t>two</a:t>
            </a:r>
            <a:r>
              <a:rPr lang="hu-HU" dirty="0" smtClean="0"/>
              <a:t> </a:t>
            </a:r>
            <a:r>
              <a:rPr lang="hu-HU" dirty="0" err="1" smtClean="0"/>
              <a:t>steps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b="1" dirty="0" err="1" smtClean="0"/>
              <a:t>samples</a:t>
            </a:r>
            <a:r>
              <a:rPr lang="hu-HU" b="1" dirty="0" smtClean="0"/>
              <a:t> a </a:t>
            </a:r>
            <a:r>
              <a:rPr lang="hu-HU" b="1" dirty="0" err="1" smtClean="0"/>
              <a:t>single</a:t>
            </a:r>
            <a:r>
              <a:rPr lang="hu-HU" b="1" dirty="0" smtClean="0"/>
              <a:t> </a:t>
            </a:r>
            <a:r>
              <a:rPr lang="hu-HU" b="1" dirty="0" err="1" smtClean="0"/>
              <a:t>token</a:t>
            </a:r>
            <a:r>
              <a:rPr lang="hu-HU" b="1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output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generated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adds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sampled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right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previous</a:t>
            </a:r>
            <a:r>
              <a:rPr lang="hu-HU" dirty="0" smtClean="0"/>
              <a:t> input, </a:t>
            </a:r>
            <a:r>
              <a:rPr lang="hu-HU" dirty="0" err="1" smtClean="0"/>
              <a:t>then</a:t>
            </a:r>
            <a:r>
              <a:rPr lang="hu-HU" dirty="0" smtClean="0"/>
              <a:t> </a:t>
            </a:r>
            <a:r>
              <a:rPr lang="hu-HU" dirty="0" err="1" smtClean="0"/>
              <a:t>feeds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input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is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longer</a:t>
            </a:r>
            <a:r>
              <a:rPr lang="hu-HU" dirty="0" smtClean="0"/>
              <a:t> </a:t>
            </a:r>
            <a:r>
              <a:rPr lang="hu-HU" dirty="0" err="1" smtClean="0"/>
              <a:t>than</a:t>
            </a:r>
            <a:r>
              <a:rPr lang="hu-HU" dirty="0" smtClean="0"/>
              <a:t> </a:t>
            </a:r>
            <a:r>
              <a:rPr lang="hu-HU" dirty="0" err="1" smtClean="0"/>
              <a:t>before</a:t>
            </a:r>
            <a:r>
              <a:rPr lang="hu-HU" dirty="0" smtClean="0"/>
              <a:t>, again </a:t>
            </a:r>
            <a:r>
              <a:rPr lang="hu-HU" dirty="0" err="1" smtClean="0"/>
              <a:t>into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.</a:t>
            </a:r>
          </a:p>
          <a:p>
            <a:r>
              <a:rPr lang="hu-HU" dirty="0" smtClean="0"/>
              <a:t>The </a:t>
            </a:r>
            <a:r>
              <a:rPr lang="hu-HU" dirty="0" err="1" smtClean="0"/>
              <a:t>loop</a:t>
            </a:r>
            <a:r>
              <a:rPr lang="hu-HU" dirty="0" smtClean="0"/>
              <a:t> </a:t>
            </a:r>
            <a:r>
              <a:rPr lang="hu-HU" dirty="0" err="1" smtClean="0"/>
              <a:t>stops</a:t>
            </a:r>
            <a:r>
              <a:rPr lang="hu-HU" dirty="0" smtClean="0"/>
              <a:t> </a:t>
            </a:r>
            <a:r>
              <a:rPr lang="hu-HU" dirty="0" err="1" smtClean="0"/>
              <a:t>when</a:t>
            </a:r>
            <a:r>
              <a:rPr lang="hu-HU" dirty="0" smtClean="0"/>
              <a:t>:</a:t>
            </a:r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outputs</a:t>
            </a:r>
            <a:r>
              <a:rPr lang="hu-HU" dirty="0" smtClean="0"/>
              <a:t> a </a:t>
            </a:r>
            <a:r>
              <a:rPr lang="hu-HU" dirty="0" err="1" smtClean="0"/>
              <a:t>special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indicates</a:t>
            </a:r>
            <a:r>
              <a:rPr lang="hu-HU" dirty="0" smtClean="0"/>
              <a:t> end of </a:t>
            </a:r>
            <a:r>
              <a:rPr lang="hu-HU" dirty="0" err="1" smtClean="0"/>
              <a:t>sequence</a:t>
            </a:r>
            <a:r>
              <a:rPr lang="hu-HU" dirty="0" smtClean="0"/>
              <a:t>, ([</a:t>
            </a:r>
            <a:r>
              <a:rPr lang="hu-HU" dirty="0" err="1" smtClean="0"/>
              <a:t>EOS</a:t>
            </a:r>
            <a:r>
              <a:rPr lang="hu-HU" dirty="0" smtClean="0"/>
              <a:t>]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similar</a:t>
            </a:r>
            <a:r>
              <a:rPr lang="hu-HU" dirty="0" smtClean="0"/>
              <a:t>),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signals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external</a:t>
            </a:r>
            <a:r>
              <a:rPr lang="hu-HU" dirty="0" smtClean="0"/>
              <a:t> software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should</a:t>
            </a:r>
            <a:r>
              <a:rPr lang="hu-HU" dirty="0" smtClean="0"/>
              <a:t> stop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loop</a:t>
            </a:r>
            <a:r>
              <a:rPr lang="hu-HU" dirty="0" smtClean="0"/>
              <a:t> and print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generated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pre-set</a:t>
            </a:r>
            <a:r>
              <a:rPr lang="hu-HU" dirty="0" smtClean="0"/>
              <a:t> maximum </a:t>
            </a:r>
            <a:r>
              <a:rPr lang="hu-HU" dirty="0" err="1" smtClean="0"/>
              <a:t>generation</a:t>
            </a:r>
            <a:r>
              <a:rPr lang="hu-HU" dirty="0" smtClean="0"/>
              <a:t> </a:t>
            </a:r>
            <a:r>
              <a:rPr lang="hu-HU" dirty="0" err="1" smtClean="0"/>
              <a:t>length</a:t>
            </a:r>
            <a:r>
              <a:rPr lang="hu-HU" dirty="0" smtClean="0"/>
              <a:t> is </a:t>
            </a:r>
            <a:r>
              <a:rPr lang="hu-HU" dirty="0" err="1" smtClean="0"/>
              <a:t>reached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 200 </a:t>
            </a:r>
            <a:r>
              <a:rPr lang="hu-HU" dirty="0" err="1" smtClean="0"/>
              <a:t>tokens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Might</a:t>
            </a:r>
            <a:r>
              <a:rPr lang="hu-HU" dirty="0" smtClean="0"/>
              <a:t> be, and </a:t>
            </a:r>
            <a:r>
              <a:rPr lang="hu-HU" dirty="0" err="1" smtClean="0"/>
              <a:t>likely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be,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middle</a:t>
            </a:r>
            <a:r>
              <a:rPr lang="hu-HU" dirty="0" smtClean="0"/>
              <a:t> of a </a:t>
            </a:r>
            <a:r>
              <a:rPr lang="hu-HU" dirty="0" err="1" smtClean="0"/>
              <a:t>sentence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Could</a:t>
            </a:r>
            <a:r>
              <a:rPr lang="hu-HU" dirty="0" smtClean="0"/>
              <a:t> be </a:t>
            </a:r>
            <a:r>
              <a:rPr lang="hu-HU" dirty="0" err="1" smtClean="0"/>
              <a:t>longer</a:t>
            </a:r>
            <a:r>
              <a:rPr lang="hu-HU" dirty="0" smtClean="0"/>
              <a:t> </a:t>
            </a:r>
            <a:r>
              <a:rPr lang="hu-HU" dirty="0" err="1" smtClean="0"/>
              <a:t>than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maximum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length</a:t>
            </a:r>
            <a:r>
              <a:rPr lang="hu-HU" dirty="0" smtClean="0"/>
              <a:t>, i.e. 2048 </a:t>
            </a:r>
            <a:r>
              <a:rPr lang="hu-HU" dirty="0" err="1" smtClean="0"/>
              <a:t>tokens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then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left</a:t>
            </a:r>
            <a:r>
              <a:rPr lang="hu-HU" dirty="0" smtClean="0"/>
              <a:t> </a:t>
            </a:r>
            <a:r>
              <a:rPr lang="hu-HU" dirty="0" err="1" smtClean="0"/>
              <a:t>edge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input is </a:t>
            </a:r>
            <a:r>
              <a:rPr lang="hu-HU" dirty="0" err="1" smtClean="0"/>
              <a:t>truncated</a:t>
            </a:r>
            <a:r>
              <a:rPr lang="hu-HU" dirty="0" smtClean="0"/>
              <a:t> (a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removed</a:t>
            </a:r>
            <a:r>
              <a:rPr lang="hu-HU" dirty="0" smtClean="0"/>
              <a:t>) </a:t>
            </a:r>
            <a:r>
              <a:rPr lang="hu-HU" dirty="0" err="1" smtClean="0"/>
              <a:t>every</a:t>
            </a:r>
            <a:r>
              <a:rPr lang="hu-HU" dirty="0" smtClean="0"/>
              <a:t> </a:t>
            </a:r>
            <a:r>
              <a:rPr lang="hu-HU" dirty="0" err="1" smtClean="0"/>
              <a:t>time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is </a:t>
            </a:r>
            <a:r>
              <a:rPr lang="hu-HU" dirty="0" err="1" smtClean="0"/>
              <a:t>added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right.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5944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Transformers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Stateless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b="1" dirty="0" err="1" smtClean="0"/>
              <a:t>does</a:t>
            </a:r>
            <a:r>
              <a:rPr lang="hu-HU" b="1" dirty="0" smtClean="0"/>
              <a:t> </a:t>
            </a:r>
            <a:r>
              <a:rPr lang="hu-HU" b="1" dirty="0" err="1" smtClean="0"/>
              <a:t>not</a:t>
            </a:r>
            <a:r>
              <a:rPr lang="hu-HU" b="1" dirty="0" smtClean="0"/>
              <a:t> </a:t>
            </a:r>
            <a:r>
              <a:rPr lang="hu-HU" b="1" dirty="0" err="1" smtClean="0"/>
              <a:t>have</a:t>
            </a:r>
            <a:r>
              <a:rPr lang="hu-HU" b="1" dirty="0" smtClean="0"/>
              <a:t> </a:t>
            </a:r>
            <a:r>
              <a:rPr lang="hu-HU" b="1" dirty="0" err="1" smtClean="0"/>
              <a:t>a</a:t>
            </a:r>
            <a:r>
              <a:rPr lang="hu-HU" b="1" dirty="0" smtClean="0"/>
              <a:t> </a:t>
            </a:r>
            <a:r>
              <a:rPr lang="hu-HU" b="1" dirty="0" err="1" smtClean="0"/>
              <a:t>state</a:t>
            </a:r>
            <a:r>
              <a:rPr lang="hu-HU" b="1" dirty="0"/>
              <a:t>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any</a:t>
            </a:r>
            <a:r>
              <a:rPr lang="hu-HU" dirty="0" smtClean="0"/>
              <a:t> </a:t>
            </a:r>
            <a:r>
              <a:rPr lang="hu-HU" dirty="0" err="1" smtClean="0"/>
              <a:t>level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r>
              <a:rPr lang="hu-HU" dirty="0" smtClean="0"/>
              <a:t>, i.e.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b="1" dirty="0" err="1" smtClean="0"/>
              <a:t>does</a:t>
            </a:r>
            <a:r>
              <a:rPr lang="hu-HU" b="1" dirty="0" smtClean="0"/>
              <a:t> </a:t>
            </a:r>
            <a:r>
              <a:rPr lang="hu-HU" b="1" dirty="0" err="1" smtClean="0"/>
              <a:t>not</a:t>
            </a:r>
            <a:r>
              <a:rPr lang="hu-HU" b="1" dirty="0" smtClean="0"/>
              <a:t> </a:t>
            </a:r>
            <a:r>
              <a:rPr lang="hu-HU" b="1" dirty="0" err="1" smtClean="0"/>
              <a:t>have</a:t>
            </a:r>
            <a:r>
              <a:rPr lang="hu-HU" b="1" dirty="0" smtClean="0"/>
              <a:t> </a:t>
            </a:r>
            <a:r>
              <a:rPr lang="hu-HU" b="1" dirty="0" err="1" smtClean="0"/>
              <a:t>memory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remember</a:t>
            </a:r>
            <a:r>
              <a:rPr lang="hu-HU" dirty="0" smtClean="0"/>
              <a:t> </a:t>
            </a:r>
            <a:r>
              <a:rPr lang="hu-HU" b="1" dirty="0" err="1" smtClean="0"/>
              <a:t>any</a:t>
            </a:r>
            <a:r>
              <a:rPr lang="hu-HU" b="1" dirty="0" smtClean="0"/>
              <a:t> </a:t>
            </a:r>
            <a:r>
              <a:rPr lang="hu-HU" b="1" dirty="0" err="1" smtClean="0"/>
              <a:t>events</a:t>
            </a:r>
            <a:endParaRPr lang="hu-HU" b="1" dirty="0"/>
          </a:p>
          <a:p>
            <a:pPr lvl="1"/>
            <a:r>
              <a:rPr lang="hu-HU" b="1" dirty="0" err="1" smtClean="0"/>
              <a:t>neither</a:t>
            </a:r>
            <a:r>
              <a:rPr lang="hu-HU" b="1" dirty="0" smtClean="0"/>
              <a:t> </a:t>
            </a:r>
            <a:r>
              <a:rPr lang="hu-HU" dirty="0" err="1" smtClean="0"/>
              <a:t>those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occurred</a:t>
            </a:r>
            <a:r>
              <a:rPr lang="hu-HU" dirty="0" smtClean="0"/>
              <a:t> </a:t>
            </a:r>
            <a:r>
              <a:rPr lang="hu-HU" b="1" dirty="0" err="1" smtClean="0"/>
              <a:t>during</a:t>
            </a:r>
            <a:r>
              <a:rPr lang="hu-HU" b="1" dirty="0" smtClean="0"/>
              <a:t> </a:t>
            </a:r>
            <a:r>
              <a:rPr lang="hu-HU" b="1" dirty="0" err="1" smtClean="0"/>
              <a:t>its</a:t>
            </a:r>
            <a:r>
              <a:rPr lang="hu-HU" b="1" dirty="0" smtClean="0"/>
              <a:t> </a:t>
            </a:r>
            <a:r>
              <a:rPr lang="hu-HU" b="1" dirty="0" err="1" smtClean="0"/>
              <a:t>training</a:t>
            </a:r>
            <a:endParaRPr lang="hu-HU" b="1" dirty="0" smtClean="0"/>
          </a:p>
          <a:p>
            <a:pPr lvl="1"/>
            <a:r>
              <a:rPr lang="hu-HU" b="1" dirty="0" err="1" smtClean="0"/>
              <a:t>nor</a:t>
            </a:r>
            <a:r>
              <a:rPr lang="hu-HU" b="1" dirty="0" smtClean="0"/>
              <a:t> input </a:t>
            </a:r>
            <a:r>
              <a:rPr lang="hu-HU" b="1" dirty="0" err="1" smtClean="0"/>
              <a:t>that</a:t>
            </a:r>
            <a:r>
              <a:rPr lang="hu-HU" b="1" dirty="0" smtClean="0"/>
              <a:t> </a:t>
            </a:r>
            <a:r>
              <a:rPr lang="hu-HU" b="1" dirty="0" err="1" smtClean="0"/>
              <a:t>it</a:t>
            </a:r>
            <a:r>
              <a:rPr lang="hu-HU" b="1" dirty="0" smtClean="0"/>
              <a:t> has </a:t>
            </a:r>
            <a:r>
              <a:rPr lang="hu-HU" b="1" dirty="0" err="1" smtClean="0"/>
              <a:t>received</a:t>
            </a:r>
            <a:r>
              <a:rPr lang="hu-HU" b="1" dirty="0" smtClean="0"/>
              <a:t> </a:t>
            </a:r>
            <a:r>
              <a:rPr lang="hu-HU" dirty="0" err="1" smtClean="0"/>
              <a:t>since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endParaRPr lang="hu-HU" dirty="0" smtClean="0"/>
          </a:p>
          <a:p>
            <a:pPr lvl="1"/>
            <a:r>
              <a:rPr lang="hu-HU" b="1" dirty="0" err="1" smtClean="0"/>
              <a:t>nor</a:t>
            </a:r>
            <a:r>
              <a:rPr lang="hu-HU" b="1" dirty="0" smtClean="0"/>
              <a:t> </a:t>
            </a:r>
            <a:r>
              <a:rPr lang="hu-HU" b="1" dirty="0" err="1" smtClean="0"/>
              <a:t>what</a:t>
            </a:r>
            <a:r>
              <a:rPr lang="hu-HU" b="1" dirty="0" smtClean="0"/>
              <a:t> </a:t>
            </a:r>
            <a:r>
              <a:rPr lang="hu-HU" b="1" dirty="0" err="1" smtClean="0"/>
              <a:t>it</a:t>
            </a:r>
            <a:r>
              <a:rPr lang="hu-HU" b="1" dirty="0" smtClean="0"/>
              <a:t> has </a:t>
            </a:r>
            <a:r>
              <a:rPr lang="hu-HU" b="1" dirty="0" err="1" smtClean="0"/>
              <a:t>generated</a:t>
            </a:r>
            <a:r>
              <a:rPr lang="hu-HU" b="1" dirty="0" smtClean="0"/>
              <a:t> </a:t>
            </a:r>
            <a:r>
              <a:rPr lang="hu-HU" dirty="0" err="1" smtClean="0"/>
              <a:t>so</a:t>
            </a:r>
            <a:r>
              <a:rPr lang="hu-HU" dirty="0" smtClean="0"/>
              <a:t> far</a:t>
            </a:r>
          </a:p>
          <a:p>
            <a:r>
              <a:rPr lang="hu-HU" dirty="0" smtClean="0"/>
              <a:t>An </a:t>
            </a:r>
            <a:r>
              <a:rPr lang="hu-HU" dirty="0" err="1" smtClean="0"/>
              <a:t>approximation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is </a:t>
            </a:r>
            <a:r>
              <a:rPr lang="hu-HU" dirty="0" err="1" smtClean="0"/>
              <a:t>stored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weights</a:t>
            </a:r>
            <a:r>
              <a:rPr lang="hu-HU" dirty="0" smtClean="0"/>
              <a:t> (</a:t>
            </a:r>
            <a:r>
              <a:rPr lang="hu-HU" dirty="0" err="1" smtClean="0"/>
              <a:t>parameters</a:t>
            </a:r>
            <a:r>
              <a:rPr lang="hu-HU" dirty="0" smtClean="0"/>
              <a:t>)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However</a:t>
            </a:r>
            <a:r>
              <a:rPr lang="hu-HU" dirty="0" smtClean="0"/>
              <a:t>,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weights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correspond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conditional</a:t>
            </a:r>
            <a:r>
              <a:rPr lang="hu-HU" b="1" dirty="0" smtClean="0"/>
              <a:t> </a:t>
            </a:r>
            <a:r>
              <a:rPr lang="hu-HU" b="1" dirty="0" err="1" smtClean="0"/>
              <a:t>probabilities</a:t>
            </a:r>
            <a:r>
              <a:rPr lang="hu-HU" b="1" dirty="0" smtClean="0"/>
              <a:t> </a:t>
            </a:r>
            <a:r>
              <a:rPr lang="hu-HU" dirty="0" smtClean="0"/>
              <a:t>of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coming</a:t>
            </a:r>
            <a:r>
              <a:rPr lang="hu-HU" dirty="0" smtClean="0"/>
              <a:t> </a:t>
            </a:r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previous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.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b="1" dirty="0" err="1" smtClean="0"/>
              <a:t>does</a:t>
            </a:r>
            <a:r>
              <a:rPr lang="hu-HU" b="1" dirty="0" smtClean="0"/>
              <a:t> </a:t>
            </a:r>
            <a:r>
              <a:rPr lang="hu-HU" b="1" dirty="0" err="1" smtClean="0"/>
              <a:t>not</a:t>
            </a:r>
            <a:r>
              <a:rPr lang="hu-HU" b="1" dirty="0" smtClean="0"/>
              <a:t> </a:t>
            </a:r>
            <a:r>
              <a:rPr lang="hu-HU" b="1" dirty="0" err="1" smtClean="0"/>
              <a:t>store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actual</a:t>
            </a:r>
            <a:r>
              <a:rPr lang="hu-HU" b="1" dirty="0" smtClean="0"/>
              <a:t> </a:t>
            </a:r>
            <a:r>
              <a:rPr lang="hu-HU" b="1" dirty="0" err="1" smtClean="0"/>
              <a:t>sequence</a:t>
            </a:r>
            <a:r>
              <a:rPr lang="hu-HU" b="1" dirty="0" smtClean="0"/>
              <a:t> </a:t>
            </a:r>
            <a:r>
              <a:rPr lang="hu-HU" dirty="0" smtClean="0"/>
              <a:t>(text)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corpus </a:t>
            </a:r>
            <a:r>
              <a:rPr lang="hu-HU" dirty="0" err="1" smtClean="0"/>
              <a:t>triggers</a:t>
            </a:r>
            <a:r>
              <a:rPr lang="hu-HU" dirty="0" smtClean="0"/>
              <a:t> a </a:t>
            </a:r>
            <a:r>
              <a:rPr lang="hu-HU" dirty="0" err="1" smtClean="0"/>
              <a:t>tiny</a:t>
            </a:r>
            <a:r>
              <a:rPr lang="hu-HU" dirty="0" smtClean="0"/>
              <a:t> shift of </a:t>
            </a:r>
            <a:r>
              <a:rPr lang="hu-HU" dirty="0" err="1" smtClean="0"/>
              <a:t>parameters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assign</a:t>
            </a:r>
            <a:r>
              <a:rPr lang="hu-HU" dirty="0" smtClean="0"/>
              <a:t> a </a:t>
            </a:r>
            <a:r>
              <a:rPr lang="hu-HU" b="1" dirty="0" err="1" smtClean="0"/>
              <a:t>very</a:t>
            </a:r>
            <a:r>
              <a:rPr lang="hu-HU" b="1" dirty="0" smtClean="0"/>
              <a:t> </a:t>
            </a:r>
            <a:r>
              <a:rPr lang="hu-HU" b="1" dirty="0" err="1" smtClean="0"/>
              <a:t>slightly</a:t>
            </a:r>
            <a:r>
              <a:rPr lang="hu-HU" b="1" dirty="0" smtClean="0"/>
              <a:t> </a:t>
            </a:r>
            <a:r>
              <a:rPr lang="hu-HU" dirty="0" err="1" smtClean="0"/>
              <a:t>higher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 </a:t>
            </a:r>
            <a:r>
              <a:rPr lang="hu-HU" dirty="0" err="1" smtClean="0"/>
              <a:t>were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Therefore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essentially</a:t>
            </a:r>
            <a:r>
              <a:rPr lang="hu-HU" dirty="0" smtClean="0"/>
              <a:t> </a:t>
            </a:r>
            <a:r>
              <a:rPr lang="hu-HU" dirty="0" err="1" smtClean="0"/>
              <a:t>impossible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a </a:t>
            </a:r>
            <a:r>
              <a:rPr lang="hu-HU" dirty="0" err="1" smtClean="0"/>
              <a:t>GPT-like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able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produce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exact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text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Except</a:t>
            </a:r>
            <a:r>
              <a:rPr lang="hu-HU" dirty="0" smtClean="0"/>
              <a:t>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text </a:t>
            </a:r>
            <a:r>
              <a:rPr lang="hu-HU" dirty="0" err="1" smtClean="0"/>
              <a:t>occurred</a:t>
            </a:r>
            <a:r>
              <a:rPr lang="hu-HU" dirty="0" smtClean="0"/>
              <a:t> </a:t>
            </a:r>
            <a:r>
              <a:rPr lang="hu-HU" dirty="0" err="1" smtClean="0"/>
              <a:t>lots</a:t>
            </a:r>
            <a:r>
              <a:rPr lang="hu-HU" dirty="0" smtClean="0"/>
              <a:t> of </a:t>
            </a:r>
            <a:r>
              <a:rPr lang="hu-HU" dirty="0" err="1" smtClean="0"/>
              <a:t>times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corpus, 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proverbs</a:t>
            </a:r>
            <a:r>
              <a:rPr lang="hu-HU" dirty="0" smtClean="0"/>
              <a:t>, </a:t>
            </a:r>
            <a:r>
              <a:rPr lang="hu-HU" dirty="0" err="1" smtClean="0"/>
              <a:t>famous</a:t>
            </a:r>
            <a:r>
              <a:rPr lang="hu-HU" dirty="0" smtClean="0"/>
              <a:t> </a:t>
            </a:r>
            <a:r>
              <a:rPr lang="hu-HU" dirty="0" err="1" smtClean="0"/>
              <a:t>quotes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is </a:t>
            </a:r>
            <a:r>
              <a:rPr lang="hu-HU" dirty="0" err="1" smtClean="0"/>
              <a:t>complete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weights</a:t>
            </a:r>
            <a:r>
              <a:rPr lang="hu-HU" dirty="0" smtClean="0"/>
              <a:t> of a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b="1" dirty="0" err="1" smtClean="0"/>
              <a:t>do</a:t>
            </a:r>
            <a:r>
              <a:rPr lang="hu-HU" b="1" dirty="0" smtClean="0"/>
              <a:t> </a:t>
            </a:r>
            <a:r>
              <a:rPr lang="hu-HU" b="1" dirty="0" err="1" smtClean="0"/>
              <a:t>not</a:t>
            </a:r>
            <a:r>
              <a:rPr lang="hu-HU" b="1" dirty="0" smtClean="0"/>
              <a:t> </a:t>
            </a:r>
            <a:r>
              <a:rPr lang="hu-HU" b="1" dirty="0" err="1" smtClean="0"/>
              <a:t>ever</a:t>
            </a:r>
            <a:r>
              <a:rPr lang="hu-HU" b="1" dirty="0" smtClean="0"/>
              <a:t> </a:t>
            </a:r>
            <a:r>
              <a:rPr lang="hu-HU" b="1" dirty="0" err="1" smtClean="0"/>
              <a:t>change</a:t>
            </a:r>
            <a:r>
              <a:rPr lang="hu-HU" dirty="0" smtClean="0"/>
              <a:t>.</a:t>
            </a:r>
          </a:p>
          <a:p>
            <a:r>
              <a:rPr lang="hu-HU" dirty="0" smtClean="0"/>
              <a:t>The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create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illusion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memory</a:t>
            </a:r>
            <a:r>
              <a:rPr lang="hu-HU" dirty="0" smtClean="0"/>
              <a:t> is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pass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entire</a:t>
            </a:r>
            <a:r>
              <a:rPr lang="hu-HU" dirty="0" smtClean="0"/>
              <a:t> </a:t>
            </a:r>
            <a:r>
              <a:rPr lang="hu-HU" b="1" dirty="0" err="1" smtClean="0"/>
              <a:t>history</a:t>
            </a:r>
            <a:r>
              <a:rPr lang="hu-HU" b="1" dirty="0" smtClean="0"/>
              <a:t> of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current</a:t>
            </a:r>
            <a:r>
              <a:rPr lang="hu-HU" dirty="0" smtClean="0"/>
              <a:t>) </a:t>
            </a:r>
            <a:r>
              <a:rPr lang="hu-HU" b="1" dirty="0" smtClean="0"/>
              <a:t>chat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b="1" dirty="0" err="1" smtClean="0"/>
              <a:t>as</a:t>
            </a:r>
            <a:r>
              <a:rPr lang="hu-HU" b="1" dirty="0" smtClean="0"/>
              <a:t> input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212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Transformers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Stateless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47500" lnSpcReduction="20000"/>
          </a:bodyPr>
          <a:lstStyle/>
          <a:p>
            <a:r>
              <a:rPr lang="hu-HU" dirty="0" err="1" smtClean="0"/>
              <a:t>As</a:t>
            </a:r>
            <a:r>
              <a:rPr lang="hu-HU" dirty="0" smtClean="0"/>
              <a:t> a </a:t>
            </a:r>
            <a:r>
              <a:rPr lang="hu-HU" dirty="0" err="1" smtClean="0"/>
              <a:t>consequence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b="1" dirty="0" err="1" smtClean="0"/>
              <a:t>pointless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any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following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Ask</a:t>
            </a:r>
            <a:r>
              <a:rPr lang="hu-HU" dirty="0" smtClean="0"/>
              <a:t> a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whether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certain</a:t>
            </a:r>
            <a:r>
              <a:rPr lang="hu-HU" dirty="0" smtClean="0"/>
              <a:t> input text (</a:t>
            </a:r>
            <a:r>
              <a:rPr lang="hu-HU" dirty="0" err="1" smtClean="0"/>
              <a:t>like</a:t>
            </a:r>
            <a:r>
              <a:rPr lang="hu-HU" dirty="0" smtClean="0"/>
              <a:t> a </a:t>
            </a:r>
            <a:r>
              <a:rPr lang="hu-HU" dirty="0" err="1" smtClean="0"/>
              <a:t>school</a:t>
            </a:r>
            <a:r>
              <a:rPr lang="hu-HU" dirty="0" smtClean="0"/>
              <a:t> </a:t>
            </a:r>
            <a:r>
              <a:rPr lang="hu-HU" dirty="0" err="1" smtClean="0"/>
              <a:t>essay</a:t>
            </a:r>
            <a:r>
              <a:rPr lang="hu-HU" dirty="0" smtClean="0"/>
              <a:t>) had </a:t>
            </a:r>
            <a:r>
              <a:rPr lang="hu-HU" dirty="0" err="1" smtClean="0"/>
              <a:t>been</a:t>
            </a:r>
            <a:r>
              <a:rPr lang="hu-HU" dirty="0" smtClean="0"/>
              <a:t> </a:t>
            </a:r>
            <a:r>
              <a:rPr lang="hu-HU" dirty="0" err="1" smtClean="0"/>
              <a:t>written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whether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had </a:t>
            </a:r>
            <a:r>
              <a:rPr lang="hu-HU" dirty="0" err="1" smtClean="0"/>
              <a:t>chatted</a:t>
            </a:r>
            <a:r>
              <a:rPr lang="hu-HU" dirty="0" smtClean="0"/>
              <a:t> </a:t>
            </a:r>
            <a:r>
              <a:rPr lang="hu-HU" dirty="0" err="1" smtClean="0"/>
              <a:t>about</a:t>
            </a:r>
            <a:r>
              <a:rPr lang="hu-HU" dirty="0" smtClean="0"/>
              <a:t> </a:t>
            </a:r>
            <a:r>
              <a:rPr lang="hu-HU" dirty="0" err="1" smtClean="0"/>
              <a:t>something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a </a:t>
            </a:r>
            <a:r>
              <a:rPr lang="hu-HU" dirty="0" err="1" smtClean="0"/>
              <a:t>friend</a:t>
            </a:r>
            <a:r>
              <a:rPr lang="hu-HU" dirty="0" smtClean="0"/>
              <a:t> of </a:t>
            </a:r>
            <a:r>
              <a:rPr lang="hu-HU" dirty="0" err="1" smtClean="0"/>
              <a:t>mine</a:t>
            </a:r>
            <a:r>
              <a:rPr lang="hu-HU" dirty="0" smtClean="0"/>
              <a:t>,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they</a:t>
            </a:r>
            <a:r>
              <a:rPr lang="hu-HU" dirty="0" smtClean="0"/>
              <a:t> had told </a:t>
            </a:r>
            <a:r>
              <a:rPr lang="hu-HU" dirty="0" err="1" smtClean="0"/>
              <a:t>it</a:t>
            </a:r>
            <a:r>
              <a:rPr lang="hu-HU" dirty="0" smtClean="0"/>
              <a:t>, etc.</a:t>
            </a:r>
          </a:p>
          <a:p>
            <a:r>
              <a:rPr lang="hu-HU" dirty="0" err="1" smtClean="0"/>
              <a:t>Since</a:t>
            </a:r>
            <a:r>
              <a:rPr lang="hu-HU" dirty="0" smtClean="0"/>
              <a:t> a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has </a:t>
            </a:r>
            <a:r>
              <a:rPr lang="hu-HU" dirty="0" err="1" smtClean="0"/>
              <a:t>access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 </a:t>
            </a:r>
            <a:r>
              <a:rPr lang="hu-HU" dirty="0" err="1" smtClean="0"/>
              <a:t>context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is </a:t>
            </a:r>
            <a:r>
              <a:rPr lang="hu-HU" dirty="0" err="1" smtClean="0"/>
              <a:t>extremely</a:t>
            </a:r>
            <a:r>
              <a:rPr lang="hu-HU" dirty="0" smtClean="0"/>
              <a:t> </a:t>
            </a:r>
            <a:r>
              <a:rPr lang="hu-HU" dirty="0" err="1" smtClean="0"/>
              <a:t>restricted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be </a:t>
            </a:r>
            <a:r>
              <a:rPr lang="hu-HU" dirty="0" err="1" smtClean="0"/>
              <a:t>able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carry</a:t>
            </a:r>
            <a:r>
              <a:rPr lang="hu-HU" dirty="0" smtClean="0"/>
              <a:t> out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tasks</a:t>
            </a:r>
            <a:r>
              <a:rPr lang="hu-HU" dirty="0" smtClean="0"/>
              <a:t>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developers</a:t>
            </a:r>
            <a:r>
              <a:rPr lang="hu-HU" dirty="0" smtClean="0"/>
              <a:t> </a:t>
            </a:r>
            <a:r>
              <a:rPr lang="hu-HU" dirty="0" err="1" smtClean="0"/>
              <a:t>added</a:t>
            </a:r>
            <a:r>
              <a:rPr lang="hu-HU" dirty="0" smtClean="0"/>
              <a:t> </a:t>
            </a:r>
            <a:r>
              <a:rPr lang="hu-HU" dirty="0" err="1" smtClean="0"/>
              <a:t>external</a:t>
            </a:r>
            <a:r>
              <a:rPr lang="hu-HU" dirty="0" smtClean="0"/>
              <a:t> </a:t>
            </a:r>
            <a:r>
              <a:rPr lang="hu-HU" dirty="0" err="1" smtClean="0"/>
              <a:t>applications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</a:t>
            </a:r>
            <a:r>
              <a:rPr lang="hu-HU" dirty="0" err="1" smtClean="0"/>
              <a:t>allow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LM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look</a:t>
            </a:r>
            <a:r>
              <a:rPr lang="hu-HU" dirty="0" smtClean="0"/>
              <a:t> </a:t>
            </a:r>
            <a:r>
              <a:rPr lang="hu-HU" dirty="0" err="1" smtClean="0"/>
              <a:t>up</a:t>
            </a:r>
            <a:r>
              <a:rPr lang="hu-HU" dirty="0" smtClean="0"/>
              <a:t> </a:t>
            </a:r>
            <a:r>
              <a:rPr lang="hu-HU" dirty="0" err="1" smtClean="0"/>
              <a:t>information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chat </a:t>
            </a:r>
            <a:r>
              <a:rPr lang="hu-HU" dirty="0" err="1" smtClean="0"/>
              <a:t>histories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be </a:t>
            </a:r>
            <a:r>
              <a:rPr lang="hu-HU" dirty="0" err="1" smtClean="0"/>
              <a:t>possible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theory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is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implemented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practice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obvious</a:t>
            </a:r>
            <a:r>
              <a:rPr lang="hu-HU" dirty="0" smtClean="0"/>
              <a:t> </a:t>
            </a:r>
            <a:r>
              <a:rPr lang="hu-HU" dirty="0" err="1" smtClean="0"/>
              <a:t>reasons</a:t>
            </a:r>
            <a:r>
              <a:rPr lang="hu-HU" dirty="0" smtClean="0"/>
              <a:t> (</a:t>
            </a:r>
            <a:r>
              <a:rPr lang="hu-HU" dirty="0" err="1" smtClean="0"/>
              <a:t>privacy</a:t>
            </a:r>
            <a:r>
              <a:rPr lang="hu-HU" dirty="0" smtClean="0"/>
              <a:t>, etc.).</a:t>
            </a:r>
          </a:p>
          <a:p>
            <a:r>
              <a:rPr lang="hu-HU" dirty="0" err="1" smtClean="0"/>
              <a:t>Nonetheless</a:t>
            </a:r>
            <a:r>
              <a:rPr lang="hu-HU" dirty="0" smtClean="0"/>
              <a:t>, a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happily</a:t>
            </a:r>
            <a:r>
              <a:rPr lang="hu-HU" dirty="0" smtClean="0"/>
              <a:t> </a:t>
            </a:r>
            <a:r>
              <a:rPr lang="hu-HU" b="1" dirty="0" err="1" smtClean="0"/>
              <a:t>generate</a:t>
            </a:r>
            <a:r>
              <a:rPr lang="hu-HU" b="1" dirty="0" smtClean="0"/>
              <a:t> </a:t>
            </a:r>
            <a:r>
              <a:rPr lang="hu-HU" b="1" dirty="0" err="1" smtClean="0"/>
              <a:t>a</a:t>
            </a:r>
            <a:r>
              <a:rPr lang="hu-HU" b="1" dirty="0" smtClean="0"/>
              <a:t> </a:t>
            </a:r>
            <a:r>
              <a:rPr lang="hu-HU" b="1" dirty="0" err="1" smtClean="0"/>
              <a:t>sensible</a:t>
            </a:r>
            <a:r>
              <a:rPr lang="hu-HU" b="1" dirty="0" smtClean="0"/>
              <a:t> </a:t>
            </a:r>
            <a:r>
              <a:rPr lang="hu-HU" b="1" dirty="0" err="1" smtClean="0"/>
              <a:t>continuation</a:t>
            </a:r>
            <a:r>
              <a:rPr lang="hu-HU" b="1" dirty="0" smtClean="0"/>
              <a:t> </a:t>
            </a:r>
            <a:r>
              <a:rPr lang="hu-HU" b="1" dirty="0" err="1" smtClean="0"/>
              <a:t>for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input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might</a:t>
            </a:r>
            <a:r>
              <a:rPr lang="hu-HU" dirty="0" smtClean="0"/>
              <a:t> </a:t>
            </a:r>
            <a:r>
              <a:rPr lang="hu-HU" dirty="0" err="1" smtClean="0"/>
              <a:t>equally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be </a:t>
            </a:r>
            <a:r>
              <a:rPr lang="hu-HU" i="1" dirty="0" smtClean="0"/>
              <a:t>I </a:t>
            </a:r>
            <a:r>
              <a:rPr lang="hu-HU" i="1" dirty="0" err="1" smtClean="0"/>
              <a:t>don</a:t>
            </a:r>
            <a:r>
              <a:rPr lang="hu-HU" i="1" dirty="0" smtClean="0"/>
              <a:t>’t </a:t>
            </a:r>
            <a:r>
              <a:rPr lang="hu-HU" i="1" dirty="0" err="1" smtClean="0"/>
              <a:t>know</a:t>
            </a:r>
            <a:r>
              <a:rPr lang="hu-HU" i="1" dirty="0" smtClean="0"/>
              <a:t>.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i="1" dirty="0" err="1" smtClean="0"/>
              <a:t>Yes</a:t>
            </a:r>
            <a:r>
              <a:rPr lang="hu-HU" i="1" dirty="0" smtClean="0"/>
              <a:t>. / No.</a:t>
            </a:r>
          </a:p>
          <a:p>
            <a:pPr lvl="1"/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„</a:t>
            </a:r>
            <a:r>
              <a:rPr lang="hu-HU" dirty="0" err="1" smtClean="0"/>
              <a:t>lie</a:t>
            </a:r>
            <a:r>
              <a:rPr lang="hu-HU" dirty="0" smtClean="0"/>
              <a:t>” and </a:t>
            </a:r>
            <a:r>
              <a:rPr lang="hu-HU" dirty="0" err="1" smtClean="0"/>
              <a:t>imply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generated</a:t>
            </a:r>
            <a:r>
              <a:rPr lang="hu-HU" dirty="0" smtClean="0"/>
              <a:t> </a:t>
            </a:r>
            <a:r>
              <a:rPr lang="hu-HU" dirty="0" err="1" smtClean="0"/>
              <a:t>continuation</a:t>
            </a:r>
            <a:r>
              <a:rPr lang="hu-HU" dirty="0" smtClean="0"/>
              <a:t> (</a:t>
            </a:r>
            <a:r>
              <a:rPr lang="hu-HU" dirty="0" err="1" smtClean="0"/>
              <a:t>the</a:t>
            </a:r>
            <a:r>
              <a:rPr lang="hu-HU" dirty="0" smtClean="0"/>
              <a:t> „</a:t>
            </a:r>
            <a:r>
              <a:rPr lang="hu-HU" dirty="0" err="1" smtClean="0"/>
              <a:t>answer</a:t>
            </a:r>
            <a:r>
              <a:rPr lang="hu-HU" dirty="0" smtClean="0"/>
              <a:t>”)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confidently</a:t>
            </a:r>
            <a:r>
              <a:rPr lang="hu-HU" dirty="0" smtClean="0"/>
              <a:t> </a:t>
            </a:r>
            <a:r>
              <a:rPr lang="hu-HU" dirty="0" err="1" smtClean="0"/>
              <a:t>answer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simply</a:t>
            </a:r>
            <a:r>
              <a:rPr lang="hu-HU" dirty="0" smtClean="0"/>
              <a:t> </a:t>
            </a:r>
            <a:r>
              <a:rPr lang="hu-HU" dirty="0" err="1" smtClean="0"/>
              <a:t>always</a:t>
            </a:r>
            <a:r>
              <a:rPr lang="hu-HU" dirty="0" smtClean="0"/>
              <a:t> </a:t>
            </a:r>
            <a:r>
              <a:rPr lang="hu-HU" dirty="0" err="1" smtClean="0"/>
              <a:t>tries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guess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most </a:t>
            </a:r>
            <a:r>
              <a:rPr lang="hu-HU" dirty="0" err="1" smtClean="0"/>
              <a:t>likely</a:t>
            </a:r>
            <a:r>
              <a:rPr lang="hu-HU" dirty="0" smtClean="0"/>
              <a:t> </a:t>
            </a:r>
            <a:r>
              <a:rPr lang="hu-HU" dirty="0" err="1" smtClean="0"/>
              <a:t>continuation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input </a:t>
            </a:r>
            <a:r>
              <a:rPr lang="hu-HU" dirty="0" err="1" smtClean="0"/>
              <a:t>would</a:t>
            </a:r>
            <a:r>
              <a:rPr lang="hu-HU" dirty="0" smtClean="0"/>
              <a:t> be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 </a:t>
            </a:r>
            <a:r>
              <a:rPr lang="hu-HU" dirty="0" err="1" smtClean="0"/>
              <a:t>were</a:t>
            </a:r>
            <a:r>
              <a:rPr lang="hu-HU" dirty="0" smtClean="0"/>
              <a:t> part of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corpus.</a:t>
            </a:r>
          </a:p>
          <a:p>
            <a:r>
              <a:rPr lang="hu-HU" dirty="0" err="1" smtClean="0"/>
              <a:t>Although</a:t>
            </a:r>
            <a:r>
              <a:rPr lang="hu-HU" dirty="0" smtClean="0"/>
              <a:t> a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never</a:t>
            </a:r>
            <a:r>
              <a:rPr lang="hu-HU" dirty="0" smtClean="0"/>
              <a:t> </a:t>
            </a:r>
            <a:r>
              <a:rPr lang="hu-HU" dirty="0" err="1" smtClean="0"/>
              <a:t>remember</a:t>
            </a:r>
            <a:r>
              <a:rPr lang="hu-HU" dirty="0" smtClean="0"/>
              <a:t> </a:t>
            </a:r>
            <a:r>
              <a:rPr lang="hu-HU" dirty="0" err="1" smtClean="0"/>
              <a:t>chats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be </a:t>
            </a:r>
            <a:r>
              <a:rPr lang="hu-HU" dirty="0" err="1" smtClean="0"/>
              <a:t>retrained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developers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chat </a:t>
            </a:r>
            <a:r>
              <a:rPr lang="hu-HU" dirty="0" err="1" smtClean="0"/>
              <a:t>history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still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add a </a:t>
            </a:r>
            <a:r>
              <a:rPr lang="hu-HU" dirty="0" err="1" smtClean="0"/>
              <a:t>memory</a:t>
            </a:r>
            <a:r>
              <a:rPr lang="hu-HU" dirty="0" smtClean="0"/>
              <a:t> of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had </a:t>
            </a:r>
            <a:r>
              <a:rPr lang="hu-HU" dirty="0" err="1" smtClean="0"/>
              <a:t>talked</a:t>
            </a:r>
            <a:r>
              <a:rPr lang="hu-HU" dirty="0" smtClean="0"/>
              <a:t> </a:t>
            </a:r>
            <a:r>
              <a:rPr lang="hu-HU" dirty="0" err="1" smtClean="0"/>
              <a:t>about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you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shift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slightly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direction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correspond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 </a:t>
            </a:r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dirty="0" err="1" smtClean="0"/>
              <a:t>put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your</a:t>
            </a:r>
            <a:r>
              <a:rPr lang="hu-HU" dirty="0" smtClean="0"/>
              <a:t> </a:t>
            </a:r>
            <a:r>
              <a:rPr lang="hu-HU" dirty="0" err="1" smtClean="0"/>
              <a:t>prompts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However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developers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complete</a:t>
            </a:r>
            <a:r>
              <a:rPr lang="hu-HU" dirty="0" smtClean="0"/>
              <a:t> </a:t>
            </a:r>
            <a:r>
              <a:rPr lang="hu-HU" dirty="0" err="1" smtClean="0"/>
              <a:t>logs</a:t>
            </a:r>
            <a:r>
              <a:rPr lang="hu-HU" dirty="0" smtClean="0"/>
              <a:t> (</a:t>
            </a:r>
            <a:r>
              <a:rPr lang="hu-HU" dirty="0" err="1" smtClean="0"/>
              <a:t>records</a:t>
            </a:r>
            <a:r>
              <a:rPr lang="hu-HU" dirty="0" smtClean="0"/>
              <a:t>) of </a:t>
            </a:r>
            <a:r>
              <a:rPr lang="hu-HU" dirty="0" err="1" smtClean="0"/>
              <a:t>everything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typed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chat.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log is </a:t>
            </a:r>
            <a:r>
              <a:rPr lang="hu-HU" dirty="0" err="1" smtClean="0"/>
              <a:t>simply</a:t>
            </a:r>
            <a:r>
              <a:rPr lang="hu-HU" dirty="0" smtClean="0"/>
              <a:t> a </a:t>
            </a:r>
            <a:r>
              <a:rPr lang="hu-HU" dirty="0" err="1" smtClean="0"/>
              <a:t>full-text</a:t>
            </a:r>
            <a:r>
              <a:rPr lang="hu-HU" dirty="0" smtClean="0"/>
              <a:t> log </a:t>
            </a:r>
            <a:r>
              <a:rPr lang="hu-HU" dirty="0" err="1" smtClean="0"/>
              <a:t>that</a:t>
            </a:r>
            <a:r>
              <a:rPr lang="hu-HU" dirty="0" smtClean="0"/>
              <a:t> is </a:t>
            </a:r>
            <a:r>
              <a:rPr lang="hu-HU" dirty="0" err="1" smtClean="0"/>
              <a:t>completely</a:t>
            </a:r>
            <a:r>
              <a:rPr lang="hu-HU" dirty="0" smtClean="0"/>
              <a:t> </a:t>
            </a:r>
            <a:r>
              <a:rPr lang="hu-HU" dirty="0" err="1" smtClean="0"/>
              <a:t>external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It</a:t>
            </a:r>
            <a:r>
              <a:rPr lang="hu-HU" dirty="0" smtClean="0"/>
              <a:t> is a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bad</a:t>
            </a:r>
            <a:r>
              <a:rPr lang="hu-HU" dirty="0" smtClean="0"/>
              <a:t> idea </a:t>
            </a:r>
            <a:r>
              <a:rPr lang="hu-HU" dirty="0" err="1" smtClean="0"/>
              <a:t>to</a:t>
            </a:r>
            <a:r>
              <a:rPr lang="hu-HU" dirty="0" smtClean="0"/>
              <a:t> enter </a:t>
            </a:r>
            <a:r>
              <a:rPr lang="hu-HU" dirty="0" err="1" smtClean="0"/>
              <a:t>sensitive</a:t>
            </a:r>
            <a:r>
              <a:rPr lang="hu-HU" dirty="0" smtClean="0"/>
              <a:t>, </a:t>
            </a:r>
            <a:r>
              <a:rPr lang="hu-HU" dirty="0" err="1" smtClean="0"/>
              <a:t>confidential</a:t>
            </a:r>
            <a:r>
              <a:rPr lang="hu-HU" dirty="0" smtClean="0"/>
              <a:t>, </a:t>
            </a:r>
            <a:r>
              <a:rPr lang="hu-HU" dirty="0" err="1" smtClean="0"/>
              <a:t>private</a:t>
            </a:r>
            <a:r>
              <a:rPr lang="hu-HU" dirty="0" smtClean="0"/>
              <a:t>, etc. </a:t>
            </a:r>
            <a:r>
              <a:rPr lang="hu-HU" dirty="0" err="1" smtClean="0"/>
              <a:t>information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passwords</a:t>
            </a:r>
            <a:r>
              <a:rPr lang="hu-HU" dirty="0" smtClean="0"/>
              <a:t>, </a:t>
            </a:r>
            <a:r>
              <a:rPr lang="hu-HU" dirty="0" err="1" smtClean="0"/>
              <a:t>company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, etc., </a:t>
            </a:r>
            <a:r>
              <a:rPr lang="hu-HU" dirty="0" err="1" smtClean="0"/>
              <a:t>into</a:t>
            </a:r>
            <a:r>
              <a:rPr lang="hu-HU" dirty="0" smtClean="0"/>
              <a:t> an </a:t>
            </a:r>
            <a:r>
              <a:rPr lang="hu-HU" dirty="0" err="1" smtClean="0"/>
              <a:t>LLM</a:t>
            </a:r>
            <a:r>
              <a:rPr lang="hu-HU" dirty="0" smtClean="0"/>
              <a:t> chat. </a:t>
            </a:r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handing</a:t>
            </a:r>
            <a:r>
              <a:rPr lang="hu-HU" dirty="0" smtClean="0"/>
              <a:t> </a:t>
            </a:r>
            <a:r>
              <a:rPr lang="hu-HU" dirty="0" err="1" smtClean="0"/>
              <a:t>these</a:t>
            </a:r>
            <a:r>
              <a:rPr lang="hu-HU" dirty="0" smtClean="0"/>
              <a:t> over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maintainers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1662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3600" dirty="0" err="1" smtClean="0"/>
              <a:t>Sampling</a:t>
            </a:r>
            <a:r>
              <a:rPr lang="hu-HU" sz="3600" dirty="0" smtClean="0"/>
              <a:t> </a:t>
            </a:r>
            <a:r>
              <a:rPr lang="hu-HU" sz="3600" dirty="0" err="1" smtClean="0"/>
              <a:t>from</a:t>
            </a:r>
            <a:r>
              <a:rPr lang="hu-HU" sz="3600" dirty="0" smtClean="0"/>
              <a:t> </a:t>
            </a:r>
            <a:r>
              <a:rPr lang="hu-HU" sz="3600" dirty="0" err="1" smtClean="0"/>
              <a:t>the</a:t>
            </a:r>
            <a:r>
              <a:rPr lang="hu-HU" sz="3600" dirty="0" smtClean="0"/>
              <a:t> </a:t>
            </a:r>
            <a:r>
              <a:rPr lang="hu-HU" sz="3600" dirty="0" err="1" smtClean="0"/>
              <a:t>Probability</a:t>
            </a:r>
            <a:r>
              <a:rPr lang="hu-HU" sz="3600" dirty="0" smtClean="0"/>
              <a:t> </a:t>
            </a:r>
            <a:r>
              <a:rPr lang="hu-HU" sz="3600" dirty="0" err="1" smtClean="0"/>
              <a:t>Distribution</a:t>
            </a:r>
            <a:endParaRPr lang="en-GB" sz="36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hu-HU" dirty="0" err="1" smtClean="0"/>
              <a:t>When</a:t>
            </a:r>
            <a:r>
              <a:rPr lang="hu-HU" dirty="0" smtClean="0"/>
              <a:t> </a:t>
            </a:r>
            <a:r>
              <a:rPr lang="hu-HU" dirty="0" err="1" smtClean="0"/>
              <a:t>generating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a 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, an </a:t>
            </a:r>
            <a:r>
              <a:rPr lang="hu-HU" dirty="0" err="1" smtClean="0"/>
              <a:t>external</a:t>
            </a:r>
            <a:r>
              <a:rPr lang="hu-HU" dirty="0" smtClean="0"/>
              <a:t> </a:t>
            </a:r>
            <a:r>
              <a:rPr lang="hu-HU" dirty="0" err="1" smtClean="0"/>
              <a:t>application</a:t>
            </a:r>
            <a:r>
              <a:rPr lang="hu-HU" dirty="0" smtClean="0"/>
              <a:t> (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itself</a:t>
            </a:r>
            <a:r>
              <a:rPr lang="hu-HU" dirty="0" smtClean="0"/>
              <a:t>) </a:t>
            </a:r>
            <a:r>
              <a:rPr lang="hu-HU" dirty="0" err="1" smtClean="0"/>
              <a:t>generates</a:t>
            </a:r>
            <a:r>
              <a:rPr lang="hu-HU" dirty="0" smtClean="0"/>
              <a:t> a </a:t>
            </a:r>
            <a:r>
              <a:rPr lang="hu-HU" dirty="0" err="1" smtClean="0"/>
              <a:t>pseudo-random</a:t>
            </a:r>
            <a:r>
              <a:rPr lang="hu-HU" dirty="0" smtClean="0"/>
              <a:t> </a:t>
            </a:r>
            <a:r>
              <a:rPr lang="hu-HU" dirty="0" err="1" smtClean="0"/>
              <a:t>real</a:t>
            </a:r>
            <a:r>
              <a:rPr lang="hu-HU" dirty="0" smtClean="0"/>
              <a:t> (</a:t>
            </a:r>
            <a:r>
              <a:rPr lang="hu-HU" dirty="0" err="1" smtClean="0"/>
              <a:t>floating-point</a:t>
            </a:r>
            <a:r>
              <a:rPr lang="hu-HU" dirty="0" smtClean="0"/>
              <a:t>) </a:t>
            </a:r>
            <a:r>
              <a:rPr lang="hu-HU" dirty="0" err="1" smtClean="0"/>
              <a:t>number</a:t>
            </a:r>
            <a:r>
              <a:rPr lang="hu-HU" dirty="0"/>
              <a:t> </a:t>
            </a:r>
            <a:r>
              <a:rPr lang="hu-HU" dirty="0" smtClean="0"/>
              <a:t>0 ≤ </a:t>
            </a:r>
            <a:r>
              <a:rPr lang="hu-HU" i="1" dirty="0" smtClean="0"/>
              <a:t>r </a:t>
            </a:r>
            <a:r>
              <a:rPr lang="hu-HU" dirty="0" smtClean="0"/>
              <a:t>≤</a:t>
            </a:r>
            <a:r>
              <a:rPr lang="hu-HU" i="1" dirty="0" smtClean="0"/>
              <a:t> </a:t>
            </a:r>
            <a:r>
              <a:rPr lang="hu-HU" dirty="0" smtClean="0"/>
              <a:t>1</a:t>
            </a:r>
            <a:r>
              <a:rPr lang="hu-HU" i="1" dirty="0" smtClean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uses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sample</a:t>
            </a:r>
            <a:r>
              <a:rPr lang="hu-HU" dirty="0" smtClean="0"/>
              <a:t> a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value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predicted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Naïve</a:t>
            </a:r>
            <a:r>
              <a:rPr lang="hu-HU" dirty="0" smtClean="0"/>
              <a:t> </a:t>
            </a:r>
            <a:r>
              <a:rPr lang="hu-HU" dirty="0" err="1" smtClean="0"/>
              <a:t>implementation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calculate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cumulative</a:t>
            </a:r>
            <a:r>
              <a:rPr lang="hu-HU" dirty="0" smtClean="0"/>
              <a:t> sum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i="1" dirty="0" smtClean="0"/>
              <a:t>C </a:t>
            </a:r>
            <a:r>
              <a:rPr lang="hu-HU" dirty="0" smtClean="0"/>
              <a:t>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softmax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(</a:t>
            </a:r>
            <a:r>
              <a:rPr lang="hu-HU" dirty="0" err="1" smtClean="0"/>
              <a:t>will</a:t>
            </a:r>
            <a:r>
              <a:rPr lang="hu-HU" dirty="0" smtClean="0"/>
              <a:t> be </a:t>
            </a:r>
            <a:r>
              <a:rPr lang="hu-HU" dirty="0" err="1" smtClean="0"/>
              <a:t>V-dimensional</a:t>
            </a:r>
            <a:r>
              <a:rPr lang="hu-HU" dirty="0" smtClean="0"/>
              <a:t>,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softmax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find</a:t>
            </a:r>
            <a:r>
              <a:rPr lang="hu-HU" dirty="0" smtClean="0"/>
              <a:t> </a:t>
            </a:r>
            <a:r>
              <a:rPr lang="hu-HU" dirty="0" err="1" smtClean="0"/>
              <a:t>element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index </a:t>
            </a:r>
            <a:r>
              <a:rPr lang="hu-HU" i="1" dirty="0" smtClean="0"/>
              <a:t>i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i</a:t>
            </a:r>
            <a:r>
              <a:rPr lang="hu-HU" i="1" dirty="0" smtClean="0"/>
              <a:t> </a:t>
            </a:r>
            <a:r>
              <a:rPr lang="hu-HU" dirty="0" smtClean="0"/>
              <a:t>≤ </a:t>
            </a:r>
            <a:r>
              <a:rPr lang="hu-HU" i="1" dirty="0" smtClean="0"/>
              <a:t>r</a:t>
            </a:r>
            <a:r>
              <a:rPr lang="hu-HU" dirty="0" smtClean="0"/>
              <a:t> ≤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i</a:t>
            </a:r>
            <a:r>
              <a:rPr lang="hu-HU" i="1" baseline="-25000" dirty="0" smtClean="0"/>
              <a:t>+1</a:t>
            </a:r>
          </a:p>
          <a:p>
            <a:pPr lvl="1"/>
            <a:r>
              <a:rPr lang="hu-HU" dirty="0" smtClean="0"/>
              <a:t>output </a:t>
            </a:r>
            <a:r>
              <a:rPr lang="hu-HU" dirty="0" err="1" smtClean="0"/>
              <a:t>corresponding</a:t>
            </a:r>
            <a:r>
              <a:rPr lang="hu-HU" dirty="0" smtClean="0"/>
              <a:t> </a:t>
            </a:r>
            <a:r>
              <a:rPr lang="hu-HU" dirty="0" err="1" smtClean="0"/>
              <a:t>element</a:t>
            </a:r>
            <a:r>
              <a:rPr lang="hu-HU" dirty="0" smtClean="0"/>
              <a:t> </a:t>
            </a:r>
            <a:r>
              <a:rPr lang="hu-HU" i="1" dirty="0" smtClean="0"/>
              <a:t>T</a:t>
            </a:r>
            <a:r>
              <a:rPr lang="hu-HU" i="1" baseline="-25000" dirty="0" smtClean="0"/>
              <a:t>i</a:t>
            </a:r>
            <a:r>
              <a:rPr lang="hu-HU" i="1" dirty="0" smtClean="0"/>
              <a:t> </a:t>
            </a:r>
            <a:r>
              <a:rPr lang="hu-HU" dirty="0" smtClean="0"/>
              <a:t>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dictionary</a:t>
            </a:r>
            <a:r>
              <a:rPr lang="hu-HU" dirty="0" smtClean="0"/>
              <a:t> </a:t>
            </a:r>
            <a:r>
              <a:rPr lang="hu-HU" i="1" dirty="0" smtClean="0"/>
              <a:t>T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79810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Sampling</a:t>
            </a:r>
            <a:r>
              <a:rPr lang="hu-HU" dirty="0" smtClean="0"/>
              <a:t> </a:t>
            </a:r>
            <a:r>
              <a:rPr lang="hu-HU" dirty="0" err="1" smtClean="0"/>
              <a:t>Parameters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62500" lnSpcReduction="20000"/>
          </a:bodyPr>
          <a:lstStyle/>
          <a:p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reality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sampler</a:t>
            </a:r>
            <a:r>
              <a:rPr lang="hu-HU" dirty="0" smtClean="0"/>
              <a:t> </a:t>
            </a:r>
            <a:r>
              <a:rPr lang="hu-HU" dirty="0" err="1" smtClean="0"/>
              <a:t>component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generator</a:t>
            </a:r>
            <a:r>
              <a:rPr lang="hu-HU" dirty="0" smtClean="0"/>
              <a:t> </a:t>
            </a:r>
            <a:r>
              <a:rPr lang="hu-HU" dirty="0" err="1" smtClean="0"/>
              <a:t>usually</a:t>
            </a:r>
            <a:r>
              <a:rPr lang="hu-HU" dirty="0" smtClean="0"/>
              <a:t> has </a:t>
            </a:r>
            <a:r>
              <a:rPr lang="hu-HU" dirty="0" err="1" smtClean="0"/>
              <a:t>several</a:t>
            </a:r>
            <a:r>
              <a:rPr lang="hu-HU" dirty="0" smtClean="0"/>
              <a:t> </a:t>
            </a:r>
            <a:r>
              <a:rPr lang="hu-HU" dirty="0" err="1" smtClean="0"/>
              <a:t>parameters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allow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user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cheat</a:t>
            </a:r>
            <a:r>
              <a:rPr lang="hu-HU" dirty="0" smtClean="0"/>
              <a:t>, i.e.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influence</a:t>
            </a:r>
            <a:r>
              <a:rPr lang="hu-HU" b="1" dirty="0" smtClean="0"/>
              <a:t> </a:t>
            </a:r>
            <a:r>
              <a:rPr lang="hu-HU" b="1" dirty="0" err="1" smtClean="0"/>
              <a:t>what</a:t>
            </a:r>
            <a:r>
              <a:rPr lang="hu-HU" b="1" dirty="0" smtClean="0"/>
              <a:t> is </a:t>
            </a:r>
            <a:r>
              <a:rPr lang="hu-HU" b="1" dirty="0" err="1" smtClean="0"/>
              <a:t>sampled</a:t>
            </a:r>
            <a:r>
              <a:rPr lang="hu-HU" b="1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predicted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/>
              <a:t>:</a:t>
            </a:r>
            <a:endParaRPr lang="hu-HU" dirty="0" smtClean="0"/>
          </a:p>
          <a:p>
            <a:pPr lvl="1"/>
            <a:r>
              <a:rPr lang="hu-HU" b="1" dirty="0" err="1" smtClean="0"/>
              <a:t>top-p</a:t>
            </a:r>
            <a:r>
              <a:rPr lang="hu-HU" dirty="0" smtClean="0"/>
              <a:t>: </a:t>
            </a:r>
            <a:r>
              <a:rPr lang="hu-HU" dirty="0" err="1" smtClean="0"/>
              <a:t>takes</a:t>
            </a:r>
            <a:r>
              <a:rPr lang="hu-HU" dirty="0" smtClean="0"/>
              <a:t> a </a:t>
            </a:r>
            <a:r>
              <a:rPr lang="hu-HU" dirty="0" err="1" smtClean="0"/>
              <a:t>value</a:t>
            </a:r>
            <a:r>
              <a:rPr lang="hu-HU" dirty="0" smtClean="0"/>
              <a:t> 0 ≤ </a:t>
            </a:r>
            <a:r>
              <a:rPr lang="hu-HU" i="1" dirty="0" smtClean="0"/>
              <a:t>p </a:t>
            </a:r>
            <a:r>
              <a:rPr lang="hu-HU" dirty="0" smtClean="0"/>
              <a:t>≤ 1</a:t>
            </a:r>
          </a:p>
          <a:p>
            <a:pPr lvl="2"/>
            <a:r>
              <a:rPr lang="hu-HU" dirty="0" err="1" smtClean="0"/>
              <a:t>possible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sorted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decreasing</a:t>
            </a:r>
            <a:r>
              <a:rPr lang="hu-HU" dirty="0" smtClean="0"/>
              <a:t> </a:t>
            </a:r>
            <a:r>
              <a:rPr lang="hu-HU" dirty="0" err="1" smtClean="0"/>
              <a:t>order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their</a:t>
            </a:r>
            <a:r>
              <a:rPr lang="hu-HU" dirty="0" smtClean="0"/>
              <a:t> </a:t>
            </a:r>
            <a:r>
              <a:rPr lang="hu-HU" dirty="0" err="1" smtClean="0"/>
              <a:t>predicted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, </a:t>
            </a:r>
            <a:r>
              <a:rPr lang="hu-HU" dirty="0" err="1" smtClean="0"/>
              <a:t>their</a:t>
            </a:r>
            <a:r>
              <a:rPr lang="hu-HU" dirty="0" smtClean="0"/>
              <a:t> </a:t>
            </a:r>
            <a:r>
              <a:rPr lang="hu-HU" dirty="0" err="1" smtClean="0"/>
              <a:t>cumulative</a:t>
            </a:r>
            <a:r>
              <a:rPr lang="hu-HU" dirty="0" smtClean="0"/>
              <a:t> sum </a:t>
            </a:r>
            <a:r>
              <a:rPr lang="hu-HU" i="1" dirty="0" smtClean="0"/>
              <a:t>C </a:t>
            </a:r>
            <a:r>
              <a:rPr lang="hu-HU" dirty="0" smtClean="0"/>
              <a:t>is </a:t>
            </a:r>
            <a:r>
              <a:rPr lang="hu-HU" dirty="0" err="1" smtClean="0"/>
              <a:t>calculated</a:t>
            </a:r>
            <a:endParaRPr lang="hu-HU" dirty="0" smtClean="0"/>
          </a:p>
          <a:p>
            <a:pPr lvl="2"/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i="1" dirty="0" smtClean="0"/>
              <a:t>j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i="1" dirty="0" smtClean="0"/>
              <a:t>T</a:t>
            </a:r>
            <a:r>
              <a:rPr lang="hu-HU" i="1" baseline="-25000" dirty="0"/>
              <a:t>1</a:t>
            </a:r>
            <a:r>
              <a:rPr lang="hu-HU" i="1" dirty="0" smtClean="0"/>
              <a:t> </a:t>
            </a:r>
            <a:r>
              <a:rPr lang="hu-HU" dirty="0" smtClean="0"/>
              <a:t>... </a:t>
            </a:r>
            <a:r>
              <a:rPr lang="hu-HU" i="1" dirty="0" err="1" smtClean="0"/>
              <a:t>T</a:t>
            </a:r>
            <a:r>
              <a:rPr lang="hu-HU" i="1" baseline="-25000" dirty="0" err="1" smtClean="0"/>
              <a:t>j</a:t>
            </a:r>
            <a:r>
              <a:rPr lang="hu-HU" i="1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sorted</a:t>
            </a:r>
            <a:r>
              <a:rPr lang="hu-HU" dirty="0" smtClean="0"/>
              <a:t> </a:t>
            </a:r>
            <a:r>
              <a:rPr lang="hu-HU" dirty="0" err="1" smtClean="0"/>
              <a:t>list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selected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j</a:t>
            </a:r>
            <a:r>
              <a:rPr lang="hu-HU" i="1" dirty="0" smtClean="0"/>
              <a:t> </a:t>
            </a:r>
            <a:r>
              <a:rPr lang="hu-HU" dirty="0" smtClean="0"/>
              <a:t>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dirty="0" err="1" smtClean="0"/>
              <a:t>cumulative</a:t>
            </a:r>
            <a:r>
              <a:rPr lang="hu-HU" dirty="0" smtClean="0"/>
              <a:t> sum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i="1" dirty="0" smtClean="0"/>
              <a:t>p </a:t>
            </a:r>
            <a:r>
              <a:rPr lang="hu-HU" dirty="0" smtClean="0"/>
              <a:t>&lt;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j</a:t>
            </a:r>
            <a:endParaRPr lang="hu-HU" i="1" baseline="-25000" dirty="0" smtClean="0"/>
          </a:p>
          <a:p>
            <a:pPr lvl="2"/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probabilities</a:t>
            </a:r>
            <a:r>
              <a:rPr lang="hu-HU" dirty="0"/>
              <a:t> of </a:t>
            </a:r>
            <a:r>
              <a:rPr lang="hu-HU" i="1" dirty="0" smtClean="0"/>
              <a:t>T</a:t>
            </a:r>
            <a:r>
              <a:rPr lang="hu-HU" i="1" baseline="-25000" dirty="0" smtClean="0"/>
              <a:t>1</a:t>
            </a:r>
            <a:r>
              <a:rPr lang="hu-HU" i="1" dirty="0" smtClean="0"/>
              <a:t> </a:t>
            </a:r>
            <a:r>
              <a:rPr lang="hu-HU" dirty="0" smtClean="0"/>
              <a:t>... </a:t>
            </a:r>
            <a:r>
              <a:rPr lang="hu-HU" i="1" dirty="0" err="1" smtClean="0"/>
              <a:t>T</a:t>
            </a:r>
            <a:r>
              <a:rPr lang="hu-HU" i="1" baseline="-25000" dirty="0" err="1" smtClean="0"/>
              <a:t>j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rescaled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add </a:t>
            </a:r>
            <a:r>
              <a:rPr lang="hu-HU" dirty="0" err="1" smtClean="0"/>
              <a:t>to</a:t>
            </a:r>
            <a:r>
              <a:rPr lang="hu-HU" dirty="0" smtClean="0"/>
              <a:t> 1</a:t>
            </a:r>
          </a:p>
          <a:p>
            <a:pPr lvl="2"/>
            <a:r>
              <a:rPr lang="hu-HU" dirty="0" err="1" smtClean="0"/>
              <a:t>makes</a:t>
            </a:r>
            <a:r>
              <a:rPr lang="hu-HU" dirty="0" smtClean="0"/>
              <a:t> </a:t>
            </a:r>
            <a:r>
              <a:rPr lang="hu-HU" dirty="0" err="1" smtClean="0"/>
              <a:t>sure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unlikely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never</a:t>
            </a:r>
            <a:r>
              <a:rPr lang="hu-HU" dirty="0" smtClean="0"/>
              <a:t> </a:t>
            </a:r>
            <a:r>
              <a:rPr lang="hu-HU" dirty="0" err="1" smtClean="0"/>
              <a:t>sampled</a:t>
            </a:r>
            <a:endParaRPr lang="hu-HU" dirty="0" smtClean="0"/>
          </a:p>
          <a:p>
            <a:pPr lvl="1"/>
            <a:r>
              <a:rPr lang="hu-HU" b="1" dirty="0" err="1" smtClean="0"/>
              <a:t>top-k</a:t>
            </a:r>
            <a:r>
              <a:rPr lang="hu-HU" dirty="0" smtClean="0"/>
              <a:t>: integer </a:t>
            </a:r>
            <a:r>
              <a:rPr lang="hu-HU" i="1" dirty="0" smtClean="0"/>
              <a:t>k </a:t>
            </a:r>
            <a:r>
              <a:rPr lang="hu-HU" dirty="0" smtClean="0"/>
              <a:t>≥ 1</a:t>
            </a:r>
          </a:p>
          <a:p>
            <a:pPr lvl="2"/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top-p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specifies</a:t>
            </a:r>
            <a:r>
              <a:rPr lang="hu-HU" dirty="0" smtClean="0"/>
              <a:t> </a:t>
            </a:r>
            <a:r>
              <a:rPr lang="hu-HU" dirty="0" err="1" smtClean="0"/>
              <a:t>concrete</a:t>
            </a:r>
            <a:r>
              <a:rPr lang="hu-HU" dirty="0" smtClean="0"/>
              <a:t> </a:t>
            </a:r>
            <a:r>
              <a:rPr lang="hu-HU" dirty="0" err="1" smtClean="0"/>
              <a:t>number</a:t>
            </a:r>
            <a:r>
              <a:rPr lang="hu-HU" dirty="0" smtClean="0"/>
              <a:t> of most </a:t>
            </a:r>
            <a:r>
              <a:rPr lang="hu-HU" dirty="0" err="1" smtClean="0"/>
              <a:t>probable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sampled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endParaRPr lang="hu-HU" dirty="0" smtClean="0"/>
          </a:p>
          <a:p>
            <a:pPr lvl="2"/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i="1" dirty="0" smtClean="0"/>
              <a:t>k </a:t>
            </a:r>
            <a:r>
              <a:rPr lang="hu-HU" dirty="0" smtClean="0"/>
              <a:t>= 1, </a:t>
            </a:r>
            <a:r>
              <a:rPr lang="hu-HU" dirty="0" err="1" smtClean="0"/>
              <a:t>there</a:t>
            </a:r>
            <a:r>
              <a:rPr lang="hu-HU" dirty="0" smtClean="0"/>
              <a:t> is no </a:t>
            </a:r>
            <a:r>
              <a:rPr lang="hu-HU" dirty="0" err="1" smtClean="0"/>
              <a:t>sampling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most </a:t>
            </a:r>
            <a:r>
              <a:rPr lang="hu-HU" dirty="0" err="1" smtClean="0"/>
              <a:t>likely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is </a:t>
            </a:r>
            <a:r>
              <a:rPr lang="hu-HU" dirty="0" err="1" smtClean="0"/>
              <a:t>always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output</a:t>
            </a:r>
          </a:p>
          <a:p>
            <a:pPr lvl="1"/>
            <a:r>
              <a:rPr lang="hu-HU" b="1" dirty="0" err="1" smtClean="0"/>
              <a:t>temperature</a:t>
            </a:r>
            <a:r>
              <a:rPr lang="hu-HU" dirty="0" smtClean="0"/>
              <a:t>: </a:t>
            </a:r>
            <a:r>
              <a:rPr lang="hu-HU" dirty="0" err="1" smtClean="0"/>
              <a:t>float</a:t>
            </a:r>
            <a:r>
              <a:rPr lang="hu-HU" dirty="0" smtClean="0"/>
              <a:t> </a:t>
            </a:r>
            <a:r>
              <a:rPr lang="hu-HU" dirty="0" err="1" smtClean="0"/>
              <a:t>value</a:t>
            </a:r>
            <a:r>
              <a:rPr lang="hu-HU" dirty="0" smtClean="0"/>
              <a:t> 0 ≤ </a:t>
            </a:r>
            <a:r>
              <a:rPr lang="hu-HU" i="1" dirty="0" smtClean="0"/>
              <a:t>t</a:t>
            </a:r>
          </a:p>
          <a:p>
            <a:pPr lvl="2"/>
            <a:r>
              <a:rPr lang="hu-HU" dirty="0" err="1" smtClean="0"/>
              <a:t>if</a:t>
            </a:r>
            <a:r>
              <a:rPr lang="hu-HU" dirty="0" smtClean="0"/>
              <a:t> 0,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predicted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 is </a:t>
            </a:r>
            <a:r>
              <a:rPr lang="hu-HU" dirty="0" err="1" smtClean="0"/>
              <a:t>used</a:t>
            </a:r>
            <a:endParaRPr lang="hu-HU" dirty="0" smtClean="0"/>
          </a:p>
          <a:p>
            <a:pPr lvl="2"/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higher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temperature</a:t>
            </a:r>
            <a:r>
              <a:rPr lang="hu-HU" dirty="0" smtClean="0"/>
              <a:t> is </a:t>
            </a:r>
            <a:r>
              <a:rPr lang="hu-HU" dirty="0" err="1" smtClean="0"/>
              <a:t>set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more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 is </a:t>
            </a:r>
            <a:r>
              <a:rPr lang="hu-HU" dirty="0" err="1" smtClean="0"/>
              <a:t>distorted</a:t>
            </a:r>
            <a:r>
              <a:rPr lang="hu-HU" dirty="0" smtClean="0"/>
              <a:t> </a:t>
            </a:r>
            <a:r>
              <a:rPr lang="hu-HU" dirty="0" err="1" smtClean="0"/>
              <a:t>toward</a:t>
            </a:r>
            <a:r>
              <a:rPr lang="hu-HU" dirty="0" smtClean="0"/>
              <a:t> </a:t>
            </a:r>
            <a:r>
              <a:rPr lang="hu-HU" dirty="0" err="1" smtClean="0"/>
              <a:t>unlikely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, i.e. </a:t>
            </a:r>
            <a:r>
              <a:rPr lang="hu-HU" dirty="0" err="1" smtClean="0"/>
              <a:t>the</a:t>
            </a:r>
            <a:r>
              <a:rPr lang="hu-HU" dirty="0" smtClean="0"/>
              <a:t> more </a:t>
            </a:r>
            <a:r>
              <a:rPr lang="hu-HU" dirty="0" err="1" smtClean="0"/>
              <a:t>likely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that</a:t>
            </a:r>
            <a:r>
              <a:rPr lang="hu-HU" dirty="0" smtClean="0"/>
              <a:t> a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predicted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relatively</a:t>
            </a:r>
            <a:r>
              <a:rPr lang="hu-HU" dirty="0" smtClean="0"/>
              <a:t> </a:t>
            </a:r>
            <a:r>
              <a:rPr lang="hu-HU" dirty="0" err="1" smtClean="0"/>
              <a:t>unlikely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be</a:t>
            </a:r>
            <a:r>
              <a:rPr lang="hu-HU" dirty="0" smtClean="0"/>
              <a:t> </a:t>
            </a:r>
            <a:r>
              <a:rPr lang="hu-HU" dirty="0" err="1" smtClean="0"/>
              <a:t>sampled</a:t>
            </a:r>
            <a:endParaRPr lang="hu-HU" dirty="0" smtClean="0"/>
          </a:p>
          <a:p>
            <a:pPr lvl="3"/>
            <a:r>
              <a:rPr lang="hu-HU" dirty="0" err="1" smtClean="0"/>
              <a:t>high</a:t>
            </a:r>
            <a:r>
              <a:rPr lang="hu-HU" dirty="0" smtClean="0"/>
              <a:t> </a:t>
            </a:r>
            <a:r>
              <a:rPr lang="hu-HU" dirty="0" err="1" smtClean="0"/>
              <a:t>temperature</a:t>
            </a:r>
            <a:r>
              <a:rPr lang="hu-HU" dirty="0" smtClean="0"/>
              <a:t> </a:t>
            </a:r>
            <a:r>
              <a:rPr lang="hu-HU" dirty="0" err="1" smtClean="0"/>
              <a:t>means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likely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downweighted</a:t>
            </a:r>
            <a:r>
              <a:rPr lang="hu-HU" dirty="0" smtClean="0"/>
              <a:t>, </a:t>
            </a:r>
            <a:r>
              <a:rPr lang="hu-HU" dirty="0" err="1" smtClean="0"/>
              <a:t>unlikely</a:t>
            </a:r>
            <a:r>
              <a:rPr lang="hu-HU" dirty="0" smtClean="0"/>
              <a:t> </a:t>
            </a:r>
            <a:r>
              <a:rPr lang="hu-HU" dirty="0" err="1" smtClean="0"/>
              <a:t>ones</a:t>
            </a:r>
            <a:r>
              <a:rPr lang="hu-HU" dirty="0" smtClean="0"/>
              <a:t> </a:t>
            </a:r>
            <a:r>
              <a:rPr lang="hu-HU" dirty="0" err="1" smtClean="0"/>
              <a:t>upweighted</a:t>
            </a:r>
            <a:endParaRPr lang="hu-HU" dirty="0" smtClean="0"/>
          </a:p>
          <a:p>
            <a:pPr lvl="2"/>
            <a:r>
              <a:rPr lang="hu-HU" dirty="0" err="1" smtClean="0"/>
              <a:t>subjectively</a:t>
            </a:r>
            <a:r>
              <a:rPr lang="hu-HU" dirty="0" smtClean="0"/>
              <a:t> felt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correlate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creativity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output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96551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Determinism</a:t>
            </a:r>
            <a:r>
              <a:rPr lang="hu-HU" dirty="0" smtClean="0"/>
              <a:t> of 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b="1" dirty="0" err="1" smtClean="0"/>
              <a:t>perfectly</a:t>
            </a:r>
            <a:r>
              <a:rPr lang="hu-HU" b="1" dirty="0" smtClean="0"/>
              <a:t> </a:t>
            </a:r>
            <a:r>
              <a:rPr lang="hu-HU" b="1" dirty="0" err="1" smtClean="0"/>
              <a:t>deterministic</a:t>
            </a:r>
            <a:r>
              <a:rPr lang="hu-HU" b="1" dirty="0" smtClean="0"/>
              <a:t>.</a:t>
            </a:r>
          </a:p>
          <a:p>
            <a:pPr lvl="1"/>
            <a:r>
              <a:rPr lang="hu-HU" dirty="0" err="1" smtClean="0"/>
              <a:t>Given</a:t>
            </a:r>
            <a:r>
              <a:rPr lang="hu-HU" dirty="0" smtClean="0"/>
              <a:t> a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weights</a:t>
            </a:r>
            <a:r>
              <a:rPr lang="hu-HU" dirty="0" smtClean="0"/>
              <a:t> and a </a:t>
            </a:r>
            <a:r>
              <a:rPr lang="hu-HU" dirty="0" err="1" smtClean="0"/>
              <a:t>specific</a:t>
            </a:r>
            <a:r>
              <a:rPr lang="hu-HU" dirty="0" smtClean="0"/>
              <a:t> input,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always</a:t>
            </a:r>
            <a:r>
              <a:rPr lang="hu-HU" dirty="0" smtClean="0"/>
              <a:t> </a:t>
            </a:r>
            <a:r>
              <a:rPr lang="hu-HU" dirty="0" err="1" smtClean="0"/>
              <a:t>calculate</a:t>
            </a:r>
            <a:r>
              <a:rPr lang="hu-HU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same</a:t>
            </a:r>
            <a:r>
              <a:rPr lang="hu-HU" b="1" dirty="0" smtClean="0"/>
              <a:t> </a:t>
            </a:r>
            <a:r>
              <a:rPr lang="hu-HU" b="1" dirty="0" err="1" smtClean="0"/>
              <a:t>probability</a:t>
            </a:r>
            <a:r>
              <a:rPr lang="hu-HU" b="1" dirty="0" smtClean="0"/>
              <a:t> </a:t>
            </a:r>
            <a:r>
              <a:rPr lang="hu-HU" b="1" dirty="0" err="1" smtClean="0"/>
              <a:t>distribution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dirty="0" err="1" smtClean="0"/>
              <a:t>set</a:t>
            </a:r>
            <a:r>
              <a:rPr lang="hu-HU" dirty="0" smtClean="0"/>
              <a:t> </a:t>
            </a:r>
            <a:r>
              <a:rPr lang="hu-HU" dirty="0" err="1" smtClean="0"/>
              <a:t>top-k</a:t>
            </a:r>
            <a:r>
              <a:rPr lang="hu-HU" dirty="0" smtClean="0"/>
              <a:t> = 1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seed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RNG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sampler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a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value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dirty="0" err="1" smtClean="0"/>
              <a:t>generate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exact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</a:t>
            </a:r>
            <a:r>
              <a:rPr lang="hu-HU" dirty="0" err="1" smtClean="0"/>
              <a:t>continuation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input.</a:t>
            </a:r>
          </a:p>
          <a:p>
            <a:pPr lvl="1"/>
            <a:r>
              <a:rPr lang="hu-HU" dirty="0" err="1" smtClean="0"/>
              <a:t>Due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hardware and software </a:t>
            </a:r>
            <a:r>
              <a:rPr lang="hu-HU" dirty="0" err="1" smtClean="0"/>
              <a:t>inconsistencies</a:t>
            </a:r>
            <a:r>
              <a:rPr lang="hu-HU" dirty="0" smtClean="0"/>
              <a:t>, </a:t>
            </a:r>
            <a:r>
              <a:rPr lang="hu-HU" dirty="0" err="1" smtClean="0"/>
              <a:t>they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practice</a:t>
            </a:r>
            <a:r>
              <a:rPr lang="hu-HU" dirty="0" smtClean="0"/>
              <a:t> </a:t>
            </a:r>
            <a:r>
              <a:rPr lang="hu-HU" dirty="0" err="1" smtClean="0"/>
              <a:t>behave</a:t>
            </a:r>
            <a:r>
              <a:rPr lang="hu-HU" dirty="0" smtClean="0"/>
              <a:t> </a:t>
            </a:r>
            <a:r>
              <a:rPr lang="hu-HU" dirty="0" err="1" smtClean="0"/>
              <a:t>non-deterministically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Particularly</a:t>
            </a:r>
            <a:r>
              <a:rPr lang="hu-HU" dirty="0" smtClean="0"/>
              <a:t> </a:t>
            </a:r>
            <a:r>
              <a:rPr lang="hu-HU" dirty="0" err="1" smtClean="0"/>
              <a:t>when</a:t>
            </a:r>
            <a:r>
              <a:rPr lang="hu-HU" dirty="0" smtClean="0"/>
              <a:t> a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distributed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several</a:t>
            </a:r>
            <a:r>
              <a:rPr lang="hu-HU" dirty="0" smtClean="0"/>
              <a:t> </a:t>
            </a:r>
            <a:r>
              <a:rPr lang="hu-HU" dirty="0" err="1" smtClean="0"/>
              <a:t>devices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may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hardware (</a:t>
            </a:r>
            <a:r>
              <a:rPr lang="hu-HU" dirty="0" err="1" smtClean="0"/>
              <a:t>GPU</a:t>
            </a:r>
            <a:r>
              <a:rPr lang="hu-HU" dirty="0" smtClean="0"/>
              <a:t>) </a:t>
            </a:r>
            <a:r>
              <a:rPr lang="hu-HU" dirty="0" err="1" smtClean="0"/>
              <a:t>or</a:t>
            </a:r>
            <a:r>
              <a:rPr lang="hu-HU" dirty="0" smtClean="0"/>
              <a:t> software (</a:t>
            </a:r>
            <a:r>
              <a:rPr lang="hu-HU" dirty="0" err="1" smtClean="0"/>
              <a:t>GPU</a:t>
            </a:r>
            <a:r>
              <a:rPr lang="hu-HU" dirty="0" smtClean="0"/>
              <a:t> and </a:t>
            </a:r>
            <a:r>
              <a:rPr lang="hu-HU" dirty="0" err="1" smtClean="0"/>
              <a:t>CUDA</a:t>
            </a:r>
            <a:r>
              <a:rPr lang="hu-HU" dirty="0" smtClean="0"/>
              <a:t> driver) version </a:t>
            </a:r>
            <a:r>
              <a:rPr lang="hu-HU" dirty="0" err="1" smtClean="0"/>
              <a:t>installed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7446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Fine-tuning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62500" lnSpcReduction="20000"/>
          </a:bodyPr>
          <a:lstStyle/>
          <a:p>
            <a:r>
              <a:rPr lang="hu-HU" dirty="0" err="1" smtClean="0"/>
              <a:t>Fine-tuning</a:t>
            </a:r>
            <a:r>
              <a:rPr lang="hu-HU" dirty="0" smtClean="0"/>
              <a:t> is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often</a:t>
            </a:r>
            <a:r>
              <a:rPr lang="hu-HU" dirty="0" smtClean="0"/>
              <a:t> </a:t>
            </a:r>
            <a:r>
              <a:rPr lang="hu-HU" dirty="0" err="1" smtClean="0"/>
              <a:t>applied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general</a:t>
            </a:r>
            <a:r>
              <a:rPr lang="hu-HU" dirty="0" smtClean="0"/>
              <a:t>:</a:t>
            </a:r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general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b="1" dirty="0" err="1" smtClean="0"/>
              <a:t>pre-trained</a:t>
            </a:r>
            <a:r>
              <a:rPr lang="hu-HU" b="1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predict</a:t>
            </a:r>
            <a:r>
              <a:rPr lang="hu-HU" dirty="0" smtClean="0"/>
              <a:t> a </a:t>
            </a:r>
            <a:r>
              <a:rPr lang="hu-HU" dirty="0" err="1" smtClean="0"/>
              <a:t>missing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 of </a:t>
            </a:r>
            <a:r>
              <a:rPr lang="hu-HU" dirty="0" err="1" smtClean="0"/>
              <a:t>tokens</a:t>
            </a:r>
            <a:r>
              <a:rPr lang="hu-HU" dirty="0" smtClean="0"/>
              <a:t>: </a:t>
            </a:r>
            <a:r>
              <a:rPr lang="hu-HU" dirty="0" err="1" smtClean="0"/>
              <a:t>bi-directional</a:t>
            </a:r>
            <a:r>
              <a:rPr lang="hu-HU" dirty="0" smtClean="0"/>
              <a:t> </a:t>
            </a:r>
            <a:r>
              <a:rPr lang="hu-HU" dirty="0" err="1" smtClean="0"/>
              <a:t>MLM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left-to-right</a:t>
            </a:r>
            <a:r>
              <a:rPr lang="hu-HU" dirty="0" smtClean="0"/>
              <a:t> </a:t>
            </a:r>
            <a:r>
              <a:rPr lang="hu-HU" dirty="0" err="1" smtClean="0"/>
              <a:t>autoregressive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(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vs</a:t>
            </a:r>
            <a:r>
              <a:rPr lang="hu-HU" dirty="0" smtClean="0"/>
              <a:t> </a:t>
            </a:r>
            <a:r>
              <a:rPr lang="hu-HU" dirty="0" err="1" smtClean="0"/>
              <a:t>GPT</a:t>
            </a:r>
            <a:r>
              <a:rPr lang="hu-HU" dirty="0" smtClean="0"/>
              <a:t>)</a:t>
            </a:r>
          </a:p>
          <a:p>
            <a:pPr lvl="2"/>
            <a:r>
              <a:rPr lang="hu-HU" dirty="0" err="1" smtClean="0"/>
              <a:t>typically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billions</a:t>
            </a:r>
            <a:r>
              <a:rPr lang="hu-HU" dirty="0" smtClean="0"/>
              <a:t> of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 </a:t>
            </a:r>
            <a:r>
              <a:rPr lang="hu-HU" dirty="0" err="1" smtClean="0"/>
              <a:t>points</a:t>
            </a:r>
            <a:r>
              <a:rPr lang="hu-HU" dirty="0" smtClean="0"/>
              <a:t> (</a:t>
            </a:r>
            <a:r>
              <a:rPr lang="hu-HU" dirty="0" err="1" smtClean="0"/>
              <a:t>context</a:t>
            </a:r>
            <a:r>
              <a:rPr lang="hu-HU" dirty="0" smtClean="0"/>
              <a:t> +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predicted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then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fine-tuned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supervised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(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class-labeled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) </a:t>
            </a:r>
            <a:r>
              <a:rPr lang="hu-HU" dirty="0" err="1" smtClean="0"/>
              <a:t>for</a:t>
            </a:r>
            <a:r>
              <a:rPr lang="hu-HU" dirty="0" smtClean="0"/>
              <a:t> a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 text </a:t>
            </a:r>
            <a:r>
              <a:rPr lang="hu-HU" dirty="0" err="1" smtClean="0"/>
              <a:t>classification</a:t>
            </a:r>
            <a:endParaRPr lang="hu-HU" dirty="0" smtClean="0"/>
          </a:p>
          <a:p>
            <a:pPr lvl="2"/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involves</a:t>
            </a:r>
            <a:r>
              <a:rPr lang="hu-HU" dirty="0" smtClean="0"/>
              <a:t> </a:t>
            </a:r>
            <a:r>
              <a:rPr lang="hu-HU" dirty="0" err="1" smtClean="0"/>
              <a:t>adding</a:t>
            </a:r>
            <a:r>
              <a:rPr lang="hu-HU" dirty="0" smtClean="0"/>
              <a:t> an </a:t>
            </a:r>
            <a:r>
              <a:rPr lang="hu-HU" dirty="0" err="1" smtClean="0"/>
              <a:t>additional</a:t>
            </a:r>
            <a:r>
              <a:rPr lang="hu-HU" dirty="0" smtClean="0"/>
              <a:t> </a:t>
            </a:r>
            <a:r>
              <a:rPr lang="hu-HU" dirty="0" err="1" smtClean="0"/>
              <a:t>classifier</a:t>
            </a:r>
            <a:r>
              <a:rPr lang="hu-HU" dirty="0" smtClean="0"/>
              <a:t> </a:t>
            </a:r>
            <a:r>
              <a:rPr lang="hu-HU" dirty="0" err="1" smtClean="0"/>
              <a:t>layer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endParaRPr lang="hu-HU" dirty="0" smtClean="0"/>
          </a:p>
          <a:p>
            <a:pPr lvl="2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layer</a:t>
            </a:r>
            <a:r>
              <a:rPr lang="hu-HU" dirty="0" smtClean="0"/>
              <a:t> is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scratch</a:t>
            </a:r>
            <a:r>
              <a:rPr lang="hu-HU" dirty="0" smtClean="0"/>
              <a:t> (</a:t>
            </a:r>
            <a:r>
              <a:rPr lang="hu-HU" dirty="0" err="1" smtClean="0"/>
              <a:t>randomly</a:t>
            </a:r>
            <a:r>
              <a:rPr lang="hu-HU" dirty="0" smtClean="0"/>
              <a:t> </a:t>
            </a:r>
            <a:r>
              <a:rPr lang="hu-HU" dirty="0" err="1" smtClean="0"/>
              <a:t>initialised</a:t>
            </a:r>
            <a:r>
              <a:rPr lang="hu-HU" dirty="0" smtClean="0"/>
              <a:t>)</a:t>
            </a:r>
          </a:p>
          <a:p>
            <a:pPr lvl="2"/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weights</a:t>
            </a:r>
            <a:r>
              <a:rPr lang="hu-HU" dirty="0" smtClean="0"/>
              <a:t> </a:t>
            </a:r>
            <a:r>
              <a:rPr lang="hu-HU" dirty="0" err="1" smtClean="0"/>
              <a:t>may</a:t>
            </a:r>
            <a:r>
              <a:rPr lang="hu-HU" dirty="0" smtClean="0"/>
              <a:t> be </a:t>
            </a:r>
            <a:r>
              <a:rPr lang="hu-HU" dirty="0" err="1" smtClean="0"/>
              <a:t>frozen</a:t>
            </a:r>
            <a:r>
              <a:rPr lang="hu-HU" dirty="0" smtClean="0"/>
              <a:t> </a:t>
            </a:r>
            <a:r>
              <a:rPr lang="hu-HU" dirty="0" err="1" smtClean="0"/>
              <a:t>during</a:t>
            </a:r>
            <a:r>
              <a:rPr lang="hu-HU" dirty="0" smtClean="0"/>
              <a:t> </a:t>
            </a:r>
            <a:r>
              <a:rPr lang="hu-HU" dirty="0" err="1" smtClean="0"/>
              <a:t>fine-tuning</a:t>
            </a:r>
            <a:r>
              <a:rPr lang="hu-HU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)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may</a:t>
            </a:r>
            <a:r>
              <a:rPr lang="hu-HU" dirty="0" smtClean="0"/>
              <a:t> </a:t>
            </a:r>
            <a:r>
              <a:rPr lang="hu-HU" dirty="0" err="1" smtClean="0"/>
              <a:t>be</a:t>
            </a:r>
            <a:r>
              <a:rPr lang="hu-HU" dirty="0" smtClean="0"/>
              <a:t> </a:t>
            </a:r>
            <a:r>
              <a:rPr lang="hu-HU" dirty="0" err="1" smtClean="0"/>
              <a:t>trainable</a:t>
            </a:r>
            <a:r>
              <a:rPr lang="hu-HU" dirty="0" smtClean="0"/>
              <a:t> </a:t>
            </a:r>
            <a:r>
              <a:rPr lang="hu-HU" dirty="0" err="1" smtClean="0"/>
              <a:t>themselves</a:t>
            </a:r>
            <a:r>
              <a:rPr lang="hu-HU" dirty="0" smtClean="0"/>
              <a:t> and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adapt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endParaRPr lang="hu-HU" dirty="0" smtClean="0"/>
          </a:p>
          <a:p>
            <a:pPr lvl="2"/>
            <a:r>
              <a:rPr lang="hu-HU" dirty="0" err="1" smtClean="0"/>
              <a:t>on</a:t>
            </a:r>
            <a:r>
              <a:rPr lang="hu-HU" dirty="0" smtClean="0"/>
              <a:t> a </a:t>
            </a:r>
            <a:r>
              <a:rPr lang="hu-HU" dirty="0" err="1" smtClean="0"/>
              <a:t>relatively</a:t>
            </a:r>
            <a:r>
              <a:rPr lang="hu-HU" dirty="0" smtClean="0"/>
              <a:t> </a:t>
            </a:r>
            <a:r>
              <a:rPr lang="hu-HU" dirty="0" err="1" smtClean="0"/>
              <a:t>small</a:t>
            </a:r>
            <a:r>
              <a:rPr lang="hu-HU" dirty="0" smtClean="0"/>
              <a:t> </a:t>
            </a:r>
            <a:r>
              <a:rPr lang="hu-HU" dirty="0" err="1" smtClean="0"/>
              <a:t>number</a:t>
            </a:r>
            <a:r>
              <a:rPr lang="hu-HU" dirty="0" smtClean="0"/>
              <a:t> of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 </a:t>
            </a:r>
            <a:r>
              <a:rPr lang="hu-HU" dirty="0" err="1" smtClean="0"/>
              <a:t>points</a:t>
            </a:r>
            <a:r>
              <a:rPr lang="hu-HU" dirty="0" smtClean="0"/>
              <a:t>, </a:t>
            </a:r>
            <a:r>
              <a:rPr lang="hu-HU" dirty="0" err="1" smtClean="0"/>
              <a:t>typically</a:t>
            </a:r>
            <a:r>
              <a:rPr lang="hu-HU" dirty="0" smtClean="0"/>
              <a:t> a </a:t>
            </a:r>
            <a:r>
              <a:rPr lang="hu-HU" dirty="0" err="1" smtClean="0"/>
              <a:t>few</a:t>
            </a:r>
            <a:r>
              <a:rPr lang="hu-HU" dirty="0" smtClean="0"/>
              <a:t> </a:t>
            </a:r>
            <a:r>
              <a:rPr lang="hu-HU" dirty="0" err="1" smtClean="0"/>
              <a:t>thousand</a:t>
            </a:r>
            <a:r>
              <a:rPr lang="hu-HU" dirty="0" smtClean="0"/>
              <a:t>, less </a:t>
            </a:r>
            <a:r>
              <a:rPr lang="hu-HU" dirty="0" err="1" smtClean="0"/>
              <a:t>commonly</a:t>
            </a:r>
            <a:r>
              <a:rPr lang="hu-HU" dirty="0" smtClean="0"/>
              <a:t> </a:t>
            </a:r>
            <a:r>
              <a:rPr lang="hu-HU" dirty="0" err="1" smtClean="0"/>
              <a:t>tens</a:t>
            </a:r>
            <a:r>
              <a:rPr lang="hu-HU" dirty="0" smtClean="0"/>
              <a:t> of </a:t>
            </a:r>
            <a:r>
              <a:rPr lang="hu-HU" dirty="0" err="1" smtClean="0"/>
              <a:t>thousands</a:t>
            </a:r>
            <a:endParaRPr lang="hu-HU" dirty="0" smtClean="0"/>
          </a:p>
          <a:p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results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fine-tuned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is </a:t>
            </a:r>
            <a:r>
              <a:rPr lang="hu-HU" b="1" dirty="0" err="1" smtClean="0"/>
              <a:t>much</a:t>
            </a:r>
            <a:r>
              <a:rPr lang="hu-HU" b="1" dirty="0" smtClean="0"/>
              <a:t> more </a:t>
            </a:r>
            <a:r>
              <a:rPr lang="hu-HU" b="1" dirty="0" err="1" smtClean="0"/>
              <a:t>accurate</a:t>
            </a:r>
            <a:r>
              <a:rPr lang="hu-HU" b="1" dirty="0" smtClean="0"/>
              <a:t>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 </a:t>
            </a:r>
            <a:r>
              <a:rPr lang="hu-HU" b="1" dirty="0" err="1" smtClean="0"/>
              <a:t>than</a:t>
            </a:r>
            <a:r>
              <a:rPr lang="hu-HU" b="1" dirty="0" smtClean="0"/>
              <a:t> </a:t>
            </a:r>
            <a:r>
              <a:rPr lang="hu-HU" dirty="0" smtClean="0"/>
              <a:t>a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b="1" dirty="0" err="1" smtClean="0"/>
              <a:t>trained</a:t>
            </a:r>
            <a:r>
              <a:rPr lang="hu-HU" b="1" dirty="0" smtClean="0"/>
              <a:t> </a:t>
            </a:r>
            <a:r>
              <a:rPr lang="hu-HU" b="1" dirty="0" err="1" smtClean="0"/>
              <a:t>from</a:t>
            </a:r>
            <a:r>
              <a:rPr lang="hu-HU" b="1" dirty="0" smtClean="0"/>
              <a:t> </a:t>
            </a:r>
            <a:r>
              <a:rPr lang="hu-HU" b="1" dirty="0" err="1" smtClean="0"/>
              <a:t>scratch</a:t>
            </a:r>
            <a:r>
              <a:rPr lang="hu-HU" b="1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 (</a:t>
            </a:r>
            <a:r>
              <a:rPr lang="hu-HU" dirty="0" err="1" smtClean="0"/>
              <a:t>even</a:t>
            </a:r>
            <a:r>
              <a:rPr lang="hu-HU" dirty="0" smtClean="0"/>
              <a:t>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much</a:t>
            </a:r>
            <a:r>
              <a:rPr lang="hu-HU" dirty="0" smtClean="0"/>
              <a:t> more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 </a:t>
            </a:r>
            <a:r>
              <a:rPr lang="hu-HU" dirty="0" err="1" smtClean="0"/>
              <a:t>than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use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fine-tuning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although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main </a:t>
            </a:r>
            <a:r>
              <a:rPr lang="hu-HU" dirty="0" err="1" smtClean="0"/>
              <a:t>problem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fine-tuning</a:t>
            </a:r>
            <a:r>
              <a:rPr lang="hu-HU" dirty="0" smtClean="0"/>
              <a:t> </a:t>
            </a:r>
            <a:r>
              <a:rPr lang="hu-HU" dirty="0" err="1" smtClean="0"/>
              <a:t>solves</a:t>
            </a:r>
            <a:r>
              <a:rPr lang="hu-HU" dirty="0" smtClean="0"/>
              <a:t> is </a:t>
            </a:r>
            <a:r>
              <a:rPr lang="hu-HU" dirty="0" err="1" smtClean="0"/>
              <a:t>exactly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small</a:t>
            </a:r>
            <a:r>
              <a:rPr lang="hu-HU" dirty="0" smtClean="0"/>
              <a:t> </a:t>
            </a:r>
            <a:r>
              <a:rPr lang="hu-HU" dirty="0" err="1" smtClean="0"/>
              <a:t>amounts</a:t>
            </a:r>
            <a:r>
              <a:rPr lang="hu-HU" dirty="0" smtClean="0"/>
              <a:t> of </a:t>
            </a:r>
            <a:r>
              <a:rPr lang="hu-HU" dirty="0" err="1" smtClean="0"/>
              <a:t>labeled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our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tasks</a:t>
            </a:r>
            <a:endParaRPr lang="hu-HU" dirty="0" smtClean="0"/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utilises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general</a:t>
            </a:r>
            <a:r>
              <a:rPr lang="hu-HU" dirty="0" smtClean="0"/>
              <a:t> </a:t>
            </a:r>
            <a:r>
              <a:rPr lang="hu-HU" dirty="0" err="1" smtClean="0"/>
              <a:t>knowledge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7629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Zero-shot</a:t>
            </a:r>
            <a:r>
              <a:rPr lang="hu-HU" dirty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Few-shot</a:t>
            </a:r>
            <a:r>
              <a:rPr lang="hu-HU" dirty="0" smtClean="0"/>
              <a:t> </a:t>
            </a:r>
            <a:r>
              <a:rPr lang="hu-HU" dirty="0" err="1" smtClean="0"/>
              <a:t>Prompts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>
                <a:hlinkClick r:id="rId2"/>
              </a:rPr>
              <a:t>Radford</a:t>
            </a:r>
            <a:r>
              <a:rPr lang="hu-HU" dirty="0" smtClean="0">
                <a:hlinkClick r:id="rId2"/>
              </a:rPr>
              <a:t> et </a:t>
            </a:r>
            <a:r>
              <a:rPr lang="hu-HU" dirty="0" err="1" smtClean="0">
                <a:hlinkClick r:id="rId2"/>
              </a:rPr>
              <a:t>al</a:t>
            </a:r>
            <a:r>
              <a:rPr lang="hu-HU" dirty="0" smtClean="0">
                <a:hlinkClick r:id="rId2"/>
              </a:rPr>
              <a:t>., 2019</a:t>
            </a:r>
            <a:r>
              <a:rPr lang="hu-HU" dirty="0" smtClean="0"/>
              <a:t>, and </a:t>
            </a:r>
            <a:r>
              <a:rPr lang="hu-HU" dirty="0" smtClean="0">
                <a:hlinkClick r:id="rId3"/>
              </a:rPr>
              <a:t>Brown et </a:t>
            </a:r>
            <a:r>
              <a:rPr lang="hu-HU" dirty="0" err="1" smtClean="0">
                <a:hlinkClick r:id="rId3"/>
              </a:rPr>
              <a:t>al</a:t>
            </a:r>
            <a:r>
              <a:rPr lang="hu-HU" dirty="0" smtClean="0">
                <a:hlinkClick r:id="rId3"/>
              </a:rPr>
              <a:t>., 2020</a:t>
            </a:r>
            <a:r>
              <a:rPr lang="hu-HU" dirty="0" smtClean="0"/>
              <a:t> (</a:t>
            </a:r>
            <a:r>
              <a:rPr lang="hu-HU" dirty="0" err="1" smtClean="0"/>
              <a:t>see</a:t>
            </a:r>
            <a:r>
              <a:rPr lang="hu-HU" dirty="0" smtClean="0"/>
              <a:t> </a:t>
            </a:r>
            <a:r>
              <a:rPr lang="hu-HU" dirty="0" err="1" smtClean="0"/>
              <a:t>slides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topic</a:t>
            </a:r>
            <a:r>
              <a:rPr lang="hu-HU" dirty="0" smtClean="0"/>
              <a:t> 4), </a:t>
            </a:r>
            <a:r>
              <a:rPr lang="hu-HU" dirty="0" err="1" smtClean="0"/>
              <a:t>OpenAI</a:t>
            </a:r>
            <a:r>
              <a:rPr lang="hu-HU" dirty="0" smtClean="0"/>
              <a:t> </a:t>
            </a:r>
            <a:r>
              <a:rPr lang="hu-HU" dirty="0" err="1" smtClean="0"/>
              <a:t>researchers</a:t>
            </a:r>
            <a:r>
              <a:rPr lang="hu-HU" dirty="0" smtClean="0"/>
              <a:t> </a:t>
            </a:r>
            <a:r>
              <a:rPr lang="hu-HU" dirty="0" err="1" smtClean="0"/>
              <a:t>published</a:t>
            </a:r>
            <a:r>
              <a:rPr lang="hu-HU" dirty="0" smtClean="0"/>
              <a:t> </a:t>
            </a:r>
            <a:r>
              <a:rPr lang="hu-HU" dirty="0" err="1" smtClean="0"/>
              <a:t>results</a:t>
            </a:r>
            <a:r>
              <a:rPr lang="hu-HU" dirty="0" smtClean="0"/>
              <a:t> </a:t>
            </a:r>
            <a:r>
              <a:rPr lang="hu-HU" dirty="0" err="1" smtClean="0"/>
              <a:t>showing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capable</a:t>
            </a:r>
            <a:r>
              <a:rPr lang="hu-HU" dirty="0" smtClean="0"/>
              <a:t> of </a:t>
            </a:r>
            <a:r>
              <a:rPr lang="hu-HU" dirty="0" err="1" smtClean="0"/>
              <a:t>performing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 </a:t>
            </a:r>
            <a:r>
              <a:rPr lang="hu-HU" dirty="0" err="1" smtClean="0"/>
              <a:t>tasks</a:t>
            </a:r>
            <a:r>
              <a:rPr lang="hu-HU" dirty="0" smtClean="0"/>
              <a:t> </a:t>
            </a:r>
            <a:r>
              <a:rPr lang="hu-HU" dirty="0" err="1" smtClean="0"/>
              <a:t>even</a:t>
            </a:r>
            <a:r>
              <a:rPr lang="hu-HU" dirty="0" smtClean="0"/>
              <a:t> </a:t>
            </a:r>
            <a:r>
              <a:rPr lang="hu-HU" dirty="0" err="1" smtClean="0"/>
              <a:t>without</a:t>
            </a:r>
            <a:r>
              <a:rPr lang="hu-HU" dirty="0" smtClean="0"/>
              <a:t> </a:t>
            </a:r>
            <a:r>
              <a:rPr lang="hu-HU" dirty="0" err="1" smtClean="0"/>
              <a:t>fine-tuning</a:t>
            </a:r>
            <a:r>
              <a:rPr lang="hu-HU" dirty="0" smtClean="0"/>
              <a:t> </a:t>
            </a:r>
            <a:r>
              <a:rPr lang="hu-HU" dirty="0" err="1" smtClean="0"/>
              <a:t>after</a:t>
            </a:r>
            <a:r>
              <a:rPr lang="hu-HU" dirty="0" smtClean="0"/>
              <a:t> being </a:t>
            </a:r>
            <a:r>
              <a:rPr lang="hu-HU" dirty="0" err="1" smtClean="0"/>
              <a:t>presented</a:t>
            </a:r>
            <a:r>
              <a:rPr lang="hu-HU" dirty="0" smtClean="0"/>
              <a:t> a </a:t>
            </a:r>
            <a:r>
              <a:rPr lang="hu-HU" dirty="0" err="1" smtClean="0"/>
              <a:t>proper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text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processed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 (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question</a:t>
            </a:r>
            <a:r>
              <a:rPr lang="hu-HU" dirty="0" smtClean="0"/>
              <a:t> </a:t>
            </a:r>
            <a:r>
              <a:rPr lang="hu-HU" dirty="0" err="1" smtClean="0"/>
              <a:t>answering</a:t>
            </a:r>
            <a:r>
              <a:rPr lang="hu-HU" dirty="0" smtClean="0"/>
              <a:t>: </a:t>
            </a:r>
            <a:r>
              <a:rPr lang="hu-HU" dirty="0" err="1" smtClean="0"/>
              <a:t>the</a:t>
            </a:r>
            <a:r>
              <a:rPr lang="hu-HU" dirty="0" smtClean="0"/>
              <a:t> text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answer</a:t>
            </a:r>
            <a:r>
              <a:rPr lang="hu-HU" dirty="0" smtClean="0"/>
              <a:t> </a:t>
            </a:r>
            <a:r>
              <a:rPr lang="hu-HU" dirty="0" err="1" smtClean="0"/>
              <a:t>should</a:t>
            </a:r>
            <a:r>
              <a:rPr lang="hu-HU" dirty="0" smtClean="0"/>
              <a:t> be </a:t>
            </a:r>
            <a:r>
              <a:rPr lang="hu-HU" dirty="0" err="1" smtClean="0"/>
              <a:t>extracted</a:t>
            </a:r>
            <a:r>
              <a:rPr lang="hu-HU" dirty="0" smtClean="0"/>
              <a:t> +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 </a:t>
            </a:r>
            <a:r>
              <a:rPr lang="hu-HU" dirty="0" err="1" smtClean="0"/>
              <a:t>itself</a:t>
            </a:r>
            <a:r>
              <a:rPr lang="hu-HU" dirty="0" smtClean="0"/>
              <a:t>; </a:t>
            </a:r>
            <a:r>
              <a:rPr lang="hu-HU" dirty="0" err="1" smtClean="0"/>
              <a:t>MT</a:t>
            </a:r>
            <a:r>
              <a:rPr lang="hu-HU" dirty="0" smtClean="0"/>
              <a:t>: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sentence</a:t>
            </a:r>
            <a:r>
              <a:rPr lang="hu-HU" dirty="0" smtClean="0"/>
              <a:t>/text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translated</a:t>
            </a:r>
            <a:r>
              <a:rPr lang="hu-HU" dirty="0" smtClean="0"/>
              <a:t>).</a:t>
            </a:r>
          </a:p>
          <a:p>
            <a:pPr lvl="1"/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addition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needs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make</a:t>
            </a:r>
            <a:r>
              <a:rPr lang="hu-HU" dirty="0" smtClean="0"/>
              <a:t> </a:t>
            </a:r>
            <a:r>
              <a:rPr lang="hu-HU" dirty="0" err="1" smtClean="0"/>
              <a:t>clear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 is.</a:t>
            </a:r>
          </a:p>
          <a:p>
            <a:pPr lvl="2"/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,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ends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phrase</a:t>
            </a:r>
            <a:r>
              <a:rPr lang="hu-HU" dirty="0" smtClean="0"/>
              <a:t> </a:t>
            </a:r>
            <a:r>
              <a:rPr lang="hu-HU" dirty="0" err="1" smtClean="0"/>
              <a:t>TL</a:t>
            </a:r>
            <a:r>
              <a:rPr lang="hu-HU" dirty="0" smtClean="0"/>
              <a:t>;</a:t>
            </a:r>
            <a:r>
              <a:rPr lang="hu-HU" dirty="0" err="1" smtClean="0"/>
              <a:t>DR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expected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generate</a:t>
            </a:r>
            <a:r>
              <a:rPr lang="hu-HU" dirty="0" smtClean="0"/>
              <a:t> a </a:t>
            </a:r>
            <a:r>
              <a:rPr lang="hu-HU" dirty="0" err="1" smtClean="0"/>
              <a:t>continuation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summary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preceding</a:t>
            </a:r>
            <a:r>
              <a:rPr lang="hu-HU" dirty="0" smtClean="0"/>
              <a:t> text (</a:t>
            </a:r>
            <a:r>
              <a:rPr lang="hu-HU" dirty="0" err="1" smtClean="0"/>
              <a:t>simply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fact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TL</a:t>
            </a:r>
            <a:r>
              <a:rPr lang="hu-HU" dirty="0" smtClean="0"/>
              <a:t>;</a:t>
            </a:r>
            <a:r>
              <a:rPr lang="hu-HU" dirty="0" err="1" smtClean="0"/>
              <a:t>DR</a:t>
            </a:r>
            <a:r>
              <a:rPr lang="hu-HU" dirty="0" smtClean="0"/>
              <a:t> </a:t>
            </a:r>
            <a:r>
              <a:rPr lang="hu-HU" dirty="0" err="1" smtClean="0"/>
              <a:t>means</a:t>
            </a:r>
            <a:r>
              <a:rPr lang="hu-HU" dirty="0" smtClean="0"/>
              <a:t>)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few-shot</a:t>
            </a:r>
            <a:r>
              <a:rPr lang="hu-HU" dirty="0" smtClean="0"/>
              <a:t> prompt is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dirty="0" err="1" smtClean="0"/>
              <a:t>some</a:t>
            </a:r>
            <a:r>
              <a:rPr lang="hu-HU" dirty="0" smtClean="0"/>
              <a:t> (</a:t>
            </a:r>
            <a:r>
              <a:rPr lang="hu-HU" dirty="0" err="1" smtClean="0"/>
              <a:t>possibly</a:t>
            </a:r>
            <a:r>
              <a:rPr lang="hu-HU" dirty="0" smtClean="0"/>
              <a:t> </a:t>
            </a:r>
            <a:r>
              <a:rPr lang="hu-HU" dirty="0" err="1" smtClean="0"/>
              <a:t>just</a:t>
            </a:r>
            <a:r>
              <a:rPr lang="hu-HU" dirty="0" smtClean="0"/>
              <a:t> </a:t>
            </a:r>
            <a:r>
              <a:rPr lang="hu-HU" dirty="0" err="1" smtClean="0"/>
              <a:t>one</a:t>
            </a:r>
            <a:r>
              <a:rPr lang="hu-HU" dirty="0" smtClean="0"/>
              <a:t>) </a:t>
            </a:r>
            <a:r>
              <a:rPr lang="hu-HU" b="1" dirty="0" err="1" smtClean="0"/>
              <a:t>examples</a:t>
            </a:r>
            <a:r>
              <a:rPr lang="hu-HU" b="1" dirty="0" smtClean="0"/>
              <a:t> </a:t>
            </a:r>
            <a:r>
              <a:rPr lang="hu-HU" b="1" dirty="0" err="1" smtClean="0"/>
              <a:t>similar</a:t>
            </a:r>
            <a:r>
              <a:rPr lang="hu-HU" b="1" dirty="0" smtClean="0"/>
              <a:t> </a:t>
            </a:r>
            <a:r>
              <a:rPr lang="hu-HU" b="1" dirty="0" err="1" smtClean="0"/>
              <a:t>to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task</a:t>
            </a:r>
            <a:r>
              <a:rPr lang="hu-HU" b="1" dirty="0" smtClean="0"/>
              <a:t> </a:t>
            </a:r>
            <a:r>
              <a:rPr lang="hu-HU" b="1" dirty="0" err="1" smtClean="0"/>
              <a:t>to</a:t>
            </a:r>
            <a:r>
              <a:rPr lang="hu-HU" b="1" dirty="0" smtClean="0"/>
              <a:t> be </a:t>
            </a:r>
            <a:r>
              <a:rPr lang="hu-HU" b="1" dirty="0" err="1" smtClean="0"/>
              <a:t>solved</a:t>
            </a:r>
            <a:r>
              <a:rPr lang="hu-HU" dirty="0" smtClean="0"/>
              <a:t>, </a:t>
            </a:r>
            <a:r>
              <a:rPr lang="hu-HU" dirty="0" err="1" smtClean="0"/>
              <a:t>followed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 </a:t>
            </a:r>
            <a:r>
              <a:rPr lang="hu-HU" dirty="0" err="1" smtClean="0"/>
              <a:t>itself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expected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follow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pattern</a:t>
            </a:r>
            <a:r>
              <a:rPr lang="hu-HU" b="1" dirty="0" smtClean="0"/>
              <a:t> of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provided</a:t>
            </a:r>
            <a:r>
              <a:rPr lang="hu-HU" b="1" dirty="0" smtClean="0"/>
              <a:t> </a:t>
            </a:r>
            <a:r>
              <a:rPr lang="hu-HU" b="1" dirty="0" err="1" smtClean="0"/>
              <a:t>examples</a:t>
            </a:r>
            <a:r>
              <a:rPr lang="hu-HU" b="1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continuation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generates</a:t>
            </a:r>
            <a:r>
              <a:rPr lang="hu-HU" dirty="0" smtClean="0"/>
              <a:t>.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zero-shot</a:t>
            </a:r>
            <a:r>
              <a:rPr lang="hu-HU" dirty="0" smtClean="0"/>
              <a:t> prompt is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contain</a:t>
            </a:r>
            <a:r>
              <a:rPr lang="hu-HU" dirty="0" smtClean="0"/>
              <a:t> </a:t>
            </a:r>
            <a:r>
              <a:rPr lang="hu-HU" dirty="0" err="1" smtClean="0"/>
              <a:t>any</a:t>
            </a:r>
            <a:r>
              <a:rPr lang="hu-HU" dirty="0" smtClean="0"/>
              <a:t> </a:t>
            </a:r>
            <a:r>
              <a:rPr lang="hu-HU" dirty="0" err="1" smtClean="0"/>
              <a:t>sample</a:t>
            </a:r>
            <a:r>
              <a:rPr lang="hu-HU" dirty="0" smtClean="0"/>
              <a:t> </a:t>
            </a:r>
            <a:r>
              <a:rPr lang="hu-HU" dirty="0" err="1" smtClean="0"/>
              <a:t>task-solution</a:t>
            </a:r>
            <a:r>
              <a:rPr lang="hu-HU" dirty="0" smtClean="0"/>
              <a:t> </a:t>
            </a:r>
            <a:r>
              <a:rPr lang="hu-HU" dirty="0" err="1" smtClean="0"/>
              <a:t>pairs</a:t>
            </a:r>
            <a:r>
              <a:rPr lang="hu-HU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961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1143000"/>
          </a:xfrm>
        </p:spPr>
        <p:txBody>
          <a:bodyPr>
            <a:normAutofit/>
          </a:bodyPr>
          <a:lstStyle/>
          <a:p>
            <a:r>
              <a:rPr lang="hu-HU" sz="2400" dirty="0" err="1" smtClean="0"/>
              <a:t>Few-shot</a:t>
            </a:r>
            <a:r>
              <a:rPr lang="hu-HU" sz="2400" dirty="0" smtClean="0"/>
              <a:t> </a:t>
            </a:r>
            <a:r>
              <a:rPr lang="hu-HU" sz="2400" dirty="0" err="1" smtClean="0"/>
              <a:t>example</a:t>
            </a:r>
            <a:r>
              <a:rPr lang="hu-HU" sz="2400" dirty="0" smtClean="0"/>
              <a:t> (</a:t>
            </a:r>
            <a:r>
              <a:rPr lang="hu-HU" sz="2400" dirty="0" err="1" smtClean="0"/>
              <a:t>from</a:t>
            </a:r>
            <a:r>
              <a:rPr lang="hu-HU" sz="2400" dirty="0" smtClean="0"/>
              <a:t> </a:t>
            </a:r>
            <a:r>
              <a:rPr lang="hu-HU" sz="2400" dirty="0" err="1" smtClean="0"/>
              <a:t>Radford</a:t>
            </a:r>
            <a:r>
              <a:rPr lang="hu-HU" sz="2400" dirty="0" smtClean="0"/>
              <a:t> et </a:t>
            </a:r>
            <a:r>
              <a:rPr lang="hu-HU" sz="2400" dirty="0" err="1" smtClean="0"/>
              <a:t>al</a:t>
            </a:r>
            <a:r>
              <a:rPr lang="hu-HU" sz="2400" dirty="0" smtClean="0"/>
              <a:t>., 2019, </a:t>
            </a:r>
            <a:r>
              <a:rPr lang="hu-HU" sz="2400" dirty="0"/>
              <a:t>A</a:t>
            </a:r>
            <a:r>
              <a:rPr lang="hu-HU" sz="2400" dirty="0" smtClean="0"/>
              <a:t>ppendix)</a:t>
            </a:r>
            <a:endParaRPr lang="en-GB" sz="24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980728"/>
            <a:ext cx="7128792" cy="576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5769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93204" y="116632"/>
            <a:ext cx="8229600" cy="1143000"/>
          </a:xfrm>
        </p:spPr>
        <p:txBody>
          <a:bodyPr>
            <a:normAutofit/>
          </a:bodyPr>
          <a:lstStyle/>
          <a:p>
            <a:r>
              <a:rPr lang="hu-HU" sz="3600" dirty="0" err="1" smtClean="0"/>
              <a:t>Few-shot</a:t>
            </a:r>
            <a:r>
              <a:rPr lang="hu-HU" sz="3600" dirty="0" smtClean="0"/>
              <a:t> </a:t>
            </a:r>
            <a:r>
              <a:rPr lang="hu-HU" sz="3600" dirty="0" err="1" smtClean="0"/>
              <a:t>Learning</a:t>
            </a:r>
            <a:endParaRPr lang="en-GB" sz="36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98376" y="1124744"/>
            <a:ext cx="8219256" cy="2016224"/>
          </a:xfrm>
        </p:spPr>
        <p:txBody>
          <a:bodyPr>
            <a:normAutofit fontScale="47500" lnSpcReduction="20000"/>
          </a:bodyPr>
          <a:lstStyle/>
          <a:p>
            <a:r>
              <a:rPr lang="hu-HU" dirty="0" smtClean="0"/>
              <a:t>Brown et </a:t>
            </a:r>
            <a:r>
              <a:rPr lang="hu-HU" dirty="0" err="1" smtClean="0"/>
              <a:t>al</a:t>
            </a:r>
            <a:r>
              <a:rPr lang="hu-HU" dirty="0" smtClean="0"/>
              <a:t>., 2020, </a:t>
            </a:r>
            <a:r>
              <a:rPr lang="hu-HU" dirty="0" err="1" smtClean="0"/>
              <a:t>observed</a:t>
            </a:r>
            <a:r>
              <a:rPr lang="hu-HU" dirty="0" smtClean="0"/>
              <a:t>,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large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GPT-3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benefit</a:t>
            </a:r>
            <a:r>
              <a:rPr lang="hu-HU" dirty="0" smtClean="0"/>
              <a:t> </a:t>
            </a:r>
            <a:r>
              <a:rPr lang="hu-HU" dirty="0" err="1" smtClean="0"/>
              <a:t>drastically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b="1" dirty="0" err="1" smtClean="0"/>
              <a:t>few-shot</a:t>
            </a:r>
            <a:r>
              <a:rPr lang="hu-HU" b="1" dirty="0" smtClean="0"/>
              <a:t> </a:t>
            </a:r>
            <a:r>
              <a:rPr lang="hu-HU" b="1" dirty="0" err="1" smtClean="0"/>
              <a:t>prompts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/>
              <a:t>I</a:t>
            </a:r>
            <a:r>
              <a:rPr lang="hu-HU" dirty="0" err="1" smtClean="0"/>
              <a:t>nstead</a:t>
            </a:r>
            <a:r>
              <a:rPr lang="hu-HU" dirty="0" smtClean="0"/>
              <a:t> of </a:t>
            </a:r>
            <a:r>
              <a:rPr lang="hu-HU" dirty="0" err="1" smtClean="0"/>
              <a:t>fine-tuning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a </a:t>
            </a:r>
            <a:r>
              <a:rPr lang="hu-HU" dirty="0" err="1" smtClean="0"/>
              <a:t>given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often</a:t>
            </a:r>
            <a:r>
              <a:rPr lang="hu-HU" dirty="0" smtClean="0"/>
              <a:t> </a:t>
            </a:r>
            <a:r>
              <a:rPr lang="hu-HU" dirty="0" err="1" smtClean="0"/>
              <a:t>sufficient</a:t>
            </a:r>
            <a:r>
              <a:rPr lang="hu-HU" dirty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write</a:t>
            </a:r>
            <a:r>
              <a:rPr lang="hu-HU" dirty="0" smtClean="0"/>
              <a:t> a </a:t>
            </a:r>
            <a:r>
              <a:rPr lang="hu-HU" dirty="0" err="1" smtClean="0"/>
              <a:t>few-shot</a:t>
            </a:r>
            <a:r>
              <a:rPr lang="hu-HU" dirty="0" smtClean="0"/>
              <a:t> prompt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includes</a:t>
            </a:r>
            <a:r>
              <a:rPr lang="hu-HU" dirty="0" smtClean="0"/>
              <a:t> </a:t>
            </a:r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 </a:t>
            </a:r>
            <a:r>
              <a:rPr lang="hu-HU" dirty="0" err="1" smtClean="0"/>
              <a:t>solutions</a:t>
            </a:r>
            <a:r>
              <a:rPr lang="hu-HU" dirty="0" smtClean="0"/>
              <a:t> of a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inputs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Even</a:t>
            </a:r>
            <a:r>
              <a:rPr lang="hu-HU" dirty="0" smtClean="0"/>
              <a:t> a </a:t>
            </a:r>
            <a:r>
              <a:rPr lang="hu-HU" dirty="0" err="1" smtClean="0"/>
              <a:t>one-shot</a:t>
            </a:r>
            <a:r>
              <a:rPr lang="hu-HU" dirty="0" smtClean="0"/>
              <a:t> prompt </a:t>
            </a:r>
            <a:r>
              <a:rPr lang="hu-HU" dirty="0" err="1" smtClean="0"/>
              <a:t>improves</a:t>
            </a:r>
            <a:r>
              <a:rPr lang="hu-HU" dirty="0" smtClean="0"/>
              <a:t> </a:t>
            </a:r>
            <a:r>
              <a:rPr lang="hu-HU" dirty="0" err="1" smtClean="0"/>
              <a:t>continuation</a:t>
            </a:r>
            <a:r>
              <a:rPr lang="hu-HU" dirty="0" smtClean="0"/>
              <a:t> </a:t>
            </a:r>
            <a:r>
              <a:rPr lang="hu-HU" dirty="0" err="1" smtClean="0"/>
              <a:t>accuracy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significantly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more </a:t>
            </a:r>
            <a:r>
              <a:rPr lang="hu-HU" dirty="0" err="1" smtClean="0"/>
              <a:t>examples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better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referred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b="1" dirty="0" err="1" smtClean="0"/>
              <a:t>few-shot</a:t>
            </a:r>
            <a:r>
              <a:rPr lang="hu-HU" b="1" dirty="0" smtClean="0"/>
              <a:t> </a:t>
            </a:r>
            <a:r>
              <a:rPr lang="hu-HU" b="1" dirty="0" err="1" smtClean="0"/>
              <a:t>learning</a:t>
            </a:r>
            <a:r>
              <a:rPr lang="hu-HU" b="1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dirty="0" err="1" smtClean="0"/>
              <a:t>in-context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).</a:t>
            </a:r>
          </a:p>
          <a:p>
            <a:pPr lvl="1"/>
            <a:r>
              <a:rPr lang="hu-HU" dirty="0" err="1" smtClean="0"/>
              <a:t>Calling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„</a:t>
            </a:r>
            <a:r>
              <a:rPr lang="hu-HU" dirty="0" err="1" smtClean="0"/>
              <a:t>learning</a:t>
            </a:r>
            <a:r>
              <a:rPr lang="hu-HU" dirty="0" smtClean="0"/>
              <a:t>” is </a:t>
            </a:r>
            <a:r>
              <a:rPr lang="hu-HU" dirty="0" err="1" smtClean="0"/>
              <a:t>somewhat</a:t>
            </a:r>
            <a:r>
              <a:rPr lang="hu-HU" dirty="0" smtClean="0"/>
              <a:t> </a:t>
            </a:r>
            <a:r>
              <a:rPr lang="hu-HU" dirty="0" err="1" smtClean="0"/>
              <a:t>misleading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’s </a:t>
            </a:r>
            <a:r>
              <a:rPr lang="hu-HU" dirty="0" err="1" smtClean="0"/>
              <a:t>weights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change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The performance </a:t>
            </a:r>
            <a:r>
              <a:rPr lang="hu-HU" dirty="0" err="1" smtClean="0"/>
              <a:t>improvement</a:t>
            </a:r>
            <a:r>
              <a:rPr lang="hu-HU" dirty="0" smtClean="0"/>
              <a:t> is </a:t>
            </a:r>
            <a:r>
              <a:rPr lang="hu-HU" dirty="0" err="1" smtClean="0"/>
              <a:t>restricted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current</a:t>
            </a:r>
            <a:r>
              <a:rPr lang="hu-HU" dirty="0" smtClean="0"/>
              <a:t> input’s </a:t>
            </a:r>
            <a:r>
              <a:rPr lang="hu-HU" dirty="0" err="1" smtClean="0"/>
              <a:t>context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few-shot</a:t>
            </a:r>
            <a:r>
              <a:rPr lang="hu-HU" dirty="0" smtClean="0"/>
              <a:t> </a:t>
            </a:r>
            <a:r>
              <a:rPr lang="hu-HU" dirty="0" err="1" smtClean="0"/>
              <a:t>examples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included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prompt </a:t>
            </a:r>
            <a:r>
              <a:rPr lang="hu-HU" dirty="0" err="1" smtClean="0"/>
              <a:t>every</a:t>
            </a:r>
            <a:r>
              <a:rPr lang="hu-HU" dirty="0" smtClean="0"/>
              <a:t> </a:t>
            </a:r>
            <a:r>
              <a:rPr lang="hu-HU" dirty="0" err="1" smtClean="0"/>
              <a:t>time</a:t>
            </a:r>
            <a:r>
              <a:rPr lang="hu-HU" dirty="0" smtClean="0"/>
              <a:t> a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 is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solved</a:t>
            </a:r>
            <a:r>
              <a:rPr lang="hu-HU" dirty="0" smtClean="0"/>
              <a:t>.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212976"/>
            <a:ext cx="6120680" cy="3526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8640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3600" dirty="0" err="1" smtClean="0"/>
              <a:t>Pre-trained</a:t>
            </a:r>
            <a:r>
              <a:rPr lang="hu-HU" sz="3600" dirty="0" smtClean="0"/>
              <a:t> </a:t>
            </a:r>
            <a:r>
              <a:rPr lang="hu-HU" sz="3600" dirty="0" err="1" smtClean="0"/>
              <a:t>Generative</a:t>
            </a:r>
            <a:r>
              <a:rPr lang="hu-HU" sz="3600" dirty="0" smtClean="0"/>
              <a:t> </a:t>
            </a:r>
            <a:r>
              <a:rPr lang="hu-HU" sz="3600" dirty="0" err="1" smtClean="0"/>
              <a:t>Language</a:t>
            </a:r>
            <a:r>
              <a:rPr lang="hu-HU" sz="3600" dirty="0" smtClean="0"/>
              <a:t> </a:t>
            </a:r>
            <a:r>
              <a:rPr lang="hu-HU" sz="3600" dirty="0" err="1" smtClean="0"/>
              <a:t>Models</a:t>
            </a:r>
            <a:r>
              <a:rPr lang="hu-HU" sz="3600" dirty="0" smtClean="0"/>
              <a:t> </a:t>
            </a:r>
            <a:r>
              <a:rPr lang="hu-HU" sz="3600" dirty="0" err="1"/>
              <a:t>A</a:t>
            </a:r>
            <a:r>
              <a:rPr lang="hu-HU" sz="3600" dirty="0" err="1" smtClean="0"/>
              <a:t>re</a:t>
            </a:r>
            <a:r>
              <a:rPr lang="hu-HU" sz="3600" dirty="0" smtClean="0"/>
              <a:t> </a:t>
            </a:r>
            <a:r>
              <a:rPr lang="hu-HU" sz="3600" dirty="0" err="1" smtClean="0"/>
              <a:t>Not</a:t>
            </a:r>
            <a:r>
              <a:rPr lang="hu-HU" sz="3600" dirty="0" smtClean="0"/>
              <a:t> </a:t>
            </a:r>
            <a:r>
              <a:rPr lang="hu-HU" sz="3600" dirty="0" err="1" smtClean="0"/>
              <a:t>Conversational</a:t>
            </a:r>
            <a:r>
              <a:rPr lang="hu-HU" sz="3600" dirty="0" smtClean="0"/>
              <a:t> </a:t>
            </a:r>
            <a:r>
              <a:rPr lang="hu-HU" sz="3600" dirty="0" err="1" smtClean="0"/>
              <a:t>Agents</a:t>
            </a:r>
            <a:endParaRPr lang="en-GB" sz="36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pre-trained</a:t>
            </a:r>
            <a:r>
              <a:rPr lang="hu-HU" dirty="0" smtClean="0"/>
              <a:t> 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generates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b="1" dirty="0" err="1" smtClean="0"/>
              <a:t>continuation</a:t>
            </a:r>
            <a:r>
              <a:rPr lang="hu-HU" b="1" dirty="0" smtClean="0"/>
              <a:t> of a text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behave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a </a:t>
            </a:r>
            <a:r>
              <a:rPr lang="hu-HU" dirty="0" err="1" smtClean="0"/>
              <a:t>conversational</a:t>
            </a:r>
            <a:r>
              <a:rPr lang="hu-HU" dirty="0" smtClean="0"/>
              <a:t> </a:t>
            </a:r>
            <a:r>
              <a:rPr lang="hu-HU" dirty="0" err="1" smtClean="0"/>
              <a:t>agent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Case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point</a:t>
            </a:r>
            <a:r>
              <a:rPr lang="hu-HU" dirty="0" smtClean="0"/>
              <a:t>: </a:t>
            </a:r>
            <a:r>
              <a:rPr lang="hu-HU" dirty="0" err="1" smtClean="0"/>
              <a:t>asking</a:t>
            </a:r>
            <a:r>
              <a:rPr lang="hu-HU" dirty="0" smtClean="0"/>
              <a:t> a </a:t>
            </a:r>
            <a:r>
              <a:rPr lang="hu-HU" dirty="0" err="1" smtClean="0"/>
              <a:t>question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prompt.</a:t>
            </a:r>
          </a:p>
          <a:p>
            <a:pPr lvl="1"/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real-life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, a </a:t>
            </a:r>
            <a:r>
              <a:rPr lang="hu-HU" dirty="0" err="1" smtClean="0"/>
              <a:t>question</a:t>
            </a:r>
            <a:r>
              <a:rPr lang="hu-HU" dirty="0" smtClean="0"/>
              <a:t> is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b="1" dirty="0" err="1" smtClean="0"/>
              <a:t>not</a:t>
            </a:r>
            <a:r>
              <a:rPr lang="hu-HU" b="1" dirty="0" smtClean="0"/>
              <a:t> </a:t>
            </a:r>
            <a:r>
              <a:rPr lang="hu-HU" dirty="0" err="1" smtClean="0"/>
              <a:t>followed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answer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.</a:t>
            </a:r>
          </a:p>
          <a:p>
            <a:pPr lvl="2"/>
            <a:r>
              <a:rPr lang="hu-HU" dirty="0" smtClean="0"/>
              <a:t>More </a:t>
            </a:r>
            <a:r>
              <a:rPr lang="hu-HU" dirty="0" err="1" smtClean="0"/>
              <a:t>often</a:t>
            </a:r>
            <a:r>
              <a:rPr lang="hu-HU" dirty="0" smtClean="0"/>
              <a:t> </a:t>
            </a:r>
            <a:r>
              <a:rPr lang="hu-HU" dirty="0" err="1" smtClean="0"/>
              <a:t>than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either</a:t>
            </a:r>
            <a:r>
              <a:rPr lang="hu-HU" dirty="0" smtClean="0"/>
              <a:t> be </a:t>
            </a:r>
            <a:r>
              <a:rPr lang="hu-HU" dirty="0" err="1" smtClean="0"/>
              <a:t>another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provide</a:t>
            </a:r>
            <a:r>
              <a:rPr lang="hu-HU" dirty="0" smtClean="0"/>
              <a:t> </a:t>
            </a:r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qualification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original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Since</a:t>
            </a:r>
            <a:r>
              <a:rPr lang="hu-HU" dirty="0" smtClean="0"/>
              <a:t> a 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continue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input </a:t>
            </a:r>
            <a:r>
              <a:rPr lang="hu-HU" b="1" dirty="0" err="1" smtClean="0"/>
              <a:t>as</a:t>
            </a:r>
            <a:r>
              <a:rPr lang="hu-HU" b="1" dirty="0" smtClean="0"/>
              <a:t> </a:t>
            </a:r>
            <a:r>
              <a:rPr lang="hu-HU" b="1" dirty="0" err="1" smtClean="0"/>
              <a:t>if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input</a:t>
            </a:r>
            <a:r>
              <a:rPr lang="hu-HU" b="1" dirty="0" smtClean="0"/>
              <a:t> and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generated</a:t>
            </a:r>
            <a:r>
              <a:rPr lang="hu-HU" b="1" dirty="0" smtClean="0"/>
              <a:t> </a:t>
            </a:r>
            <a:r>
              <a:rPr lang="hu-HU" b="1" dirty="0" err="1" smtClean="0"/>
              <a:t>continuation</a:t>
            </a:r>
            <a:r>
              <a:rPr lang="hu-HU" b="1" dirty="0" smtClean="0"/>
              <a:t> </a:t>
            </a:r>
            <a:r>
              <a:rPr lang="hu-HU" b="1" dirty="0" err="1" smtClean="0"/>
              <a:t>were</a:t>
            </a:r>
            <a:r>
              <a:rPr lang="hu-HU" b="1" dirty="0" smtClean="0"/>
              <a:t> part of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training</a:t>
            </a:r>
            <a:r>
              <a:rPr lang="hu-HU" b="1" dirty="0" smtClean="0"/>
              <a:t> corpus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b="1" dirty="0" err="1" smtClean="0"/>
              <a:t>might</a:t>
            </a:r>
            <a:r>
              <a:rPr lang="hu-HU" b="1" dirty="0" smtClean="0"/>
              <a:t> </a:t>
            </a:r>
            <a:r>
              <a:rPr lang="hu-HU" dirty="0" err="1" smtClean="0"/>
              <a:t>continue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answering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more </a:t>
            </a:r>
            <a:r>
              <a:rPr lang="hu-HU" dirty="0" err="1" smtClean="0"/>
              <a:t>often</a:t>
            </a:r>
            <a:r>
              <a:rPr lang="hu-HU" dirty="0" smtClean="0"/>
              <a:t> </a:t>
            </a:r>
            <a:r>
              <a:rPr lang="hu-HU" dirty="0" err="1" smtClean="0"/>
              <a:t>than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dirty="0" err="1" smtClean="0"/>
              <a:t>continue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a </a:t>
            </a:r>
            <a:r>
              <a:rPr lang="hu-HU" dirty="0" err="1" smtClean="0"/>
              <a:t>sensible</a:t>
            </a:r>
            <a:r>
              <a:rPr lang="hu-HU" dirty="0" smtClean="0"/>
              <a:t> </a:t>
            </a:r>
            <a:r>
              <a:rPr lang="hu-HU" dirty="0" err="1" smtClean="0"/>
              <a:t>qualification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follow-up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.</a:t>
            </a:r>
          </a:p>
          <a:p>
            <a:pPr lvl="1"/>
            <a:r>
              <a:rPr lang="hu-HU" b="1" dirty="0" err="1" smtClean="0"/>
              <a:t>Few-shot</a:t>
            </a:r>
            <a:r>
              <a:rPr lang="hu-HU" b="1" dirty="0" smtClean="0"/>
              <a:t> prompting </a:t>
            </a:r>
            <a:r>
              <a:rPr lang="hu-HU" dirty="0" smtClean="0"/>
              <a:t>(</a:t>
            </a:r>
            <a:r>
              <a:rPr lang="hu-HU" dirty="0" err="1" smtClean="0"/>
              <a:t>putting</a:t>
            </a:r>
            <a:r>
              <a:rPr lang="hu-HU" dirty="0" smtClean="0"/>
              <a:t> </a:t>
            </a:r>
            <a:r>
              <a:rPr lang="hu-HU" dirty="0" err="1" smtClean="0"/>
              <a:t>several</a:t>
            </a:r>
            <a:r>
              <a:rPr lang="hu-HU" dirty="0" smtClean="0"/>
              <a:t> </a:t>
            </a:r>
            <a:r>
              <a:rPr lang="hu-HU" dirty="0" err="1" smtClean="0"/>
              <a:t>question-answer</a:t>
            </a:r>
            <a:r>
              <a:rPr lang="hu-HU" dirty="0" smtClean="0"/>
              <a:t> </a:t>
            </a:r>
            <a:r>
              <a:rPr lang="hu-HU" dirty="0" err="1" smtClean="0"/>
              <a:t>pairs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prompt) </a:t>
            </a:r>
            <a:r>
              <a:rPr lang="hu-HU" dirty="0" err="1" smtClean="0"/>
              <a:t>will</a:t>
            </a:r>
            <a:r>
              <a:rPr lang="hu-HU" dirty="0" smtClean="0"/>
              <a:t> </a:t>
            </a:r>
            <a:r>
              <a:rPr lang="hu-HU" b="1" dirty="0" err="1" smtClean="0"/>
              <a:t>help</a:t>
            </a:r>
            <a:r>
              <a:rPr lang="hu-HU" b="1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guide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follow</a:t>
            </a:r>
            <a:r>
              <a:rPr lang="hu-HU" dirty="0" smtClean="0"/>
              <a:t> </a:t>
            </a:r>
            <a:r>
              <a:rPr lang="hu-HU" dirty="0" err="1" smtClean="0"/>
              <a:t>up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an </a:t>
            </a:r>
            <a:r>
              <a:rPr lang="hu-HU" dirty="0" err="1" smtClean="0"/>
              <a:t>answer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obviously</a:t>
            </a:r>
            <a:r>
              <a:rPr lang="hu-HU" dirty="0" smtClean="0"/>
              <a:t> </a:t>
            </a:r>
            <a:r>
              <a:rPr lang="hu-HU" dirty="0" err="1" smtClean="0"/>
              <a:t>cumbersome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an </a:t>
            </a:r>
            <a:r>
              <a:rPr lang="hu-HU" dirty="0" err="1" smtClean="0"/>
              <a:t>ideal</a:t>
            </a:r>
            <a:r>
              <a:rPr lang="hu-HU" dirty="0" smtClean="0"/>
              <a:t> </a:t>
            </a:r>
            <a:r>
              <a:rPr lang="hu-HU" dirty="0" err="1" smtClean="0"/>
              <a:t>solution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727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Instruction-tuning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err="1" smtClean="0"/>
              <a:t>Pre-trained</a:t>
            </a:r>
            <a:r>
              <a:rPr lang="hu-HU" dirty="0" smtClean="0"/>
              <a:t> 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need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b="1" dirty="0" err="1" smtClean="0"/>
              <a:t>fine-tuned</a:t>
            </a:r>
            <a:r>
              <a:rPr lang="hu-HU" b="1" dirty="0" smtClean="0"/>
              <a:t> </a:t>
            </a:r>
            <a:r>
              <a:rPr lang="hu-HU" b="1" dirty="0" err="1" smtClean="0"/>
              <a:t>to</a:t>
            </a:r>
            <a:r>
              <a:rPr lang="hu-HU" b="1" dirty="0" smtClean="0"/>
              <a:t> </a:t>
            </a:r>
            <a:r>
              <a:rPr lang="hu-HU" b="1" dirty="0" err="1" smtClean="0"/>
              <a:t>respond</a:t>
            </a:r>
            <a:r>
              <a:rPr lang="hu-HU" b="1" dirty="0" smtClean="0"/>
              <a:t> </a:t>
            </a:r>
            <a:r>
              <a:rPr lang="hu-HU" b="1" dirty="0" err="1" smtClean="0"/>
              <a:t>like</a:t>
            </a:r>
            <a:r>
              <a:rPr lang="hu-HU" b="1" dirty="0" smtClean="0"/>
              <a:t> a human </a:t>
            </a:r>
            <a:r>
              <a:rPr lang="hu-HU" b="1" dirty="0" err="1" smtClean="0"/>
              <a:t>interlocutor</a:t>
            </a:r>
            <a:r>
              <a:rPr lang="hu-HU" dirty="0" smtClean="0"/>
              <a:t>,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rather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a </a:t>
            </a:r>
            <a:r>
              <a:rPr lang="hu-HU" b="1" dirty="0" err="1" smtClean="0"/>
              <a:t>helpful</a:t>
            </a:r>
            <a:r>
              <a:rPr lang="hu-HU" b="1" dirty="0" smtClean="0"/>
              <a:t> </a:t>
            </a:r>
            <a:r>
              <a:rPr lang="hu-HU" b="1" dirty="0" err="1" smtClean="0"/>
              <a:t>AI</a:t>
            </a:r>
            <a:r>
              <a:rPr lang="hu-HU" b="1" dirty="0" smtClean="0"/>
              <a:t> </a:t>
            </a:r>
            <a:r>
              <a:rPr lang="hu-HU" b="1" dirty="0" err="1" smtClean="0"/>
              <a:t>assistant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ever</a:t>
            </a:r>
            <a:r>
              <a:rPr lang="hu-HU" dirty="0" smtClean="0"/>
              <a:t> </a:t>
            </a:r>
            <a:r>
              <a:rPr lang="hu-HU" dirty="0" err="1" smtClean="0"/>
              <a:t>talked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random </a:t>
            </a:r>
            <a:r>
              <a:rPr lang="hu-HU" dirty="0" err="1" smtClean="0"/>
              <a:t>strangers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Facebook</a:t>
            </a:r>
            <a:r>
              <a:rPr lang="hu-HU" dirty="0" smtClean="0"/>
              <a:t>, </a:t>
            </a:r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dirty="0" err="1" smtClean="0"/>
              <a:t>know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b="1" dirty="0" err="1" smtClean="0"/>
              <a:t>don</a:t>
            </a:r>
            <a:r>
              <a:rPr lang="hu-HU" b="1" dirty="0" smtClean="0"/>
              <a:t>’t </a:t>
            </a:r>
            <a:r>
              <a:rPr lang="hu-HU" dirty="0" err="1" smtClean="0"/>
              <a:t>want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reply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a </a:t>
            </a:r>
            <a:r>
              <a:rPr lang="hu-HU" dirty="0" err="1" smtClean="0"/>
              <a:t>real</a:t>
            </a:r>
            <a:r>
              <a:rPr lang="hu-HU" dirty="0" smtClean="0"/>
              <a:t> human </a:t>
            </a:r>
            <a:r>
              <a:rPr lang="hu-HU" dirty="0" err="1" smtClean="0"/>
              <a:t>would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Putting</a:t>
            </a:r>
            <a:r>
              <a:rPr lang="hu-HU" dirty="0" smtClean="0"/>
              <a:t> </a:t>
            </a:r>
            <a:r>
              <a:rPr lang="hu-HU" i="1" dirty="0" err="1" smtClean="0"/>
              <a:t>You</a:t>
            </a:r>
            <a:r>
              <a:rPr lang="hu-HU" i="1" dirty="0" smtClean="0"/>
              <a:t> </a:t>
            </a:r>
            <a:r>
              <a:rPr lang="hu-HU" i="1" dirty="0" err="1" smtClean="0"/>
              <a:t>are</a:t>
            </a:r>
            <a:r>
              <a:rPr lang="hu-HU" i="1" dirty="0" smtClean="0"/>
              <a:t> a </a:t>
            </a:r>
            <a:r>
              <a:rPr lang="hu-HU" i="1" dirty="0" err="1" smtClean="0"/>
              <a:t>helpful</a:t>
            </a:r>
            <a:r>
              <a:rPr lang="hu-HU" i="1" dirty="0" smtClean="0"/>
              <a:t> </a:t>
            </a:r>
            <a:r>
              <a:rPr lang="hu-HU" i="1" dirty="0" err="1" smtClean="0"/>
              <a:t>AI</a:t>
            </a:r>
            <a:r>
              <a:rPr lang="hu-HU" i="1" dirty="0" smtClean="0"/>
              <a:t> </a:t>
            </a:r>
            <a:r>
              <a:rPr lang="hu-HU" i="1" dirty="0" err="1" smtClean="0"/>
              <a:t>assistant</a:t>
            </a:r>
            <a:r>
              <a:rPr lang="hu-HU" i="1" dirty="0" smtClean="0"/>
              <a:t>.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’s (</a:t>
            </a:r>
            <a:r>
              <a:rPr lang="hu-HU" dirty="0" err="1" smtClean="0"/>
              <a:t>system</a:t>
            </a:r>
            <a:r>
              <a:rPr lang="hu-HU" dirty="0" smtClean="0"/>
              <a:t>) prompt is </a:t>
            </a:r>
            <a:r>
              <a:rPr lang="hu-HU" dirty="0" err="1" smtClean="0"/>
              <a:t>common</a:t>
            </a:r>
            <a:r>
              <a:rPr lang="hu-HU" dirty="0" smtClean="0"/>
              <a:t> </a:t>
            </a:r>
            <a:r>
              <a:rPr lang="hu-HU" dirty="0" err="1" smtClean="0"/>
              <a:t>practice</a:t>
            </a:r>
            <a:r>
              <a:rPr lang="hu-HU" dirty="0" smtClean="0"/>
              <a:t>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is</a:t>
            </a:r>
            <a:r>
              <a:rPr lang="hu-HU" dirty="0" smtClean="0"/>
              <a:t> </a:t>
            </a:r>
            <a:r>
              <a:rPr lang="hu-HU" b="1" dirty="0" err="1" smtClean="0"/>
              <a:t>misguided</a:t>
            </a:r>
            <a:r>
              <a:rPr lang="hu-HU" b="1" dirty="0" smtClean="0"/>
              <a:t> </a:t>
            </a:r>
            <a:r>
              <a:rPr lang="hu-HU" b="1" dirty="0" err="1" smtClean="0"/>
              <a:t>to</a:t>
            </a:r>
            <a:r>
              <a:rPr lang="hu-HU" b="1" dirty="0" smtClean="0"/>
              <a:t> </a:t>
            </a:r>
            <a:r>
              <a:rPr lang="hu-HU" b="1" dirty="0" err="1" smtClean="0"/>
              <a:t>believe</a:t>
            </a:r>
            <a:r>
              <a:rPr lang="hu-HU" b="1" dirty="0" smtClean="0"/>
              <a:t> </a:t>
            </a:r>
            <a:r>
              <a:rPr lang="hu-HU" b="1" dirty="0" err="1" smtClean="0"/>
              <a:t>that</a:t>
            </a:r>
            <a:r>
              <a:rPr lang="hu-HU" b="1" dirty="0" smtClean="0"/>
              <a:t> </a:t>
            </a:r>
            <a:r>
              <a:rPr lang="hu-HU" b="1" dirty="0" err="1" smtClean="0"/>
              <a:t>it</a:t>
            </a:r>
            <a:r>
              <a:rPr lang="hu-HU" b="1" dirty="0" smtClean="0"/>
              <a:t> </a:t>
            </a:r>
            <a:r>
              <a:rPr lang="hu-HU" b="1" dirty="0" err="1" smtClean="0"/>
              <a:t>achieves</a:t>
            </a:r>
            <a:r>
              <a:rPr lang="hu-HU" b="1" dirty="0" smtClean="0"/>
              <a:t> </a:t>
            </a:r>
            <a:r>
              <a:rPr lang="hu-HU" b="1" dirty="0" err="1" smtClean="0"/>
              <a:t>anything</a:t>
            </a:r>
            <a:r>
              <a:rPr lang="hu-HU" dirty="0" smtClean="0"/>
              <a:t>.</a:t>
            </a:r>
          </a:p>
          <a:p>
            <a:pPr lvl="2"/>
            <a:r>
              <a:rPr lang="hu-HU" dirty="0" smtClean="0"/>
              <a:t>A </a:t>
            </a:r>
            <a:r>
              <a:rPr lang="hu-HU" dirty="0" err="1" smtClean="0"/>
              <a:t>GPT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interpret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statement</a:t>
            </a:r>
            <a:r>
              <a:rPr lang="hu-HU" dirty="0" smtClean="0"/>
              <a:t> of </a:t>
            </a:r>
            <a:r>
              <a:rPr lang="hu-HU" dirty="0" err="1" smtClean="0"/>
              <a:t>fact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an </a:t>
            </a:r>
            <a:r>
              <a:rPr lang="hu-HU" dirty="0" err="1" smtClean="0"/>
              <a:t>order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just</a:t>
            </a:r>
            <a:r>
              <a:rPr lang="hu-HU" dirty="0" smtClean="0"/>
              <a:t> a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continued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sensible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.</a:t>
            </a:r>
          </a:p>
          <a:p>
            <a:pPr lvl="2"/>
            <a:r>
              <a:rPr lang="hu-HU" i="1" dirty="0" smtClean="0"/>
              <a:t>No, I’m </a:t>
            </a:r>
            <a:r>
              <a:rPr lang="hu-HU" i="1" dirty="0" err="1" smtClean="0"/>
              <a:t>not</a:t>
            </a:r>
            <a:r>
              <a:rPr lang="hu-HU" i="1" dirty="0" smtClean="0"/>
              <a:t>.</a:t>
            </a:r>
            <a:r>
              <a:rPr lang="hu-HU" dirty="0" smtClean="0"/>
              <a:t> is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sensible</a:t>
            </a:r>
            <a:r>
              <a:rPr lang="hu-HU" dirty="0" smtClean="0"/>
              <a:t> a </a:t>
            </a:r>
            <a:r>
              <a:rPr lang="hu-HU" dirty="0" err="1" smtClean="0"/>
              <a:t>continuation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any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Fine-tuning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correct</a:t>
            </a:r>
            <a:r>
              <a:rPr lang="hu-HU" dirty="0" smtClean="0"/>
              <a:t> </a:t>
            </a:r>
            <a:r>
              <a:rPr lang="hu-HU" dirty="0" err="1" smtClean="0"/>
              <a:t>solution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, no </a:t>
            </a:r>
            <a:r>
              <a:rPr lang="hu-HU" dirty="0" err="1" smtClean="0"/>
              <a:t>special</a:t>
            </a:r>
            <a:r>
              <a:rPr lang="hu-HU" dirty="0" smtClean="0"/>
              <a:t> output </a:t>
            </a:r>
            <a:r>
              <a:rPr lang="hu-HU" dirty="0" err="1" smtClean="0"/>
              <a:t>layer</a:t>
            </a:r>
            <a:r>
              <a:rPr lang="hu-HU" dirty="0" smtClean="0"/>
              <a:t> is </a:t>
            </a:r>
            <a:r>
              <a:rPr lang="hu-HU" dirty="0" err="1" smtClean="0"/>
              <a:t>added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still</a:t>
            </a:r>
            <a:r>
              <a:rPr lang="hu-HU" dirty="0" smtClean="0"/>
              <a:t> </a:t>
            </a:r>
            <a:r>
              <a:rPr lang="hu-HU" dirty="0" err="1" smtClean="0"/>
              <a:t>learns</a:t>
            </a:r>
            <a:r>
              <a:rPr lang="hu-HU" dirty="0" smtClean="0"/>
              <a:t> </a:t>
            </a:r>
            <a:r>
              <a:rPr lang="hu-HU" dirty="0" err="1" smtClean="0"/>
              <a:t>next-token</a:t>
            </a:r>
            <a:r>
              <a:rPr lang="hu-HU" dirty="0" smtClean="0"/>
              <a:t> </a:t>
            </a:r>
            <a:r>
              <a:rPr lang="hu-HU" dirty="0" err="1" smtClean="0"/>
              <a:t>probabilities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fine-tuning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interpret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user</a:t>
            </a:r>
            <a:r>
              <a:rPr lang="hu-HU" b="1" dirty="0" smtClean="0"/>
              <a:t>’s prompt </a:t>
            </a:r>
            <a:r>
              <a:rPr lang="hu-HU" b="1" dirty="0" err="1" smtClean="0"/>
              <a:t>as</a:t>
            </a:r>
            <a:r>
              <a:rPr lang="hu-HU" b="1" dirty="0" smtClean="0"/>
              <a:t> an </a:t>
            </a:r>
            <a:r>
              <a:rPr lang="hu-HU" b="1" dirty="0" err="1" smtClean="0"/>
              <a:t>instruction</a:t>
            </a:r>
            <a:r>
              <a:rPr lang="hu-HU" dirty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respond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obeying</a:t>
            </a:r>
            <a:r>
              <a:rPr lang="hu-HU" dirty="0" smtClean="0"/>
              <a:t> (</a:t>
            </a:r>
            <a:r>
              <a:rPr lang="hu-HU" dirty="0" err="1" smtClean="0"/>
              <a:t>complying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)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instruction</a:t>
            </a:r>
            <a:r>
              <a:rPr lang="hu-HU" dirty="0"/>
              <a:t>,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/>
              <a:t>addition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knowing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language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such</a:t>
            </a:r>
            <a:r>
              <a:rPr lang="hu-HU" dirty="0"/>
              <a:t> (</a:t>
            </a:r>
            <a:r>
              <a:rPr lang="hu-HU" dirty="0" err="1"/>
              <a:t>which</a:t>
            </a:r>
            <a:r>
              <a:rPr lang="hu-HU" dirty="0"/>
              <a:t> </a:t>
            </a:r>
            <a:r>
              <a:rPr lang="hu-HU" dirty="0" err="1"/>
              <a:t>it</a:t>
            </a:r>
            <a:r>
              <a:rPr lang="hu-HU" dirty="0"/>
              <a:t> </a:t>
            </a:r>
            <a:r>
              <a:rPr lang="hu-HU" dirty="0" err="1"/>
              <a:t>learned</a:t>
            </a:r>
            <a:r>
              <a:rPr lang="hu-HU" dirty="0"/>
              <a:t> </a:t>
            </a:r>
            <a:r>
              <a:rPr lang="hu-HU" dirty="0" err="1"/>
              <a:t>during</a:t>
            </a:r>
            <a:r>
              <a:rPr lang="hu-HU" dirty="0"/>
              <a:t> </a:t>
            </a:r>
            <a:r>
              <a:rPr lang="hu-HU" dirty="0" err="1" smtClean="0"/>
              <a:t>pre-training</a:t>
            </a:r>
            <a:r>
              <a:rPr lang="hu-HU" dirty="0" smtClean="0"/>
              <a:t>).</a:t>
            </a:r>
          </a:p>
          <a:p>
            <a:pPr lvl="1"/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broad</a:t>
            </a:r>
            <a:r>
              <a:rPr lang="hu-HU" dirty="0" smtClean="0"/>
              <a:t> </a:t>
            </a:r>
            <a:r>
              <a:rPr lang="hu-HU" dirty="0" err="1" smtClean="0"/>
              <a:t>sense</a:t>
            </a:r>
            <a:r>
              <a:rPr lang="hu-HU" dirty="0" smtClean="0"/>
              <a:t>;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instruction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(and </a:t>
            </a:r>
            <a:r>
              <a:rPr lang="hu-HU" dirty="0" err="1" smtClean="0"/>
              <a:t>often</a:t>
            </a:r>
            <a:r>
              <a:rPr lang="hu-HU" dirty="0" smtClean="0"/>
              <a:t> is) a </a:t>
            </a:r>
            <a:r>
              <a:rPr lang="hu-HU" dirty="0" err="1" smtClean="0"/>
              <a:t>question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answered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referred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b="1" dirty="0" err="1" smtClean="0"/>
              <a:t>instruction-tuning</a:t>
            </a:r>
            <a:r>
              <a:rPr lang="hu-HU" dirty="0" smtClean="0"/>
              <a:t>, and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resulting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an </a:t>
            </a:r>
            <a:r>
              <a:rPr lang="hu-HU" b="1" dirty="0" err="1" smtClean="0"/>
              <a:t>instruction-tuned</a:t>
            </a:r>
            <a:r>
              <a:rPr lang="hu-HU" b="1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.</a:t>
            </a:r>
          </a:p>
          <a:p>
            <a:r>
              <a:rPr lang="hu-HU" dirty="0" smtClean="0"/>
              <a:t>Most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available</a:t>
            </a:r>
            <a:r>
              <a:rPr lang="hu-HU" dirty="0" smtClean="0"/>
              <a:t> </a:t>
            </a:r>
            <a:r>
              <a:rPr lang="hu-HU" b="1" dirty="0" err="1" smtClean="0"/>
              <a:t>both</a:t>
            </a:r>
            <a:r>
              <a:rPr lang="hu-HU" b="1" dirty="0" smtClean="0"/>
              <a:t> </a:t>
            </a:r>
            <a:r>
              <a:rPr lang="hu-HU" b="1" dirty="0" err="1" smtClean="0"/>
              <a:t>as</a:t>
            </a:r>
            <a:r>
              <a:rPr lang="hu-HU" b="1" dirty="0" smtClean="0"/>
              <a:t> a </a:t>
            </a:r>
            <a:r>
              <a:rPr lang="hu-HU" b="1" dirty="0" err="1" smtClean="0"/>
              <a:t>pre-trained</a:t>
            </a:r>
            <a:r>
              <a:rPr lang="hu-HU" b="1" dirty="0" smtClean="0"/>
              <a:t> and an </a:t>
            </a:r>
            <a:r>
              <a:rPr lang="hu-HU" b="1" dirty="0" err="1" smtClean="0"/>
              <a:t>instruction-tuned</a:t>
            </a:r>
            <a:r>
              <a:rPr lang="hu-HU" b="1" dirty="0" smtClean="0"/>
              <a:t> version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4114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RLHF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55000" lnSpcReduction="20000"/>
          </a:bodyPr>
          <a:lstStyle/>
          <a:p>
            <a:r>
              <a:rPr lang="hu-HU" dirty="0" err="1" smtClean="0"/>
              <a:t>Instruction-tuning</a:t>
            </a:r>
            <a:r>
              <a:rPr lang="hu-HU" dirty="0" smtClean="0"/>
              <a:t> a </a:t>
            </a:r>
            <a:r>
              <a:rPr lang="hu-HU" dirty="0" err="1" smtClean="0"/>
              <a:t>pre-trained</a:t>
            </a:r>
            <a:r>
              <a:rPr lang="hu-HU" dirty="0" smtClean="0"/>
              <a:t> 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achieved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a </a:t>
            </a:r>
            <a:r>
              <a:rPr lang="hu-HU" dirty="0" err="1" smtClean="0"/>
              <a:t>procedure</a:t>
            </a:r>
            <a:r>
              <a:rPr lang="hu-HU" dirty="0" smtClean="0"/>
              <a:t> 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b="1" dirty="0" err="1" smtClean="0"/>
              <a:t>reinforcement</a:t>
            </a:r>
            <a:r>
              <a:rPr lang="hu-HU" b="1" dirty="0" smtClean="0"/>
              <a:t> </a:t>
            </a:r>
            <a:r>
              <a:rPr lang="hu-HU" b="1" dirty="0" err="1" smtClean="0"/>
              <a:t>learning</a:t>
            </a:r>
            <a:r>
              <a:rPr lang="hu-HU" b="1" dirty="0" smtClean="0"/>
              <a:t> </a:t>
            </a:r>
            <a:r>
              <a:rPr lang="hu-HU" b="1" dirty="0" err="1" smtClean="0"/>
              <a:t>using</a:t>
            </a:r>
            <a:r>
              <a:rPr lang="hu-HU" b="1" dirty="0" smtClean="0"/>
              <a:t> human </a:t>
            </a:r>
            <a:r>
              <a:rPr lang="hu-HU" b="1" dirty="0" err="1" smtClean="0"/>
              <a:t>feedback</a:t>
            </a:r>
            <a:r>
              <a:rPr lang="hu-HU" b="1" dirty="0" smtClean="0"/>
              <a:t> (</a:t>
            </a:r>
            <a:r>
              <a:rPr lang="hu-HU" b="1" dirty="0" err="1" smtClean="0"/>
              <a:t>RLHF</a:t>
            </a:r>
            <a:r>
              <a:rPr lang="hu-HU" b="1" dirty="0"/>
              <a:t>)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Slightly</a:t>
            </a:r>
            <a:r>
              <a:rPr lang="hu-HU" dirty="0" smtClean="0"/>
              <a:t>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adversarial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is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b="1" dirty="0" err="1" smtClean="0"/>
              <a:t>two</a:t>
            </a:r>
            <a:r>
              <a:rPr lang="hu-HU" b="1" dirty="0" smtClean="0"/>
              <a:t> </a:t>
            </a:r>
            <a:r>
              <a:rPr lang="hu-HU" b="1" dirty="0" err="1" smtClean="0"/>
              <a:t>models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one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generator</a:t>
            </a:r>
            <a:r>
              <a:rPr lang="hu-HU" dirty="0" smtClean="0"/>
              <a:t> (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b="1" dirty="0" smtClean="0"/>
              <a:t>policy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RL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)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predicts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usual</a:t>
            </a:r>
            <a:endParaRPr lang="hu-HU" dirty="0" smtClean="0"/>
          </a:p>
          <a:p>
            <a:pPr lvl="2"/>
            <a:r>
              <a:rPr lang="hu-HU" dirty="0" err="1" smtClean="0"/>
              <a:t>it</a:t>
            </a:r>
            <a:r>
              <a:rPr lang="hu-HU" dirty="0" smtClean="0"/>
              <a:t> is a </a:t>
            </a:r>
            <a:r>
              <a:rPr lang="hu-HU" dirty="0" err="1" smtClean="0"/>
              <a:t>pre-trained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endParaRPr lang="hu-HU" dirty="0" smtClean="0"/>
          </a:p>
          <a:p>
            <a:pPr lvl="2"/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pre-training</a:t>
            </a:r>
            <a:r>
              <a:rPr lang="hu-HU" dirty="0" smtClean="0"/>
              <a:t>, </a:t>
            </a:r>
            <a:r>
              <a:rPr lang="hu-HU" b="1" dirty="0" err="1" smtClean="0"/>
              <a:t>supervised</a:t>
            </a:r>
            <a:r>
              <a:rPr lang="hu-HU" b="1" dirty="0" smtClean="0"/>
              <a:t> </a:t>
            </a:r>
            <a:r>
              <a:rPr lang="hu-HU" b="1" dirty="0" err="1" smtClean="0"/>
              <a:t>fine-tuning</a:t>
            </a:r>
            <a:r>
              <a:rPr lang="hu-HU" b="1" dirty="0" smtClean="0"/>
              <a:t> </a:t>
            </a:r>
            <a:r>
              <a:rPr lang="hu-HU" dirty="0" smtClean="0"/>
              <a:t>is </a:t>
            </a:r>
            <a:r>
              <a:rPr lang="hu-HU" dirty="0" err="1" smtClean="0"/>
              <a:t>performed</a:t>
            </a:r>
            <a:r>
              <a:rPr lang="hu-HU" dirty="0" smtClean="0"/>
              <a:t>, </a:t>
            </a:r>
            <a:r>
              <a:rPr lang="hu-HU" dirty="0" err="1" smtClean="0"/>
              <a:t>during</a:t>
            </a:r>
            <a:r>
              <a:rPr lang="hu-HU" dirty="0" smtClean="0"/>
              <a:t>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specifically</a:t>
            </a:r>
            <a:r>
              <a:rPr lang="hu-HU" dirty="0" smtClean="0"/>
              <a:t> </a:t>
            </a:r>
            <a:r>
              <a:rPr lang="hu-HU" dirty="0" err="1" smtClean="0"/>
              <a:t>learns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predict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continuations</a:t>
            </a:r>
            <a:r>
              <a:rPr lang="hu-HU" dirty="0" smtClean="0"/>
              <a:t> of </a:t>
            </a:r>
            <a:r>
              <a:rPr lang="hu-HU" dirty="0" err="1" smtClean="0"/>
              <a:t>various</a:t>
            </a:r>
            <a:r>
              <a:rPr lang="hu-HU" dirty="0" smtClean="0"/>
              <a:t> </a:t>
            </a:r>
            <a:r>
              <a:rPr lang="hu-HU" dirty="0" err="1" smtClean="0"/>
              <a:t>types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instruction</a:t>
            </a:r>
            <a:r>
              <a:rPr lang="hu-HU" dirty="0" smtClean="0"/>
              <a:t> </a:t>
            </a:r>
            <a:r>
              <a:rPr lang="hu-HU" dirty="0" err="1" smtClean="0"/>
              <a:t>prompts</a:t>
            </a:r>
            <a:endParaRPr lang="hu-HU" dirty="0" smtClean="0"/>
          </a:p>
          <a:p>
            <a:pPr lvl="1"/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so-called</a:t>
            </a:r>
            <a:r>
              <a:rPr lang="hu-HU" dirty="0" smtClean="0"/>
              <a:t> </a:t>
            </a:r>
            <a:r>
              <a:rPr lang="hu-HU" b="1" dirty="0" err="1" smtClean="0"/>
              <a:t>reward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slightly</a:t>
            </a:r>
            <a:r>
              <a:rPr lang="hu-HU" dirty="0" smtClean="0"/>
              <a:t>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a </a:t>
            </a:r>
            <a:r>
              <a:rPr lang="hu-HU" dirty="0" err="1" smtClean="0"/>
              <a:t>GAN</a:t>
            </a:r>
            <a:r>
              <a:rPr lang="hu-HU" dirty="0" smtClean="0"/>
              <a:t>’s </a:t>
            </a:r>
            <a:r>
              <a:rPr lang="hu-HU" dirty="0" err="1" smtClean="0"/>
              <a:t>discriminator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) </a:t>
            </a:r>
            <a:r>
              <a:rPr lang="hu-HU" dirty="0" err="1" smtClean="0"/>
              <a:t>learns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rate</a:t>
            </a:r>
            <a:r>
              <a:rPr lang="hu-HU" b="1" dirty="0" smtClean="0"/>
              <a:t> </a:t>
            </a:r>
            <a:r>
              <a:rPr lang="hu-HU" b="1" dirty="0" err="1" smtClean="0"/>
              <a:t>alternative</a:t>
            </a:r>
            <a:r>
              <a:rPr lang="hu-HU" b="1" dirty="0" smtClean="0"/>
              <a:t> </a:t>
            </a:r>
            <a:r>
              <a:rPr lang="hu-HU" b="1" dirty="0" err="1" smtClean="0"/>
              <a:t>continuations</a:t>
            </a:r>
            <a:r>
              <a:rPr lang="hu-HU" b="1" dirty="0" smtClean="0"/>
              <a:t> </a:t>
            </a:r>
            <a:r>
              <a:rPr lang="hu-HU" dirty="0" smtClean="0"/>
              <a:t>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prompt</a:t>
            </a:r>
          </a:p>
          <a:p>
            <a:pPr lvl="2"/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another</a:t>
            </a:r>
            <a:r>
              <a:rPr lang="hu-HU" dirty="0" smtClean="0"/>
              <a:t> </a:t>
            </a:r>
            <a:r>
              <a:rPr lang="hu-HU" dirty="0" err="1" smtClean="0"/>
              <a:t>pre-trained</a:t>
            </a:r>
            <a:r>
              <a:rPr lang="hu-HU" dirty="0" smtClean="0"/>
              <a:t> </a:t>
            </a:r>
            <a:r>
              <a:rPr lang="hu-HU" dirty="0" err="1" smtClean="0"/>
              <a:t>GPT-like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, </a:t>
            </a:r>
            <a:r>
              <a:rPr lang="hu-HU" dirty="0" err="1" smtClean="0"/>
              <a:t>possibly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is being </a:t>
            </a:r>
            <a:r>
              <a:rPr lang="hu-HU" dirty="0" err="1" smtClean="0"/>
              <a:t>instruction-tuned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a </a:t>
            </a:r>
            <a:r>
              <a:rPr lang="hu-HU" dirty="0" err="1" smtClean="0"/>
              <a:t>linear</a:t>
            </a:r>
            <a:r>
              <a:rPr lang="hu-HU" dirty="0" smtClean="0"/>
              <a:t> </a:t>
            </a:r>
            <a:r>
              <a:rPr lang="hu-HU" dirty="0" err="1" smtClean="0"/>
              <a:t>regression</a:t>
            </a:r>
            <a:r>
              <a:rPr lang="hu-HU" dirty="0" smtClean="0"/>
              <a:t> </a:t>
            </a:r>
            <a:r>
              <a:rPr lang="hu-HU" dirty="0" err="1" smtClean="0"/>
              <a:t>layer</a:t>
            </a:r>
            <a:r>
              <a:rPr lang="hu-HU" dirty="0" smtClean="0"/>
              <a:t> </a:t>
            </a:r>
            <a:r>
              <a:rPr lang="hu-HU" dirty="0" err="1" smtClean="0"/>
              <a:t>added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top</a:t>
            </a:r>
          </a:p>
          <a:p>
            <a:pPr lvl="2"/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reward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b="1" dirty="0" smtClean="0"/>
              <a:t> is </a:t>
            </a:r>
            <a:r>
              <a:rPr lang="hu-HU" b="1" dirty="0" err="1" smtClean="0"/>
              <a:t>trained</a:t>
            </a:r>
            <a:r>
              <a:rPr lang="hu-HU" b="1" dirty="0" smtClean="0"/>
              <a:t> </a:t>
            </a:r>
            <a:r>
              <a:rPr lang="hu-HU" b="1" dirty="0" err="1" smtClean="0"/>
              <a:t>on</a:t>
            </a:r>
            <a:r>
              <a:rPr lang="hu-HU" b="1" dirty="0" smtClean="0"/>
              <a:t> </a:t>
            </a:r>
            <a:r>
              <a:rPr lang="hu-HU" b="1" dirty="0" err="1" smtClean="0"/>
              <a:t>pairs</a:t>
            </a:r>
            <a:r>
              <a:rPr lang="hu-HU" b="1" dirty="0" smtClean="0"/>
              <a:t> of </a:t>
            </a:r>
            <a:r>
              <a:rPr lang="hu-HU" b="1" dirty="0" err="1" smtClean="0"/>
              <a:t>continuations</a:t>
            </a:r>
            <a:r>
              <a:rPr lang="hu-HU" b="1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prompt: </a:t>
            </a:r>
            <a:r>
              <a:rPr lang="hu-HU" b="1" dirty="0" err="1" smtClean="0"/>
              <a:t>one</a:t>
            </a:r>
            <a:r>
              <a:rPr lang="hu-HU" b="1" dirty="0" smtClean="0"/>
              <a:t> </a:t>
            </a:r>
            <a:r>
              <a:rPr lang="hu-HU" dirty="0" smtClean="0"/>
              <a:t>is </a:t>
            </a:r>
            <a:r>
              <a:rPr lang="hu-HU" dirty="0" err="1" smtClean="0"/>
              <a:t>marked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b="1" dirty="0" err="1" smtClean="0"/>
              <a:t>preferred</a:t>
            </a:r>
            <a:r>
              <a:rPr lang="hu-HU" b="1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a </a:t>
            </a:r>
            <a:r>
              <a:rPr lang="hu-HU" b="1" dirty="0" smtClean="0"/>
              <a:t>human </a:t>
            </a:r>
            <a:r>
              <a:rPr lang="hu-HU" b="1" dirty="0" err="1" smtClean="0"/>
              <a:t>judge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other</a:t>
            </a:r>
            <a:r>
              <a:rPr lang="hu-HU" b="1" dirty="0" smtClean="0"/>
              <a:t> </a:t>
            </a:r>
            <a:r>
              <a:rPr lang="hu-HU" dirty="0" smtClean="0"/>
              <a:t>is </a:t>
            </a:r>
            <a:r>
              <a:rPr lang="hu-HU" b="1" dirty="0" err="1" smtClean="0"/>
              <a:t>dispreferred</a:t>
            </a:r>
            <a:endParaRPr lang="hu-HU" b="1" dirty="0" smtClean="0"/>
          </a:p>
          <a:p>
            <a:pPr lvl="3"/>
            <a:r>
              <a:rPr lang="hu-HU" dirty="0" err="1" smtClean="0"/>
              <a:t>thus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smtClean="0"/>
              <a:t>human </a:t>
            </a:r>
            <a:r>
              <a:rPr lang="hu-HU" b="1" dirty="0" err="1" smtClean="0"/>
              <a:t>feedback</a:t>
            </a:r>
            <a:r>
              <a:rPr lang="hu-HU" b="1" dirty="0" smtClean="0"/>
              <a:t> </a:t>
            </a:r>
            <a:r>
              <a:rPr lang="hu-HU" dirty="0" err="1" smtClean="0"/>
              <a:t>refers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reward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generator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endParaRPr lang="hu-HU" dirty="0" smtClean="0"/>
          </a:p>
          <a:p>
            <a:pPr lvl="2"/>
            <a:r>
              <a:rPr lang="hu-HU" dirty="0" err="1" smtClean="0"/>
              <a:t>thus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learns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assign</a:t>
            </a:r>
            <a:r>
              <a:rPr lang="hu-HU" dirty="0" smtClean="0"/>
              <a:t> </a:t>
            </a:r>
            <a:r>
              <a:rPr lang="hu-HU" dirty="0" err="1"/>
              <a:t>higher</a:t>
            </a:r>
            <a:r>
              <a:rPr lang="hu-HU" dirty="0"/>
              <a:t> (</a:t>
            </a:r>
            <a:r>
              <a:rPr lang="hu-HU" dirty="0" err="1"/>
              <a:t>positive</a:t>
            </a:r>
            <a:r>
              <a:rPr lang="hu-HU" dirty="0"/>
              <a:t>) </a:t>
            </a:r>
            <a:r>
              <a:rPr lang="hu-HU" dirty="0" err="1"/>
              <a:t>scores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 smtClean="0"/>
              <a:t>continuations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judged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be </a:t>
            </a:r>
            <a:r>
              <a:rPr lang="hu-HU" dirty="0" err="1"/>
              <a:t>better</a:t>
            </a:r>
            <a:r>
              <a:rPr lang="hu-HU" dirty="0"/>
              <a:t>, and </a:t>
            </a:r>
            <a:r>
              <a:rPr lang="hu-HU" dirty="0" err="1"/>
              <a:t>lower</a:t>
            </a:r>
            <a:r>
              <a:rPr lang="hu-HU" dirty="0"/>
              <a:t> </a:t>
            </a:r>
            <a:r>
              <a:rPr lang="hu-HU" dirty="0" err="1"/>
              <a:t>scores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judged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be </a:t>
            </a:r>
            <a:r>
              <a:rPr lang="hu-HU" dirty="0" err="1" smtClean="0"/>
              <a:t>worse</a:t>
            </a:r>
            <a:endParaRPr lang="hu-HU" dirty="0" smtClean="0"/>
          </a:p>
          <a:p>
            <a:pPr lvl="3"/>
            <a:r>
              <a:rPr lang="hu-HU" dirty="0" smtClean="0"/>
              <a:t>no </a:t>
            </a:r>
            <a:r>
              <a:rPr lang="hu-HU" dirty="0" err="1" smtClean="0"/>
              <a:t>binary</a:t>
            </a:r>
            <a:r>
              <a:rPr lang="hu-HU" dirty="0" smtClean="0"/>
              <a:t> </a:t>
            </a:r>
            <a:r>
              <a:rPr lang="hu-HU" dirty="0" err="1" smtClean="0"/>
              <a:t>good</a:t>
            </a:r>
            <a:r>
              <a:rPr lang="hu-HU" dirty="0" smtClean="0"/>
              <a:t>/</a:t>
            </a:r>
            <a:r>
              <a:rPr lang="hu-HU" dirty="0" err="1" smtClean="0"/>
              <a:t>bad</a:t>
            </a:r>
            <a:r>
              <a:rPr lang="hu-HU" dirty="0" smtClean="0"/>
              <a:t> </a:t>
            </a:r>
            <a:r>
              <a:rPr lang="hu-HU" dirty="0" err="1" smtClean="0"/>
              <a:t>classification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gradual</a:t>
            </a:r>
            <a:r>
              <a:rPr lang="hu-HU" dirty="0" smtClean="0"/>
              <a:t>, </a:t>
            </a:r>
            <a:r>
              <a:rPr lang="hu-HU" dirty="0" err="1" smtClean="0"/>
              <a:t>continuous-valued</a:t>
            </a:r>
            <a:r>
              <a:rPr lang="hu-HU" dirty="0" smtClean="0"/>
              <a:t> </a:t>
            </a:r>
            <a:r>
              <a:rPr lang="hu-HU" dirty="0" err="1" smtClean="0"/>
              <a:t>rating</a:t>
            </a:r>
            <a:endParaRPr lang="hu-HU" dirty="0" smtClean="0"/>
          </a:p>
          <a:p>
            <a:pPr lvl="2"/>
            <a:r>
              <a:rPr lang="hu-HU" b="1" dirty="0" smtClean="0"/>
              <a:t>limited </a:t>
            </a:r>
            <a:r>
              <a:rPr lang="hu-HU" b="1" dirty="0" err="1" smtClean="0"/>
              <a:t>number</a:t>
            </a:r>
            <a:r>
              <a:rPr lang="hu-HU" b="1" dirty="0" smtClean="0"/>
              <a:t> of </a:t>
            </a:r>
            <a:r>
              <a:rPr lang="hu-HU" b="1" dirty="0" err="1" smtClean="0"/>
              <a:t>continuation</a:t>
            </a:r>
            <a:r>
              <a:rPr lang="hu-HU" b="1" dirty="0" smtClean="0"/>
              <a:t> </a:t>
            </a:r>
            <a:r>
              <a:rPr lang="hu-HU" b="1" dirty="0" err="1" smtClean="0"/>
              <a:t>pairs</a:t>
            </a:r>
            <a:r>
              <a:rPr lang="hu-HU" b="1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(human </a:t>
            </a:r>
            <a:r>
              <a:rPr lang="hu-HU" dirty="0" err="1" smtClean="0"/>
              <a:t>labelling</a:t>
            </a:r>
            <a:r>
              <a:rPr lang="hu-HU" dirty="0" smtClean="0"/>
              <a:t> is </a:t>
            </a:r>
            <a:r>
              <a:rPr lang="hu-HU" dirty="0" err="1" smtClean="0"/>
              <a:t>costly</a:t>
            </a:r>
            <a:r>
              <a:rPr lang="hu-HU" dirty="0" smtClean="0"/>
              <a:t>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48924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Fine-tuning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RLHF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62500" lnSpcReduction="20000"/>
          </a:bodyPr>
          <a:lstStyle/>
          <a:p>
            <a:r>
              <a:rPr lang="hu-HU" dirty="0" smtClean="0"/>
              <a:t>The </a:t>
            </a:r>
            <a:r>
              <a:rPr lang="hu-HU" dirty="0" err="1" smtClean="0"/>
              <a:t>reward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(</a:t>
            </a:r>
            <a:r>
              <a:rPr lang="hu-HU" dirty="0" err="1" smtClean="0"/>
              <a:t>RM</a:t>
            </a:r>
            <a:r>
              <a:rPr lang="hu-HU" dirty="0" smtClean="0"/>
              <a:t>)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be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pre-existing</a:t>
            </a:r>
            <a:r>
              <a:rPr lang="hu-HU" dirty="0" smtClean="0"/>
              <a:t> </a:t>
            </a:r>
            <a:r>
              <a:rPr lang="hu-HU" dirty="0" err="1" smtClean="0"/>
              <a:t>datasets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contain</a:t>
            </a:r>
            <a:r>
              <a:rPr lang="hu-HU" dirty="0" smtClean="0"/>
              <a:t> </a:t>
            </a:r>
            <a:r>
              <a:rPr lang="hu-HU" dirty="0" err="1" smtClean="0"/>
              <a:t>labelled</a:t>
            </a:r>
            <a:r>
              <a:rPr lang="hu-HU" dirty="0" smtClean="0"/>
              <a:t> </a:t>
            </a:r>
            <a:r>
              <a:rPr lang="hu-HU" dirty="0" err="1" smtClean="0"/>
              <a:t>pairs</a:t>
            </a:r>
            <a:r>
              <a:rPr lang="hu-HU" dirty="0" smtClean="0"/>
              <a:t> of </a:t>
            </a:r>
            <a:r>
              <a:rPr lang="hu-HU" dirty="0" err="1" smtClean="0"/>
              <a:t>continuations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Standard </a:t>
            </a:r>
            <a:r>
              <a:rPr lang="hu-HU" dirty="0" err="1" smtClean="0"/>
              <a:t>open</a:t>
            </a:r>
            <a:r>
              <a:rPr lang="hu-HU" dirty="0" smtClean="0"/>
              <a:t> </a:t>
            </a:r>
            <a:r>
              <a:rPr lang="hu-HU" dirty="0" err="1" smtClean="0"/>
              <a:t>datasets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RMs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smaller</a:t>
            </a:r>
            <a:r>
              <a:rPr lang="hu-HU" dirty="0" smtClean="0"/>
              <a:t> 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without</a:t>
            </a:r>
            <a:r>
              <a:rPr lang="hu-HU" dirty="0" smtClean="0"/>
              <a:t> a </a:t>
            </a:r>
            <a:r>
              <a:rPr lang="hu-HU" dirty="0" err="1" smtClean="0"/>
              <a:t>big</a:t>
            </a:r>
            <a:r>
              <a:rPr lang="hu-HU" dirty="0" smtClean="0"/>
              <a:t> </a:t>
            </a:r>
            <a:r>
              <a:rPr lang="hu-HU" dirty="0" err="1" smtClean="0"/>
              <a:t>budget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Still</a:t>
            </a:r>
            <a:r>
              <a:rPr lang="hu-HU" dirty="0" smtClean="0"/>
              <a:t> </a:t>
            </a:r>
            <a:r>
              <a:rPr lang="hu-HU" dirty="0" err="1" smtClean="0"/>
              <a:t>RL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RLHF</a:t>
            </a:r>
            <a:r>
              <a:rPr lang="hu-HU" dirty="0" smtClean="0"/>
              <a:t> </a:t>
            </a:r>
            <a:r>
              <a:rPr lang="hu-HU" dirty="0" err="1" smtClean="0"/>
              <a:t>strictly</a:t>
            </a:r>
            <a:r>
              <a:rPr lang="hu-HU" dirty="0" smtClean="0"/>
              <a:t> </a:t>
            </a:r>
            <a:r>
              <a:rPr lang="hu-HU" dirty="0" err="1" smtClean="0"/>
              <a:t>speaking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Once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RM</a:t>
            </a:r>
            <a:r>
              <a:rPr lang="hu-HU" dirty="0" smtClean="0"/>
              <a:t> has </a:t>
            </a:r>
            <a:r>
              <a:rPr lang="hu-HU" dirty="0" err="1" smtClean="0"/>
              <a:t>been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rate</a:t>
            </a:r>
            <a:r>
              <a:rPr lang="hu-HU" dirty="0" smtClean="0"/>
              <a:t> </a:t>
            </a:r>
            <a:r>
              <a:rPr lang="hu-HU" b="1" dirty="0" err="1" smtClean="0"/>
              <a:t>continuations</a:t>
            </a:r>
            <a:r>
              <a:rPr lang="hu-HU" b="1" dirty="0" smtClean="0"/>
              <a:t> </a:t>
            </a:r>
            <a:r>
              <a:rPr lang="hu-HU" b="1" dirty="0" err="1" smtClean="0"/>
              <a:t>generated</a:t>
            </a:r>
            <a:r>
              <a:rPr lang="hu-HU" b="1" dirty="0" smtClean="0"/>
              <a:t> </a:t>
            </a:r>
            <a:r>
              <a:rPr lang="hu-HU" b="1" dirty="0" err="1" smtClean="0"/>
              <a:t>by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generator</a:t>
            </a:r>
            <a:r>
              <a:rPr lang="hu-HU" b="1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various</a:t>
            </a:r>
            <a:r>
              <a:rPr lang="hu-HU" dirty="0" smtClean="0"/>
              <a:t> </a:t>
            </a:r>
            <a:r>
              <a:rPr lang="hu-HU" dirty="0" err="1" smtClean="0"/>
              <a:t>prompts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RM</a:t>
            </a:r>
            <a:r>
              <a:rPr lang="hu-HU" dirty="0" smtClean="0"/>
              <a:t> </a:t>
            </a:r>
            <a:r>
              <a:rPr lang="hu-HU" dirty="0" err="1" smtClean="0"/>
              <a:t>assigns</a:t>
            </a:r>
            <a:r>
              <a:rPr lang="hu-HU" dirty="0" smtClean="0"/>
              <a:t> a </a:t>
            </a:r>
            <a:r>
              <a:rPr lang="hu-HU" dirty="0" err="1" smtClean="0"/>
              <a:t>positive</a:t>
            </a:r>
            <a:r>
              <a:rPr lang="hu-HU" dirty="0" smtClean="0"/>
              <a:t> </a:t>
            </a:r>
            <a:r>
              <a:rPr lang="hu-HU" dirty="0" err="1" smtClean="0"/>
              <a:t>score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continuation</a:t>
            </a:r>
            <a:r>
              <a:rPr lang="hu-HU" dirty="0"/>
              <a:t> </a:t>
            </a:r>
            <a:r>
              <a:rPr lang="hu-HU" dirty="0" smtClean="0"/>
              <a:t>(an </a:t>
            </a:r>
            <a:r>
              <a:rPr lang="hu-HU" dirty="0" err="1" smtClean="0"/>
              <a:t>entire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),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weights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policy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adjusted</a:t>
            </a:r>
            <a:r>
              <a:rPr lang="hu-HU" dirty="0" smtClean="0"/>
              <a:t> </a:t>
            </a:r>
            <a:r>
              <a:rPr lang="hu-HU" dirty="0" err="1" smtClean="0"/>
              <a:t>so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be </a:t>
            </a:r>
            <a:r>
              <a:rPr lang="hu-HU" dirty="0" err="1" smtClean="0"/>
              <a:t>generated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a </a:t>
            </a:r>
            <a:r>
              <a:rPr lang="hu-HU" dirty="0" err="1" smtClean="0"/>
              <a:t>higher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assigns</a:t>
            </a:r>
            <a:r>
              <a:rPr lang="hu-HU" dirty="0" smtClean="0"/>
              <a:t> a </a:t>
            </a:r>
            <a:r>
              <a:rPr lang="hu-HU" dirty="0" err="1" smtClean="0"/>
              <a:t>negative</a:t>
            </a:r>
            <a:r>
              <a:rPr lang="hu-HU" dirty="0" smtClean="0"/>
              <a:t> </a:t>
            </a:r>
            <a:r>
              <a:rPr lang="hu-HU" dirty="0" err="1" smtClean="0"/>
              <a:t>score</a:t>
            </a:r>
            <a:r>
              <a:rPr lang="hu-HU" dirty="0" smtClean="0"/>
              <a:t>, </a:t>
            </a:r>
            <a:r>
              <a:rPr lang="hu-HU" dirty="0" err="1" smtClean="0"/>
              <a:t>weights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modified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reduce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of </a:t>
            </a:r>
            <a:r>
              <a:rPr lang="hu-HU" dirty="0" err="1" smtClean="0"/>
              <a:t>generating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continuation</a:t>
            </a:r>
            <a:r>
              <a:rPr lang="hu-HU" dirty="0" smtClean="0"/>
              <a:t> (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).</a:t>
            </a:r>
          </a:p>
          <a:p>
            <a:r>
              <a:rPr lang="hu-HU" dirty="0" err="1" smtClean="0"/>
              <a:t>This</a:t>
            </a:r>
            <a:r>
              <a:rPr lang="hu-HU" dirty="0" smtClean="0"/>
              <a:t> has </a:t>
            </a:r>
            <a:r>
              <a:rPr lang="hu-HU" dirty="0" err="1" smtClean="0"/>
              <a:t>two</a:t>
            </a:r>
            <a:r>
              <a:rPr lang="hu-HU" dirty="0" smtClean="0"/>
              <a:t> </a:t>
            </a:r>
            <a:r>
              <a:rPr lang="hu-HU" dirty="0" err="1" smtClean="0"/>
              <a:t>important</a:t>
            </a:r>
            <a:r>
              <a:rPr lang="hu-HU" dirty="0" smtClean="0"/>
              <a:t> </a:t>
            </a:r>
            <a:r>
              <a:rPr lang="hu-HU" b="1" dirty="0" err="1" smtClean="0"/>
              <a:t>advantages</a:t>
            </a:r>
            <a:r>
              <a:rPr lang="hu-HU" dirty="0" smtClean="0"/>
              <a:t>:</a:t>
            </a:r>
          </a:p>
          <a:p>
            <a:pPr lvl="1"/>
            <a:r>
              <a:rPr lang="hu-HU" dirty="0" smtClean="0"/>
              <a:t>The policy is </a:t>
            </a:r>
            <a:r>
              <a:rPr lang="hu-HU" dirty="0" err="1" smtClean="0"/>
              <a:t>fine-tuned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respect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continuations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b="1" dirty="0" err="1" smtClean="0"/>
              <a:t>it</a:t>
            </a:r>
            <a:r>
              <a:rPr lang="hu-HU" b="1" dirty="0" smtClean="0"/>
              <a:t> </a:t>
            </a:r>
            <a:r>
              <a:rPr lang="hu-HU" b="1" dirty="0" err="1" smtClean="0"/>
              <a:t>currently</a:t>
            </a:r>
            <a:r>
              <a:rPr lang="hu-HU" b="1" dirty="0" smtClean="0"/>
              <a:t> </a:t>
            </a:r>
            <a:r>
              <a:rPr lang="hu-HU" b="1" dirty="0" err="1" smtClean="0"/>
              <a:t>generates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independent</a:t>
            </a:r>
            <a:r>
              <a:rPr lang="hu-HU" dirty="0" smtClean="0"/>
              <a:t> </a:t>
            </a:r>
            <a:r>
              <a:rPr lang="hu-HU" dirty="0" err="1" smtClean="0"/>
              <a:t>dataset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Instruction-tuning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requires</a:t>
            </a:r>
            <a:r>
              <a:rPr lang="hu-HU" dirty="0" smtClean="0"/>
              <a:t> a </a:t>
            </a:r>
            <a:r>
              <a:rPr lang="hu-HU" b="1" dirty="0" err="1" smtClean="0"/>
              <a:t>small</a:t>
            </a:r>
            <a:r>
              <a:rPr lang="hu-HU" b="1" dirty="0" smtClean="0"/>
              <a:t> </a:t>
            </a:r>
            <a:r>
              <a:rPr lang="hu-HU" b="1" dirty="0" err="1" smtClean="0"/>
              <a:t>number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thousands</a:t>
            </a:r>
            <a:r>
              <a:rPr lang="hu-HU" dirty="0" smtClean="0"/>
              <a:t>, </a:t>
            </a:r>
            <a:r>
              <a:rPr lang="hu-HU" dirty="0" err="1" smtClean="0"/>
              <a:t>ten</a:t>
            </a:r>
            <a:r>
              <a:rPr lang="hu-HU" dirty="0" smtClean="0"/>
              <a:t> </a:t>
            </a:r>
            <a:r>
              <a:rPr lang="hu-HU" dirty="0" err="1" smtClean="0"/>
              <a:t>thousands</a:t>
            </a:r>
            <a:r>
              <a:rPr lang="hu-HU" dirty="0" smtClean="0"/>
              <a:t>) of </a:t>
            </a:r>
            <a:r>
              <a:rPr lang="hu-HU" b="1" dirty="0" err="1" smtClean="0"/>
              <a:t>human-labelled</a:t>
            </a:r>
            <a:r>
              <a:rPr lang="hu-HU" dirty="0" smtClean="0"/>
              <a:t> </a:t>
            </a:r>
            <a:r>
              <a:rPr lang="hu-HU" dirty="0" err="1" smtClean="0"/>
              <a:t>examples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train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RM</a:t>
            </a:r>
            <a:r>
              <a:rPr lang="hu-HU" dirty="0" smtClean="0"/>
              <a:t>. </a:t>
            </a:r>
            <a:r>
              <a:rPr lang="hu-HU" dirty="0" err="1" smtClean="0"/>
              <a:t>Once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RM</a:t>
            </a:r>
            <a:r>
              <a:rPr lang="hu-HU" b="1" dirty="0" smtClean="0"/>
              <a:t> </a:t>
            </a:r>
            <a:r>
              <a:rPr lang="hu-HU" b="1" dirty="0" err="1" smtClean="0"/>
              <a:t>can</a:t>
            </a:r>
            <a:r>
              <a:rPr lang="hu-HU" b="1" dirty="0" smtClean="0"/>
              <a:t> </a:t>
            </a:r>
            <a:r>
              <a:rPr lang="hu-HU" b="1" dirty="0" err="1" smtClean="0"/>
              <a:t>rate</a:t>
            </a:r>
            <a:r>
              <a:rPr lang="hu-HU" b="1" dirty="0" smtClean="0"/>
              <a:t> </a:t>
            </a:r>
            <a:r>
              <a:rPr lang="hu-HU" b="1" dirty="0" err="1" smtClean="0"/>
              <a:t>millions</a:t>
            </a:r>
            <a:r>
              <a:rPr lang="hu-HU" b="1" dirty="0" smtClean="0"/>
              <a:t> of </a:t>
            </a:r>
            <a:r>
              <a:rPr lang="hu-HU" b="1" dirty="0" err="1" smtClean="0"/>
              <a:t>completions</a:t>
            </a:r>
            <a:r>
              <a:rPr lang="hu-HU" b="1" dirty="0" smtClean="0"/>
              <a:t> </a:t>
            </a:r>
            <a:r>
              <a:rPr lang="hu-HU" dirty="0" err="1" smtClean="0"/>
              <a:t>generated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policy.</a:t>
            </a:r>
          </a:p>
        </p:txBody>
      </p:sp>
    </p:spTree>
    <p:extLst>
      <p:ext uri="{BB962C8B-B14F-4D97-AF65-F5344CB8AC3E}">
        <p14:creationId xmlns:p14="http://schemas.microsoft.com/office/powerpoint/2010/main" val="22522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LLMs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err="1" smtClean="0"/>
              <a:t>What</a:t>
            </a:r>
            <a:r>
              <a:rPr lang="hu-HU" dirty="0" smtClean="0"/>
              <a:t> is a </a:t>
            </a:r>
            <a:r>
              <a:rPr lang="hu-HU" b="1" dirty="0" err="1" smtClean="0"/>
              <a:t>large</a:t>
            </a:r>
            <a:r>
              <a:rPr lang="hu-HU" b="1" dirty="0" smtClean="0"/>
              <a:t> </a:t>
            </a:r>
            <a:r>
              <a:rPr lang="hu-HU" b="1" dirty="0" err="1" smtClean="0"/>
              <a:t>language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b="1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LLM</a:t>
            </a:r>
            <a:r>
              <a:rPr lang="hu-HU" dirty="0" smtClean="0"/>
              <a:t>)?</a:t>
            </a:r>
          </a:p>
          <a:p>
            <a:r>
              <a:rPr lang="hu-HU" dirty="0" err="1" smtClean="0"/>
              <a:t>Not</a:t>
            </a:r>
            <a:r>
              <a:rPr lang="hu-HU" dirty="0" smtClean="0"/>
              <a:t> a </a:t>
            </a:r>
            <a:r>
              <a:rPr lang="hu-HU" dirty="0" err="1" smtClean="0"/>
              <a:t>well-defined</a:t>
            </a:r>
            <a:r>
              <a:rPr lang="hu-HU" dirty="0" smtClean="0"/>
              <a:t> </a:t>
            </a:r>
            <a:r>
              <a:rPr lang="hu-HU" dirty="0" err="1" smtClean="0"/>
              <a:t>technical</a:t>
            </a:r>
            <a:r>
              <a:rPr lang="hu-HU" dirty="0" smtClean="0"/>
              <a:t> </a:t>
            </a:r>
            <a:r>
              <a:rPr lang="hu-HU" dirty="0" err="1" smtClean="0"/>
              <a:t>term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obviously</a:t>
            </a:r>
            <a:r>
              <a:rPr lang="hu-HU" dirty="0" smtClean="0"/>
              <a:t> a </a:t>
            </a:r>
            <a:r>
              <a:rPr lang="hu-HU" b="1" dirty="0" err="1" smtClean="0"/>
              <a:t>language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dirty="0" smtClean="0"/>
              <a:t>, and a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(</a:t>
            </a:r>
            <a:r>
              <a:rPr lang="hu-HU" dirty="0" err="1" smtClean="0"/>
              <a:t>essentially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definition</a:t>
            </a:r>
            <a:r>
              <a:rPr lang="hu-HU" dirty="0" smtClean="0"/>
              <a:t>) a </a:t>
            </a:r>
            <a:r>
              <a:rPr lang="hu-HU" dirty="0" err="1" smtClean="0"/>
              <a:t>machine-learning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learns</a:t>
            </a:r>
            <a:r>
              <a:rPr lang="hu-HU" dirty="0" smtClean="0"/>
              <a:t> (</a:t>
            </a:r>
            <a:r>
              <a:rPr lang="hu-HU" dirty="0" err="1" smtClean="0"/>
              <a:t>conditional</a:t>
            </a:r>
            <a:r>
              <a:rPr lang="hu-HU" dirty="0" smtClean="0"/>
              <a:t>)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distributions</a:t>
            </a:r>
            <a:r>
              <a:rPr lang="hu-HU" dirty="0" smtClean="0"/>
              <a:t> of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a </a:t>
            </a:r>
            <a:r>
              <a:rPr lang="hu-HU" dirty="0" err="1" smtClean="0"/>
              <a:t>training</a:t>
            </a:r>
            <a:r>
              <a:rPr lang="hu-HU" dirty="0" smtClean="0"/>
              <a:t> corpus.</a:t>
            </a:r>
          </a:p>
          <a:p>
            <a:r>
              <a:rPr lang="hu-HU" b="1" dirty="0" err="1" smtClean="0"/>
              <a:t>Large</a:t>
            </a:r>
            <a:r>
              <a:rPr lang="hu-HU" dirty="0" smtClean="0"/>
              <a:t>: </a:t>
            </a:r>
            <a:r>
              <a:rPr lang="hu-HU" dirty="0" err="1" smtClean="0"/>
              <a:t>refers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size</a:t>
            </a:r>
            <a:r>
              <a:rPr lang="hu-HU" b="1" dirty="0" smtClean="0"/>
              <a:t> of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model</a:t>
            </a:r>
            <a:r>
              <a:rPr lang="hu-HU" dirty="0" smtClean="0"/>
              <a:t>, i.e.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number</a:t>
            </a:r>
            <a:r>
              <a:rPr lang="hu-HU" dirty="0" smtClean="0"/>
              <a:t> of </a:t>
            </a:r>
            <a:r>
              <a:rPr lang="hu-HU" dirty="0" err="1" smtClean="0"/>
              <a:t>parameters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Makes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sense</a:t>
            </a:r>
            <a:r>
              <a:rPr lang="hu-HU" dirty="0" smtClean="0"/>
              <a:t> </a:t>
            </a:r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assume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is a </a:t>
            </a:r>
            <a:r>
              <a:rPr lang="hu-HU" dirty="0" err="1" smtClean="0"/>
              <a:t>neural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b="1" dirty="0" smtClean="0"/>
              <a:t>has </a:t>
            </a:r>
            <a:r>
              <a:rPr lang="hu-HU" dirty="0" err="1" smtClean="0"/>
              <a:t>parameters</a:t>
            </a:r>
            <a:r>
              <a:rPr lang="hu-HU" dirty="0" smtClean="0"/>
              <a:t>, i.e. </a:t>
            </a:r>
            <a:r>
              <a:rPr lang="hu-HU" dirty="0" err="1" smtClean="0"/>
              <a:t>weights</a:t>
            </a:r>
            <a:r>
              <a:rPr lang="hu-HU" dirty="0"/>
              <a:t> </a:t>
            </a:r>
            <a:r>
              <a:rPr lang="hu-HU" dirty="0" err="1" smtClean="0"/>
              <a:t>stored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weight</a:t>
            </a:r>
            <a:r>
              <a:rPr lang="hu-HU" dirty="0" smtClean="0"/>
              <a:t> </a:t>
            </a:r>
            <a:r>
              <a:rPr lang="hu-HU" dirty="0" err="1" smtClean="0"/>
              <a:t>matrices</a:t>
            </a:r>
            <a:r>
              <a:rPr lang="hu-HU" dirty="0" smtClean="0"/>
              <a:t>.</a:t>
            </a:r>
          </a:p>
          <a:p>
            <a:r>
              <a:rPr lang="hu-HU" b="1" dirty="0" err="1" smtClean="0"/>
              <a:t>How</a:t>
            </a:r>
            <a:r>
              <a:rPr lang="hu-HU" b="1" dirty="0" smtClean="0"/>
              <a:t> </a:t>
            </a:r>
            <a:r>
              <a:rPr lang="hu-HU" dirty="0" err="1" smtClean="0"/>
              <a:t>large</a:t>
            </a:r>
            <a:r>
              <a:rPr lang="hu-HU" dirty="0" smtClean="0"/>
              <a:t>?</a:t>
            </a:r>
          </a:p>
          <a:p>
            <a:pPr lvl="1"/>
            <a:r>
              <a:rPr lang="hu-HU" dirty="0" smtClean="0"/>
              <a:t>No </a:t>
            </a:r>
            <a:r>
              <a:rPr lang="hu-HU" dirty="0" err="1" smtClean="0"/>
              <a:t>definitive</a:t>
            </a:r>
            <a:r>
              <a:rPr lang="hu-HU" dirty="0" smtClean="0"/>
              <a:t> </a:t>
            </a:r>
            <a:r>
              <a:rPr lang="hu-HU" dirty="0" err="1" smtClean="0"/>
              <a:t>answer</a:t>
            </a:r>
            <a:r>
              <a:rPr lang="hu-HU" dirty="0" smtClean="0"/>
              <a:t>.</a:t>
            </a:r>
            <a:r>
              <a:rPr lang="hu-HU" dirty="0"/>
              <a:t> </a:t>
            </a:r>
            <a:r>
              <a:rPr lang="hu-HU" dirty="0" smtClean="0"/>
              <a:t>A </a:t>
            </a:r>
            <a:r>
              <a:rPr lang="hu-HU" dirty="0" err="1" smtClean="0"/>
              <a:t>model</a:t>
            </a:r>
            <a:r>
              <a:rPr lang="hu-HU" dirty="0" smtClean="0"/>
              <a:t> of a </a:t>
            </a:r>
            <a:r>
              <a:rPr lang="hu-HU" dirty="0" err="1" smtClean="0"/>
              <a:t>few</a:t>
            </a:r>
            <a:r>
              <a:rPr lang="hu-HU" dirty="0" smtClean="0"/>
              <a:t> </a:t>
            </a:r>
            <a:r>
              <a:rPr lang="hu-HU" dirty="0" err="1" smtClean="0"/>
              <a:t>million</a:t>
            </a:r>
            <a:r>
              <a:rPr lang="hu-HU" dirty="0" smtClean="0"/>
              <a:t> </a:t>
            </a:r>
            <a:r>
              <a:rPr lang="hu-HU" dirty="0" err="1" smtClean="0"/>
              <a:t>parameters</a:t>
            </a:r>
            <a:r>
              <a:rPr lang="hu-HU" dirty="0" smtClean="0"/>
              <a:t> is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considered</a:t>
            </a:r>
            <a:r>
              <a:rPr lang="hu-HU" dirty="0" smtClean="0"/>
              <a:t> </a:t>
            </a:r>
            <a:r>
              <a:rPr lang="hu-HU" dirty="0" err="1" smtClean="0"/>
              <a:t>large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b="1" dirty="0" err="1" smtClean="0"/>
              <a:t>not</a:t>
            </a:r>
            <a:r>
              <a:rPr lang="hu-HU" b="1" dirty="0" smtClean="0"/>
              <a:t> </a:t>
            </a:r>
            <a:r>
              <a:rPr lang="hu-HU" b="1" dirty="0" err="1" smtClean="0"/>
              <a:t>counting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token</a:t>
            </a:r>
            <a:r>
              <a:rPr lang="hu-HU" b="1" dirty="0" smtClean="0"/>
              <a:t> </a:t>
            </a:r>
            <a:r>
              <a:rPr lang="hu-HU" b="1" dirty="0" err="1" smtClean="0"/>
              <a:t>embedding</a:t>
            </a:r>
            <a:r>
              <a:rPr lang="hu-HU" b="1" dirty="0" smtClean="0"/>
              <a:t> </a:t>
            </a:r>
            <a:r>
              <a:rPr lang="hu-HU" b="1" dirty="0" err="1" smtClean="0"/>
              <a:t>dictionary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dirty="0" err="1" smtClean="0"/>
              <a:t>learned</a:t>
            </a:r>
            <a:r>
              <a:rPr lang="hu-HU" dirty="0" smtClean="0"/>
              <a:t> </a:t>
            </a:r>
            <a:r>
              <a:rPr lang="hu-HU" dirty="0" err="1" smtClean="0"/>
              <a:t>weights</a:t>
            </a:r>
            <a:r>
              <a:rPr lang="hu-HU" dirty="0" smtClean="0"/>
              <a:t>. </a:t>
            </a:r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necessarily</a:t>
            </a:r>
            <a:r>
              <a:rPr lang="hu-HU" dirty="0" smtClean="0"/>
              <a:t> </a:t>
            </a:r>
            <a:r>
              <a:rPr lang="hu-HU" dirty="0" err="1" smtClean="0"/>
              <a:t>quite</a:t>
            </a:r>
            <a:r>
              <a:rPr lang="hu-HU" dirty="0" smtClean="0"/>
              <a:t> </a:t>
            </a:r>
            <a:r>
              <a:rPr lang="hu-HU" dirty="0" err="1" smtClean="0"/>
              <a:t>large</a:t>
            </a:r>
            <a:r>
              <a:rPr lang="hu-HU" dirty="0" smtClean="0"/>
              <a:t> (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just</a:t>
            </a:r>
            <a:r>
              <a:rPr lang="hu-HU" dirty="0" smtClean="0"/>
              <a:t> 50k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768 </a:t>
            </a:r>
            <a:r>
              <a:rPr lang="hu-HU" dirty="0" err="1" smtClean="0"/>
              <a:t>dimensions</a:t>
            </a:r>
            <a:r>
              <a:rPr lang="hu-HU" dirty="0" smtClean="0"/>
              <a:t> ≈ 40 </a:t>
            </a:r>
            <a:r>
              <a:rPr lang="hu-HU" dirty="0" err="1" smtClean="0"/>
              <a:t>million</a:t>
            </a:r>
            <a:r>
              <a:rPr lang="hu-HU" dirty="0" smtClean="0"/>
              <a:t> </a:t>
            </a:r>
            <a:r>
              <a:rPr lang="hu-HU" dirty="0" err="1" smtClean="0"/>
              <a:t>floats</a:t>
            </a:r>
            <a:r>
              <a:rPr lang="hu-HU" dirty="0" smtClean="0"/>
              <a:t>).</a:t>
            </a:r>
          </a:p>
          <a:p>
            <a:pPr lvl="1"/>
            <a:r>
              <a:rPr lang="hu-HU" dirty="0" err="1" smtClean="0"/>
              <a:t>BERT</a:t>
            </a:r>
            <a:r>
              <a:rPr lang="hu-HU" dirty="0" smtClean="0"/>
              <a:t>, GPT-1 and GPT-2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b="1" dirty="0" smtClean="0"/>
              <a:t>100M </a:t>
            </a:r>
            <a:r>
              <a:rPr lang="hu-HU" b="1" dirty="0" err="1" smtClean="0"/>
              <a:t>to</a:t>
            </a:r>
            <a:r>
              <a:rPr lang="hu-HU" b="1" dirty="0" smtClean="0"/>
              <a:t> 1.5G </a:t>
            </a:r>
            <a:r>
              <a:rPr lang="hu-HU" dirty="0" err="1" smtClean="0"/>
              <a:t>parameters</a:t>
            </a:r>
            <a:r>
              <a:rPr lang="hu-HU" b="1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considered</a:t>
            </a:r>
            <a:r>
              <a:rPr lang="hu-HU" dirty="0" smtClean="0"/>
              <a:t> </a:t>
            </a:r>
            <a:r>
              <a:rPr lang="hu-HU" dirty="0" err="1" smtClean="0"/>
              <a:t>large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some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Others</a:t>
            </a:r>
            <a:r>
              <a:rPr lang="hu-HU" dirty="0" smtClean="0"/>
              <a:t> </a:t>
            </a:r>
            <a:r>
              <a:rPr lang="hu-HU" dirty="0" err="1" smtClean="0"/>
              <a:t>consider</a:t>
            </a:r>
            <a:r>
              <a:rPr lang="hu-HU" dirty="0" smtClean="0"/>
              <a:t> GPT-3 and </a:t>
            </a:r>
            <a:r>
              <a:rPr lang="hu-HU" dirty="0" err="1" smtClean="0"/>
              <a:t>its</a:t>
            </a:r>
            <a:r>
              <a:rPr lang="hu-HU" dirty="0" smtClean="0"/>
              <a:t> more </a:t>
            </a:r>
            <a:r>
              <a:rPr lang="hu-HU" dirty="0" err="1" smtClean="0"/>
              <a:t>recent</a:t>
            </a:r>
            <a:r>
              <a:rPr lang="hu-HU" dirty="0" smtClean="0"/>
              <a:t> </a:t>
            </a:r>
            <a:r>
              <a:rPr lang="hu-HU" dirty="0" err="1" smtClean="0"/>
              <a:t>offspring</a:t>
            </a:r>
            <a:r>
              <a:rPr lang="hu-HU" dirty="0" smtClean="0"/>
              <a:t> (GPT-5, </a:t>
            </a:r>
            <a:r>
              <a:rPr lang="hu-HU" dirty="0" err="1" smtClean="0"/>
              <a:t>Google</a:t>
            </a:r>
            <a:r>
              <a:rPr lang="hu-HU" dirty="0" smtClean="0"/>
              <a:t> </a:t>
            </a:r>
            <a:r>
              <a:rPr lang="hu-HU" dirty="0" err="1" smtClean="0"/>
              <a:t>Gemini</a:t>
            </a:r>
            <a:r>
              <a:rPr lang="hu-HU" dirty="0" smtClean="0"/>
              <a:t>, etc.) </a:t>
            </a:r>
            <a:r>
              <a:rPr lang="hu-HU" dirty="0" err="1" smtClean="0"/>
              <a:t>large</a:t>
            </a:r>
            <a:r>
              <a:rPr lang="hu-HU" dirty="0" smtClean="0"/>
              <a:t>, i.e. </a:t>
            </a:r>
            <a:r>
              <a:rPr lang="hu-HU" b="1" dirty="0" smtClean="0"/>
              <a:t>100G+ </a:t>
            </a:r>
            <a:r>
              <a:rPr lang="hu-HU" b="1" dirty="0" err="1" smtClean="0"/>
              <a:t>parameters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1G </a:t>
            </a:r>
            <a:r>
              <a:rPr lang="hu-HU" dirty="0" err="1" smtClean="0"/>
              <a:t>to</a:t>
            </a:r>
            <a:r>
              <a:rPr lang="hu-HU" dirty="0" smtClean="0"/>
              <a:t> 10G </a:t>
            </a:r>
            <a:r>
              <a:rPr lang="hu-HU" dirty="0" err="1" smtClean="0"/>
              <a:t>range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often</a:t>
            </a:r>
            <a:r>
              <a:rPr lang="hu-HU" dirty="0" smtClean="0"/>
              <a:t> </a:t>
            </a:r>
            <a:r>
              <a:rPr lang="hu-HU" dirty="0" err="1" smtClean="0"/>
              <a:t>referred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small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(</a:t>
            </a:r>
            <a:r>
              <a:rPr lang="hu-HU" b="1" dirty="0" err="1" smtClean="0"/>
              <a:t>SLM</a:t>
            </a:r>
            <a:r>
              <a:rPr lang="hu-HU" dirty="0" smtClean="0"/>
              <a:t>)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latter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Does</a:t>
            </a:r>
            <a:r>
              <a:rPr lang="hu-HU" dirty="0" smtClean="0"/>
              <a:t> an </a:t>
            </a:r>
            <a:r>
              <a:rPr lang="hu-HU" dirty="0" err="1" smtClean="0"/>
              <a:t>LLM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b="1" dirty="0" err="1" smtClean="0"/>
              <a:t>generative</a:t>
            </a:r>
            <a:r>
              <a:rPr lang="hu-HU" dirty="0" smtClean="0"/>
              <a:t>?</a:t>
            </a:r>
          </a:p>
          <a:p>
            <a:pPr lvl="1"/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necessarily</a:t>
            </a:r>
            <a:r>
              <a:rPr lang="hu-HU" dirty="0" smtClean="0"/>
              <a:t>; again, </a:t>
            </a:r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consider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an </a:t>
            </a:r>
            <a:r>
              <a:rPr lang="hu-HU" dirty="0" err="1" smtClean="0"/>
              <a:t>LLM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is an </a:t>
            </a:r>
            <a:r>
              <a:rPr lang="hu-HU" dirty="0" err="1" smtClean="0"/>
              <a:t>encoder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4885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</TotalTime>
  <Words>3263</Words>
  <Application>Microsoft Office PowerPoint</Application>
  <PresentationFormat>Diavetítés a képernyőre (4:3 oldalarány)</PresentationFormat>
  <Paragraphs>186</Paragraphs>
  <Slides>19</Slides>
  <Notes>1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0" baseType="lpstr">
      <vt:lpstr>Office-téma</vt:lpstr>
      <vt:lpstr>Generative Artificial Intelligence GPT and Related Generative Language Models</vt:lpstr>
      <vt:lpstr>GPT</vt:lpstr>
      <vt:lpstr>Pre-training</vt:lpstr>
      <vt:lpstr>Result of Pre-training</vt:lpstr>
      <vt:lpstr>Inference with a Pre-trained Model</vt:lpstr>
      <vt:lpstr>Transformers Are Stateless</vt:lpstr>
      <vt:lpstr>Transformers Are Stateless</vt:lpstr>
      <vt:lpstr>Sampling from the Probability Distribution</vt:lpstr>
      <vt:lpstr>Sampling Parameters</vt:lpstr>
      <vt:lpstr>Determinism of Generative Models</vt:lpstr>
      <vt:lpstr>Fine-tuning</vt:lpstr>
      <vt:lpstr>Zero-shot and Few-shot Prompts</vt:lpstr>
      <vt:lpstr>Few-shot example (from Radford et al., 2019, Appendix)</vt:lpstr>
      <vt:lpstr>Few-shot Learning</vt:lpstr>
      <vt:lpstr>Pre-trained Generative Language Models Are Not Conversational Agents</vt:lpstr>
      <vt:lpstr>Instruction-tuning</vt:lpstr>
      <vt:lpstr>RLHF</vt:lpstr>
      <vt:lpstr>Fine-tuning using RLHF</vt:lpstr>
      <vt:lpstr>LLMs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Artificial Intelligence GPT and Related Generative Language Models</dc:title>
  <dc:creator>Anonim</dc:creator>
  <cp:lastModifiedBy>Anonim</cp:lastModifiedBy>
  <cp:revision>48</cp:revision>
  <dcterms:created xsi:type="dcterms:W3CDTF">2025-12-04T00:21:37Z</dcterms:created>
  <dcterms:modified xsi:type="dcterms:W3CDTF">2025-12-10T19:42:29Z</dcterms:modified>
</cp:coreProperties>
</file>